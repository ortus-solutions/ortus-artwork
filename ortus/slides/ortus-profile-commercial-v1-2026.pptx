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Neue Montreal Bold" charset="1" panose="00000400000000000000"/>
      <p:regular r:id="rId43"/>
    </p:embeddedFont>
    <p:embeddedFont>
      <p:font typeface="Inter" charset="1" panose="020B0502030000000004"/>
      <p:regular r:id="rId44"/>
    </p:embeddedFont>
    <p:embeddedFont>
      <p:font typeface="Poppins Light" charset="1" panose="00000400000000000000"/>
      <p:regular r:id="rId45"/>
    </p:embeddedFont>
    <p:embeddedFont>
      <p:font typeface="Poppins" charset="1" panose="00000500000000000000"/>
      <p:regular r:id="rId46"/>
    </p:embeddedFont>
    <p:embeddedFont>
      <p:font typeface="Poppins Bold" charset="1" panose="00000800000000000000"/>
      <p:regular r:id="rId47"/>
    </p:embeddedFont>
    <p:embeddedFont>
      <p:font typeface="Neue Montreal" charset="1" panose="00000400000000000000"/>
      <p:regular r:id="rId48"/>
    </p:embeddedFont>
    <p:embeddedFont>
      <p:font typeface="Poppins Medium" charset="1" panose="00000600000000000000"/>
      <p:regular r:id="rId49"/>
    </p:embeddedFont>
    <p:embeddedFont>
      <p:font typeface="Poppins Semi-Bold" charset="1" panose="0000070000000000000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12" Target="../media/image21.png" Type="http://schemas.openxmlformats.org/officeDocument/2006/relationships/image"/><Relationship Id="rId13" Target="../media/image22.png" Type="http://schemas.openxmlformats.org/officeDocument/2006/relationships/image"/><Relationship Id="rId14" Target="../media/image23.png" Type="http://schemas.openxmlformats.org/officeDocument/2006/relationships/image"/><Relationship Id="rId15" Target="../media/image24.png" Type="http://schemas.openxmlformats.org/officeDocument/2006/relationships/image"/><Relationship Id="rId16" Target="../media/image25.png" Type="http://schemas.openxmlformats.org/officeDocument/2006/relationships/image"/><Relationship Id="rId17" Target="../media/image26.png" Type="http://schemas.openxmlformats.org/officeDocument/2006/relationships/image"/><Relationship Id="rId18" Target="../media/image27.png" Type="http://schemas.openxmlformats.org/officeDocument/2006/relationships/image"/><Relationship Id="rId19" Target="../media/image28.png" Type="http://schemas.openxmlformats.org/officeDocument/2006/relationships/image"/><Relationship Id="rId2" Target="../media/image11.png" Type="http://schemas.openxmlformats.org/officeDocument/2006/relationships/image"/><Relationship Id="rId20" Target="../media/image29.png" Type="http://schemas.openxmlformats.org/officeDocument/2006/relationships/image"/><Relationship Id="rId21" Target="../media/image30.png" Type="http://schemas.openxmlformats.org/officeDocument/2006/relationships/image"/><Relationship Id="rId22" Target="../media/image31.png" Type="http://schemas.openxmlformats.org/officeDocument/2006/relationships/image"/><Relationship Id="rId23" Target="../media/image32.png" Type="http://schemas.openxmlformats.org/officeDocument/2006/relationships/image"/><Relationship Id="rId24" Target="../media/image33.png" Type="http://schemas.openxmlformats.org/officeDocument/2006/relationships/image"/><Relationship Id="rId25" Target="../media/image34.png" Type="http://schemas.openxmlformats.org/officeDocument/2006/relationships/image"/><Relationship Id="rId26" Target="../media/image35.png" Type="http://schemas.openxmlformats.org/officeDocument/2006/relationships/image"/><Relationship Id="rId27" Target="../media/image36.png" Type="http://schemas.openxmlformats.org/officeDocument/2006/relationships/image"/><Relationship Id="rId28" Target="../media/image37.png" Type="http://schemas.openxmlformats.org/officeDocument/2006/relationships/image"/><Relationship Id="rId29" Target="../media/image38.png" Type="http://schemas.openxmlformats.org/officeDocument/2006/relationships/image"/><Relationship Id="rId3" Target="../media/image12.png" Type="http://schemas.openxmlformats.org/officeDocument/2006/relationships/image"/><Relationship Id="rId30" Target="../media/image39.png" Type="http://schemas.openxmlformats.org/officeDocument/2006/relationships/image"/><Relationship Id="rId31" Target="../media/image40.png" Type="http://schemas.openxmlformats.org/officeDocument/2006/relationships/image"/><Relationship Id="rId32" Target="../media/image41.png" Type="http://schemas.openxmlformats.org/officeDocument/2006/relationships/image"/><Relationship Id="rId33" Target="../media/image42.png" Type="http://schemas.openxmlformats.org/officeDocument/2006/relationships/image"/><Relationship Id="rId34" Target="../media/image43.png" Type="http://schemas.openxmlformats.org/officeDocument/2006/relationships/image"/><Relationship Id="rId35" Target="../media/image44.png" Type="http://schemas.openxmlformats.org/officeDocument/2006/relationships/image"/><Relationship Id="rId36" Target="../media/image45.png" Type="http://schemas.openxmlformats.org/officeDocument/2006/relationships/image"/><Relationship Id="rId37" Target="../media/image46.png" Type="http://schemas.openxmlformats.org/officeDocument/2006/relationships/image"/><Relationship Id="rId38" Target="../media/image47.png" Type="http://schemas.openxmlformats.org/officeDocument/2006/relationships/image"/><Relationship Id="rId39" Target="../media/image48.png" Type="http://schemas.openxmlformats.org/officeDocument/2006/relationships/image"/><Relationship Id="rId4" Target="../media/image13.png" Type="http://schemas.openxmlformats.org/officeDocument/2006/relationships/image"/><Relationship Id="rId40" Target="../media/image49.png" Type="http://schemas.openxmlformats.org/officeDocument/2006/relationships/image"/><Relationship Id="rId41" Target="../media/image50.png" Type="http://schemas.openxmlformats.org/officeDocument/2006/relationships/image"/><Relationship Id="rId42" Target="../media/image51.png" Type="http://schemas.openxmlformats.org/officeDocument/2006/relationships/image"/><Relationship Id="rId43" Target="../media/image52.png" Type="http://schemas.openxmlformats.org/officeDocument/2006/relationships/image"/><Relationship Id="rId44" Target="../media/image53.png" Type="http://schemas.openxmlformats.org/officeDocument/2006/relationships/image"/><Relationship Id="rId45" Target="../media/image54.sv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12" Target="../media/image67.png" Type="http://schemas.openxmlformats.org/officeDocument/2006/relationships/image"/><Relationship Id="rId13" Target="../media/image68.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media/image71.png" Type="http://schemas.openxmlformats.org/officeDocument/2006/relationships/image"/><Relationship Id="rId17" Target="../media/image72.svg" Type="http://schemas.openxmlformats.org/officeDocument/2006/relationships/image"/><Relationship Id="rId18" Target="../media/image53.png" Type="http://schemas.openxmlformats.org/officeDocument/2006/relationships/image"/><Relationship Id="rId19" Target="../media/image54.svg" Type="http://schemas.openxmlformats.org/officeDocument/2006/relationships/image"/><Relationship Id="rId2" Target="../media/image57.png" Type="http://schemas.openxmlformats.org/officeDocument/2006/relationships/image"/><Relationship Id="rId20" Target="../media/image73.png" Type="http://schemas.openxmlformats.org/officeDocument/2006/relationships/image"/><Relationship Id="rId3" Target="../media/image58.svg" Type="http://schemas.openxmlformats.org/officeDocument/2006/relationships/image"/><Relationship Id="rId4" Target="../media/image59.png" Type="http://schemas.openxmlformats.org/officeDocument/2006/relationships/image"/><Relationship Id="rId5" Target="../media/image60.svg" Type="http://schemas.openxmlformats.org/officeDocument/2006/relationships/image"/><Relationship Id="rId6" Target="../media/image61.png" Type="http://schemas.openxmlformats.org/officeDocument/2006/relationships/image"/><Relationship Id="rId7" Target="../media/image62.svg" Type="http://schemas.openxmlformats.org/officeDocument/2006/relationships/image"/><Relationship Id="rId8" Target="../media/image63.png" Type="http://schemas.openxmlformats.org/officeDocument/2006/relationships/image"/><Relationship Id="rId9" Target="../media/image6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11" Target="../media/image82.png" Type="http://schemas.openxmlformats.org/officeDocument/2006/relationships/image"/><Relationship Id="rId12" Target="../media/image83.png" Type="http://schemas.openxmlformats.org/officeDocument/2006/relationships/image"/><Relationship Id="rId13" Target="../media/image84.png" Type="http://schemas.openxmlformats.org/officeDocument/2006/relationships/image"/><Relationship Id="rId14" Target="../media/image85.png" Type="http://schemas.openxmlformats.org/officeDocument/2006/relationships/image"/><Relationship Id="rId15" Target="../media/image86.png" Type="http://schemas.openxmlformats.org/officeDocument/2006/relationships/image"/><Relationship Id="rId16" Target="../media/image87.png" Type="http://schemas.openxmlformats.org/officeDocument/2006/relationships/image"/><Relationship Id="rId17" Target="../media/image88.png" Type="http://schemas.openxmlformats.org/officeDocument/2006/relationships/image"/><Relationship Id="rId18" Target="../media/image89.png" Type="http://schemas.openxmlformats.org/officeDocument/2006/relationships/image"/><Relationship Id="rId19" Target="../media/image90.png" Type="http://schemas.openxmlformats.org/officeDocument/2006/relationships/image"/><Relationship Id="rId2" Target="../media/image7.png" Type="http://schemas.openxmlformats.org/officeDocument/2006/relationships/image"/><Relationship Id="rId20" Target="../media/image91.png" Type="http://schemas.openxmlformats.org/officeDocument/2006/relationships/image"/><Relationship Id="rId21" Target="../media/image92.png" Type="http://schemas.openxmlformats.org/officeDocument/2006/relationships/image"/><Relationship Id="rId22" Target="../media/image53.png" Type="http://schemas.openxmlformats.org/officeDocument/2006/relationships/image"/><Relationship Id="rId23" Target="../media/image54.svg" Type="http://schemas.openxmlformats.org/officeDocument/2006/relationships/image"/><Relationship Id="rId3" Target="../media/image8.svg" Type="http://schemas.openxmlformats.org/officeDocument/2006/relationships/image"/><Relationship Id="rId4" Target="../media/image75.png" Type="http://schemas.openxmlformats.org/officeDocument/2006/relationships/image"/><Relationship Id="rId5" Target="../media/image76.png" Type="http://schemas.openxmlformats.org/officeDocument/2006/relationships/image"/><Relationship Id="rId6" Target="../media/image77.png" Type="http://schemas.openxmlformats.org/officeDocument/2006/relationships/image"/><Relationship Id="rId7" Target="../media/image78.png" Type="http://schemas.openxmlformats.org/officeDocument/2006/relationships/image"/><Relationship Id="rId8" Target="../media/image79.png" Type="http://schemas.openxmlformats.org/officeDocument/2006/relationships/image"/><Relationship Id="rId9" Target="../media/image8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4.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95.png" Type="http://schemas.openxmlformats.org/officeDocument/2006/relationships/image"/><Relationship Id="rId5" Target="../media/image9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4.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97.png" Type="http://schemas.openxmlformats.org/officeDocument/2006/relationships/image"/><Relationship Id="rId5" Target="../media/image9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2" Target="../media/image99.png" Type="http://schemas.openxmlformats.org/officeDocument/2006/relationships/image"/><Relationship Id="rId3" Target="../media/image100.png" Type="http://schemas.openxmlformats.org/officeDocument/2006/relationships/image"/><Relationship Id="rId4" Target="../media/image101.png" Type="http://schemas.openxmlformats.org/officeDocument/2006/relationships/image"/><Relationship Id="rId5" Target="../media/image102.png" Type="http://schemas.openxmlformats.org/officeDocument/2006/relationships/image"/><Relationship Id="rId6" Target="../media/image103.png" Type="http://schemas.openxmlformats.org/officeDocument/2006/relationships/image"/><Relationship Id="rId7" Target="../media/image104.png" Type="http://schemas.openxmlformats.org/officeDocument/2006/relationships/image"/><Relationship Id="rId8" Target="../media/image97.png" Type="http://schemas.openxmlformats.org/officeDocument/2006/relationships/image"/><Relationship Id="rId9" Target="../media/image9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2" Target="../media/image105.png" Type="http://schemas.openxmlformats.org/officeDocument/2006/relationships/image"/><Relationship Id="rId3" Target="../media/image97.png" Type="http://schemas.openxmlformats.org/officeDocument/2006/relationships/image"/><Relationship Id="rId4" Target="../media/image98.svg" Type="http://schemas.openxmlformats.org/officeDocument/2006/relationships/image"/><Relationship Id="rId5" Target="../media/image106.png" Type="http://schemas.openxmlformats.org/officeDocument/2006/relationships/image"/><Relationship Id="rId6" Target="../media/image107.png" Type="http://schemas.openxmlformats.org/officeDocument/2006/relationships/image"/><Relationship Id="rId7" Target="../media/image108.png" Type="http://schemas.openxmlformats.org/officeDocument/2006/relationships/image"/><Relationship Id="rId8" Target="../media/image109.png" Type="http://schemas.openxmlformats.org/officeDocument/2006/relationships/image"/><Relationship Id="rId9" Target="../media/image1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4.png" Type="http://schemas.openxmlformats.org/officeDocument/2006/relationships/image"/><Relationship Id="rId2" Target="../media/image97.png" Type="http://schemas.openxmlformats.org/officeDocument/2006/relationships/image"/><Relationship Id="rId3" Target="../media/image98.svg" Type="http://schemas.openxmlformats.org/officeDocument/2006/relationships/image"/><Relationship Id="rId4" Target="../media/image111.png" Type="http://schemas.openxmlformats.org/officeDocument/2006/relationships/image"/><Relationship Id="rId5" Target="../media/image99.png" Type="http://schemas.openxmlformats.org/officeDocument/2006/relationships/image"/><Relationship Id="rId6" Target="../media/image112.png" Type="http://schemas.openxmlformats.org/officeDocument/2006/relationships/image"/><Relationship Id="rId7" Target="../media/image113.png" Type="http://schemas.openxmlformats.org/officeDocument/2006/relationships/image"/><Relationship Id="rId8" Target="../media/image53.png" Type="http://schemas.openxmlformats.org/officeDocument/2006/relationships/image"/><Relationship Id="rId9" Target="../media/image5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5.png" Type="http://schemas.openxmlformats.org/officeDocument/2006/relationships/image"/><Relationship Id="rId3" Target="../media/image116.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9.png" Type="http://schemas.openxmlformats.org/officeDocument/2006/relationships/image"/><Relationship Id="rId11" Target="../media/image120.png" Type="http://schemas.openxmlformats.org/officeDocument/2006/relationships/image"/><Relationship Id="rId12" Target="../media/image121.png" Type="http://schemas.openxmlformats.org/officeDocument/2006/relationships/image"/><Relationship Id="rId13" Target="../media/image112.png" Type="http://schemas.openxmlformats.org/officeDocument/2006/relationships/image"/><Relationship Id="rId14" Target="../media/image103.png" Type="http://schemas.openxmlformats.org/officeDocument/2006/relationships/image"/><Relationship Id="rId15" Target="../media/image122.png" Type="http://schemas.openxmlformats.org/officeDocument/2006/relationships/image"/><Relationship Id="rId16" Target="../media/image123.png" Type="http://schemas.openxmlformats.org/officeDocument/2006/relationships/image"/><Relationship Id="rId17" Target="../media/image124.png" Type="http://schemas.openxmlformats.org/officeDocument/2006/relationships/image"/><Relationship Id="rId18" Target="../media/image125.png" Type="http://schemas.openxmlformats.org/officeDocument/2006/relationships/image"/><Relationship Id="rId19" Target="../media/image126.png" Type="http://schemas.openxmlformats.org/officeDocument/2006/relationships/image"/><Relationship Id="rId2" Target="../media/image117.png" Type="http://schemas.openxmlformats.org/officeDocument/2006/relationships/image"/><Relationship Id="rId20" Target="../media/image53.png" Type="http://schemas.openxmlformats.org/officeDocument/2006/relationships/image"/><Relationship Id="rId21" Target="../media/image54.svg" Type="http://schemas.openxmlformats.org/officeDocument/2006/relationships/image"/><Relationship Id="rId3" Target="../media/image99.png" Type="http://schemas.openxmlformats.org/officeDocument/2006/relationships/image"/><Relationship Id="rId4" Target="../media/image100.png" Type="http://schemas.openxmlformats.org/officeDocument/2006/relationships/image"/><Relationship Id="rId5" Target="../media/image101.png" Type="http://schemas.openxmlformats.org/officeDocument/2006/relationships/image"/><Relationship Id="rId6" Target="../media/image102.png" Type="http://schemas.openxmlformats.org/officeDocument/2006/relationships/image"/><Relationship Id="rId7" Target="../media/image105.png" Type="http://schemas.openxmlformats.org/officeDocument/2006/relationships/image"/><Relationship Id="rId8" Target="../media/image108.png" Type="http://schemas.openxmlformats.org/officeDocument/2006/relationships/image"/><Relationship Id="rId9" Target="../media/image1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127.png" Type="http://schemas.openxmlformats.org/officeDocument/2006/relationships/image"/><Relationship Id="rId5" Target="../media/image128.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129.png" Type="http://schemas.openxmlformats.org/officeDocument/2006/relationships/image"/><Relationship Id="rId5" Target="../media/image13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1.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132.png" Type="http://schemas.openxmlformats.org/officeDocument/2006/relationships/image"/><Relationship Id="rId6" Target="../media/image13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134.png" Type="http://schemas.openxmlformats.org/officeDocument/2006/relationships/image"/><Relationship Id="rId7" Target="../media/image13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136.png" Type="http://schemas.openxmlformats.org/officeDocument/2006/relationships/image"/><Relationship Id="rId7" Target="../media/image137.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138.png" Type="http://schemas.openxmlformats.org/officeDocument/2006/relationships/image"/><Relationship Id="rId7" Target="../media/image139.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0.png" Type="http://schemas.openxmlformats.org/officeDocument/2006/relationships/image"/><Relationship Id="rId5" Target="../media/image141.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2.png" Type="http://schemas.openxmlformats.org/officeDocument/2006/relationships/image"/><Relationship Id="rId3" Target="../media/image143.png" Type="http://schemas.openxmlformats.org/officeDocument/2006/relationships/image"/><Relationship Id="rId4" Target="../media/image144.pn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3.pn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2" Target="../media/image145.png" Type="http://schemas.openxmlformats.org/officeDocument/2006/relationships/image"/><Relationship Id="rId3" Target="../media/image146.svg" Type="http://schemas.openxmlformats.org/officeDocument/2006/relationships/image"/><Relationship Id="rId4" Target="../media/image147.png" Type="http://schemas.openxmlformats.org/officeDocument/2006/relationships/image"/><Relationship Id="rId5" Target="../media/image148.png" Type="http://schemas.openxmlformats.org/officeDocument/2006/relationships/image"/><Relationship Id="rId6" Target="../media/image149.png" Type="http://schemas.openxmlformats.org/officeDocument/2006/relationships/image"/><Relationship Id="rId7" Target="../media/image150.png" Type="http://schemas.openxmlformats.org/officeDocument/2006/relationships/image"/><Relationship Id="rId8" Target="../media/image151.png" Type="http://schemas.openxmlformats.org/officeDocument/2006/relationships/image"/><Relationship Id="rId9" Target="../media/image15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8.png" Type="http://schemas.openxmlformats.org/officeDocument/2006/relationships/image"/><Relationship Id="rId11" Target="../media/image159.svg" Type="http://schemas.openxmlformats.org/officeDocument/2006/relationships/image"/><Relationship Id="rId12" Target="../media/image160.png" Type="http://schemas.openxmlformats.org/officeDocument/2006/relationships/image"/><Relationship Id="rId13" Target="../media/image161.svg" Type="http://schemas.openxmlformats.org/officeDocument/2006/relationships/image"/><Relationship Id="rId14" Target="../media/image162.png" Type="http://schemas.openxmlformats.org/officeDocument/2006/relationships/image"/><Relationship Id="rId15" Target="../media/image163.svg" Type="http://schemas.openxmlformats.org/officeDocument/2006/relationships/image"/><Relationship Id="rId16" Target="../media/image164.png" Type="http://schemas.openxmlformats.org/officeDocument/2006/relationships/image"/><Relationship Id="rId17" Target="../media/image165.svg" Type="http://schemas.openxmlformats.org/officeDocument/2006/relationships/image"/><Relationship Id="rId18" Target="../media/image166.png" Type="http://schemas.openxmlformats.org/officeDocument/2006/relationships/image"/><Relationship Id="rId19" Target="../media/image167.svg" Type="http://schemas.openxmlformats.org/officeDocument/2006/relationships/image"/><Relationship Id="rId2" Target="../media/image7.png" Type="http://schemas.openxmlformats.org/officeDocument/2006/relationships/image"/><Relationship Id="rId20" Target="../media/image168.png" Type="http://schemas.openxmlformats.org/officeDocument/2006/relationships/image"/><Relationship Id="rId21" Target="../media/image169.svg" Type="http://schemas.openxmlformats.org/officeDocument/2006/relationships/image"/><Relationship Id="rId22" Target="../media/image170.png" Type="http://schemas.openxmlformats.org/officeDocument/2006/relationships/image"/><Relationship Id="rId23" Target="../media/image171.svg" Type="http://schemas.openxmlformats.org/officeDocument/2006/relationships/image"/><Relationship Id="rId3" Target="../media/image8.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154.png" Type="http://schemas.openxmlformats.org/officeDocument/2006/relationships/image"/><Relationship Id="rId7" Target="../media/image155.svg" Type="http://schemas.openxmlformats.org/officeDocument/2006/relationships/image"/><Relationship Id="rId8" Target="../media/image156.png" Type="http://schemas.openxmlformats.org/officeDocument/2006/relationships/image"/><Relationship Id="rId9" Target="../media/image15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2.pn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173.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174.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5.png" Type="http://schemas.openxmlformats.org/officeDocument/2006/relationships/image"/><Relationship Id="rId3" Target="../media/image176.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7640554" y="1316246"/>
            <a:ext cx="11408598" cy="11450236"/>
          </a:xfrm>
          <a:custGeom>
            <a:avLst/>
            <a:gdLst/>
            <a:ahLst/>
            <a:cxnLst/>
            <a:rect r="r" b="b" t="t" l="l"/>
            <a:pathLst>
              <a:path h="11450236" w="11408598">
                <a:moveTo>
                  <a:pt x="0" y="0"/>
                </a:moveTo>
                <a:lnTo>
                  <a:pt x="11408598" y="0"/>
                </a:lnTo>
                <a:lnTo>
                  <a:pt x="11408598" y="11450236"/>
                </a:lnTo>
                <a:lnTo>
                  <a:pt x="0" y="11450236"/>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1383774">
            <a:off x="7061032" y="216455"/>
            <a:ext cx="11226909" cy="14341591"/>
            <a:chOff x="0" y="0"/>
            <a:chExt cx="2956881" cy="3777209"/>
          </a:xfrm>
        </p:grpSpPr>
        <p:sp>
          <p:nvSpPr>
            <p:cNvPr name="Freeform 4" id="4"/>
            <p:cNvSpPr/>
            <p:nvPr/>
          </p:nvSpPr>
          <p:spPr>
            <a:xfrm flipH="false" flipV="false" rot="0">
              <a:off x="0" y="0"/>
              <a:ext cx="2956881" cy="3777209"/>
            </a:xfrm>
            <a:custGeom>
              <a:avLst/>
              <a:gdLst/>
              <a:ahLst/>
              <a:cxnLst/>
              <a:rect r="r" b="b" t="t" l="l"/>
              <a:pathLst>
                <a:path h="3777209" w="2956881">
                  <a:moveTo>
                    <a:pt x="0" y="0"/>
                  </a:moveTo>
                  <a:lnTo>
                    <a:pt x="2956881" y="0"/>
                  </a:lnTo>
                  <a:lnTo>
                    <a:pt x="2956881" y="3777209"/>
                  </a:lnTo>
                  <a:lnTo>
                    <a:pt x="0" y="3777209"/>
                  </a:lnTo>
                  <a:close/>
                </a:path>
              </a:pathLst>
            </a:custGeom>
            <a:gradFill rotWithShape="true">
              <a:gsLst>
                <a:gs pos="0">
                  <a:srgbClr val="0D0D0D">
                    <a:alpha val="100000"/>
                  </a:srgbClr>
                </a:gs>
                <a:gs pos="100000">
                  <a:srgbClr val="141519">
                    <a:alpha val="0"/>
                  </a:srgbClr>
                </a:gs>
              </a:gsLst>
              <a:lin ang="0"/>
            </a:gradFill>
          </p:spPr>
        </p:sp>
        <p:sp>
          <p:nvSpPr>
            <p:cNvPr name="TextBox 5" id="5"/>
            <p:cNvSpPr txBox="true"/>
            <p:nvPr/>
          </p:nvSpPr>
          <p:spPr>
            <a:xfrm>
              <a:off x="0" y="28575"/>
              <a:ext cx="2956881" cy="3748634"/>
            </a:xfrm>
            <a:prstGeom prst="rect">
              <a:avLst/>
            </a:prstGeom>
          </p:spPr>
          <p:txBody>
            <a:bodyPr anchor="ctr" rtlCol="false" tIns="50800" lIns="50800" bIns="50800" rIns="50800"/>
            <a:lstStyle/>
            <a:p>
              <a:pPr algn="ctr">
                <a:lnSpc>
                  <a:spcPts val="2267"/>
                </a:lnSpc>
              </a:pPr>
            </a:p>
          </p:txBody>
        </p:sp>
      </p:grpSp>
      <p:grpSp>
        <p:nvGrpSpPr>
          <p:cNvPr name="Group 6" id="6"/>
          <p:cNvGrpSpPr/>
          <p:nvPr/>
        </p:nvGrpSpPr>
        <p:grpSpPr>
          <a:xfrm rot="0">
            <a:off x="2821977" y="8345037"/>
            <a:ext cx="4016140" cy="1151986"/>
            <a:chOff x="0" y="0"/>
            <a:chExt cx="5354853" cy="1535981"/>
          </a:xfrm>
        </p:grpSpPr>
        <p:sp>
          <p:nvSpPr>
            <p:cNvPr name="Freeform 7" id="7"/>
            <p:cNvSpPr/>
            <p:nvPr/>
          </p:nvSpPr>
          <p:spPr>
            <a:xfrm flipH="false" flipV="false" rot="0">
              <a:off x="0" y="0"/>
              <a:ext cx="1533421" cy="1535981"/>
            </a:xfrm>
            <a:custGeom>
              <a:avLst/>
              <a:gdLst/>
              <a:ahLst/>
              <a:cxnLst/>
              <a:rect r="r" b="b" t="t" l="l"/>
              <a:pathLst>
                <a:path h="1535981" w="1533421">
                  <a:moveTo>
                    <a:pt x="0" y="0"/>
                  </a:moveTo>
                  <a:lnTo>
                    <a:pt x="1533421" y="0"/>
                  </a:lnTo>
                  <a:lnTo>
                    <a:pt x="1533421" y="1535981"/>
                  </a:lnTo>
                  <a:lnTo>
                    <a:pt x="0" y="1535981"/>
                  </a:lnTo>
                  <a:lnTo>
                    <a:pt x="0" y="0"/>
                  </a:lnTo>
                  <a:close/>
                </a:path>
              </a:pathLst>
            </a:custGeom>
            <a:blipFill>
              <a:blip r:embed="rId4"/>
              <a:stretch>
                <a:fillRect l="0" t="0" r="0" b="0"/>
              </a:stretch>
            </a:blipFill>
          </p:spPr>
        </p:sp>
        <p:sp>
          <p:nvSpPr>
            <p:cNvPr name="TextBox 8" id="8"/>
            <p:cNvSpPr txBox="true"/>
            <p:nvPr/>
          </p:nvSpPr>
          <p:spPr>
            <a:xfrm rot="0">
              <a:off x="1860498" y="371751"/>
              <a:ext cx="3494356" cy="396240"/>
            </a:xfrm>
            <a:prstGeom prst="rect">
              <a:avLst/>
            </a:prstGeom>
          </p:spPr>
          <p:txBody>
            <a:bodyPr anchor="t" rtlCol="false" tIns="0" lIns="0" bIns="0" rIns="0">
              <a:spAutoFit/>
            </a:bodyPr>
            <a:lstStyle/>
            <a:p>
              <a:pPr algn="l">
                <a:lnSpc>
                  <a:spcPts val="2520"/>
                </a:lnSpc>
              </a:pPr>
              <a:r>
                <a:rPr lang="en-US" sz="1800" b="true">
                  <a:solidFill>
                    <a:srgbClr val="B6F220"/>
                  </a:solidFill>
                  <a:latin typeface="Neue Montreal Bold"/>
                  <a:ea typeface="Neue Montreal Bold"/>
                  <a:cs typeface="Neue Montreal Bold"/>
                  <a:sym typeface="Neue Montreal Bold"/>
                </a:rPr>
                <a:t>GSA Contract Number</a:t>
              </a:r>
            </a:p>
          </p:txBody>
        </p:sp>
        <p:sp>
          <p:nvSpPr>
            <p:cNvPr name="TextBox 9" id="9"/>
            <p:cNvSpPr txBox="true"/>
            <p:nvPr/>
          </p:nvSpPr>
          <p:spPr>
            <a:xfrm rot="0">
              <a:off x="1860498" y="821444"/>
              <a:ext cx="3035352" cy="396240"/>
            </a:xfrm>
            <a:prstGeom prst="rect">
              <a:avLst/>
            </a:prstGeom>
          </p:spPr>
          <p:txBody>
            <a:bodyPr anchor="t" rtlCol="false" tIns="0" lIns="0" bIns="0" rIns="0">
              <a:spAutoFit/>
            </a:bodyPr>
            <a:lstStyle/>
            <a:p>
              <a:pPr algn="l">
                <a:lnSpc>
                  <a:spcPts val="2520"/>
                </a:lnSpc>
              </a:pPr>
              <a:r>
                <a:rPr lang="en-US" sz="1800">
                  <a:solidFill>
                    <a:srgbClr val="FFFFFF"/>
                  </a:solidFill>
                  <a:latin typeface="Inter"/>
                  <a:ea typeface="Inter"/>
                  <a:cs typeface="Inter"/>
                  <a:sym typeface="Inter"/>
                </a:rPr>
                <a:t>47QTCA23D00DH</a:t>
              </a:r>
            </a:p>
          </p:txBody>
        </p:sp>
      </p:grpSp>
      <p:sp>
        <p:nvSpPr>
          <p:cNvPr name="Freeform 10" id="10"/>
          <p:cNvSpPr/>
          <p:nvPr/>
        </p:nvSpPr>
        <p:spPr>
          <a:xfrm flipH="false" flipV="false" rot="0">
            <a:off x="1028700" y="8345037"/>
            <a:ext cx="1151986" cy="1151986"/>
          </a:xfrm>
          <a:custGeom>
            <a:avLst/>
            <a:gdLst/>
            <a:ahLst/>
            <a:cxnLst/>
            <a:rect r="r" b="b" t="t" l="l"/>
            <a:pathLst>
              <a:path h="1151986" w="1151986">
                <a:moveTo>
                  <a:pt x="0" y="0"/>
                </a:moveTo>
                <a:lnTo>
                  <a:pt x="1151986" y="0"/>
                </a:lnTo>
                <a:lnTo>
                  <a:pt x="1151986" y="1151986"/>
                </a:lnTo>
                <a:lnTo>
                  <a:pt x="0" y="1151986"/>
                </a:lnTo>
                <a:lnTo>
                  <a:pt x="0" y="0"/>
                </a:lnTo>
                <a:close/>
              </a:path>
            </a:pathLst>
          </a:custGeom>
          <a:blipFill>
            <a:blip r:embed="rId5"/>
            <a:stretch>
              <a:fillRect l="0" t="0" r="0" b="0"/>
            </a:stretch>
          </a:blipFill>
        </p:spPr>
      </p:sp>
      <p:grpSp>
        <p:nvGrpSpPr>
          <p:cNvPr name="Group 11" id="11"/>
          <p:cNvGrpSpPr/>
          <p:nvPr/>
        </p:nvGrpSpPr>
        <p:grpSpPr>
          <a:xfrm rot="0">
            <a:off x="9756368" y="8652425"/>
            <a:ext cx="1387044" cy="605875"/>
            <a:chOff x="0" y="0"/>
            <a:chExt cx="1849392" cy="807833"/>
          </a:xfrm>
        </p:grpSpPr>
        <p:sp>
          <p:nvSpPr>
            <p:cNvPr name="TextBox 12" id="12"/>
            <p:cNvSpPr txBox="true"/>
            <p:nvPr/>
          </p:nvSpPr>
          <p:spPr>
            <a:xfrm rot="0">
              <a:off x="0" y="-38100"/>
              <a:ext cx="1849392" cy="396240"/>
            </a:xfrm>
            <a:prstGeom prst="rect">
              <a:avLst/>
            </a:prstGeom>
          </p:spPr>
          <p:txBody>
            <a:bodyPr anchor="t" rtlCol="false" tIns="0" lIns="0" bIns="0" rIns="0">
              <a:spAutoFit/>
            </a:bodyPr>
            <a:lstStyle/>
            <a:p>
              <a:pPr algn="l" marL="0" indent="0" lvl="0">
                <a:lnSpc>
                  <a:spcPts val="2520"/>
                </a:lnSpc>
                <a:spcBef>
                  <a:spcPct val="0"/>
                </a:spcBef>
              </a:pPr>
              <a:r>
                <a:rPr lang="en-US" b="true" sz="1800">
                  <a:solidFill>
                    <a:srgbClr val="B6F220"/>
                  </a:solidFill>
                  <a:latin typeface="Neue Montreal Bold"/>
                  <a:ea typeface="Neue Montreal Bold"/>
                  <a:cs typeface="Neue Montreal Bold"/>
                  <a:sym typeface="Neue Montreal Bold"/>
                </a:rPr>
                <a:t>Cage Code</a:t>
              </a:r>
            </a:p>
          </p:txBody>
        </p:sp>
        <p:sp>
          <p:nvSpPr>
            <p:cNvPr name="TextBox 13" id="13"/>
            <p:cNvSpPr txBox="true"/>
            <p:nvPr/>
          </p:nvSpPr>
          <p:spPr>
            <a:xfrm rot="0">
              <a:off x="0" y="411593"/>
              <a:ext cx="1849392" cy="396240"/>
            </a:xfrm>
            <a:prstGeom prst="rect">
              <a:avLst/>
            </a:prstGeom>
          </p:spPr>
          <p:txBody>
            <a:bodyPr anchor="t" rtlCol="false" tIns="0" lIns="0" bIns="0" rIns="0">
              <a:spAutoFit/>
            </a:bodyPr>
            <a:lstStyle/>
            <a:p>
              <a:pPr algn="l">
                <a:lnSpc>
                  <a:spcPts val="2520"/>
                </a:lnSpc>
                <a:spcBef>
                  <a:spcPct val="0"/>
                </a:spcBef>
              </a:pPr>
              <a:r>
                <a:rPr lang="en-US" sz="1800">
                  <a:solidFill>
                    <a:srgbClr val="FFFFFF"/>
                  </a:solidFill>
                  <a:latin typeface="Inter"/>
                  <a:ea typeface="Inter"/>
                  <a:cs typeface="Inter"/>
                  <a:sym typeface="Inter"/>
                </a:rPr>
                <a:t>6CF97</a:t>
              </a:r>
            </a:p>
          </p:txBody>
        </p:sp>
      </p:grpSp>
      <p:grpSp>
        <p:nvGrpSpPr>
          <p:cNvPr name="Group 14" id="14"/>
          <p:cNvGrpSpPr/>
          <p:nvPr/>
        </p:nvGrpSpPr>
        <p:grpSpPr>
          <a:xfrm rot="0">
            <a:off x="7479409" y="8652425"/>
            <a:ext cx="1635668" cy="605875"/>
            <a:chOff x="0" y="0"/>
            <a:chExt cx="2180891" cy="807833"/>
          </a:xfrm>
        </p:grpSpPr>
        <p:sp>
          <p:nvSpPr>
            <p:cNvPr name="TextBox 15" id="15"/>
            <p:cNvSpPr txBox="true"/>
            <p:nvPr/>
          </p:nvSpPr>
          <p:spPr>
            <a:xfrm rot="0">
              <a:off x="0" y="-38100"/>
              <a:ext cx="2180891" cy="396240"/>
            </a:xfrm>
            <a:prstGeom prst="rect">
              <a:avLst/>
            </a:prstGeom>
          </p:spPr>
          <p:txBody>
            <a:bodyPr anchor="t" rtlCol="false" tIns="0" lIns="0" bIns="0" rIns="0">
              <a:spAutoFit/>
            </a:bodyPr>
            <a:lstStyle/>
            <a:p>
              <a:pPr algn="l">
                <a:lnSpc>
                  <a:spcPts val="2520"/>
                </a:lnSpc>
              </a:pPr>
              <a:r>
                <a:rPr lang="en-US" sz="1800" b="true">
                  <a:solidFill>
                    <a:srgbClr val="B6F220"/>
                  </a:solidFill>
                  <a:latin typeface="Neue Montreal Bold"/>
                  <a:ea typeface="Neue Montreal Bold"/>
                  <a:cs typeface="Neue Montreal Bold"/>
                  <a:sym typeface="Neue Montreal Bold"/>
                </a:rPr>
                <a:t>DUNS Number</a:t>
              </a:r>
            </a:p>
          </p:txBody>
        </p:sp>
        <p:sp>
          <p:nvSpPr>
            <p:cNvPr name="TextBox 16" id="16"/>
            <p:cNvSpPr txBox="true"/>
            <p:nvPr/>
          </p:nvSpPr>
          <p:spPr>
            <a:xfrm rot="0">
              <a:off x="0" y="411593"/>
              <a:ext cx="2180891" cy="396240"/>
            </a:xfrm>
            <a:prstGeom prst="rect">
              <a:avLst/>
            </a:prstGeom>
          </p:spPr>
          <p:txBody>
            <a:bodyPr anchor="t" rtlCol="false" tIns="0" lIns="0" bIns="0" rIns="0">
              <a:spAutoFit/>
            </a:bodyPr>
            <a:lstStyle/>
            <a:p>
              <a:pPr algn="l">
                <a:lnSpc>
                  <a:spcPts val="2520"/>
                </a:lnSpc>
              </a:pPr>
              <a:r>
                <a:rPr lang="en-US" sz="1800">
                  <a:solidFill>
                    <a:srgbClr val="FFFFFF"/>
                  </a:solidFill>
                  <a:latin typeface="Inter"/>
                  <a:ea typeface="Inter"/>
                  <a:cs typeface="Inter"/>
                  <a:sym typeface="Inter"/>
                </a:rPr>
                <a:t>015234069</a:t>
              </a:r>
            </a:p>
          </p:txBody>
        </p:sp>
      </p:grpSp>
      <p:sp>
        <p:nvSpPr>
          <p:cNvPr name="Freeform 17" id="17"/>
          <p:cNvSpPr/>
          <p:nvPr/>
        </p:nvSpPr>
        <p:spPr>
          <a:xfrm flipH="false" flipV="false" rot="0">
            <a:off x="1028700" y="4298565"/>
            <a:ext cx="11317483" cy="1689871"/>
          </a:xfrm>
          <a:custGeom>
            <a:avLst/>
            <a:gdLst/>
            <a:ahLst/>
            <a:cxnLst/>
            <a:rect r="r" b="b" t="t" l="l"/>
            <a:pathLst>
              <a:path h="1689871" w="11317483">
                <a:moveTo>
                  <a:pt x="0" y="0"/>
                </a:moveTo>
                <a:lnTo>
                  <a:pt x="11317483" y="0"/>
                </a:lnTo>
                <a:lnTo>
                  <a:pt x="11317483" y="1689870"/>
                </a:lnTo>
                <a:lnTo>
                  <a:pt x="0" y="16898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1550" y="2860675"/>
            <a:ext cx="6462712"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About Us</a:t>
            </a:r>
          </a:p>
        </p:txBody>
      </p:sp>
      <p:sp>
        <p:nvSpPr>
          <p:cNvPr name="TextBox 4" id="4"/>
          <p:cNvSpPr txBox="true"/>
          <p:nvPr/>
        </p:nvSpPr>
        <p:spPr>
          <a:xfrm rot="0">
            <a:off x="1028700" y="4277360"/>
            <a:ext cx="8372475" cy="21012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Ortus Solutions is a leading innovator in software development, dedicated to delivering cutting-edge web-based solutions. With a strong commitment to quality and innovation, we provide expert services in modern application development.</a:t>
            </a:r>
          </a:p>
        </p:txBody>
      </p:sp>
      <p:sp>
        <p:nvSpPr>
          <p:cNvPr name="TextBox 5" id="5"/>
          <p:cNvSpPr txBox="true"/>
          <p:nvPr/>
        </p:nvSpPr>
        <p:spPr>
          <a:xfrm rot="0">
            <a:off x="1028700" y="7677158"/>
            <a:ext cx="3174206"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Formed 2006,</a:t>
            </a:r>
            <a:r>
              <a:rPr lang="en-US" sz="1800">
                <a:solidFill>
                  <a:srgbClr val="0D0D0D"/>
                </a:solidFill>
                <a:latin typeface="Poppins"/>
                <a:ea typeface="Poppins"/>
                <a:cs typeface="Poppins"/>
                <a:sym typeface="Poppins"/>
              </a:rPr>
              <a:t> Ortus Solutions is an established professional software development firm.</a:t>
            </a:r>
          </a:p>
        </p:txBody>
      </p:sp>
      <p:sp>
        <p:nvSpPr>
          <p:cNvPr name="TextBox 6" id="6"/>
          <p:cNvSpPr txBox="true"/>
          <p:nvPr/>
        </p:nvSpPr>
        <p:spPr>
          <a:xfrm rot="0">
            <a:off x="4572967" y="7677158"/>
            <a:ext cx="2286893"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8a-certified </a:t>
            </a:r>
            <a:r>
              <a:rPr lang="en-US" sz="1800">
                <a:solidFill>
                  <a:srgbClr val="0D0D0D"/>
                </a:solidFill>
                <a:latin typeface="Poppins"/>
                <a:ea typeface="Poppins"/>
                <a:cs typeface="Poppins"/>
                <a:sym typeface="Poppins"/>
              </a:rPr>
              <a:t>small business with a proven track record of excellence.</a:t>
            </a:r>
          </a:p>
        </p:txBody>
      </p:sp>
      <p:sp>
        <p:nvSpPr>
          <p:cNvPr name="TextBox 7" id="7"/>
          <p:cNvSpPr txBox="true"/>
          <p:nvPr/>
        </p:nvSpPr>
        <p:spPr>
          <a:xfrm rot="0">
            <a:off x="7229921" y="7677158"/>
            <a:ext cx="3174206" cy="1268730"/>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Specialized in </a:t>
            </a:r>
            <a:r>
              <a:rPr lang="en-US" sz="1800" b="true">
                <a:solidFill>
                  <a:srgbClr val="0D0D0D"/>
                </a:solidFill>
                <a:latin typeface="Poppins Bold"/>
                <a:ea typeface="Poppins Bold"/>
                <a:cs typeface="Poppins Bold"/>
                <a:sym typeface="Poppins Bold"/>
              </a:rPr>
              <a:t>mobile and web application design, development and deployment.</a:t>
            </a:r>
          </a:p>
        </p:txBody>
      </p:sp>
      <p:sp>
        <p:nvSpPr>
          <p:cNvPr name="TextBox 8" id="8"/>
          <p:cNvSpPr txBox="true"/>
          <p:nvPr/>
        </p:nvSpPr>
        <p:spPr>
          <a:xfrm rot="0">
            <a:off x="10774189" y="7677158"/>
            <a:ext cx="2668875"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Creators of 350+ web development tools</a:t>
            </a:r>
            <a:r>
              <a:rPr lang="en-US" sz="1800">
                <a:solidFill>
                  <a:srgbClr val="0D0D0D"/>
                </a:solidFill>
                <a:latin typeface="Poppins"/>
                <a:ea typeface="Poppins"/>
                <a:cs typeface="Poppins"/>
                <a:sym typeface="Poppins"/>
              </a:rPr>
              <a:t> powering application across the world.</a:t>
            </a:r>
          </a:p>
        </p:txBody>
      </p:sp>
      <p:sp>
        <p:nvSpPr>
          <p:cNvPr name="TextBox 9" id="9"/>
          <p:cNvSpPr txBox="true"/>
          <p:nvPr/>
        </p:nvSpPr>
        <p:spPr>
          <a:xfrm rot="0">
            <a:off x="13813125" y="7677158"/>
            <a:ext cx="3174206" cy="1268730"/>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Bold"/>
                <a:ea typeface="Poppins Bold"/>
                <a:cs typeface="Poppins Bold"/>
                <a:sym typeface="Poppins Bold"/>
              </a:rPr>
              <a:t>Open Source Software publishers</a:t>
            </a:r>
            <a:r>
              <a:rPr lang="en-US" sz="1800">
                <a:solidFill>
                  <a:srgbClr val="0D0D0D"/>
                </a:solidFill>
                <a:latin typeface="Poppins"/>
                <a:ea typeface="Poppins"/>
                <a:cs typeface="Poppins"/>
                <a:sym typeface="Poppins"/>
              </a:rPr>
              <a:t> with a focus on empowering business and developers alike</a:t>
            </a:r>
          </a:p>
        </p:txBody>
      </p:sp>
      <p:sp>
        <p:nvSpPr>
          <p:cNvPr name="AutoShape 10" id="10"/>
          <p:cNvSpPr/>
          <p:nvPr/>
        </p:nvSpPr>
        <p:spPr>
          <a:xfrm>
            <a:off x="4387937" y="7586663"/>
            <a:ext cx="0" cy="1506872"/>
          </a:xfrm>
          <a:prstGeom prst="line">
            <a:avLst/>
          </a:prstGeom>
          <a:ln cap="flat" w="9525">
            <a:solidFill>
              <a:srgbClr val="0D0D0D"/>
            </a:solidFill>
            <a:prstDash val="solid"/>
            <a:headEnd type="none" len="sm" w="sm"/>
            <a:tailEnd type="none" len="sm" w="sm"/>
          </a:ln>
        </p:spPr>
      </p:sp>
      <p:sp>
        <p:nvSpPr>
          <p:cNvPr name="AutoShape 11" id="11"/>
          <p:cNvSpPr/>
          <p:nvPr/>
        </p:nvSpPr>
        <p:spPr>
          <a:xfrm>
            <a:off x="7044891" y="7586663"/>
            <a:ext cx="0" cy="1506872"/>
          </a:xfrm>
          <a:prstGeom prst="line">
            <a:avLst/>
          </a:prstGeom>
          <a:ln cap="flat" w="9525">
            <a:solidFill>
              <a:srgbClr val="0D0D0D"/>
            </a:solidFill>
            <a:prstDash val="solid"/>
            <a:headEnd type="none" len="sm" w="sm"/>
            <a:tailEnd type="none" len="sm" w="sm"/>
          </a:ln>
        </p:spPr>
      </p:sp>
      <p:sp>
        <p:nvSpPr>
          <p:cNvPr name="AutoShape 12" id="12"/>
          <p:cNvSpPr/>
          <p:nvPr/>
        </p:nvSpPr>
        <p:spPr>
          <a:xfrm>
            <a:off x="10589158" y="7586663"/>
            <a:ext cx="0" cy="1506872"/>
          </a:xfrm>
          <a:prstGeom prst="line">
            <a:avLst/>
          </a:prstGeom>
          <a:ln cap="flat" w="9525">
            <a:solidFill>
              <a:srgbClr val="0D0D0D"/>
            </a:solidFill>
            <a:prstDash val="solid"/>
            <a:headEnd type="none" len="sm" w="sm"/>
            <a:tailEnd type="none" len="sm" w="sm"/>
          </a:ln>
        </p:spPr>
      </p:sp>
      <p:sp>
        <p:nvSpPr>
          <p:cNvPr name="AutoShape 13" id="13"/>
          <p:cNvSpPr/>
          <p:nvPr/>
        </p:nvSpPr>
        <p:spPr>
          <a:xfrm>
            <a:off x="13628095" y="7586663"/>
            <a:ext cx="0" cy="1506872"/>
          </a:xfrm>
          <a:prstGeom prst="line">
            <a:avLst/>
          </a:prstGeom>
          <a:ln cap="flat" w="9525">
            <a:solidFill>
              <a:srgbClr val="0D0D0D"/>
            </a:solidFill>
            <a:prstDash val="solid"/>
            <a:headEnd type="none" len="sm" w="sm"/>
            <a:tailEnd type="none" len="sm" w="sm"/>
          </a:ln>
        </p:spPr>
      </p:sp>
      <p:sp>
        <p:nvSpPr>
          <p:cNvPr name="Freeform 14" id="14"/>
          <p:cNvSpPr/>
          <p:nvPr/>
        </p:nvSpPr>
        <p:spPr>
          <a:xfrm flipH="false" flipV="false" rot="0">
            <a:off x="12511194" y="4725035"/>
            <a:ext cx="1150066" cy="1151986"/>
          </a:xfrm>
          <a:custGeom>
            <a:avLst/>
            <a:gdLst/>
            <a:ahLst/>
            <a:cxnLst/>
            <a:rect r="r" b="b" t="t" l="l"/>
            <a:pathLst>
              <a:path h="1151986" w="1150066">
                <a:moveTo>
                  <a:pt x="0" y="0"/>
                </a:moveTo>
                <a:lnTo>
                  <a:pt x="1150066" y="0"/>
                </a:lnTo>
                <a:lnTo>
                  <a:pt x="1150066" y="1151986"/>
                </a:lnTo>
                <a:lnTo>
                  <a:pt x="0" y="1151986"/>
                </a:lnTo>
                <a:lnTo>
                  <a:pt x="0" y="0"/>
                </a:lnTo>
                <a:close/>
              </a:path>
            </a:pathLst>
          </a:custGeom>
          <a:blipFill>
            <a:blip r:embed="rId4"/>
            <a:stretch>
              <a:fillRect l="0" t="0" r="0" b="0"/>
            </a:stretch>
          </a:blipFill>
        </p:spPr>
      </p:sp>
      <p:sp>
        <p:nvSpPr>
          <p:cNvPr name="TextBox 15" id="15"/>
          <p:cNvSpPr txBox="true"/>
          <p:nvPr/>
        </p:nvSpPr>
        <p:spPr>
          <a:xfrm rot="0">
            <a:off x="13906567" y="4994324"/>
            <a:ext cx="2620767" cy="306705"/>
          </a:xfrm>
          <a:prstGeom prst="rect">
            <a:avLst/>
          </a:prstGeom>
        </p:spPr>
        <p:txBody>
          <a:bodyPr anchor="t" rtlCol="false" tIns="0" lIns="0" bIns="0" rIns="0">
            <a:spAutoFit/>
          </a:bodyPr>
          <a:lstStyle/>
          <a:p>
            <a:pPr algn="l">
              <a:lnSpc>
                <a:spcPts val="2520"/>
              </a:lnSpc>
            </a:pPr>
            <a:r>
              <a:rPr lang="en-US" sz="1800" b="true">
                <a:solidFill>
                  <a:srgbClr val="0D0D0D"/>
                </a:solidFill>
                <a:latin typeface="Neue Montreal Bold"/>
                <a:ea typeface="Neue Montreal Bold"/>
                <a:cs typeface="Neue Montreal Bold"/>
                <a:sym typeface="Neue Montreal Bold"/>
              </a:rPr>
              <a:t>GSA Contract Number</a:t>
            </a:r>
          </a:p>
        </p:txBody>
      </p:sp>
      <p:sp>
        <p:nvSpPr>
          <p:cNvPr name="TextBox 16" id="16"/>
          <p:cNvSpPr txBox="true"/>
          <p:nvPr/>
        </p:nvSpPr>
        <p:spPr>
          <a:xfrm rot="0">
            <a:off x="13906567" y="5331594"/>
            <a:ext cx="2276514" cy="3067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47QTCA23D00DH</a:t>
            </a:r>
          </a:p>
        </p:txBody>
      </p:sp>
      <p:sp>
        <p:nvSpPr>
          <p:cNvPr name="Freeform 17" id="17"/>
          <p:cNvSpPr/>
          <p:nvPr/>
        </p:nvSpPr>
        <p:spPr>
          <a:xfrm flipH="false" flipV="false" rot="0">
            <a:off x="10717917" y="4725035"/>
            <a:ext cx="1151986" cy="1151986"/>
          </a:xfrm>
          <a:custGeom>
            <a:avLst/>
            <a:gdLst/>
            <a:ahLst/>
            <a:cxnLst/>
            <a:rect r="r" b="b" t="t" l="l"/>
            <a:pathLst>
              <a:path h="1151986" w="1151986">
                <a:moveTo>
                  <a:pt x="0" y="0"/>
                </a:moveTo>
                <a:lnTo>
                  <a:pt x="1151986" y="0"/>
                </a:lnTo>
                <a:lnTo>
                  <a:pt x="1151986" y="1151986"/>
                </a:lnTo>
                <a:lnTo>
                  <a:pt x="0" y="1151986"/>
                </a:lnTo>
                <a:lnTo>
                  <a:pt x="0" y="0"/>
                </a:lnTo>
                <a:close/>
              </a:path>
            </a:pathLst>
          </a:custGeom>
          <a:blipFill>
            <a:blip r:embed="rId5"/>
            <a:stretch>
              <a:fillRect l="0" t="0" r="0" b="0"/>
            </a:stretch>
          </a:blipFill>
        </p:spPr>
      </p:sp>
      <p:sp>
        <p:nvSpPr>
          <p:cNvPr name="Freeform 18" id="18"/>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820974" y="8070838"/>
            <a:ext cx="655139" cy="655139"/>
          </a:xfrm>
          <a:custGeom>
            <a:avLst/>
            <a:gdLst/>
            <a:ahLst/>
            <a:cxnLst/>
            <a:rect r="r" b="b" t="t" l="l"/>
            <a:pathLst>
              <a:path h="655139" w="655139">
                <a:moveTo>
                  <a:pt x="0" y="0"/>
                </a:moveTo>
                <a:lnTo>
                  <a:pt x="655139" y="0"/>
                </a:lnTo>
                <a:lnTo>
                  <a:pt x="655139" y="655139"/>
                </a:lnTo>
                <a:lnTo>
                  <a:pt x="0" y="655139"/>
                </a:lnTo>
                <a:lnTo>
                  <a:pt x="0" y="0"/>
                </a:lnTo>
                <a:close/>
              </a:path>
            </a:pathLst>
          </a:custGeom>
          <a:blipFill>
            <a:blip r:embed="rId2"/>
            <a:stretch>
              <a:fillRect l="0" t="0" r="0" b="0"/>
            </a:stretch>
          </a:blipFill>
        </p:spPr>
      </p:sp>
      <p:sp>
        <p:nvSpPr>
          <p:cNvPr name="Freeform 3" id="3"/>
          <p:cNvSpPr/>
          <p:nvPr/>
        </p:nvSpPr>
        <p:spPr>
          <a:xfrm flipH="false" flipV="false" rot="0">
            <a:off x="11070804" y="8105229"/>
            <a:ext cx="608482" cy="586355"/>
          </a:xfrm>
          <a:custGeom>
            <a:avLst/>
            <a:gdLst/>
            <a:ahLst/>
            <a:cxnLst/>
            <a:rect r="r" b="b" t="t" l="l"/>
            <a:pathLst>
              <a:path h="586355" w="608482">
                <a:moveTo>
                  <a:pt x="0" y="0"/>
                </a:moveTo>
                <a:lnTo>
                  <a:pt x="608482" y="0"/>
                </a:lnTo>
                <a:lnTo>
                  <a:pt x="608482" y="586356"/>
                </a:lnTo>
                <a:lnTo>
                  <a:pt x="0" y="586356"/>
                </a:lnTo>
                <a:lnTo>
                  <a:pt x="0" y="0"/>
                </a:lnTo>
                <a:close/>
              </a:path>
            </a:pathLst>
          </a:custGeom>
          <a:blipFill>
            <a:blip r:embed="rId3"/>
            <a:stretch>
              <a:fillRect l="0" t="0" r="0" b="0"/>
            </a:stretch>
          </a:blipFill>
        </p:spPr>
      </p:sp>
      <p:sp>
        <p:nvSpPr>
          <p:cNvPr name="Freeform 4" id="4"/>
          <p:cNvSpPr/>
          <p:nvPr/>
        </p:nvSpPr>
        <p:spPr>
          <a:xfrm flipH="false" flipV="false" rot="0">
            <a:off x="12273976" y="8200730"/>
            <a:ext cx="961673" cy="395355"/>
          </a:xfrm>
          <a:custGeom>
            <a:avLst/>
            <a:gdLst/>
            <a:ahLst/>
            <a:cxnLst/>
            <a:rect r="r" b="b" t="t" l="l"/>
            <a:pathLst>
              <a:path h="395355" w="961673">
                <a:moveTo>
                  <a:pt x="0" y="0"/>
                </a:moveTo>
                <a:lnTo>
                  <a:pt x="961673" y="0"/>
                </a:lnTo>
                <a:lnTo>
                  <a:pt x="961673" y="395354"/>
                </a:lnTo>
                <a:lnTo>
                  <a:pt x="0" y="395354"/>
                </a:lnTo>
                <a:lnTo>
                  <a:pt x="0" y="0"/>
                </a:lnTo>
                <a:close/>
              </a:path>
            </a:pathLst>
          </a:custGeom>
          <a:blipFill>
            <a:blip r:embed="rId4"/>
            <a:stretch>
              <a:fillRect l="0" t="0" r="0" b="0"/>
            </a:stretch>
          </a:blipFill>
        </p:spPr>
      </p:sp>
      <p:sp>
        <p:nvSpPr>
          <p:cNvPr name="Freeform 5" id="5"/>
          <p:cNvSpPr/>
          <p:nvPr/>
        </p:nvSpPr>
        <p:spPr>
          <a:xfrm flipH="false" flipV="false" rot="0">
            <a:off x="13830340" y="8069393"/>
            <a:ext cx="668310" cy="658029"/>
          </a:xfrm>
          <a:custGeom>
            <a:avLst/>
            <a:gdLst/>
            <a:ahLst/>
            <a:cxnLst/>
            <a:rect r="r" b="b" t="t" l="l"/>
            <a:pathLst>
              <a:path h="658029" w="668310">
                <a:moveTo>
                  <a:pt x="0" y="0"/>
                </a:moveTo>
                <a:lnTo>
                  <a:pt x="668310" y="0"/>
                </a:lnTo>
                <a:lnTo>
                  <a:pt x="668310" y="658028"/>
                </a:lnTo>
                <a:lnTo>
                  <a:pt x="0" y="658028"/>
                </a:lnTo>
                <a:lnTo>
                  <a:pt x="0" y="0"/>
                </a:lnTo>
                <a:close/>
              </a:path>
            </a:pathLst>
          </a:custGeom>
          <a:blipFill>
            <a:blip r:embed="rId5"/>
            <a:stretch>
              <a:fillRect l="0" t="0" r="0" b="0"/>
            </a:stretch>
          </a:blipFill>
        </p:spPr>
      </p:sp>
      <p:sp>
        <p:nvSpPr>
          <p:cNvPr name="Freeform 6" id="6"/>
          <p:cNvSpPr/>
          <p:nvPr/>
        </p:nvSpPr>
        <p:spPr>
          <a:xfrm flipH="false" flipV="false" rot="0">
            <a:off x="15093341" y="8088057"/>
            <a:ext cx="695185" cy="620701"/>
          </a:xfrm>
          <a:custGeom>
            <a:avLst/>
            <a:gdLst/>
            <a:ahLst/>
            <a:cxnLst/>
            <a:rect r="r" b="b" t="t" l="l"/>
            <a:pathLst>
              <a:path h="620701" w="695185">
                <a:moveTo>
                  <a:pt x="0" y="0"/>
                </a:moveTo>
                <a:lnTo>
                  <a:pt x="695185" y="0"/>
                </a:lnTo>
                <a:lnTo>
                  <a:pt x="695185" y="620701"/>
                </a:lnTo>
                <a:lnTo>
                  <a:pt x="0" y="620701"/>
                </a:lnTo>
                <a:lnTo>
                  <a:pt x="0" y="0"/>
                </a:lnTo>
                <a:close/>
              </a:path>
            </a:pathLst>
          </a:custGeom>
          <a:blipFill>
            <a:blip r:embed="rId6"/>
            <a:stretch>
              <a:fillRect l="0" t="0" r="0" b="0"/>
            </a:stretch>
          </a:blipFill>
        </p:spPr>
      </p:sp>
      <p:sp>
        <p:nvSpPr>
          <p:cNvPr name="Freeform 7" id="7"/>
          <p:cNvSpPr/>
          <p:nvPr/>
        </p:nvSpPr>
        <p:spPr>
          <a:xfrm flipH="false" flipV="false" rot="0">
            <a:off x="16383217" y="8288828"/>
            <a:ext cx="1188062" cy="219157"/>
          </a:xfrm>
          <a:custGeom>
            <a:avLst/>
            <a:gdLst/>
            <a:ahLst/>
            <a:cxnLst/>
            <a:rect r="r" b="b" t="t" l="l"/>
            <a:pathLst>
              <a:path h="219157" w="1188062">
                <a:moveTo>
                  <a:pt x="0" y="0"/>
                </a:moveTo>
                <a:lnTo>
                  <a:pt x="1188062" y="0"/>
                </a:lnTo>
                <a:lnTo>
                  <a:pt x="1188062" y="219158"/>
                </a:lnTo>
                <a:lnTo>
                  <a:pt x="0" y="219158"/>
                </a:lnTo>
                <a:lnTo>
                  <a:pt x="0" y="0"/>
                </a:lnTo>
                <a:close/>
              </a:path>
            </a:pathLst>
          </a:custGeom>
          <a:blipFill>
            <a:blip r:embed="rId7"/>
            <a:stretch>
              <a:fillRect l="0" t="0" r="0" b="0"/>
            </a:stretch>
          </a:blipFill>
        </p:spPr>
      </p:sp>
      <p:sp>
        <p:nvSpPr>
          <p:cNvPr name="Freeform 8" id="8"/>
          <p:cNvSpPr/>
          <p:nvPr/>
        </p:nvSpPr>
        <p:spPr>
          <a:xfrm flipH="false" flipV="false" rot="0">
            <a:off x="15302201" y="3919859"/>
            <a:ext cx="635690" cy="635690"/>
          </a:xfrm>
          <a:custGeom>
            <a:avLst/>
            <a:gdLst/>
            <a:ahLst/>
            <a:cxnLst/>
            <a:rect r="r" b="b" t="t" l="l"/>
            <a:pathLst>
              <a:path h="635690" w="635690">
                <a:moveTo>
                  <a:pt x="0" y="0"/>
                </a:moveTo>
                <a:lnTo>
                  <a:pt x="635690" y="0"/>
                </a:lnTo>
                <a:lnTo>
                  <a:pt x="635690" y="635690"/>
                </a:lnTo>
                <a:lnTo>
                  <a:pt x="0" y="635690"/>
                </a:lnTo>
                <a:lnTo>
                  <a:pt x="0" y="0"/>
                </a:lnTo>
                <a:close/>
              </a:path>
            </a:pathLst>
          </a:custGeom>
          <a:blipFill>
            <a:blip r:embed="rId8"/>
            <a:stretch>
              <a:fillRect l="0" t="0" r="0" b="0"/>
            </a:stretch>
          </a:blipFill>
        </p:spPr>
      </p:sp>
      <p:sp>
        <p:nvSpPr>
          <p:cNvPr name="Freeform 9" id="9"/>
          <p:cNvSpPr/>
          <p:nvPr/>
        </p:nvSpPr>
        <p:spPr>
          <a:xfrm flipH="false" flipV="false" rot="0">
            <a:off x="9574706" y="4050591"/>
            <a:ext cx="1190073" cy="374226"/>
          </a:xfrm>
          <a:custGeom>
            <a:avLst/>
            <a:gdLst/>
            <a:ahLst/>
            <a:cxnLst/>
            <a:rect r="r" b="b" t="t" l="l"/>
            <a:pathLst>
              <a:path h="374226" w="1190073">
                <a:moveTo>
                  <a:pt x="0" y="0"/>
                </a:moveTo>
                <a:lnTo>
                  <a:pt x="1190073" y="0"/>
                </a:lnTo>
                <a:lnTo>
                  <a:pt x="1190073" y="374226"/>
                </a:lnTo>
                <a:lnTo>
                  <a:pt x="0" y="374226"/>
                </a:lnTo>
                <a:lnTo>
                  <a:pt x="0" y="0"/>
                </a:lnTo>
                <a:close/>
              </a:path>
            </a:pathLst>
          </a:custGeom>
          <a:blipFill>
            <a:blip r:embed="rId9"/>
            <a:stretch>
              <a:fillRect l="0" t="-109004" r="0" b="-109004"/>
            </a:stretch>
          </a:blipFill>
        </p:spPr>
      </p:sp>
      <p:sp>
        <p:nvSpPr>
          <p:cNvPr name="Freeform 10" id="10"/>
          <p:cNvSpPr/>
          <p:nvPr/>
        </p:nvSpPr>
        <p:spPr>
          <a:xfrm flipH="false" flipV="false" rot="0">
            <a:off x="11238737" y="4086437"/>
            <a:ext cx="1187726" cy="302534"/>
          </a:xfrm>
          <a:custGeom>
            <a:avLst/>
            <a:gdLst/>
            <a:ahLst/>
            <a:cxnLst/>
            <a:rect r="r" b="b" t="t" l="l"/>
            <a:pathLst>
              <a:path h="302534" w="1187726">
                <a:moveTo>
                  <a:pt x="0" y="0"/>
                </a:moveTo>
                <a:lnTo>
                  <a:pt x="1187725" y="0"/>
                </a:lnTo>
                <a:lnTo>
                  <a:pt x="1187725" y="302534"/>
                </a:lnTo>
                <a:lnTo>
                  <a:pt x="0" y="302534"/>
                </a:lnTo>
                <a:lnTo>
                  <a:pt x="0" y="0"/>
                </a:lnTo>
                <a:close/>
              </a:path>
            </a:pathLst>
          </a:custGeom>
          <a:blipFill>
            <a:blip r:embed="rId10"/>
            <a:stretch>
              <a:fillRect l="0" t="0" r="0" b="0"/>
            </a:stretch>
          </a:blipFill>
        </p:spPr>
      </p:sp>
      <p:sp>
        <p:nvSpPr>
          <p:cNvPr name="Freeform 11" id="11"/>
          <p:cNvSpPr/>
          <p:nvPr/>
        </p:nvSpPr>
        <p:spPr>
          <a:xfrm flipH="false" flipV="false" rot="0">
            <a:off x="14102507" y="3881316"/>
            <a:ext cx="725736" cy="712777"/>
          </a:xfrm>
          <a:custGeom>
            <a:avLst/>
            <a:gdLst/>
            <a:ahLst/>
            <a:cxnLst/>
            <a:rect r="r" b="b" t="t" l="l"/>
            <a:pathLst>
              <a:path h="712777" w="725736">
                <a:moveTo>
                  <a:pt x="0" y="0"/>
                </a:moveTo>
                <a:lnTo>
                  <a:pt x="725737" y="0"/>
                </a:lnTo>
                <a:lnTo>
                  <a:pt x="725737" y="712777"/>
                </a:lnTo>
                <a:lnTo>
                  <a:pt x="0" y="712777"/>
                </a:lnTo>
                <a:lnTo>
                  <a:pt x="0" y="0"/>
                </a:lnTo>
                <a:close/>
              </a:path>
            </a:pathLst>
          </a:custGeom>
          <a:blipFill>
            <a:blip r:embed="rId11"/>
            <a:stretch>
              <a:fillRect l="0" t="0" r="0" b="0"/>
            </a:stretch>
          </a:blipFill>
        </p:spPr>
      </p:sp>
      <p:sp>
        <p:nvSpPr>
          <p:cNvPr name="Freeform 12" id="12"/>
          <p:cNvSpPr/>
          <p:nvPr/>
        </p:nvSpPr>
        <p:spPr>
          <a:xfrm flipH="false" flipV="false" rot="0">
            <a:off x="12900420" y="3979336"/>
            <a:ext cx="728129" cy="516737"/>
          </a:xfrm>
          <a:custGeom>
            <a:avLst/>
            <a:gdLst/>
            <a:ahLst/>
            <a:cxnLst/>
            <a:rect r="r" b="b" t="t" l="l"/>
            <a:pathLst>
              <a:path h="516737" w="728129">
                <a:moveTo>
                  <a:pt x="0" y="0"/>
                </a:moveTo>
                <a:lnTo>
                  <a:pt x="728129" y="0"/>
                </a:lnTo>
                <a:lnTo>
                  <a:pt x="728129" y="516737"/>
                </a:lnTo>
                <a:lnTo>
                  <a:pt x="0" y="516737"/>
                </a:lnTo>
                <a:lnTo>
                  <a:pt x="0" y="0"/>
                </a:lnTo>
                <a:close/>
              </a:path>
            </a:pathLst>
          </a:custGeom>
          <a:blipFill>
            <a:blip r:embed="rId12"/>
            <a:stretch>
              <a:fillRect l="0" t="0" r="0" b="0"/>
            </a:stretch>
          </a:blipFill>
        </p:spPr>
      </p:sp>
      <p:sp>
        <p:nvSpPr>
          <p:cNvPr name="Freeform 13" id="13"/>
          <p:cNvSpPr/>
          <p:nvPr/>
        </p:nvSpPr>
        <p:spPr>
          <a:xfrm flipH="false" flipV="false" rot="0">
            <a:off x="16411849" y="4115466"/>
            <a:ext cx="1173195" cy="244476"/>
          </a:xfrm>
          <a:custGeom>
            <a:avLst/>
            <a:gdLst/>
            <a:ahLst/>
            <a:cxnLst/>
            <a:rect r="r" b="b" t="t" l="l"/>
            <a:pathLst>
              <a:path h="244476" w="1173195">
                <a:moveTo>
                  <a:pt x="0" y="0"/>
                </a:moveTo>
                <a:lnTo>
                  <a:pt x="1173196" y="0"/>
                </a:lnTo>
                <a:lnTo>
                  <a:pt x="1173196" y="244476"/>
                </a:lnTo>
                <a:lnTo>
                  <a:pt x="0" y="244476"/>
                </a:lnTo>
                <a:lnTo>
                  <a:pt x="0" y="0"/>
                </a:lnTo>
                <a:close/>
              </a:path>
            </a:pathLst>
          </a:custGeom>
          <a:blipFill>
            <a:blip r:embed="rId13"/>
            <a:stretch>
              <a:fillRect l="0" t="-189940" r="0" b="-189940"/>
            </a:stretch>
          </a:blipFill>
        </p:spPr>
      </p:sp>
      <p:sp>
        <p:nvSpPr>
          <p:cNvPr name="Freeform 14" id="14"/>
          <p:cNvSpPr/>
          <p:nvPr/>
        </p:nvSpPr>
        <p:spPr>
          <a:xfrm flipH="false" flipV="false" rot="0">
            <a:off x="9524975" y="2926671"/>
            <a:ext cx="1289534" cy="322384"/>
          </a:xfrm>
          <a:custGeom>
            <a:avLst/>
            <a:gdLst/>
            <a:ahLst/>
            <a:cxnLst/>
            <a:rect r="r" b="b" t="t" l="l"/>
            <a:pathLst>
              <a:path h="322384" w="1289534">
                <a:moveTo>
                  <a:pt x="0" y="0"/>
                </a:moveTo>
                <a:lnTo>
                  <a:pt x="1289534" y="0"/>
                </a:lnTo>
                <a:lnTo>
                  <a:pt x="1289534" y="322384"/>
                </a:lnTo>
                <a:lnTo>
                  <a:pt x="0" y="322384"/>
                </a:lnTo>
                <a:lnTo>
                  <a:pt x="0" y="0"/>
                </a:lnTo>
                <a:close/>
              </a:path>
            </a:pathLst>
          </a:custGeom>
          <a:blipFill>
            <a:blip r:embed="rId14"/>
            <a:stretch>
              <a:fillRect l="0" t="0" r="0" b="0"/>
            </a:stretch>
          </a:blipFill>
        </p:spPr>
      </p:sp>
      <p:sp>
        <p:nvSpPr>
          <p:cNvPr name="Freeform 15" id="15"/>
          <p:cNvSpPr/>
          <p:nvPr/>
        </p:nvSpPr>
        <p:spPr>
          <a:xfrm flipH="false" flipV="false" rot="0">
            <a:off x="11334165" y="2650274"/>
            <a:ext cx="875179" cy="875179"/>
          </a:xfrm>
          <a:custGeom>
            <a:avLst/>
            <a:gdLst/>
            <a:ahLst/>
            <a:cxnLst/>
            <a:rect r="r" b="b" t="t" l="l"/>
            <a:pathLst>
              <a:path h="875179" w="875179">
                <a:moveTo>
                  <a:pt x="0" y="0"/>
                </a:moveTo>
                <a:lnTo>
                  <a:pt x="875178" y="0"/>
                </a:lnTo>
                <a:lnTo>
                  <a:pt x="875178" y="875179"/>
                </a:lnTo>
                <a:lnTo>
                  <a:pt x="0" y="875179"/>
                </a:lnTo>
                <a:lnTo>
                  <a:pt x="0" y="0"/>
                </a:lnTo>
                <a:close/>
              </a:path>
            </a:pathLst>
          </a:custGeom>
          <a:blipFill>
            <a:blip r:embed="rId15"/>
            <a:stretch>
              <a:fillRect l="0" t="0" r="0" b="0"/>
            </a:stretch>
          </a:blipFill>
        </p:spPr>
      </p:sp>
      <p:sp>
        <p:nvSpPr>
          <p:cNvPr name="Freeform 16" id="16"/>
          <p:cNvSpPr/>
          <p:nvPr/>
        </p:nvSpPr>
        <p:spPr>
          <a:xfrm flipH="false" flipV="false" rot="0">
            <a:off x="12728998" y="2706829"/>
            <a:ext cx="762069" cy="762069"/>
          </a:xfrm>
          <a:custGeom>
            <a:avLst/>
            <a:gdLst/>
            <a:ahLst/>
            <a:cxnLst/>
            <a:rect r="r" b="b" t="t" l="l"/>
            <a:pathLst>
              <a:path h="762069" w="762069">
                <a:moveTo>
                  <a:pt x="0" y="0"/>
                </a:moveTo>
                <a:lnTo>
                  <a:pt x="762069" y="0"/>
                </a:lnTo>
                <a:lnTo>
                  <a:pt x="762069" y="762069"/>
                </a:lnTo>
                <a:lnTo>
                  <a:pt x="0" y="762069"/>
                </a:lnTo>
                <a:lnTo>
                  <a:pt x="0" y="0"/>
                </a:lnTo>
                <a:close/>
              </a:path>
            </a:pathLst>
          </a:custGeom>
          <a:blipFill>
            <a:blip r:embed="rId16"/>
            <a:stretch>
              <a:fillRect l="0" t="0" r="0" b="0"/>
            </a:stretch>
          </a:blipFill>
        </p:spPr>
      </p:sp>
      <p:sp>
        <p:nvSpPr>
          <p:cNvPr name="Freeform 17" id="17"/>
          <p:cNvSpPr/>
          <p:nvPr/>
        </p:nvSpPr>
        <p:spPr>
          <a:xfrm flipH="false" flipV="false" rot="0">
            <a:off x="14010723" y="2919376"/>
            <a:ext cx="943171" cy="336974"/>
          </a:xfrm>
          <a:custGeom>
            <a:avLst/>
            <a:gdLst/>
            <a:ahLst/>
            <a:cxnLst/>
            <a:rect r="r" b="b" t="t" l="l"/>
            <a:pathLst>
              <a:path h="336974" w="943171">
                <a:moveTo>
                  <a:pt x="0" y="0"/>
                </a:moveTo>
                <a:lnTo>
                  <a:pt x="943171" y="0"/>
                </a:lnTo>
                <a:lnTo>
                  <a:pt x="943171" y="336974"/>
                </a:lnTo>
                <a:lnTo>
                  <a:pt x="0" y="336974"/>
                </a:lnTo>
                <a:lnTo>
                  <a:pt x="0" y="0"/>
                </a:lnTo>
                <a:close/>
              </a:path>
            </a:pathLst>
          </a:custGeom>
          <a:blipFill>
            <a:blip r:embed="rId17"/>
            <a:stretch>
              <a:fillRect l="0" t="0" r="0" b="0"/>
            </a:stretch>
          </a:blipFill>
        </p:spPr>
      </p:sp>
      <p:sp>
        <p:nvSpPr>
          <p:cNvPr name="Freeform 18" id="18"/>
          <p:cNvSpPr/>
          <p:nvPr/>
        </p:nvSpPr>
        <p:spPr>
          <a:xfrm flipH="false" flipV="false" rot="0">
            <a:off x="16685755" y="2768918"/>
            <a:ext cx="625383" cy="637891"/>
          </a:xfrm>
          <a:custGeom>
            <a:avLst/>
            <a:gdLst/>
            <a:ahLst/>
            <a:cxnLst/>
            <a:rect r="r" b="b" t="t" l="l"/>
            <a:pathLst>
              <a:path h="637891" w="625383">
                <a:moveTo>
                  <a:pt x="0" y="0"/>
                </a:moveTo>
                <a:lnTo>
                  <a:pt x="625384" y="0"/>
                </a:lnTo>
                <a:lnTo>
                  <a:pt x="625384" y="637891"/>
                </a:lnTo>
                <a:lnTo>
                  <a:pt x="0" y="637891"/>
                </a:lnTo>
                <a:lnTo>
                  <a:pt x="0" y="0"/>
                </a:lnTo>
                <a:close/>
              </a:path>
            </a:pathLst>
          </a:custGeom>
          <a:blipFill>
            <a:blip r:embed="rId18"/>
            <a:stretch>
              <a:fillRect l="0" t="0" r="0" b="0"/>
            </a:stretch>
          </a:blipFill>
        </p:spPr>
      </p:sp>
      <p:sp>
        <p:nvSpPr>
          <p:cNvPr name="Freeform 19" id="19"/>
          <p:cNvSpPr/>
          <p:nvPr/>
        </p:nvSpPr>
        <p:spPr>
          <a:xfrm flipH="false" flipV="false" rot="0">
            <a:off x="15473549" y="2833249"/>
            <a:ext cx="692551" cy="509229"/>
          </a:xfrm>
          <a:custGeom>
            <a:avLst/>
            <a:gdLst/>
            <a:ahLst/>
            <a:cxnLst/>
            <a:rect r="r" b="b" t="t" l="l"/>
            <a:pathLst>
              <a:path h="509229" w="692551">
                <a:moveTo>
                  <a:pt x="0" y="0"/>
                </a:moveTo>
                <a:lnTo>
                  <a:pt x="692551" y="0"/>
                </a:lnTo>
                <a:lnTo>
                  <a:pt x="692551" y="509229"/>
                </a:lnTo>
                <a:lnTo>
                  <a:pt x="0" y="509229"/>
                </a:lnTo>
                <a:lnTo>
                  <a:pt x="0" y="0"/>
                </a:lnTo>
                <a:close/>
              </a:path>
            </a:pathLst>
          </a:custGeom>
          <a:blipFill>
            <a:blip r:embed="rId19"/>
            <a:stretch>
              <a:fillRect l="0" t="0" r="0" b="0"/>
            </a:stretch>
          </a:blipFill>
        </p:spPr>
      </p:sp>
      <p:sp>
        <p:nvSpPr>
          <p:cNvPr name="Freeform 20" id="20"/>
          <p:cNvSpPr/>
          <p:nvPr/>
        </p:nvSpPr>
        <p:spPr>
          <a:xfrm flipH="false" flipV="false" rot="0">
            <a:off x="9807771" y="1565023"/>
            <a:ext cx="723944" cy="723944"/>
          </a:xfrm>
          <a:custGeom>
            <a:avLst/>
            <a:gdLst/>
            <a:ahLst/>
            <a:cxnLst/>
            <a:rect r="r" b="b" t="t" l="l"/>
            <a:pathLst>
              <a:path h="723944" w="723944">
                <a:moveTo>
                  <a:pt x="0" y="0"/>
                </a:moveTo>
                <a:lnTo>
                  <a:pt x="723943" y="0"/>
                </a:lnTo>
                <a:lnTo>
                  <a:pt x="723943" y="723943"/>
                </a:lnTo>
                <a:lnTo>
                  <a:pt x="0" y="723943"/>
                </a:lnTo>
                <a:lnTo>
                  <a:pt x="0" y="0"/>
                </a:lnTo>
                <a:close/>
              </a:path>
            </a:pathLst>
          </a:custGeom>
          <a:blipFill>
            <a:blip r:embed="rId20"/>
            <a:stretch>
              <a:fillRect l="0" t="0" r="0" b="0"/>
            </a:stretch>
          </a:blipFill>
        </p:spPr>
      </p:sp>
      <p:sp>
        <p:nvSpPr>
          <p:cNvPr name="Freeform 21" id="21"/>
          <p:cNvSpPr/>
          <p:nvPr/>
        </p:nvSpPr>
        <p:spPr>
          <a:xfrm flipH="false" flipV="false" rot="0">
            <a:off x="11075680" y="1772009"/>
            <a:ext cx="1051691" cy="309972"/>
          </a:xfrm>
          <a:custGeom>
            <a:avLst/>
            <a:gdLst/>
            <a:ahLst/>
            <a:cxnLst/>
            <a:rect r="r" b="b" t="t" l="l"/>
            <a:pathLst>
              <a:path h="309972" w="1051691">
                <a:moveTo>
                  <a:pt x="0" y="0"/>
                </a:moveTo>
                <a:lnTo>
                  <a:pt x="1051691" y="0"/>
                </a:lnTo>
                <a:lnTo>
                  <a:pt x="1051691" y="309972"/>
                </a:lnTo>
                <a:lnTo>
                  <a:pt x="0" y="309972"/>
                </a:lnTo>
                <a:lnTo>
                  <a:pt x="0" y="0"/>
                </a:lnTo>
                <a:close/>
              </a:path>
            </a:pathLst>
          </a:custGeom>
          <a:blipFill>
            <a:blip r:embed="rId21"/>
            <a:stretch>
              <a:fillRect l="0" t="0" r="0" b="0"/>
            </a:stretch>
          </a:blipFill>
        </p:spPr>
      </p:sp>
      <p:sp>
        <p:nvSpPr>
          <p:cNvPr name="Freeform 22" id="22"/>
          <p:cNvSpPr/>
          <p:nvPr/>
        </p:nvSpPr>
        <p:spPr>
          <a:xfrm flipH="false" flipV="false" rot="0">
            <a:off x="12671336" y="1559579"/>
            <a:ext cx="734832" cy="734832"/>
          </a:xfrm>
          <a:custGeom>
            <a:avLst/>
            <a:gdLst/>
            <a:ahLst/>
            <a:cxnLst/>
            <a:rect r="r" b="b" t="t" l="l"/>
            <a:pathLst>
              <a:path h="734832" w="734832">
                <a:moveTo>
                  <a:pt x="0" y="0"/>
                </a:moveTo>
                <a:lnTo>
                  <a:pt x="734832" y="0"/>
                </a:lnTo>
                <a:lnTo>
                  <a:pt x="734832" y="734832"/>
                </a:lnTo>
                <a:lnTo>
                  <a:pt x="0" y="734832"/>
                </a:lnTo>
                <a:lnTo>
                  <a:pt x="0" y="0"/>
                </a:lnTo>
                <a:close/>
              </a:path>
            </a:pathLst>
          </a:custGeom>
          <a:blipFill>
            <a:blip r:embed="rId22"/>
            <a:stretch>
              <a:fillRect l="0" t="0" r="0" b="0"/>
            </a:stretch>
          </a:blipFill>
        </p:spPr>
      </p:sp>
      <p:sp>
        <p:nvSpPr>
          <p:cNvPr name="Freeform 23" id="23"/>
          <p:cNvSpPr/>
          <p:nvPr/>
        </p:nvSpPr>
        <p:spPr>
          <a:xfrm flipH="false" flipV="false" rot="0">
            <a:off x="13950133" y="1563657"/>
            <a:ext cx="739887" cy="726675"/>
          </a:xfrm>
          <a:custGeom>
            <a:avLst/>
            <a:gdLst/>
            <a:ahLst/>
            <a:cxnLst/>
            <a:rect r="r" b="b" t="t" l="l"/>
            <a:pathLst>
              <a:path h="726675" w="739887">
                <a:moveTo>
                  <a:pt x="0" y="0"/>
                </a:moveTo>
                <a:lnTo>
                  <a:pt x="739887" y="0"/>
                </a:lnTo>
                <a:lnTo>
                  <a:pt x="739887" y="726675"/>
                </a:lnTo>
                <a:lnTo>
                  <a:pt x="0" y="726675"/>
                </a:lnTo>
                <a:lnTo>
                  <a:pt x="0" y="0"/>
                </a:lnTo>
                <a:close/>
              </a:path>
            </a:pathLst>
          </a:custGeom>
          <a:blipFill>
            <a:blip r:embed="rId23"/>
            <a:stretch>
              <a:fillRect l="0" t="0" r="0" b="0"/>
            </a:stretch>
          </a:blipFill>
        </p:spPr>
      </p:sp>
      <p:sp>
        <p:nvSpPr>
          <p:cNvPr name="Freeform 24" id="24"/>
          <p:cNvSpPr/>
          <p:nvPr/>
        </p:nvSpPr>
        <p:spPr>
          <a:xfrm flipH="false" flipV="false" rot="0">
            <a:off x="15233985" y="1563657"/>
            <a:ext cx="726675" cy="726675"/>
          </a:xfrm>
          <a:custGeom>
            <a:avLst/>
            <a:gdLst/>
            <a:ahLst/>
            <a:cxnLst/>
            <a:rect r="r" b="b" t="t" l="l"/>
            <a:pathLst>
              <a:path h="726675" w="726675">
                <a:moveTo>
                  <a:pt x="0" y="0"/>
                </a:moveTo>
                <a:lnTo>
                  <a:pt x="726676" y="0"/>
                </a:lnTo>
                <a:lnTo>
                  <a:pt x="726676" y="726675"/>
                </a:lnTo>
                <a:lnTo>
                  <a:pt x="0" y="726675"/>
                </a:lnTo>
                <a:lnTo>
                  <a:pt x="0" y="0"/>
                </a:lnTo>
                <a:close/>
              </a:path>
            </a:pathLst>
          </a:custGeom>
          <a:blipFill>
            <a:blip r:embed="rId24"/>
            <a:stretch>
              <a:fillRect l="0" t="0" r="0" b="0"/>
            </a:stretch>
          </a:blipFill>
        </p:spPr>
      </p:sp>
      <p:sp>
        <p:nvSpPr>
          <p:cNvPr name="Freeform 25" id="25"/>
          <p:cNvSpPr/>
          <p:nvPr/>
        </p:nvSpPr>
        <p:spPr>
          <a:xfrm flipH="false" flipV="false" rot="0">
            <a:off x="16504626" y="1742389"/>
            <a:ext cx="987642" cy="369212"/>
          </a:xfrm>
          <a:custGeom>
            <a:avLst/>
            <a:gdLst/>
            <a:ahLst/>
            <a:cxnLst/>
            <a:rect r="r" b="b" t="t" l="l"/>
            <a:pathLst>
              <a:path h="369212" w="987642">
                <a:moveTo>
                  <a:pt x="0" y="0"/>
                </a:moveTo>
                <a:lnTo>
                  <a:pt x="987642" y="0"/>
                </a:lnTo>
                <a:lnTo>
                  <a:pt x="987642" y="369212"/>
                </a:lnTo>
                <a:lnTo>
                  <a:pt x="0" y="369212"/>
                </a:lnTo>
                <a:lnTo>
                  <a:pt x="0" y="0"/>
                </a:lnTo>
                <a:close/>
              </a:path>
            </a:pathLst>
          </a:custGeom>
          <a:blipFill>
            <a:blip r:embed="rId25"/>
            <a:stretch>
              <a:fillRect l="0" t="0" r="0" b="0"/>
            </a:stretch>
          </a:blipFill>
        </p:spPr>
      </p:sp>
      <p:sp>
        <p:nvSpPr>
          <p:cNvPr name="Freeform 26" id="26"/>
          <p:cNvSpPr/>
          <p:nvPr/>
        </p:nvSpPr>
        <p:spPr>
          <a:xfrm flipH="false" flipV="false" rot="0">
            <a:off x="11218702" y="5981520"/>
            <a:ext cx="635690" cy="635690"/>
          </a:xfrm>
          <a:custGeom>
            <a:avLst/>
            <a:gdLst/>
            <a:ahLst/>
            <a:cxnLst/>
            <a:rect r="r" b="b" t="t" l="l"/>
            <a:pathLst>
              <a:path h="635690" w="635690">
                <a:moveTo>
                  <a:pt x="0" y="0"/>
                </a:moveTo>
                <a:lnTo>
                  <a:pt x="635689" y="0"/>
                </a:lnTo>
                <a:lnTo>
                  <a:pt x="635689" y="635690"/>
                </a:lnTo>
                <a:lnTo>
                  <a:pt x="0" y="635690"/>
                </a:lnTo>
                <a:lnTo>
                  <a:pt x="0" y="0"/>
                </a:lnTo>
                <a:close/>
              </a:path>
            </a:pathLst>
          </a:custGeom>
          <a:blipFill>
            <a:blip r:embed="rId26"/>
            <a:stretch>
              <a:fillRect l="0" t="0" r="0" b="0"/>
            </a:stretch>
          </a:blipFill>
        </p:spPr>
      </p:sp>
      <p:sp>
        <p:nvSpPr>
          <p:cNvPr name="Freeform 27" id="27"/>
          <p:cNvSpPr/>
          <p:nvPr/>
        </p:nvSpPr>
        <p:spPr>
          <a:xfrm flipH="false" flipV="false" rot="0">
            <a:off x="13989630" y="5982365"/>
            <a:ext cx="648088" cy="634000"/>
          </a:xfrm>
          <a:custGeom>
            <a:avLst/>
            <a:gdLst/>
            <a:ahLst/>
            <a:cxnLst/>
            <a:rect r="r" b="b" t="t" l="l"/>
            <a:pathLst>
              <a:path h="634000" w="648088">
                <a:moveTo>
                  <a:pt x="0" y="0"/>
                </a:moveTo>
                <a:lnTo>
                  <a:pt x="648088" y="0"/>
                </a:lnTo>
                <a:lnTo>
                  <a:pt x="648088" y="634000"/>
                </a:lnTo>
                <a:lnTo>
                  <a:pt x="0" y="634000"/>
                </a:lnTo>
                <a:lnTo>
                  <a:pt x="0" y="0"/>
                </a:lnTo>
                <a:close/>
              </a:path>
            </a:pathLst>
          </a:custGeom>
          <a:blipFill>
            <a:blip r:embed="rId27"/>
            <a:stretch>
              <a:fillRect l="0" t="0" r="0" b="0"/>
            </a:stretch>
          </a:blipFill>
        </p:spPr>
      </p:sp>
      <p:sp>
        <p:nvSpPr>
          <p:cNvPr name="Freeform 28" id="28"/>
          <p:cNvSpPr/>
          <p:nvPr/>
        </p:nvSpPr>
        <p:spPr>
          <a:xfrm flipH="false" flipV="false" rot="0">
            <a:off x="16640591" y="5941509"/>
            <a:ext cx="715712" cy="715712"/>
          </a:xfrm>
          <a:custGeom>
            <a:avLst/>
            <a:gdLst/>
            <a:ahLst/>
            <a:cxnLst/>
            <a:rect r="r" b="b" t="t" l="l"/>
            <a:pathLst>
              <a:path h="715712" w="715712">
                <a:moveTo>
                  <a:pt x="0" y="0"/>
                </a:moveTo>
                <a:lnTo>
                  <a:pt x="715712" y="0"/>
                </a:lnTo>
                <a:lnTo>
                  <a:pt x="715712" y="715712"/>
                </a:lnTo>
                <a:lnTo>
                  <a:pt x="0" y="715712"/>
                </a:lnTo>
                <a:lnTo>
                  <a:pt x="0" y="0"/>
                </a:lnTo>
                <a:close/>
              </a:path>
            </a:pathLst>
          </a:custGeom>
          <a:blipFill>
            <a:blip r:embed="rId28"/>
            <a:stretch>
              <a:fillRect l="0" t="0" r="0" b="0"/>
            </a:stretch>
          </a:blipFill>
        </p:spPr>
      </p:sp>
      <p:sp>
        <p:nvSpPr>
          <p:cNvPr name="Freeform 29" id="29"/>
          <p:cNvSpPr/>
          <p:nvPr/>
        </p:nvSpPr>
        <p:spPr>
          <a:xfrm flipH="false" flipV="false" rot="0">
            <a:off x="9513280" y="6229529"/>
            <a:ext cx="1312924" cy="139673"/>
          </a:xfrm>
          <a:custGeom>
            <a:avLst/>
            <a:gdLst/>
            <a:ahLst/>
            <a:cxnLst/>
            <a:rect r="r" b="b" t="t" l="l"/>
            <a:pathLst>
              <a:path h="139673" w="1312924">
                <a:moveTo>
                  <a:pt x="0" y="0"/>
                </a:moveTo>
                <a:lnTo>
                  <a:pt x="1312925" y="0"/>
                </a:lnTo>
                <a:lnTo>
                  <a:pt x="1312925" y="139672"/>
                </a:lnTo>
                <a:lnTo>
                  <a:pt x="0" y="139672"/>
                </a:lnTo>
                <a:lnTo>
                  <a:pt x="0" y="0"/>
                </a:lnTo>
                <a:close/>
              </a:path>
            </a:pathLst>
          </a:custGeom>
          <a:blipFill>
            <a:blip r:embed="rId29"/>
            <a:stretch>
              <a:fillRect l="0" t="0" r="0" b="0"/>
            </a:stretch>
          </a:blipFill>
        </p:spPr>
      </p:sp>
      <p:sp>
        <p:nvSpPr>
          <p:cNvPr name="Freeform 30" id="30"/>
          <p:cNvSpPr/>
          <p:nvPr/>
        </p:nvSpPr>
        <p:spPr>
          <a:xfrm flipH="false" flipV="false" rot="0">
            <a:off x="12246888" y="6237990"/>
            <a:ext cx="1350244" cy="122749"/>
          </a:xfrm>
          <a:custGeom>
            <a:avLst/>
            <a:gdLst/>
            <a:ahLst/>
            <a:cxnLst/>
            <a:rect r="r" b="b" t="t" l="l"/>
            <a:pathLst>
              <a:path h="122749" w="1350244">
                <a:moveTo>
                  <a:pt x="0" y="0"/>
                </a:moveTo>
                <a:lnTo>
                  <a:pt x="1350245" y="0"/>
                </a:lnTo>
                <a:lnTo>
                  <a:pt x="1350245" y="122750"/>
                </a:lnTo>
                <a:lnTo>
                  <a:pt x="0" y="122750"/>
                </a:lnTo>
                <a:lnTo>
                  <a:pt x="0" y="0"/>
                </a:lnTo>
                <a:close/>
              </a:path>
            </a:pathLst>
          </a:custGeom>
          <a:blipFill>
            <a:blip r:embed="rId30"/>
            <a:stretch>
              <a:fillRect l="0" t="0" r="0" b="0"/>
            </a:stretch>
          </a:blipFill>
        </p:spPr>
      </p:sp>
      <p:sp>
        <p:nvSpPr>
          <p:cNvPr name="Freeform 31" id="31"/>
          <p:cNvSpPr/>
          <p:nvPr/>
        </p:nvSpPr>
        <p:spPr>
          <a:xfrm flipH="false" flipV="false" rot="0">
            <a:off x="15030215" y="6164644"/>
            <a:ext cx="1217878" cy="269442"/>
          </a:xfrm>
          <a:custGeom>
            <a:avLst/>
            <a:gdLst/>
            <a:ahLst/>
            <a:cxnLst/>
            <a:rect r="r" b="b" t="t" l="l"/>
            <a:pathLst>
              <a:path h="269442" w="1217878">
                <a:moveTo>
                  <a:pt x="0" y="0"/>
                </a:moveTo>
                <a:lnTo>
                  <a:pt x="1217879" y="0"/>
                </a:lnTo>
                <a:lnTo>
                  <a:pt x="1217879" y="269442"/>
                </a:lnTo>
                <a:lnTo>
                  <a:pt x="0" y="269442"/>
                </a:lnTo>
                <a:lnTo>
                  <a:pt x="0" y="0"/>
                </a:lnTo>
                <a:close/>
              </a:path>
            </a:pathLst>
          </a:custGeom>
          <a:blipFill>
            <a:blip r:embed="rId31"/>
            <a:stretch>
              <a:fillRect l="0" t="0" r="0" b="0"/>
            </a:stretch>
          </a:blipFill>
        </p:spPr>
      </p:sp>
      <p:sp>
        <p:nvSpPr>
          <p:cNvPr name="Freeform 32" id="32"/>
          <p:cNvSpPr/>
          <p:nvPr/>
        </p:nvSpPr>
        <p:spPr>
          <a:xfrm flipH="false" flipV="false" rot="0">
            <a:off x="9638494" y="7159287"/>
            <a:ext cx="1020100" cy="408040"/>
          </a:xfrm>
          <a:custGeom>
            <a:avLst/>
            <a:gdLst/>
            <a:ahLst/>
            <a:cxnLst/>
            <a:rect r="r" b="b" t="t" l="l"/>
            <a:pathLst>
              <a:path h="408040" w="1020100">
                <a:moveTo>
                  <a:pt x="0" y="0"/>
                </a:moveTo>
                <a:lnTo>
                  <a:pt x="1020099" y="0"/>
                </a:lnTo>
                <a:lnTo>
                  <a:pt x="1020099" y="408040"/>
                </a:lnTo>
                <a:lnTo>
                  <a:pt x="0" y="408040"/>
                </a:lnTo>
                <a:lnTo>
                  <a:pt x="0" y="0"/>
                </a:lnTo>
                <a:close/>
              </a:path>
            </a:pathLst>
          </a:custGeom>
          <a:blipFill>
            <a:blip r:embed="rId32"/>
            <a:stretch>
              <a:fillRect l="0" t="0" r="0" b="0"/>
            </a:stretch>
          </a:blipFill>
        </p:spPr>
      </p:sp>
      <p:sp>
        <p:nvSpPr>
          <p:cNvPr name="Freeform 33" id="33"/>
          <p:cNvSpPr/>
          <p:nvPr/>
        </p:nvSpPr>
        <p:spPr>
          <a:xfrm flipH="false" flipV="false" rot="0">
            <a:off x="11164146" y="7035706"/>
            <a:ext cx="667114" cy="655201"/>
          </a:xfrm>
          <a:custGeom>
            <a:avLst/>
            <a:gdLst/>
            <a:ahLst/>
            <a:cxnLst/>
            <a:rect r="r" b="b" t="t" l="l"/>
            <a:pathLst>
              <a:path h="655201" w="667114">
                <a:moveTo>
                  <a:pt x="0" y="0"/>
                </a:moveTo>
                <a:lnTo>
                  <a:pt x="667115" y="0"/>
                </a:lnTo>
                <a:lnTo>
                  <a:pt x="667115" y="655202"/>
                </a:lnTo>
                <a:lnTo>
                  <a:pt x="0" y="655202"/>
                </a:lnTo>
                <a:lnTo>
                  <a:pt x="0" y="0"/>
                </a:lnTo>
                <a:close/>
              </a:path>
            </a:pathLst>
          </a:custGeom>
          <a:blipFill>
            <a:blip r:embed="rId33"/>
            <a:stretch>
              <a:fillRect l="0" t="0" r="0" b="0"/>
            </a:stretch>
          </a:blipFill>
        </p:spPr>
      </p:sp>
      <p:sp>
        <p:nvSpPr>
          <p:cNvPr name="Freeform 34" id="34"/>
          <p:cNvSpPr/>
          <p:nvPr/>
        </p:nvSpPr>
        <p:spPr>
          <a:xfrm flipH="false" flipV="false" rot="0">
            <a:off x="12336814" y="7013084"/>
            <a:ext cx="700445" cy="700445"/>
          </a:xfrm>
          <a:custGeom>
            <a:avLst/>
            <a:gdLst/>
            <a:ahLst/>
            <a:cxnLst/>
            <a:rect r="r" b="b" t="t" l="l"/>
            <a:pathLst>
              <a:path h="700445" w="700445">
                <a:moveTo>
                  <a:pt x="0" y="0"/>
                </a:moveTo>
                <a:lnTo>
                  <a:pt x="700445" y="0"/>
                </a:lnTo>
                <a:lnTo>
                  <a:pt x="700445" y="700445"/>
                </a:lnTo>
                <a:lnTo>
                  <a:pt x="0" y="700445"/>
                </a:lnTo>
                <a:lnTo>
                  <a:pt x="0" y="0"/>
                </a:lnTo>
                <a:close/>
              </a:path>
            </a:pathLst>
          </a:custGeom>
          <a:blipFill>
            <a:blip r:embed="rId34"/>
            <a:stretch>
              <a:fillRect l="0" t="0" r="0" b="0"/>
            </a:stretch>
          </a:blipFill>
        </p:spPr>
      </p:sp>
      <p:sp>
        <p:nvSpPr>
          <p:cNvPr name="Freeform 35" id="35"/>
          <p:cNvSpPr/>
          <p:nvPr/>
        </p:nvSpPr>
        <p:spPr>
          <a:xfrm flipH="false" flipV="false" rot="0">
            <a:off x="13542812" y="7171185"/>
            <a:ext cx="1029223" cy="384243"/>
          </a:xfrm>
          <a:custGeom>
            <a:avLst/>
            <a:gdLst/>
            <a:ahLst/>
            <a:cxnLst/>
            <a:rect r="r" b="b" t="t" l="l"/>
            <a:pathLst>
              <a:path h="384243" w="1029223">
                <a:moveTo>
                  <a:pt x="0" y="0"/>
                </a:moveTo>
                <a:lnTo>
                  <a:pt x="1029223" y="0"/>
                </a:lnTo>
                <a:lnTo>
                  <a:pt x="1029223" y="384243"/>
                </a:lnTo>
                <a:lnTo>
                  <a:pt x="0" y="384243"/>
                </a:lnTo>
                <a:lnTo>
                  <a:pt x="0" y="0"/>
                </a:lnTo>
                <a:close/>
              </a:path>
            </a:pathLst>
          </a:custGeom>
          <a:blipFill>
            <a:blip r:embed="rId35"/>
            <a:stretch>
              <a:fillRect l="0" t="0" r="0" b="0"/>
            </a:stretch>
          </a:blipFill>
        </p:spPr>
      </p:sp>
      <p:sp>
        <p:nvSpPr>
          <p:cNvPr name="Freeform 36" id="36"/>
          <p:cNvSpPr/>
          <p:nvPr/>
        </p:nvSpPr>
        <p:spPr>
          <a:xfrm flipH="false" flipV="false" rot="0">
            <a:off x="15077588" y="7224222"/>
            <a:ext cx="709810" cy="278169"/>
          </a:xfrm>
          <a:custGeom>
            <a:avLst/>
            <a:gdLst/>
            <a:ahLst/>
            <a:cxnLst/>
            <a:rect r="r" b="b" t="t" l="l"/>
            <a:pathLst>
              <a:path h="278169" w="709810">
                <a:moveTo>
                  <a:pt x="0" y="0"/>
                </a:moveTo>
                <a:lnTo>
                  <a:pt x="709810" y="0"/>
                </a:lnTo>
                <a:lnTo>
                  <a:pt x="709810" y="278169"/>
                </a:lnTo>
                <a:lnTo>
                  <a:pt x="0" y="278169"/>
                </a:lnTo>
                <a:lnTo>
                  <a:pt x="0" y="0"/>
                </a:lnTo>
                <a:close/>
              </a:path>
            </a:pathLst>
          </a:custGeom>
          <a:blipFill>
            <a:blip r:embed="rId36"/>
            <a:stretch>
              <a:fillRect l="0" t="0" r="0" b="0"/>
            </a:stretch>
          </a:blipFill>
        </p:spPr>
      </p:sp>
      <p:sp>
        <p:nvSpPr>
          <p:cNvPr name="Freeform 37" id="37"/>
          <p:cNvSpPr/>
          <p:nvPr/>
        </p:nvSpPr>
        <p:spPr>
          <a:xfrm flipH="false" flipV="false" rot="0">
            <a:off x="16292951" y="7117993"/>
            <a:ext cx="1368594" cy="490628"/>
          </a:xfrm>
          <a:custGeom>
            <a:avLst/>
            <a:gdLst/>
            <a:ahLst/>
            <a:cxnLst/>
            <a:rect r="r" b="b" t="t" l="l"/>
            <a:pathLst>
              <a:path h="490628" w="1368594">
                <a:moveTo>
                  <a:pt x="0" y="0"/>
                </a:moveTo>
                <a:lnTo>
                  <a:pt x="1368594" y="0"/>
                </a:lnTo>
                <a:lnTo>
                  <a:pt x="1368594" y="490628"/>
                </a:lnTo>
                <a:lnTo>
                  <a:pt x="0" y="490628"/>
                </a:lnTo>
                <a:lnTo>
                  <a:pt x="0" y="0"/>
                </a:lnTo>
                <a:close/>
              </a:path>
            </a:pathLst>
          </a:custGeom>
          <a:blipFill>
            <a:blip r:embed="rId37"/>
            <a:stretch>
              <a:fillRect l="0" t="0" r="0" b="0"/>
            </a:stretch>
          </a:blipFill>
        </p:spPr>
      </p:sp>
      <p:sp>
        <p:nvSpPr>
          <p:cNvPr name="Freeform 38" id="38"/>
          <p:cNvSpPr/>
          <p:nvPr/>
        </p:nvSpPr>
        <p:spPr>
          <a:xfrm flipH="false" flipV="false" rot="0">
            <a:off x="15187471" y="5009402"/>
            <a:ext cx="912881" cy="516797"/>
          </a:xfrm>
          <a:custGeom>
            <a:avLst/>
            <a:gdLst/>
            <a:ahLst/>
            <a:cxnLst/>
            <a:rect r="r" b="b" t="t" l="l"/>
            <a:pathLst>
              <a:path h="516797" w="912881">
                <a:moveTo>
                  <a:pt x="0" y="0"/>
                </a:moveTo>
                <a:lnTo>
                  <a:pt x="912881" y="0"/>
                </a:lnTo>
                <a:lnTo>
                  <a:pt x="912881" y="516797"/>
                </a:lnTo>
                <a:lnTo>
                  <a:pt x="0" y="516797"/>
                </a:lnTo>
                <a:lnTo>
                  <a:pt x="0" y="0"/>
                </a:lnTo>
                <a:close/>
              </a:path>
            </a:pathLst>
          </a:custGeom>
          <a:blipFill>
            <a:blip r:embed="rId38"/>
            <a:stretch>
              <a:fillRect l="0" t="-38321" r="0" b="-38321"/>
            </a:stretch>
          </a:blipFill>
        </p:spPr>
      </p:sp>
      <p:sp>
        <p:nvSpPr>
          <p:cNvPr name="Freeform 39" id="39"/>
          <p:cNvSpPr/>
          <p:nvPr/>
        </p:nvSpPr>
        <p:spPr>
          <a:xfrm flipH="false" flipV="false" rot="0">
            <a:off x="12634760" y="4949956"/>
            <a:ext cx="635690" cy="635690"/>
          </a:xfrm>
          <a:custGeom>
            <a:avLst/>
            <a:gdLst/>
            <a:ahLst/>
            <a:cxnLst/>
            <a:rect r="r" b="b" t="t" l="l"/>
            <a:pathLst>
              <a:path h="635690" w="635690">
                <a:moveTo>
                  <a:pt x="0" y="0"/>
                </a:moveTo>
                <a:lnTo>
                  <a:pt x="635690" y="0"/>
                </a:lnTo>
                <a:lnTo>
                  <a:pt x="635690" y="635690"/>
                </a:lnTo>
                <a:lnTo>
                  <a:pt x="0" y="635690"/>
                </a:lnTo>
                <a:lnTo>
                  <a:pt x="0" y="0"/>
                </a:lnTo>
                <a:close/>
              </a:path>
            </a:pathLst>
          </a:custGeom>
          <a:blipFill>
            <a:blip r:embed="rId39"/>
            <a:stretch>
              <a:fillRect l="0" t="0" r="0" b="0"/>
            </a:stretch>
          </a:blipFill>
        </p:spPr>
      </p:sp>
      <p:sp>
        <p:nvSpPr>
          <p:cNvPr name="Freeform 40" id="40"/>
          <p:cNvSpPr/>
          <p:nvPr/>
        </p:nvSpPr>
        <p:spPr>
          <a:xfrm flipH="false" flipV="false" rot="0">
            <a:off x="9652756" y="5146804"/>
            <a:ext cx="1033973" cy="241994"/>
          </a:xfrm>
          <a:custGeom>
            <a:avLst/>
            <a:gdLst/>
            <a:ahLst/>
            <a:cxnLst/>
            <a:rect r="r" b="b" t="t" l="l"/>
            <a:pathLst>
              <a:path h="241994" w="1033973">
                <a:moveTo>
                  <a:pt x="0" y="0"/>
                </a:moveTo>
                <a:lnTo>
                  <a:pt x="1033973" y="0"/>
                </a:lnTo>
                <a:lnTo>
                  <a:pt x="1033973" y="241994"/>
                </a:lnTo>
                <a:lnTo>
                  <a:pt x="0" y="241994"/>
                </a:lnTo>
                <a:lnTo>
                  <a:pt x="0" y="0"/>
                </a:lnTo>
                <a:close/>
              </a:path>
            </a:pathLst>
          </a:custGeom>
          <a:blipFill>
            <a:blip r:embed="rId40"/>
            <a:stretch>
              <a:fillRect l="0" t="0" r="0" b="0"/>
            </a:stretch>
          </a:blipFill>
        </p:spPr>
      </p:sp>
      <p:sp>
        <p:nvSpPr>
          <p:cNvPr name="Freeform 41" id="41"/>
          <p:cNvSpPr/>
          <p:nvPr/>
        </p:nvSpPr>
        <p:spPr>
          <a:xfrm flipH="false" flipV="false" rot="0">
            <a:off x="11083578" y="5140718"/>
            <a:ext cx="1154333" cy="254165"/>
          </a:xfrm>
          <a:custGeom>
            <a:avLst/>
            <a:gdLst/>
            <a:ahLst/>
            <a:cxnLst/>
            <a:rect r="r" b="b" t="t" l="l"/>
            <a:pathLst>
              <a:path h="254165" w="1154333">
                <a:moveTo>
                  <a:pt x="0" y="0"/>
                </a:moveTo>
                <a:lnTo>
                  <a:pt x="1154333" y="0"/>
                </a:lnTo>
                <a:lnTo>
                  <a:pt x="1154333" y="254165"/>
                </a:lnTo>
                <a:lnTo>
                  <a:pt x="0" y="254165"/>
                </a:lnTo>
                <a:lnTo>
                  <a:pt x="0" y="0"/>
                </a:lnTo>
                <a:close/>
              </a:path>
            </a:pathLst>
          </a:custGeom>
          <a:blipFill>
            <a:blip r:embed="rId41"/>
            <a:stretch>
              <a:fillRect l="0" t="0" r="0" b="0"/>
            </a:stretch>
          </a:blipFill>
        </p:spPr>
      </p:sp>
      <p:sp>
        <p:nvSpPr>
          <p:cNvPr name="Freeform 42" id="42"/>
          <p:cNvSpPr/>
          <p:nvPr/>
        </p:nvSpPr>
        <p:spPr>
          <a:xfrm flipH="false" flipV="false" rot="0">
            <a:off x="13667299" y="5105215"/>
            <a:ext cx="1123323" cy="325172"/>
          </a:xfrm>
          <a:custGeom>
            <a:avLst/>
            <a:gdLst/>
            <a:ahLst/>
            <a:cxnLst/>
            <a:rect r="r" b="b" t="t" l="l"/>
            <a:pathLst>
              <a:path h="325172" w="1123323">
                <a:moveTo>
                  <a:pt x="0" y="0"/>
                </a:moveTo>
                <a:lnTo>
                  <a:pt x="1123323" y="0"/>
                </a:lnTo>
                <a:lnTo>
                  <a:pt x="1123323" y="325172"/>
                </a:lnTo>
                <a:lnTo>
                  <a:pt x="0" y="325172"/>
                </a:lnTo>
                <a:lnTo>
                  <a:pt x="0" y="0"/>
                </a:lnTo>
                <a:close/>
              </a:path>
            </a:pathLst>
          </a:custGeom>
          <a:blipFill>
            <a:blip r:embed="rId42"/>
            <a:stretch>
              <a:fillRect l="0" t="0" r="0" b="0"/>
            </a:stretch>
          </a:blipFill>
        </p:spPr>
      </p:sp>
      <p:sp>
        <p:nvSpPr>
          <p:cNvPr name="Freeform 43" id="43"/>
          <p:cNvSpPr/>
          <p:nvPr/>
        </p:nvSpPr>
        <p:spPr>
          <a:xfrm flipH="false" flipV="false" rot="0">
            <a:off x="16497201" y="5087352"/>
            <a:ext cx="1002492" cy="360897"/>
          </a:xfrm>
          <a:custGeom>
            <a:avLst/>
            <a:gdLst/>
            <a:ahLst/>
            <a:cxnLst/>
            <a:rect r="r" b="b" t="t" l="l"/>
            <a:pathLst>
              <a:path h="360897" w="1002492">
                <a:moveTo>
                  <a:pt x="0" y="0"/>
                </a:moveTo>
                <a:lnTo>
                  <a:pt x="1002492" y="0"/>
                </a:lnTo>
                <a:lnTo>
                  <a:pt x="1002492" y="360897"/>
                </a:lnTo>
                <a:lnTo>
                  <a:pt x="0" y="360897"/>
                </a:lnTo>
                <a:lnTo>
                  <a:pt x="0" y="0"/>
                </a:lnTo>
                <a:close/>
              </a:path>
            </a:pathLst>
          </a:custGeom>
          <a:blipFill>
            <a:blip r:embed="rId43"/>
            <a:stretch>
              <a:fillRect l="0" t="0" r="0" b="0"/>
            </a:stretch>
          </a:blipFill>
        </p:spPr>
      </p:sp>
      <p:sp>
        <p:nvSpPr>
          <p:cNvPr name="TextBox 44" id="44"/>
          <p:cNvSpPr txBox="true"/>
          <p:nvPr/>
        </p:nvSpPr>
        <p:spPr>
          <a:xfrm rot="0">
            <a:off x="971550" y="3572212"/>
            <a:ext cx="8331634"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Our tools power Apps</a:t>
            </a:r>
          </a:p>
        </p:txBody>
      </p:sp>
      <p:sp>
        <p:nvSpPr>
          <p:cNvPr name="TextBox 45" id="45"/>
          <p:cNvSpPr txBox="true"/>
          <p:nvPr/>
        </p:nvSpPr>
        <p:spPr>
          <a:xfrm rot="0">
            <a:off x="971550" y="6478249"/>
            <a:ext cx="7034212" cy="5803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Around the World!</a:t>
            </a:r>
          </a:p>
        </p:txBody>
      </p:sp>
      <p:sp>
        <p:nvSpPr>
          <p:cNvPr name="Freeform 46" id="4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4">
              <a:extLst>
                <a:ext uri="{96DAC541-7B7A-43D3-8B79-37D633B846F1}">
                  <asvg:svgBlip xmlns:asvg="http://schemas.microsoft.com/office/drawing/2016/SVG/main" r:embed="rId45"/>
                </a:ext>
              </a:extLst>
            </a:blip>
            <a:stretch>
              <a:fillRect l="0" t="0" r="0" b="0"/>
            </a:stretch>
          </a:blipFill>
        </p:spPr>
      </p:sp>
    </p:spTree>
  </p:cSld>
  <p:clrMapOvr>
    <a:masterClrMapping/>
  </p:clrMapOvr>
  <p:transition spd="fast">
    <p:wipe dir="r"/>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true" flipV="false" rot="-2868697">
            <a:off x="521765" y="1388834"/>
            <a:ext cx="20219053" cy="10370689"/>
          </a:xfrm>
          <a:custGeom>
            <a:avLst/>
            <a:gdLst/>
            <a:ahLst/>
            <a:cxnLst/>
            <a:rect r="r" b="b" t="t" l="l"/>
            <a:pathLst>
              <a:path h="10370689" w="20219053">
                <a:moveTo>
                  <a:pt x="20219054" y="0"/>
                </a:moveTo>
                <a:lnTo>
                  <a:pt x="0" y="0"/>
                </a:lnTo>
                <a:lnTo>
                  <a:pt x="0" y="10370690"/>
                </a:lnTo>
                <a:lnTo>
                  <a:pt x="20219054" y="10370690"/>
                </a:lnTo>
                <a:lnTo>
                  <a:pt x="20219054"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56380"/>
            <a:ext cx="10480051" cy="372681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Capabilities</a:t>
            </a:r>
          </a:p>
          <a:p>
            <a:pPr algn="l">
              <a:lnSpc>
                <a:spcPts val="14560"/>
              </a:lnSpc>
            </a:pPr>
            <a:r>
              <a:rPr lang="en-US" sz="10400">
                <a:solidFill>
                  <a:srgbClr val="0D0D0D"/>
                </a:solidFill>
                <a:latin typeface="Poppins Light"/>
                <a:ea typeface="Poppins Light"/>
                <a:cs typeface="Poppins Light"/>
                <a:sym typeface="Poppins Light"/>
              </a:rPr>
              <a:t>Overview</a:t>
            </a:r>
          </a:p>
        </p:txBody>
      </p:sp>
      <p:sp>
        <p:nvSpPr>
          <p:cNvPr name="Freeform 4" id="4"/>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r"/>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465350" y="1072430"/>
            <a:ext cx="3793950" cy="784945"/>
            <a:chOff x="0" y="0"/>
            <a:chExt cx="999230" cy="206735"/>
          </a:xfrm>
        </p:grpSpPr>
        <p:sp>
          <p:nvSpPr>
            <p:cNvPr name="Freeform 3" id="3"/>
            <p:cNvSpPr/>
            <p:nvPr/>
          </p:nvSpPr>
          <p:spPr>
            <a:xfrm flipH="false" flipV="false" rot="0">
              <a:off x="0" y="0"/>
              <a:ext cx="999230" cy="206735"/>
            </a:xfrm>
            <a:custGeom>
              <a:avLst/>
              <a:gdLst/>
              <a:ahLst/>
              <a:cxnLst/>
              <a:rect r="r" b="b" t="t" l="l"/>
              <a:pathLst>
                <a:path h="206735" w="999230">
                  <a:moveTo>
                    <a:pt x="103367" y="0"/>
                  </a:moveTo>
                  <a:lnTo>
                    <a:pt x="895862" y="0"/>
                  </a:lnTo>
                  <a:cubicBezTo>
                    <a:pt x="923277" y="0"/>
                    <a:pt x="949569" y="10890"/>
                    <a:pt x="968954" y="30276"/>
                  </a:cubicBezTo>
                  <a:cubicBezTo>
                    <a:pt x="988339" y="49661"/>
                    <a:pt x="999230" y="75953"/>
                    <a:pt x="999230" y="103367"/>
                  </a:cubicBezTo>
                  <a:lnTo>
                    <a:pt x="999230" y="103367"/>
                  </a:lnTo>
                  <a:cubicBezTo>
                    <a:pt x="999230" y="130782"/>
                    <a:pt x="988339" y="157074"/>
                    <a:pt x="968954" y="176459"/>
                  </a:cubicBezTo>
                  <a:cubicBezTo>
                    <a:pt x="949569" y="195844"/>
                    <a:pt x="923277" y="206735"/>
                    <a:pt x="89586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 id="4"/>
            <p:cNvSpPr txBox="true"/>
            <p:nvPr/>
          </p:nvSpPr>
          <p:spPr>
            <a:xfrm>
              <a:off x="0" y="-38100"/>
              <a:ext cx="999230" cy="244835"/>
            </a:xfrm>
            <a:prstGeom prst="rect">
              <a:avLst/>
            </a:prstGeom>
          </p:spPr>
          <p:txBody>
            <a:bodyPr anchor="ctr" rtlCol="false" tIns="50800" lIns="50800" bIns="50800" rIns="50800"/>
            <a:lstStyle/>
            <a:p>
              <a:pPr algn="ctr">
                <a:lnSpc>
                  <a:spcPts val="2520"/>
                </a:lnSpc>
              </a:pPr>
            </a:p>
          </p:txBody>
        </p:sp>
      </p:grpSp>
      <p:sp>
        <p:nvSpPr>
          <p:cNvPr name="TextBox 5" id="5"/>
          <p:cNvSpPr txBox="true"/>
          <p:nvPr/>
        </p:nvSpPr>
        <p:spPr>
          <a:xfrm rot="0">
            <a:off x="13706973" y="1220428"/>
            <a:ext cx="3286722"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Capabilities Overview</a:t>
            </a:r>
          </a:p>
        </p:txBody>
      </p:sp>
      <p:grpSp>
        <p:nvGrpSpPr>
          <p:cNvPr name="Group 6" id="6"/>
          <p:cNvGrpSpPr/>
          <p:nvPr/>
        </p:nvGrpSpPr>
        <p:grpSpPr>
          <a:xfrm rot="0">
            <a:off x="13706973"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9" id="9"/>
          <p:cNvGrpSpPr/>
          <p:nvPr/>
        </p:nvGrpSpPr>
        <p:grpSpPr>
          <a:xfrm rot="0">
            <a:off x="9280744" y="4043915"/>
            <a:ext cx="6775392" cy="784945"/>
            <a:chOff x="0" y="0"/>
            <a:chExt cx="9033856" cy="1046593"/>
          </a:xfrm>
        </p:grpSpPr>
        <p:grpSp>
          <p:nvGrpSpPr>
            <p:cNvPr name="Group 10" id="10"/>
            <p:cNvGrpSpPr/>
            <p:nvPr/>
          </p:nvGrpSpPr>
          <p:grpSpPr>
            <a:xfrm rot="0">
              <a:off x="0" y="0"/>
              <a:ext cx="9033856" cy="1046593"/>
              <a:chOff x="0" y="0"/>
              <a:chExt cx="1784465" cy="206735"/>
            </a:xfrm>
          </p:grpSpPr>
          <p:sp>
            <p:nvSpPr>
              <p:cNvPr name="Freeform 11" id="11"/>
              <p:cNvSpPr/>
              <p:nvPr/>
            </p:nvSpPr>
            <p:spPr>
              <a:xfrm flipH="false" flipV="false" rot="0">
                <a:off x="0" y="0"/>
                <a:ext cx="1784465" cy="206735"/>
              </a:xfrm>
              <a:custGeom>
                <a:avLst/>
                <a:gdLst/>
                <a:ahLst/>
                <a:cxnLst/>
                <a:rect r="r" b="b" t="t" l="l"/>
                <a:pathLst>
                  <a:path h="206735" w="1784465">
                    <a:moveTo>
                      <a:pt x="103367" y="0"/>
                    </a:moveTo>
                    <a:lnTo>
                      <a:pt x="1681098" y="0"/>
                    </a:lnTo>
                    <a:cubicBezTo>
                      <a:pt x="1708513" y="0"/>
                      <a:pt x="1734805" y="10890"/>
                      <a:pt x="1754190" y="30276"/>
                    </a:cubicBezTo>
                    <a:cubicBezTo>
                      <a:pt x="1773575" y="49661"/>
                      <a:pt x="1784465" y="75953"/>
                      <a:pt x="1784465" y="103367"/>
                    </a:cubicBezTo>
                    <a:lnTo>
                      <a:pt x="1784465" y="103367"/>
                    </a:lnTo>
                    <a:cubicBezTo>
                      <a:pt x="1784465" y="130782"/>
                      <a:pt x="1773575" y="157074"/>
                      <a:pt x="1754190" y="176459"/>
                    </a:cubicBezTo>
                    <a:cubicBezTo>
                      <a:pt x="1734805" y="195844"/>
                      <a:pt x="1708513" y="206735"/>
                      <a:pt x="16810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2" id="12"/>
              <p:cNvSpPr txBox="true"/>
              <p:nvPr/>
            </p:nvSpPr>
            <p:spPr>
              <a:xfrm>
                <a:off x="0" y="-38100"/>
                <a:ext cx="1784465" cy="244835"/>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980011" y="197330"/>
              <a:ext cx="739307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Software &amp; Mobile App Developers</a:t>
              </a:r>
            </a:p>
          </p:txBody>
        </p:sp>
        <p:grpSp>
          <p:nvGrpSpPr>
            <p:cNvPr name="Group 14" id="14"/>
            <p:cNvGrpSpPr/>
            <p:nvPr/>
          </p:nvGrpSpPr>
          <p:grpSpPr>
            <a:xfrm rot="0">
              <a:off x="376982" y="362723"/>
              <a:ext cx="321148" cy="32114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7" id="17"/>
          <p:cNvGrpSpPr/>
          <p:nvPr/>
        </p:nvGrpSpPr>
        <p:grpSpPr>
          <a:xfrm rot="0">
            <a:off x="9280744" y="6857601"/>
            <a:ext cx="4306668" cy="784945"/>
            <a:chOff x="0" y="0"/>
            <a:chExt cx="5742224" cy="1046593"/>
          </a:xfrm>
        </p:grpSpPr>
        <p:grpSp>
          <p:nvGrpSpPr>
            <p:cNvPr name="Group 18" id="18"/>
            <p:cNvGrpSpPr/>
            <p:nvPr/>
          </p:nvGrpSpPr>
          <p:grpSpPr>
            <a:xfrm rot="0">
              <a:off x="0" y="0"/>
              <a:ext cx="5742224" cy="1046593"/>
              <a:chOff x="0" y="0"/>
              <a:chExt cx="1134267" cy="206735"/>
            </a:xfrm>
          </p:grpSpPr>
          <p:sp>
            <p:nvSpPr>
              <p:cNvPr name="Freeform 19" id="19"/>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0" id="20"/>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Business Analysts</a:t>
              </a:r>
            </a:p>
          </p:txBody>
        </p:sp>
        <p:grpSp>
          <p:nvGrpSpPr>
            <p:cNvPr name="Group 22" id="22"/>
            <p:cNvGrpSpPr/>
            <p:nvPr/>
          </p:nvGrpSpPr>
          <p:grpSpPr>
            <a:xfrm rot="0">
              <a:off x="376982" y="362723"/>
              <a:ext cx="321148" cy="32114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5" id="25"/>
          <p:cNvGrpSpPr/>
          <p:nvPr/>
        </p:nvGrpSpPr>
        <p:grpSpPr>
          <a:xfrm rot="0">
            <a:off x="9280744" y="4981810"/>
            <a:ext cx="3792318" cy="784945"/>
            <a:chOff x="0" y="0"/>
            <a:chExt cx="5056424" cy="1046593"/>
          </a:xfrm>
        </p:grpSpPr>
        <p:grpSp>
          <p:nvGrpSpPr>
            <p:cNvPr name="Group 26" id="26"/>
            <p:cNvGrpSpPr/>
            <p:nvPr/>
          </p:nvGrpSpPr>
          <p:grpSpPr>
            <a:xfrm rot="0">
              <a:off x="0" y="0"/>
              <a:ext cx="5056424" cy="1046593"/>
              <a:chOff x="0" y="0"/>
              <a:chExt cx="998800" cy="206735"/>
            </a:xfrm>
          </p:grpSpPr>
          <p:sp>
            <p:nvSpPr>
              <p:cNvPr name="Freeform 27" id="27"/>
              <p:cNvSpPr/>
              <p:nvPr/>
            </p:nvSpPr>
            <p:spPr>
              <a:xfrm flipH="false" flipV="false" rot="0">
                <a:off x="0" y="0"/>
                <a:ext cx="998800" cy="206735"/>
              </a:xfrm>
              <a:custGeom>
                <a:avLst/>
                <a:gdLst/>
                <a:ahLst/>
                <a:cxnLst/>
                <a:rect r="r" b="b" t="t" l="l"/>
                <a:pathLst>
                  <a:path h="206735" w="998800">
                    <a:moveTo>
                      <a:pt x="103367" y="0"/>
                    </a:moveTo>
                    <a:lnTo>
                      <a:pt x="895433" y="0"/>
                    </a:lnTo>
                    <a:cubicBezTo>
                      <a:pt x="922847" y="0"/>
                      <a:pt x="949139" y="10890"/>
                      <a:pt x="968524" y="30276"/>
                    </a:cubicBezTo>
                    <a:cubicBezTo>
                      <a:pt x="987909" y="49661"/>
                      <a:pt x="998800" y="75953"/>
                      <a:pt x="998800" y="103367"/>
                    </a:cubicBezTo>
                    <a:lnTo>
                      <a:pt x="998800" y="103367"/>
                    </a:lnTo>
                    <a:cubicBezTo>
                      <a:pt x="998800" y="130782"/>
                      <a:pt x="987909" y="157074"/>
                      <a:pt x="968524" y="176459"/>
                    </a:cubicBezTo>
                    <a:cubicBezTo>
                      <a:pt x="949139" y="195844"/>
                      <a:pt x="922847" y="206735"/>
                      <a:pt x="8954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8" id="28"/>
              <p:cNvSpPr txBox="true"/>
              <p:nvPr/>
            </p:nvSpPr>
            <p:spPr>
              <a:xfrm>
                <a:off x="0" y="-38100"/>
                <a:ext cx="998800" cy="244835"/>
              </a:xfrm>
              <a:prstGeom prst="rect">
                <a:avLst/>
              </a:prstGeom>
            </p:spPr>
            <p:txBody>
              <a:bodyPr anchor="ctr" rtlCol="false" tIns="50800" lIns="50800" bIns="50800" rIns="50800"/>
              <a:lstStyle/>
              <a:p>
                <a:pPr algn="ctr">
                  <a:lnSpc>
                    <a:spcPts val="2520"/>
                  </a:lnSpc>
                </a:pPr>
              </a:p>
            </p:txBody>
          </p:sp>
        </p:grpSp>
        <p:sp>
          <p:nvSpPr>
            <p:cNvPr name="TextBox 29" id="29"/>
            <p:cNvSpPr txBox="true"/>
            <p:nvPr/>
          </p:nvSpPr>
          <p:spPr>
            <a:xfrm rot="0">
              <a:off x="980011" y="197330"/>
              <a:ext cx="3441882"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UI/UX Designers</a:t>
              </a:r>
            </a:p>
          </p:txBody>
        </p:sp>
        <p:grpSp>
          <p:nvGrpSpPr>
            <p:cNvPr name="Group 30" id="30"/>
            <p:cNvGrpSpPr/>
            <p:nvPr/>
          </p:nvGrpSpPr>
          <p:grpSpPr>
            <a:xfrm rot="0">
              <a:off x="376982" y="362723"/>
              <a:ext cx="321148" cy="32114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3" id="33"/>
          <p:cNvGrpSpPr/>
          <p:nvPr/>
        </p:nvGrpSpPr>
        <p:grpSpPr>
          <a:xfrm rot="0">
            <a:off x="9280744" y="7795496"/>
            <a:ext cx="4306668" cy="784945"/>
            <a:chOff x="0" y="0"/>
            <a:chExt cx="5742224" cy="1046593"/>
          </a:xfrm>
        </p:grpSpPr>
        <p:grpSp>
          <p:nvGrpSpPr>
            <p:cNvPr name="Group 34" id="34"/>
            <p:cNvGrpSpPr/>
            <p:nvPr/>
          </p:nvGrpSpPr>
          <p:grpSpPr>
            <a:xfrm rot="0">
              <a:off x="0" y="0"/>
              <a:ext cx="5742224" cy="1046593"/>
              <a:chOff x="0" y="0"/>
              <a:chExt cx="1134267" cy="206735"/>
            </a:xfrm>
          </p:grpSpPr>
          <p:sp>
            <p:nvSpPr>
              <p:cNvPr name="Freeform 35" id="35"/>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6" id="36"/>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37" id="37"/>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Project Managers</a:t>
              </a:r>
            </a:p>
          </p:txBody>
        </p:sp>
        <p:grpSp>
          <p:nvGrpSpPr>
            <p:cNvPr name="Group 38" id="38"/>
            <p:cNvGrpSpPr/>
            <p:nvPr/>
          </p:nvGrpSpPr>
          <p:grpSpPr>
            <a:xfrm rot="0">
              <a:off x="376982" y="362723"/>
              <a:ext cx="321148" cy="321148"/>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1" id="41"/>
          <p:cNvGrpSpPr/>
          <p:nvPr/>
        </p:nvGrpSpPr>
        <p:grpSpPr>
          <a:xfrm rot="0">
            <a:off x="9280744" y="5919705"/>
            <a:ext cx="3507412" cy="784945"/>
            <a:chOff x="0" y="0"/>
            <a:chExt cx="4676549" cy="1046593"/>
          </a:xfrm>
        </p:grpSpPr>
        <p:grpSp>
          <p:nvGrpSpPr>
            <p:cNvPr name="Group 42" id="42"/>
            <p:cNvGrpSpPr/>
            <p:nvPr/>
          </p:nvGrpSpPr>
          <p:grpSpPr>
            <a:xfrm rot="0">
              <a:off x="0" y="0"/>
              <a:ext cx="4676549" cy="1046593"/>
              <a:chOff x="0" y="0"/>
              <a:chExt cx="923763" cy="206735"/>
            </a:xfrm>
          </p:grpSpPr>
          <p:sp>
            <p:nvSpPr>
              <p:cNvPr name="Freeform 43" id="43"/>
              <p:cNvSpPr/>
              <p:nvPr/>
            </p:nvSpPr>
            <p:spPr>
              <a:xfrm flipH="false" flipV="false" rot="0">
                <a:off x="0" y="0"/>
                <a:ext cx="923763" cy="206735"/>
              </a:xfrm>
              <a:custGeom>
                <a:avLst/>
                <a:gdLst/>
                <a:ahLst/>
                <a:cxnLst/>
                <a:rect r="r" b="b" t="t" l="l"/>
                <a:pathLst>
                  <a:path h="206735" w="923763">
                    <a:moveTo>
                      <a:pt x="103367" y="0"/>
                    </a:moveTo>
                    <a:lnTo>
                      <a:pt x="820395" y="0"/>
                    </a:lnTo>
                    <a:cubicBezTo>
                      <a:pt x="847810" y="0"/>
                      <a:pt x="874102" y="10890"/>
                      <a:pt x="893487" y="30276"/>
                    </a:cubicBezTo>
                    <a:cubicBezTo>
                      <a:pt x="912872" y="49661"/>
                      <a:pt x="923763" y="75953"/>
                      <a:pt x="923763" y="103367"/>
                    </a:cubicBezTo>
                    <a:lnTo>
                      <a:pt x="923763" y="103367"/>
                    </a:lnTo>
                    <a:cubicBezTo>
                      <a:pt x="923763" y="130782"/>
                      <a:pt x="912872" y="157074"/>
                      <a:pt x="893487" y="176459"/>
                    </a:cubicBezTo>
                    <a:cubicBezTo>
                      <a:pt x="874102" y="195844"/>
                      <a:pt x="847810" y="206735"/>
                      <a:pt x="82039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4" id="44"/>
              <p:cNvSpPr txBox="true"/>
              <p:nvPr/>
            </p:nvSpPr>
            <p:spPr>
              <a:xfrm>
                <a:off x="0" y="-38100"/>
                <a:ext cx="923763" cy="244835"/>
              </a:xfrm>
              <a:prstGeom prst="rect">
                <a:avLst/>
              </a:prstGeom>
            </p:spPr>
            <p:txBody>
              <a:bodyPr anchor="ctr" rtlCol="false" tIns="50800" lIns="50800" bIns="50800" rIns="50800"/>
              <a:lstStyle/>
              <a:p>
                <a:pPr algn="ctr">
                  <a:lnSpc>
                    <a:spcPts val="2520"/>
                  </a:lnSpc>
                </a:pPr>
              </a:p>
            </p:txBody>
          </p:sp>
        </p:grpSp>
        <p:sp>
          <p:nvSpPr>
            <p:cNvPr name="TextBox 45" id="45"/>
            <p:cNvSpPr txBox="true"/>
            <p:nvPr/>
          </p:nvSpPr>
          <p:spPr>
            <a:xfrm rot="0">
              <a:off x="980011" y="197330"/>
              <a:ext cx="3126246"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Data Analysts</a:t>
              </a:r>
            </a:p>
          </p:txBody>
        </p:sp>
        <p:grpSp>
          <p:nvGrpSpPr>
            <p:cNvPr name="Group 46" id="46"/>
            <p:cNvGrpSpPr/>
            <p:nvPr/>
          </p:nvGrpSpPr>
          <p:grpSpPr>
            <a:xfrm rot="0">
              <a:off x="376982" y="362723"/>
              <a:ext cx="321148" cy="321148"/>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8" id="4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49" id="49"/>
          <p:cNvSpPr/>
          <p:nvPr/>
        </p:nvSpPr>
        <p:spPr>
          <a:xfrm flipH="false" flipV="false" rot="0">
            <a:off x="881112" y="5766755"/>
            <a:ext cx="2376695" cy="2376695"/>
          </a:xfrm>
          <a:custGeom>
            <a:avLst/>
            <a:gdLst/>
            <a:ahLst/>
            <a:cxnLst/>
            <a:rect r="r" b="b" t="t" l="l"/>
            <a:pathLst>
              <a:path h="2376695" w="2376695">
                <a:moveTo>
                  <a:pt x="0" y="0"/>
                </a:moveTo>
                <a:lnTo>
                  <a:pt x="2376694" y="0"/>
                </a:lnTo>
                <a:lnTo>
                  <a:pt x="2376694" y="2376695"/>
                </a:lnTo>
                <a:lnTo>
                  <a:pt x="0" y="23766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0" id="50"/>
          <p:cNvSpPr txBox="true"/>
          <p:nvPr/>
        </p:nvSpPr>
        <p:spPr>
          <a:xfrm rot="0">
            <a:off x="1028700" y="5055788"/>
            <a:ext cx="6803495" cy="4248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We are passionate about web development</a:t>
            </a:r>
          </a:p>
        </p:txBody>
      </p:sp>
      <p:sp>
        <p:nvSpPr>
          <p:cNvPr name="TextBox 51" id="51"/>
          <p:cNvSpPr txBox="true"/>
          <p:nvPr/>
        </p:nvSpPr>
        <p:spPr>
          <a:xfrm rot="0">
            <a:off x="9280744" y="3257931"/>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Skills</a:t>
            </a:r>
          </a:p>
        </p:txBody>
      </p:sp>
      <p:sp>
        <p:nvSpPr>
          <p:cNvPr name="TextBox 52" id="52"/>
          <p:cNvSpPr txBox="true"/>
          <p:nvPr/>
        </p:nvSpPr>
        <p:spPr>
          <a:xfrm rot="0">
            <a:off x="971550" y="3078715"/>
            <a:ext cx="7915275"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A Team</a:t>
            </a:r>
          </a:p>
          <a:p>
            <a:pPr algn="l">
              <a:lnSpc>
                <a:spcPts val="6999"/>
              </a:lnSpc>
            </a:pPr>
            <a:r>
              <a:rPr lang="en-US" sz="6999">
                <a:solidFill>
                  <a:srgbClr val="0D0D0D"/>
                </a:solidFill>
                <a:latin typeface="Poppins Light"/>
                <a:ea typeface="Poppins Light"/>
                <a:cs typeface="Poppins Light"/>
                <a:sym typeface="Poppins Light"/>
              </a:rPr>
              <a:t>of Experts</a:t>
            </a:r>
          </a:p>
        </p:txBody>
      </p:sp>
      <p:sp>
        <p:nvSpPr>
          <p:cNvPr name="Freeform 53" id="53"/>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4" id="54"/>
          <p:cNvGrpSpPr/>
          <p:nvPr/>
        </p:nvGrpSpPr>
        <p:grpSpPr>
          <a:xfrm rot="0">
            <a:off x="9280744" y="8732841"/>
            <a:ext cx="4306668" cy="784945"/>
            <a:chOff x="0" y="0"/>
            <a:chExt cx="5742224" cy="1046593"/>
          </a:xfrm>
        </p:grpSpPr>
        <p:grpSp>
          <p:nvGrpSpPr>
            <p:cNvPr name="Group 55" id="55"/>
            <p:cNvGrpSpPr/>
            <p:nvPr/>
          </p:nvGrpSpPr>
          <p:grpSpPr>
            <a:xfrm rot="0">
              <a:off x="0" y="0"/>
              <a:ext cx="5742224" cy="1046593"/>
              <a:chOff x="0" y="0"/>
              <a:chExt cx="1134267" cy="206735"/>
            </a:xfrm>
          </p:grpSpPr>
          <p:sp>
            <p:nvSpPr>
              <p:cNvPr name="Freeform 56" id="56"/>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7" id="57"/>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58" id="58"/>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a:ea typeface="Poppins"/>
                  <a:cs typeface="Poppins"/>
                  <a:sym typeface="Poppins"/>
                </a:rPr>
                <a:t>DBAs</a:t>
              </a:r>
            </a:p>
          </p:txBody>
        </p:sp>
        <p:grpSp>
          <p:nvGrpSpPr>
            <p:cNvPr name="Group 59" id="59"/>
            <p:cNvGrpSpPr/>
            <p:nvPr/>
          </p:nvGrpSpPr>
          <p:grpSpPr>
            <a:xfrm rot="0">
              <a:off x="376982" y="362723"/>
              <a:ext cx="321148" cy="321148"/>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1" id="6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5055788"/>
            <a:ext cx="6803495" cy="424815"/>
          </a:xfrm>
          <a:prstGeom prst="rect">
            <a:avLst/>
          </a:prstGeom>
        </p:spPr>
        <p:txBody>
          <a:bodyPr anchor="t" rtlCol="false" tIns="0" lIns="0" bIns="0" rIns="0">
            <a:spAutoFit/>
          </a:bodyPr>
          <a:lstStyle/>
          <a:p>
            <a:pPr algn="l">
              <a:lnSpc>
                <a:spcPts val="3359"/>
              </a:lnSpc>
            </a:pPr>
            <a:r>
              <a:rPr lang="en-US" sz="2400">
                <a:solidFill>
                  <a:srgbClr val="0D0D0D"/>
                </a:solidFill>
                <a:latin typeface="Poppins"/>
                <a:ea typeface="Poppins"/>
                <a:cs typeface="Poppins"/>
                <a:sym typeface="Poppins"/>
              </a:rPr>
              <a:t>We are passionate about web development</a:t>
            </a:r>
          </a:p>
        </p:txBody>
      </p:sp>
      <p:sp>
        <p:nvSpPr>
          <p:cNvPr name="TextBox 3" id="3"/>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4" id="4"/>
          <p:cNvGrpSpPr/>
          <p:nvPr/>
        </p:nvGrpSpPr>
        <p:grpSpPr>
          <a:xfrm rot="0">
            <a:off x="15319698" y="1344472"/>
            <a:ext cx="240861" cy="24086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9280744" y="3257931"/>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Skills</a:t>
            </a:r>
          </a:p>
        </p:txBody>
      </p:sp>
      <p:grpSp>
        <p:nvGrpSpPr>
          <p:cNvPr name="Group 8" id="8"/>
          <p:cNvGrpSpPr/>
          <p:nvPr/>
        </p:nvGrpSpPr>
        <p:grpSpPr>
          <a:xfrm rot="0">
            <a:off x="9280744" y="4043915"/>
            <a:ext cx="4906962" cy="784945"/>
            <a:chOff x="0" y="0"/>
            <a:chExt cx="6542616" cy="1046593"/>
          </a:xfrm>
        </p:grpSpPr>
        <p:grpSp>
          <p:nvGrpSpPr>
            <p:cNvPr name="Group 9" id="9"/>
            <p:cNvGrpSpPr/>
            <p:nvPr/>
          </p:nvGrpSpPr>
          <p:grpSpPr>
            <a:xfrm rot="0">
              <a:off x="0" y="0"/>
              <a:ext cx="6542616" cy="1046593"/>
              <a:chOff x="0" y="0"/>
              <a:chExt cx="1292369" cy="206735"/>
            </a:xfrm>
          </p:grpSpPr>
          <p:sp>
            <p:nvSpPr>
              <p:cNvPr name="Freeform 10" id="10"/>
              <p:cNvSpPr/>
              <p:nvPr/>
            </p:nvSpPr>
            <p:spPr>
              <a:xfrm flipH="false" flipV="false" rot="0">
                <a:off x="0" y="0"/>
                <a:ext cx="1292369" cy="206735"/>
              </a:xfrm>
              <a:custGeom>
                <a:avLst/>
                <a:gdLst/>
                <a:ahLst/>
                <a:cxnLst/>
                <a:rect r="r" b="b" t="t" l="l"/>
                <a:pathLst>
                  <a:path h="206735" w="1292369">
                    <a:moveTo>
                      <a:pt x="103367" y="0"/>
                    </a:moveTo>
                    <a:lnTo>
                      <a:pt x="1189001" y="0"/>
                    </a:lnTo>
                    <a:cubicBezTo>
                      <a:pt x="1216416" y="0"/>
                      <a:pt x="1242708" y="10890"/>
                      <a:pt x="1262093" y="30276"/>
                    </a:cubicBezTo>
                    <a:cubicBezTo>
                      <a:pt x="1281478" y="49661"/>
                      <a:pt x="1292369" y="75953"/>
                      <a:pt x="1292369" y="103367"/>
                    </a:cubicBezTo>
                    <a:lnTo>
                      <a:pt x="1292369" y="103367"/>
                    </a:lnTo>
                    <a:cubicBezTo>
                      <a:pt x="1292369" y="130782"/>
                      <a:pt x="1281478" y="157074"/>
                      <a:pt x="1262093" y="176459"/>
                    </a:cubicBezTo>
                    <a:cubicBezTo>
                      <a:pt x="1242708" y="195844"/>
                      <a:pt x="1216416" y="206735"/>
                      <a:pt x="1189001"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1" id="11"/>
              <p:cNvSpPr txBox="true"/>
              <p:nvPr/>
            </p:nvSpPr>
            <p:spPr>
              <a:xfrm>
                <a:off x="0" y="-38100"/>
                <a:ext cx="1292369" cy="244835"/>
              </a:xfrm>
              <a:prstGeom prst="rect">
                <a:avLst/>
              </a:prstGeom>
            </p:spPr>
            <p:txBody>
              <a:bodyPr anchor="ctr" rtlCol="false" tIns="50800" lIns="50800" bIns="50800" rIns="50800"/>
              <a:lstStyle/>
              <a:p>
                <a:pPr algn="ctr">
                  <a:lnSpc>
                    <a:spcPts val="2520"/>
                  </a:lnSpc>
                </a:pPr>
              </a:p>
            </p:txBody>
          </p:sp>
        </p:grpSp>
        <p:sp>
          <p:nvSpPr>
            <p:cNvPr name="TextBox 12" id="12"/>
            <p:cNvSpPr txBox="true"/>
            <p:nvPr/>
          </p:nvSpPr>
          <p:spPr>
            <a:xfrm rot="0">
              <a:off x="980011" y="197330"/>
              <a:ext cx="5216820"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Infrastructure Architects</a:t>
              </a:r>
            </a:p>
          </p:txBody>
        </p:sp>
        <p:grpSp>
          <p:nvGrpSpPr>
            <p:cNvPr name="Group 13" id="13"/>
            <p:cNvGrpSpPr/>
            <p:nvPr/>
          </p:nvGrpSpPr>
          <p:grpSpPr>
            <a:xfrm rot="0">
              <a:off x="376982" y="362723"/>
              <a:ext cx="321148" cy="32114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6" id="16"/>
          <p:cNvGrpSpPr/>
          <p:nvPr/>
        </p:nvGrpSpPr>
        <p:grpSpPr>
          <a:xfrm rot="0">
            <a:off x="9280744" y="6857601"/>
            <a:ext cx="3963049" cy="784945"/>
            <a:chOff x="0" y="0"/>
            <a:chExt cx="5284065" cy="1046593"/>
          </a:xfrm>
        </p:grpSpPr>
        <p:grpSp>
          <p:nvGrpSpPr>
            <p:cNvPr name="Group 17" id="17"/>
            <p:cNvGrpSpPr/>
            <p:nvPr/>
          </p:nvGrpSpPr>
          <p:grpSpPr>
            <a:xfrm rot="0">
              <a:off x="0" y="0"/>
              <a:ext cx="5284065" cy="1046593"/>
              <a:chOff x="0" y="0"/>
              <a:chExt cx="1043766" cy="206735"/>
            </a:xfrm>
          </p:grpSpPr>
          <p:sp>
            <p:nvSpPr>
              <p:cNvPr name="Freeform 18" id="18"/>
              <p:cNvSpPr/>
              <p:nvPr/>
            </p:nvSpPr>
            <p:spPr>
              <a:xfrm flipH="false" flipV="false" rot="0">
                <a:off x="0" y="0"/>
                <a:ext cx="1043766" cy="206735"/>
              </a:xfrm>
              <a:custGeom>
                <a:avLst/>
                <a:gdLst/>
                <a:ahLst/>
                <a:cxnLst/>
                <a:rect r="r" b="b" t="t" l="l"/>
                <a:pathLst>
                  <a:path h="206735" w="1043766">
                    <a:moveTo>
                      <a:pt x="103367" y="0"/>
                    </a:moveTo>
                    <a:lnTo>
                      <a:pt x="940399" y="0"/>
                    </a:lnTo>
                    <a:cubicBezTo>
                      <a:pt x="967813" y="0"/>
                      <a:pt x="994105" y="10890"/>
                      <a:pt x="1013490" y="30276"/>
                    </a:cubicBezTo>
                    <a:cubicBezTo>
                      <a:pt x="1032876" y="49661"/>
                      <a:pt x="1043766" y="75953"/>
                      <a:pt x="1043766" y="103367"/>
                    </a:cubicBezTo>
                    <a:lnTo>
                      <a:pt x="1043766" y="103367"/>
                    </a:lnTo>
                    <a:cubicBezTo>
                      <a:pt x="1043766" y="130782"/>
                      <a:pt x="1032876" y="157074"/>
                      <a:pt x="1013490" y="176459"/>
                    </a:cubicBezTo>
                    <a:cubicBezTo>
                      <a:pt x="994105" y="195844"/>
                      <a:pt x="967813" y="206735"/>
                      <a:pt x="9403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9" id="19"/>
              <p:cNvSpPr txBox="true"/>
              <p:nvPr/>
            </p:nvSpPr>
            <p:spPr>
              <a:xfrm>
                <a:off x="0" y="-38100"/>
                <a:ext cx="1043766" cy="244835"/>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DevOps Engineers</a:t>
              </a:r>
            </a:p>
          </p:txBody>
        </p:sp>
        <p:grpSp>
          <p:nvGrpSpPr>
            <p:cNvPr name="Group 21" id="21"/>
            <p:cNvGrpSpPr/>
            <p:nvPr/>
          </p:nvGrpSpPr>
          <p:grpSpPr>
            <a:xfrm rot="0">
              <a:off x="376982" y="362723"/>
              <a:ext cx="321148" cy="32114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4" id="24"/>
          <p:cNvGrpSpPr/>
          <p:nvPr/>
        </p:nvGrpSpPr>
        <p:grpSpPr>
          <a:xfrm rot="0">
            <a:off x="9280744" y="4981810"/>
            <a:ext cx="3792318" cy="784945"/>
            <a:chOff x="0" y="0"/>
            <a:chExt cx="5056424" cy="1046593"/>
          </a:xfrm>
        </p:grpSpPr>
        <p:grpSp>
          <p:nvGrpSpPr>
            <p:cNvPr name="Group 25" id="25"/>
            <p:cNvGrpSpPr/>
            <p:nvPr/>
          </p:nvGrpSpPr>
          <p:grpSpPr>
            <a:xfrm rot="0">
              <a:off x="0" y="0"/>
              <a:ext cx="5056424" cy="1046593"/>
              <a:chOff x="0" y="0"/>
              <a:chExt cx="998800" cy="206735"/>
            </a:xfrm>
          </p:grpSpPr>
          <p:sp>
            <p:nvSpPr>
              <p:cNvPr name="Freeform 26" id="26"/>
              <p:cNvSpPr/>
              <p:nvPr/>
            </p:nvSpPr>
            <p:spPr>
              <a:xfrm flipH="false" flipV="false" rot="0">
                <a:off x="0" y="0"/>
                <a:ext cx="998800" cy="206735"/>
              </a:xfrm>
              <a:custGeom>
                <a:avLst/>
                <a:gdLst/>
                <a:ahLst/>
                <a:cxnLst/>
                <a:rect r="r" b="b" t="t" l="l"/>
                <a:pathLst>
                  <a:path h="206735" w="998800">
                    <a:moveTo>
                      <a:pt x="103367" y="0"/>
                    </a:moveTo>
                    <a:lnTo>
                      <a:pt x="895433" y="0"/>
                    </a:lnTo>
                    <a:cubicBezTo>
                      <a:pt x="922847" y="0"/>
                      <a:pt x="949139" y="10890"/>
                      <a:pt x="968524" y="30276"/>
                    </a:cubicBezTo>
                    <a:cubicBezTo>
                      <a:pt x="987909" y="49661"/>
                      <a:pt x="998800" y="75953"/>
                      <a:pt x="998800" y="103367"/>
                    </a:cubicBezTo>
                    <a:lnTo>
                      <a:pt x="998800" y="103367"/>
                    </a:lnTo>
                    <a:cubicBezTo>
                      <a:pt x="998800" y="130782"/>
                      <a:pt x="987909" y="157074"/>
                      <a:pt x="968524" y="176459"/>
                    </a:cubicBezTo>
                    <a:cubicBezTo>
                      <a:pt x="949139" y="195844"/>
                      <a:pt x="922847" y="206735"/>
                      <a:pt x="8954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7" id="27"/>
              <p:cNvSpPr txBox="true"/>
              <p:nvPr/>
            </p:nvSpPr>
            <p:spPr>
              <a:xfrm>
                <a:off x="0" y="-38100"/>
                <a:ext cx="998800" cy="244835"/>
              </a:xfrm>
              <a:prstGeom prst="rect">
                <a:avLst/>
              </a:prstGeom>
            </p:spPr>
            <p:txBody>
              <a:bodyPr anchor="ctr" rtlCol="false" tIns="50800" lIns="50800" bIns="50800" rIns="50800"/>
              <a:lstStyle/>
              <a:p>
                <a:pPr algn="ctr">
                  <a:lnSpc>
                    <a:spcPts val="2520"/>
                  </a:lnSpc>
                </a:pPr>
              </a:p>
            </p:txBody>
          </p:sp>
        </p:grpSp>
        <p:sp>
          <p:nvSpPr>
            <p:cNvPr name="TextBox 28" id="28"/>
            <p:cNvSpPr txBox="true"/>
            <p:nvPr/>
          </p:nvSpPr>
          <p:spPr>
            <a:xfrm rot="0">
              <a:off x="980011" y="197330"/>
              <a:ext cx="3696538"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Software Testers</a:t>
              </a:r>
            </a:p>
          </p:txBody>
        </p:sp>
        <p:grpSp>
          <p:nvGrpSpPr>
            <p:cNvPr name="Group 29" id="29"/>
            <p:cNvGrpSpPr/>
            <p:nvPr/>
          </p:nvGrpSpPr>
          <p:grpSpPr>
            <a:xfrm rot="0">
              <a:off x="376982" y="362723"/>
              <a:ext cx="321148" cy="32114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2" id="32"/>
          <p:cNvGrpSpPr/>
          <p:nvPr/>
        </p:nvGrpSpPr>
        <p:grpSpPr>
          <a:xfrm rot="0">
            <a:off x="9280744" y="7795496"/>
            <a:ext cx="4306668" cy="784945"/>
            <a:chOff x="0" y="0"/>
            <a:chExt cx="5742224" cy="1046593"/>
          </a:xfrm>
        </p:grpSpPr>
        <p:grpSp>
          <p:nvGrpSpPr>
            <p:cNvPr name="Group 33" id="33"/>
            <p:cNvGrpSpPr/>
            <p:nvPr/>
          </p:nvGrpSpPr>
          <p:grpSpPr>
            <a:xfrm rot="0">
              <a:off x="0" y="0"/>
              <a:ext cx="5742224" cy="1046593"/>
              <a:chOff x="0" y="0"/>
              <a:chExt cx="1134267" cy="206735"/>
            </a:xfrm>
          </p:grpSpPr>
          <p:sp>
            <p:nvSpPr>
              <p:cNvPr name="Freeform 34" id="34"/>
              <p:cNvSpPr/>
              <p:nvPr/>
            </p:nvSpPr>
            <p:spPr>
              <a:xfrm flipH="false" flipV="false" rot="0">
                <a:off x="0" y="0"/>
                <a:ext cx="1134267" cy="206735"/>
              </a:xfrm>
              <a:custGeom>
                <a:avLst/>
                <a:gdLst/>
                <a:ahLst/>
                <a:cxnLst/>
                <a:rect r="r" b="b" t="t" l="l"/>
                <a:pathLst>
                  <a:path h="206735" w="1134267">
                    <a:moveTo>
                      <a:pt x="103367" y="0"/>
                    </a:moveTo>
                    <a:lnTo>
                      <a:pt x="1030899" y="0"/>
                    </a:lnTo>
                    <a:cubicBezTo>
                      <a:pt x="1058314" y="0"/>
                      <a:pt x="1084606" y="10890"/>
                      <a:pt x="1103991" y="30276"/>
                    </a:cubicBezTo>
                    <a:cubicBezTo>
                      <a:pt x="1123376" y="49661"/>
                      <a:pt x="1134267" y="75953"/>
                      <a:pt x="1134267" y="103367"/>
                    </a:cubicBezTo>
                    <a:lnTo>
                      <a:pt x="1134267" y="103367"/>
                    </a:lnTo>
                    <a:cubicBezTo>
                      <a:pt x="1134267" y="130782"/>
                      <a:pt x="1123376" y="157074"/>
                      <a:pt x="1103991" y="176459"/>
                    </a:cubicBezTo>
                    <a:cubicBezTo>
                      <a:pt x="1084606" y="195844"/>
                      <a:pt x="1058314" y="206735"/>
                      <a:pt x="103089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5" id="35"/>
              <p:cNvSpPr txBox="true"/>
              <p:nvPr/>
            </p:nvSpPr>
            <p:spPr>
              <a:xfrm>
                <a:off x="0" y="-38100"/>
                <a:ext cx="1134267" cy="244835"/>
              </a:xfrm>
              <a:prstGeom prst="rect">
                <a:avLst/>
              </a:prstGeom>
            </p:spPr>
            <p:txBody>
              <a:bodyPr anchor="ctr" rtlCol="false" tIns="50800" lIns="50800" bIns="50800" rIns="50800"/>
              <a:lstStyle/>
              <a:p>
                <a:pPr algn="ctr">
                  <a:lnSpc>
                    <a:spcPts val="2520"/>
                  </a:lnSpc>
                </a:pPr>
              </a:p>
            </p:txBody>
          </p:sp>
        </p:grpSp>
        <p:sp>
          <p:nvSpPr>
            <p:cNvPr name="TextBox 36" id="36"/>
            <p:cNvSpPr txBox="true"/>
            <p:nvPr/>
          </p:nvSpPr>
          <p:spPr>
            <a:xfrm rot="0">
              <a:off x="980011" y="197330"/>
              <a:ext cx="407641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Software Architects</a:t>
              </a:r>
            </a:p>
          </p:txBody>
        </p:sp>
        <p:grpSp>
          <p:nvGrpSpPr>
            <p:cNvPr name="Group 37" id="37"/>
            <p:cNvGrpSpPr/>
            <p:nvPr/>
          </p:nvGrpSpPr>
          <p:grpSpPr>
            <a:xfrm rot="0">
              <a:off x="376982" y="362723"/>
              <a:ext cx="321148" cy="321148"/>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0" id="40"/>
          <p:cNvGrpSpPr/>
          <p:nvPr/>
        </p:nvGrpSpPr>
        <p:grpSpPr>
          <a:xfrm rot="0">
            <a:off x="9280744" y="5919705"/>
            <a:ext cx="3507412" cy="784945"/>
            <a:chOff x="0" y="0"/>
            <a:chExt cx="4676549" cy="1046593"/>
          </a:xfrm>
        </p:grpSpPr>
        <p:grpSp>
          <p:nvGrpSpPr>
            <p:cNvPr name="Group 41" id="41"/>
            <p:cNvGrpSpPr/>
            <p:nvPr/>
          </p:nvGrpSpPr>
          <p:grpSpPr>
            <a:xfrm rot="0">
              <a:off x="0" y="0"/>
              <a:ext cx="4676549" cy="1046593"/>
              <a:chOff x="0" y="0"/>
              <a:chExt cx="923763" cy="206735"/>
            </a:xfrm>
          </p:grpSpPr>
          <p:sp>
            <p:nvSpPr>
              <p:cNvPr name="Freeform 42" id="42"/>
              <p:cNvSpPr/>
              <p:nvPr/>
            </p:nvSpPr>
            <p:spPr>
              <a:xfrm flipH="false" flipV="false" rot="0">
                <a:off x="0" y="0"/>
                <a:ext cx="923763" cy="206735"/>
              </a:xfrm>
              <a:custGeom>
                <a:avLst/>
                <a:gdLst/>
                <a:ahLst/>
                <a:cxnLst/>
                <a:rect r="r" b="b" t="t" l="l"/>
                <a:pathLst>
                  <a:path h="206735" w="923763">
                    <a:moveTo>
                      <a:pt x="103367" y="0"/>
                    </a:moveTo>
                    <a:lnTo>
                      <a:pt x="820395" y="0"/>
                    </a:lnTo>
                    <a:cubicBezTo>
                      <a:pt x="847810" y="0"/>
                      <a:pt x="874102" y="10890"/>
                      <a:pt x="893487" y="30276"/>
                    </a:cubicBezTo>
                    <a:cubicBezTo>
                      <a:pt x="912872" y="49661"/>
                      <a:pt x="923763" y="75953"/>
                      <a:pt x="923763" y="103367"/>
                    </a:cubicBezTo>
                    <a:lnTo>
                      <a:pt x="923763" y="103367"/>
                    </a:lnTo>
                    <a:cubicBezTo>
                      <a:pt x="923763" y="130782"/>
                      <a:pt x="912872" y="157074"/>
                      <a:pt x="893487" y="176459"/>
                    </a:cubicBezTo>
                    <a:cubicBezTo>
                      <a:pt x="874102" y="195844"/>
                      <a:pt x="847810" y="206735"/>
                      <a:pt x="82039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3" id="43"/>
              <p:cNvSpPr txBox="true"/>
              <p:nvPr/>
            </p:nvSpPr>
            <p:spPr>
              <a:xfrm>
                <a:off x="0" y="-38100"/>
                <a:ext cx="923763" cy="244835"/>
              </a:xfrm>
              <a:prstGeom prst="rect">
                <a:avLst/>
              </a:prstGeom>
            </p:spPr>
            <p:txBody>
              <a:bodyPr anchor="ctr" rtlCol="false" tIns="50800" lIns="50800" bIns="50800" rIns="50800"/>
              <a:lstStyle/>
              <a:p>
                <a:pPr algn="ctr">
                  <a:lnSpc>
                    <a:spcPts val="2520"/>
                  </a:lnSpc>
                </a:pPr>
              </a:p>
            </p:txBody>
          </p:sp>
        </p:grpSp>
        <p:sp>
          <p:nvSpPr>
            <p:cNvPr name="TextBox 44" id="44"/>
            <p:cNvSpPr txBox="true"/>
            <p:nvPr/>
          </p:nvSpPr>
          <p:spPr>
            <a:xfrm rot="0">
              <a:off x="980011" y="197330"/>
              <a:ext cx="3696538"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Light"/>
                  <a:ea typeface="Poppins Light"/>
                  <a:cs typeface="Poppins Light"/>
                  <a:sym typeface="Poppins Light"/>
                </a:rPr>
                <a:t>Security Auditors</a:t>
              </a:r>
            </a:p>
          </p:txBody>
        </p:sp>
        <p:grpSp>
          <p:nvGrpSpPr>
            <p:cNvPr name="Group 45" id="45"/>
            <p:cNvGrpSpPr/>
            <p:nvPr/>
          </p:nvGrpSpPr>
          <p:grpSpPr>
            <a:xfrm rot="0">
              <a:off x="376982" y="362723"/>
              <a:ext cx="321148" cy="321148"/>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48" id="48"/>
          <p:cNvSpPr txBox="true"/>
          <p:nvPr/>
        </p:nvSpPr>
        <p:spPr>
          <a:xfrm rot="0">
            <a:off x="971550" y="3078715"/>
            <a:ext cx="7915275"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A Team</a:t>
            </a:r>
          </a:p>
          <a:p>
            <a:pPr algn="l">
              <a:lnSpc>
                <a:spcPts val="6999"/>
              </a:lnSpc>
            </a:pPr>
            <a:r>
              <a:rPr lang="en-US" sz="6999">
                <a:solidFill>
                  <a:srgbClr val="0D0D0D"/>
                </a:solidFill>
                <a:latin typeface="Poppins Light"/>
                <a:ea typeface="Poppins Light"/>
                <a:cs typeface="Poppins Light"/>
                <a:sym typeface="Poppins Light"/>
              </a:rPr>
              <a:t>of Experts</a:t>
            </a:r>
          </a:p>
        </p:txBody>
      </p:sp>
      <p:grpSp>
        <p:nvGrpSpPr>
          <p:cNvPr name="Group 49" id="49"/>
          <p:cNvGrpSpPr/>
          <p:nvPr/>
        </p:nvGrpSpPr>
        <p:grpSpPr>
          <a:xfrm rot="0">
            <a:off x="9280744" y="8738117"/>
            <a:ext cx="5538228" cy="842378"/>
            <a:chOff x="0" y="0"/>
            <a:chExt cx="7384305" cy="1123171"/>
          </a:xfrm>
        </p:grpSpPr>
        <p:grpSp>
          <p:nvGrpSpPr>
            <p:cNvPr name="Group 50" id="50"/>
            <p:cNvGrpSpPr/>
            <p:nvPr/>
          </p:nvGrpSpPr>
          <p:grpSpPr>
            <a:xfrm rot="0">
              <a:off x="0" y="0"/>
              <a:ext cx="7050238" cy="1123171"/>
              <a:chOff x="0" y="0"/>
              <a:chExt cx="1392640" cy="221861"/>
            </a:xfrm>
          </p:grpSpPr>
          <p:sp>
            <p:nvSpPr>
              <p:cNvPr name="Freeform 51" id="51"/>
              <p:cNvSpPr/>
              <p:nvPr/>
            </p:nvSpPr>
            <p:spPr>
              <a:xfrm flipH="false" flipV="false" rot="0">
                <a:off x="0" y="0"/>
                <a:ext cx="1392640" cy="221861"/>
              </a:xfrm>
              <a:custGeom>
                <a:avLst/>
                <a:gdLst/>
                <a:ahLst/>
                <a:cxnLst/>
                <a:rect r="r" b="b" t="t" l="l"/>
                <a:pathLst>
                  <a:path h="221861" w="1392640">
                    <a:moveTo>
                      <a:pt x="110930" y="0"/>
                    </a:moveTo>
                    <a:lnTo>
                      <a:pt x="1281709" y="0"/>
                    </a:lnTo>
                    <a:cubicBezTo>
                      <a:pt x="1311130" y="0"/>
                      <a:pt x="1339345" y="11687"/>
                      <a:pt x="1360149" y="32491"/>
                    </a:cubicBezTo>
                    <a:cubicBezTo>
                      <a:pt x="1380952" y="53294"/>
                      <a:pt x="1392640" y="81510"/>
                      <a:pt x="1392640" y="110930"/>
                    </a:cubicBezTo>
                    <a:lnTo>
                      <a:pt x="1392640" y="110930"/>
                    </a:lnTo>
                    <a:cubicBezTo>
                      <a:pt x="1392640" y="172196"/>
                      <a:pt x="1342974" y="221861"/>
                      <a:pt x="1281709" y="221861"/>
                    </a:cubicBezTo>
                    <a:lnTo>
                      <a:pt x="110930" y="221861"/>
                    </a:lnTo>
                    <a:cubicBezTo>
                      <a:pt x="81510" y="221861"/>
                      <a:pt x="53294" y="210174"/>
                      <a:pt x="32491" y="189370"/>
                    </a:cubicBezTo>
                    <a:cubicBezTo>
                      <a:pt x="11687" y="168567"/>
                      <a:pt x="0" y="140351"/>
                      <a:pt x="0" y="110930"/>
                    </a:cubicBezTo>
                    <a:lnTo>
                      <a:pt x="0" y="110930"/>
                    </a:lnTo>
                    <a:cubicBezTo>
                      <a:pt x="0" y="81510"/>
                      <a:pt x="11687" y="53294"/>
                      <a:pt x="32491" y="32491"/>
                    </a:cubicBezTo>
                    <a:cubicBezTo>
                      <a:pt x="53294" y="11687"/>
                      <a:pt x="81510" y="0"/>
                      <a:pt x="110930" y="0"/>
                    </a:cubicBezTo>
                    <a:close/>
                  </a:path>
                </a:pathLst>
              </a:custGeom>
              <a:solidFill>
                <a:srgbClr val="68DE68"/>
              </a:solidFill>
            </p:spPr>
          </p:sp>
          <p:sp>
            <p:nvSpPr>
              <p:cNvPr name="TextBox 52" id="52"/>
              <p:cNvSpPr txBox="true"/>
              <p:nvPr/>
            </p:nvSpPr>
            <p:spPr>
              <a:xfrm>
                <a:off x="0" y="-38100"/>
                <a:ext cx="1392640" cy="259961"/>
              </a:xfrm>
              <a:prstGeom prst="rect">
                <a:avLst/>
              </a:prstGeom>
            </p:spPr>
            <p:txBody>
              <a:bodyPr anchor="ctr" rtlCol="false" tIns="50800" lIns="50800" bIns="50800" rIns="50800"/>
              <a:lstStyle/>
              <a:p>
                <a:pPr algn="ctr">
                  <a:lnSpc>
                    <a:spcPts val="2520"/>
                  </a:lnSpc>
                </a:pPr>
              </a:p>
            </p:txBody>
          </p:sp>
        </p:grpSp>
        <p:sp>
          <p:nvSpPr>
            <p:cNvPr name="TextBox 53" id="53"/>
            <p:cNvSpPr txBox="true"/>
            <p:nvPr/>
          </p:nvSpPr>
          <p:spPr>
            <a:xfrm rot="0">
              <a:off x="980011" y="228396"/>
              <a:ext cx="6404294" cy="575733"/>
            </a:xfrm>
            <a:prstGeom prst="rect">
              <a:avLst/>
            </a:prstGeom>
          </p:spPr>
          <p:txBody>
            <a:bodyPr anchor="t" rtlCol="false" tIns="0" lIns="0" bIns="0" rIns="0">
              <a:spAutoFit/>
            </a:bodyPr>
            <a:lstStyle/>
            <a:p>
              <a:pPr algn="l">
                <a:lnSpc>
                  <a:spcPts val="3500"/>
                </a:lnSpc>
              </a:pPr>
              <a:r>
                <a:rPr lang="en-US" sz="2500">
                  <a:solidFill>
                    <a:srgbClr val="0D0D0D"/>
                  </a:solidFill>
                  <a:latin typeface="Poppins"/>
                  <a:ea typeface="Poppins"/>
                  <a:cs typeface="Poppins"/>
                  <a:sym typeface="Poppins"/>
                </a:rPr>
                <a:t>Senior Software Engineers</a:t>
              </a:r>
            </a:p>
          </p:txBody>
        </p:sp>
        <p:grpSp>
          <p:nvGrpSpPr>
            <p:cNvPr name="Group 54" id="54"/>
            <p:cNvGrpSpPr/>
            <p:nvPr/>
          </p:nvGrpSpPr>
          <p:grpSpPr>
            <a:xfrm rot="0">
              <a:off x="376982" y="355688"/>
              <a:ext cx="321148" cy="321148"/>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57" id="57"/>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8" id="58"/>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sp>
        <p:nvSpPr>
          <p:cNvPr name="TextBox 59" id="59"/>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grpSp>
        <p:nvGrpSpPr>
          <p:cNvPr name="Group 60" id="60"/>
          <p:cNvGrpSpPr/>
          <p:nvPr/>
        </p:nvGrpSpPr>
        <p:grpSpPr>
          <a:xfrm rot="0">
            <a:off x="15319698" y="1344472"/>
            <a:ext cx="240861" cy="240861"/>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2" id="6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63" id="63"/>
          <p:cNvGrpSpPr/>
          <p:nvPr/>
        </p:nvGrpSpPr>
        <p:grpSpPr>
          <a:xfrm rot="0">
            <a:off x="13465350" y="1072430"/>
            <a:ext cx="3793950" cy="784945"/>
            <a:chOff x="0" y="0"/>
            <a:chExt cx="999230" cy="206735"/>
          </a:xfrm>
        </p:grpSpPr>
        <p:sp>
          <p:nvSpPr>
            <p:cNvPr name="Freeform 64" id="64"/>
            <p:cNvSpPr/>
            <p:nvPr/>
          </p:nvSpPr>
          <p:spPr>
            <a:xfrm flipH="false" flipV="false" rot="0">
              <a:off x="0" y="0"/>
              <a:ext cx="999230" cy="206735"/>
            </a:xfrm>
            <a:custGeom>
              <a:avLst/>
              <a:gdLst/>
              <a:ahLst/>
              <a:cxnLst/>
              <a:rect r="r" b="b" t="t" l="l"/>
              <a:pathLst>
                <a:path h="206735" w="999230">
                  <a:moveTo>
                    <a:pt x="103367" y="0"/>
                  </a:moveTo>
                  <a:lnTo>
                    <a:pt x="895862" y="0"/>
                  </a:lnTo>
                  <a:cubicBezTo>
                    <a:pt x="923277" y="0"/>
                    <a:pt x="949569" y="10890"/>
                    <a:pt x="968954" y="30276"/>
                  </a:cubicBezTo>
                  <a:cubicBezTo>
                    <a:pt x="988339" y="49661"/>
                    <a:pt x="999230" y="75953"/>
                    <a:pt x="999230" y="103367"/>
                  </a:cubicBezTo>
                  <a:lnTo>
                    <a:pt x="999230" y="103367"/>
                  </a:lnTo>
                  <a:cubicBezTo>
                    <a:pt x="999230" y="130782"/>
                    <a:pt x="988339" y="157074"/>
                    <a:pt x="968954" y="176459"/>
                  </a:cubicBezTo>
                  <a:cubicBezTo>
                    <a:pt x="949569" y="195844"/>
                    <a:pt x="923277" y="206735"/>
                    <a:pt x="89586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5" id="65"/>
            <p:cNvSpPr txBox="true"/>
            <p:nvPr/>
          </p:nvSpPr>
          <p:spPr>
            <a:xfrm>
              <a:off x="0" y="-38100"/>
              <a:ext cx="999230" cy="244835"/>
            </a:xfrm>
            <a:prstGeom prst="rect">
              <a:avLst/>
            </a:prstGeom>
          </p:spPr>
          <p:txBody>
            <a:bodyPr anchor="ctr" rtlCol="false" tIns="50800" lIns="50800" bIns="50800" rIns="50800"/>
            <a:lstStyle/>
            <a:p>
              <a:pPr algn="ctr">
                <a:lnSpc>
                  <a:spcPts val="2520"/>
                </a:lnSpc>
              </a:pPr>
            </a:p>
          </p:txBody>
        </p:sp>
      </p:grpSp>
      <p:sp>
        <p:nvSpPr>
          <p:cNvPr name="TextBox 66" id="66"/>
          <p:cNvSpPr txBox="true"/>
          <p:nvPr/>
        </p:nvSpPr>
        <p:spPr>
          <a:xfrm rot="0">
            <a:off x="13706973" y="1220428"/>
            <a:ext cx="3286722"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Capabilities Overview</a:t>
            </a:r>
          </a:p>
        </p:txBody>
      </p:sp>
      <p:grpSp>
        <p:nvGrpSpPr>
          <p:cNvPr name="Group 67" id="67"/>
          <p:cNvGrpSpPr/>
          <p:nvPr/>
        </p:nvGrpSpPr>
        <p:grpSpPr>
          <a:xfrm rot="0">
            <a:off x="13706973" y="1344472"/>
            <a:ext cx="240861" cy="2408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70" id="70"/>
          <p:cNvSpPr/>
          <p:nvPr/>
        </p:nvSpPr>
        <p:spPr>
          <a:xfrm flipH="false" flipV="false" rot="0">
            <a:off x="871587" y="5766755"/>
            <a:ext cx="2376695" cy="2376695"/>
          </a:xfrm>
          <a:custGeom>
            <a:avLst/>
            <a:gdLst/>
            <a:ahLst/>
            <a:cxnLst/>
            <a:rect r="r" b="b" t="t" l="l"/>
            <a:pathLst>
              <a:path h="2376695" w="2376695">
                <a:moveTo>
                  <a:pt x="0" y="0"/>
                </a:moveTo>
                <a:lnTo>
                  <a:pt x="2376694" y="0"/>
                </a:lnTo>
                <a:lnTo>
                  <a:pt x="2376694" y="2376695"/>
                </a:lnTo>
                <a:lnTo>
                  <a:pt x="0" y="2376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3" id="3"/>
          <p:cNvGrpSpPr/>
          <p:nvPr/>
        </p:nvGrpSpPr>
        <p:grpSpPr>
          <a:xfrm rot="0">
            <a:off x="15319698"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933450" y="2322757"/>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983581" y="2351332"/>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UX/UI</a:t>
            </a:r>
            <a:r>
              <a:rPr lang="en-US" sz="3000">
                <a:solidFill>
                  <a:srgbClr val="0D0D0D"/>
                </a:solidFill>
                <a:latin typeface="Poppins Light"/>
                <a:ea typeface="Poppins Light"/>
                <a:cs typeface="Poppins Light"/>
                <a:sym typeface="Poppins Light"/>
              </a:rPr>
              <a:t> Design</a:t>
            </a:r>
          </a:p>
        </p:txBody>
      </p:sp>
      <p:sp>
        <p:nvSpPr>
          <p:cNvPr name="TextBox 8" id="8"/>
          <p:cNvSpPr txBox="true"/>
          <p:nvPr/>
        </p:nvSpPr>
        <p:spPr>
          <a:xfrm rot="0">
            <a:off x="1983581" y="2858062"/>
            <a:ext cx="6805612" cy="283210"/>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We offer architecture &amp; design services for your next big project.</a:t>
            </a:r>
          </a:p>
        </p:txBody>
      </p:sp>
      <p:sp>
        <p:nvSpPr>
          <p:cNvPr name="TextBox 9" id="9"/>
          <p:cNvSpPr txBox="true"/>
          <p:nvPr/>
        </p:nvSpPr>
        <p:spPr>
          <a:xfrm rot="0">
            <a:off x="10853738" y="2351332"/>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Busin</a:t>
            </a:r>
            <a:r>
              <a:rPr lang="en-US" sz="3000">
                <a:solidFill>
                  <a:srgbClr val="0D0D0D"/>
                </a:solidFill>
                <a:latin typeface="Poppins Light"/>
                <a:ea typeface="Poppins Light"/>
                <a:cs typeface="Poppins Light"/>
                <a:sym typeface="Poppins Light"/>
              </a:rPr>
              <a:t>ess Intelligence</a:t>
            </a:r>
          </a:p>
        </p:txBody>
      </p:sp>
      <p:sp>
        <p:nvSpPr>
          <p:cNvPr name="TextBox 10" id="10"/>
          <p:cNvSpPr txBox="true"/>
          <p:nvPr/>
        </p:nvSpPr>
        <p:spPr>
          <a:xfrm rot="0">
            <a:off x="10853738" y="2858062"/>
            <a:ext cx="6805612" cy="835660"/>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Centralize and automate data with a real-time BI dashboard to uncover insights, track KPIs, and enhance decision-making for your business.</a:t>
            </a:r>
          </a:p>
        </p:txBody>
      </p:sp>
      <p:sp>
        <p:nvSpPr>
          <p:cNvPr name="Freeform 11" id="11"/>
          <p:cNvSpPr/>
          <p:nvPr/>
        </p:nvSpPr>
        <p:spPr>
          <a:xfrm flipH="false" flipV="false" rot="0">
            <a:off x="9805988" y="2322757"/>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853738" y="5459621"/>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Performanc</a:t>
            </a:r>
            <a:r>
              <a:rPr lang="en-US" sz="3000">
                <a:solidFill>
                  <a:srgbClr val="0D0D0D"/>
                </a:solidFill>
                <a:latin typeface="Poppins Light"/>
                <a:ea typeface="Poppins Light"/>
                <a:cs typeface="Poppins Light"/>
                <a:sym typeface="Poppins Light"/>
              </a:rPr>
              <a:t>e &amp; Security</a:t>
            </a:r>
          </a:p>
        </p:txBody>
      </p:sp>
      <p:sp>
        <p:nvSpPr>
          <p:cNvPr name="TextBox 13" id="13"/>
          <p:cNvSpPr txBox="true"/>
          <p:nvPr/>
        </p:nvSpPr>
        <p:spPr>
          <a:xfrm rot="0">
            <a:off x="10853738" y="5966351"/>
            <a:ext cx="6805612" cy="559435"/>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Optimize performance for your apps, detect and remediate security vulnerabilities.</a:t>
            </a:r>
          </a:p>
        </p:txBody>
      </p:sp>
      <p:sp>
        <p:nvSpPr>
          <p:cNvPr name="TextBox 14" id="14"/>
          <p:cNvSpPr txBox="true"/>
          <p:nvPr/>
        </p:nvSpPr>
        <p:spPr>
          <a:xfrm rot="0">
            <a:off x="1983581" y="5459621"/>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Legacy</a:t>
            </a:r>
            <a:r>
              <a:rPr lang="en-US" sz="3000">
                <a:solidFill>
                  <a:srgbClr val="0D0D0D"/>
                </a:solidFill>
                <a:latin typeface="Poppins Light"/>
                <a:ea typeface="Poppins Light"/>
                <a:cs typeface="Poppins Light"/>
                <a:sym typeface="Poppins Light"/>
              </a:rPr>
              <a:t> Modernization</a:t>
            </a:r>
          </a:p>
        </p:txBody>
      </p:sp>
      <p:sp>
        <p:nvSpPr>
          <p:cNvPr name="TextBox 15" id="15"/>
          <p:cNvSpPr txBox="true"/>
          <p:nvPr/>
        </p:nvSpPr>
        <p:spPr>
          <a:xfrm rot="0">
            <a:off x="1983581" y="5966351"/>
            <a:ext cx="6805612" cy="283210"/>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Bring your Legacy Applications to the twenty-first century!</a:t>
            </a:r>
          </a:p>
        </p:txBody>
      </p:sp>
      <p:sp>
        <p:nvSpPr>
          <p:cNvPr name="Freeform 16" id="16"/>
          <p:cNvSpPr/>
          <p:nvPr/>
        </p:nvSpPr>
        <p:spPr>
          <a:xfrm flipH="false" flipV="false" rot="0">
            <a:off x="933450" y="5431046"/>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9805988" y="5431046"/>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8" id="18"/>
          <p:cNvSpPr/>
          <p:nvPr/>
        </p:nvSpPr>
        <p:spPr>
          <a:xfrm flipH="false" flipV="false" rot="0">
            <a:off x="933450" y="3758156"/>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0853738" y="4043589"/>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D</a:t>
            </a:r>
            <a:r>
              <a:rPr lang="en-US" sz="3000">
                <a:solidFill>
                  <a:srgbClr val="0D0D0D"/>
                </a:solidFill>
                <a:latin typeface="Poppins Light"/>
                <a:ea typeface="Poppins Light"/>
                <a:cs typeface="Poppins Light"/>
                <a:sym typeface="Poppins Light"/>
              </a:rPr>
              <a:t>evOps &amp; Infrastructure</a:t>
            </a:r>
          </a:p>
        </p:txBody>
      </p:sp>
      <p:sp>
        <p:nvSpPr>
          <p:cNvPr name="TextBox 20" id="20"/>
          <p:cNvSpPr txBox="true"/>
          <p:nvPr/>
        </p:nvSpPr>
        <p:spPr>
          <a:xfrm rot="0">
            <a:off x="10853738" y="4550319"/>
            <a:ext cx="6805612" cy="559435"/>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Let us design your next server farm, CI/CD or fine tune it for optimal performance.</a:t>
            </a:r>
          </a:p>
        </p:txBody>
      </p:sp>
      <p:sp>
        <p:nvSpPr>
          <p:cNvPr name="TextBox 21" id="21"/>
          <p:cNvSpPr txBox="true"/>
          <p:nvPr/>
        </p:nvSpPr>
        <p:spPr>
          <a:xfrm rot="0">
            <a:off x="1983581" y="3786731"/>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Mob</a:t>
            </a:r>
            <a:r>
              <a:rPr lang="en-US" sz="3000">
                <a:solidFill>
                  <a:srgbClr val="0D0D0D"/>
                </a:solidFill>
                <a:latin typeface="Poppins Light"/>
                <a:ea typeface="Poppins Light"/>
                <a:cs typeface="Poppins Light"/>
                <a:sym typeface="Poppins Light"/>
              </a:rPr>
              <a:t>ile App</a:t>
            </a:r>
          </a:p>
        </p:txBody>
      </p:sp>
      <p:sp>
        <p:nvSpPr>
          <p:cNvPr name="TextBox 22" id="22"/>
          <p:cNvSpPr txBox="true"/>
          <p:nvPr/>
        </p:nvSpPr>
        <p:spPr>
          <a:xfrm rot="0">
            <a:off x="1983581" y="4293461"/>
            <a:ext cx="6805612" cy="559435"/>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Create fully-responsive websites, progressive apps and hybrid mobile apps.</a:t>
            </a:r>
          </a:p>
        </p:txBody>
      </p:sp>
      <p:sp>
        <p:nvSpPr>
          <p:cNvPr name="Freeform 23" id="23"/>
          <p:cNvSpPr/>
          <p:nvPr/>
        </p:nvSpPr>
        <p:spPr>
          <a:xfrm flipH="false" flipV="false" rot="0">
            <a:off x="9805988" y="4015014"/>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4" id="24"/>
          <p:cNvSpPr txBox="true"/>
          <p:nvPr/>
        </p:nvSpPr>
        <p:spPr>
          <a:xfrm rot="0">
            <a:off x="10853738" y="6875652"/>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Ex</a:t>
            </a:r>
            <a:r>
              <a:rPr lang="en-US" sz="3000">
                <a:solidFill>
                  <a:srgbClr val="0D0D0D"/>
                </a:solidFill>
                <a:latin typeface="Poppins Light"/>
                <a:ea typeface="Poppins Light"/>
                <a:cs typeface="Poppins Light"/>
                <a:sym typeface="Poppins Light"/>
              </a:rPr>
              <a:t>pert Training</a:t>
            </a:r>
          </a:p>
        </p:txBody>
      </p:sp>
      <p:sp>
        <p:nvSpPr>
          <p:cNvPr name="TextBox 25" id="25"/>
          <p:cNvSpPr txBox="true"/>
          <p:nvPr/>
        </p:nvSpPr>
        <p:spPr>
          <a:xfrm rot="0">
            <a:off x="10853738" y="7382382"/>
            <a:ext cx="6805612" cy="559435"/>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We have a wide selection of CFML training courses which can be delivered on-site or virtually.</a:t>
            </a:r>
          </a:p>
        </p:txBody>
      </p:sp>
      <p:sp>
        <p:nvSpPr>
          <p:cNvPr name="TextBox 26" id="26"/>
          <p:cNvSpPr txBox="true"/>
          <p:nvPr/>
        </p:nvSpPr>
        <p:spPr>
          <a:xfrm rot="0">
            <a:off x="1983581" y="6875652"/>
            <a:ext cx="68056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Quality</a:t>
            </a:r>
            <a:r>
              <a:rPr lang="en-US" sz="3000">
                <a:solidFill>
                  <a:srgbClr val="0D0D0D"/>
                </a:solidFill>
                <a:latin typeface="Poppins Light"/>
                <a:ea typeface="Poppins Light"/>
                <a:cs typeface="Poppins Light"/>
                <a:sym typeface="Poppins Light"/>
              </a:rPr>
              <a:t> Assurance</a:t>
            </a:r>
          </a:p>
        </p:txBody>
      </p:sp>
      <p:sp>
        <p:nvSpPr>
          <p:cNvPr name="TextBox 27" id="27"/>
          <p:cNvSpPr txBox="true"/>
          <p:nvPr/>
        </p:nvSpPr>
        <p:spPr>
          <a:xfrm rot="0">
            <a:off x="1983581" y="7382382"/>
            <a:ext cx="6805612" cy="283210"/>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Test your application functionality, performance and security.</a:t>
            </a:r>
          </a:p>
        </p:txBody>
      </p:sp>
      <p:sp>
        <p:nvSpPr>
          <p:cNvPr name="Freeform 28" id="28"/>
          <p:cNvSpPr/>
          <p:nvPr/>
        </p:nvSpPr>
        <p:spPr>
          <a:xfrm flipH="false" flipV="false" rot="0">
            <a:off x="933450" y="6847077"/>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9" id="29"/>
          <p:cNvSpPr/>
          <p:nvPr/>
        </p:nvSpPr>
        <p:spPr>
          <a:xfrm flipH="false" flipV="false" rot="0">
            <a:off x="9805988" y="6847077"/>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0" id="30"/>
          <p:cNvSpPr txBox="true"/>
          <p:nvPr/>
        </p:nvSpPr>
        <p:spPr>
          <a:xfrm rot="0">
            <a:off x="1983581" y="8291684"/>
            <a:ext cx="7224712" cy="428625"/>
          </a:xfrm>
          <a:prstGeom prst="rect">
            <a:avLst/>
          </a:prstGeom>
        </p:spPr>
        <p:txBody>
          <a:bodyPr anchor="t" rtlCol="false" tIns="0" lIns="0" bIns="0" rIns="0">
            <a:spAutoFit/>
          </a:bodyPr>
          <a:lstStyle/>
          <a:p>
            <a:pPr algn="l">
              <a:lnSpc>
                <a:spcPts val="3000"/>
              </a:lnSpc>
            </a:pPr>
            <a:r>
              <a:rPr lang="en-US" sz="3000">
                <a:solidFill>
                  <a:srgbClr val="0D0D0D"/>
                </a:solidFill>
                <a:latin typeface="Poppins Light"/>
                <a:ea typeface="Poppins Light"/>
                <a:cs typeface="Poppins Light"/>
                <a:sym typeface="Poppins Light"/>
              </a:rPr>
              <a:t>Elasticsearch</a:t>
            </a:r>
            <a:r>
              <a:rPr lang="en-US" sz="3000">
                <a:solidFill>
                  <a:srgbClr val="0D0D0D"/>
                </a:solidFill>
                <a:latin typeface="Poppins Light"/>
                <a:ea typeface="Poppins Light"/>
                <a:cs typeface="Poppins Light"/>
                <a:sym typeface="Poppins Light"/>
              </a:rPr>
              <a:t> &amp; Opensearch Solutions</a:t>
            </a:r>
          </a:p>
        </p:txBody>
      </p:sp>
      <p:sp>
        <p:nvSpPr>
          <p:cNvPr name="TextBox 31" id="31"/>
          <p:cNvSpPr txBox="true"/>
          <p:nvPr/>
        </p:nvSpPr>
        <p:spPr>
          <a:xfrm rot="0">
            <a:off x="1983581" y="8798414"/>
            <a:ext cx="6805612" cy="559435"/>
          </a:xfrm>
          <a:prstGeom prst="rect">
            <a:avLst/>
          </a:prstGeom>
        </p:spPr>
        <p:txBody>
          <a:bodyPr anchor="t" rtlCol="false" tIns="0" lIns="0" bIns="0" rIns="0">
            <a:spAutoFit/>
          </a:bodyPr>
          <a:lstStyle/>
          <a:p>
            <a:pPr algn="l">
              <a:lnSpc>
                <a:spcPts val="2239"/>
              </a:lnSpc>
            </a:pPr>
            <a:r>
              <a:rPr lang="en-US" sz="1599">
                <a:solidFill>
                  <a:srgbClr val="0D0D0D"/>
                </a:solidFill>
                <a:latin typeface="Poppins"/>
                <a:ea typeface="Poppins"/>
                <a:cs typeface="Poppins"/>
                <a:sym typeface="Poppins"/>
              </a:rPr>
              <a:t>Enhance search with expert consulting and implementation of Elasticsearch and AWS OpenSearch</a:t>
            </a:r>
          </a:p>
        </p:txBody>
      </p:sp>
      <p:sp>
        <p:nvSpPr>
          <p:cNvPr name="Freeform 32" id="3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33" id="33"/>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sp>
        <p:nvSpPr>
          <p:cNvPr name="TextBox 34" id="34"/>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grpSp>
        <p:nvGrpSpPr>
          <p:cNvPr name="Group 35" id="35"/>
          <p:cNvGrpSpPr/>
          <p:nvPr/>
        </p:nvGrpSpPr>
        <p:grpSpPr>
          <a:xfrm rot="0">
            <a:off x="15319698" y="1344472"/>
            <a:ext cx="240861" cy="24086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38" id="38"/>
          <p:cNvSpPr/>
          <p:nvPr/>
        </p:nvSpPr>
        <p:spPr>
          <a:xfrm flipH="false" flipV="false" rot="0">
            <a:off x="933450" y="8244694"/>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20"/>
            <a:stretch>
              <a:fillRect l="0" t="0" r="0" b="0"/>
            </a:stretch>
          </a:blipFill>
        </p:spPr>
      </p:sp>
      <p:grpSp>
        <p:nvGrpSpPr>
          <p:cNvPr name="Group 39" id="39"/>
          <p:cNvGrpSpPr/>
          <p:nvPr/>
        </p:nvGrpSpPr>
        <p:grpSpPr>
          <a:xfrm rot="0">
            <a:off x="13465350" y="1072430"/>
            <a:ext cx="3793950" cy="784945"/>
            <a:chOff x="0" y="0"/>
            <a:chExt cx="999230" cy="206735"/>
          </a:xfrm>
        </p:grpSpPr>
        <p:sp>
          <p:nvSpPr>
            <p:cNvPr name="Freeform 40" id="40"/>
            <p:cNvSpPr/>
            <p:nvPr/>
          </p:nvSpPr>
          <p:spPr>
            <a:xfrm flipH="false" flipV="false" rot="0">
              <a:off x="0" y="0"/>
              <a:ext cx="999230" cy="206735"/>
            </a:xfrm>
            <a:custGeom>
              <a:avLst/>
              <a:gdLst/>
              <a:ahLst/>
              <a:cxnLst/>
              <a:rect r="r" b="b" t="t" l="l"/>
              <a:pathLst>
                <a:path h="206735" w="999230">
                  <a:moveTo>
                    <a:pt x="103367" y="0"/>
                  </a:moveTo>
                  <a:lnTo>
                    <a:pt x="895862" y="0"/>
                  </a:lnTo>
                  <a:cubicBezTo>
                    <a:pt x="923277" y="0"/>
                    <a:pt x="949569" y="10890"/>
                    <a:pt x="968954" y="30276"/>
                  </a:cubicBezTo>
                  <a:cubicBezTo>
                    <a:pt x="988339" y="49661"/>
                    <a:pt x="999230" y="75953"/>
                    <a:pt x="999230" y="103367"/>
                  </a:cubicBezTo>
                  <a:lnTo>
                    <a:pt x="999230" y="103367"/>
                  </a:lnTo>
                  <a:cubicBezTo>
                    <a:pt x="999230" y="130782"/>
                    <a:pt x="988339" y="157074"/>
                    <a:pt x="968954" y="176459"/>
                  </a:cubicBezTo>
                  <a:cubicBezTo>
                    <a:pt x="949569" y="195844"/>
                    <a:pt x="923277" y="206735"/>
                    <a:pt x="89586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1" id="41"/>
            <p:cNvSpPr txBox="true"/>
            <p:nvPr/>
          </p:nvSpPr>
          <p:spPr>
            <a:xfrm>
              <a:off x="0" y="-38100"/>
              <a:ext cx="999230" cy="244835"/>
            </a:xfrm>
            <a:prstGeom prst="rect">
              <a:avLst/>
            </a:prstGeom>
          </p:spPr>
          <p:txBody>
            <a:bodyPr anchor="ctr" rtlCol="false" tIns="50800" lIns="50800" bIns="50800" rIns="50800"/>
            <a:lstStyle/>
            <a:p>
              <a:pPr algn="ctr">
                <a:lnSpc>
                  <a:spcPts val="2520"/>
                </a:lnSpc>
              </a:pPr>
            </a:p>
          </p:txBody>
        </p:sp>
      </p:grpSp>
      <p:sp>
        <p:nvSpPr>
          <p:cNvPr name="TextBox 42" id="42"/>
          <p:cNvSpPr txBox="true"/>
          <p:nvPr/>
        </p:nvSpPr>
        <p:spPr>
          <a:xfrm rot="0">
            <a:off x="13706973" y="1220428"/>
            <a:ext cx="3286722"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Capabilities Overview</a:t>
            </a:r>
          </a:p>
        </p:txBody>
      </p:sp>
      <p:grpSp>
        <p:nvGrpSpPr>
          <p:cNvPr name="Group 43" id="43"/>
          <p:cNvGrpSpPr/>
          <p:nvPr/>
        </p:nvGrpSpPr>
        <p:grpSpPr>
          <a:xfrm rot="0">
            <a:off x="13706973" y="1344472"/>
            <a:ext cx="240861" cy="24086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wipe dir="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23026" y="1344472"/>
            <a:ext cx="240861" cy="2408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5" id="5"/>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6" id="6"/>
          <p:cNvGrpSpPr/>
          <p:nvPr/>
        </p:nvGrpSpPr>
        <p:grpSpPr>
          <a:xfrm rot="0">
            <a:off x="15319698"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9255697" y="4460241"/>
            <a:ext cx="2154646" cy="683259"/>
          </a:xfrm>
          <a:custGeom>
            <a:avLst/>
            <a:gdLst/>
            <a:ahLst/>
            <a:cxnLst/>
            <a:rect r="r" b="b" t="t" l="l"/>
            <a:pathLst>
              <a:path h="683259" w="2154646">
                <a:moveTo>
                  <a:pt x="0" y="0"/>
                </a:moveTo>
                <a:lnTo>
                  <a:pt x="2154646" y="0"/>
                </a:lnTo>
                <a:lnTo>
                  <a:pt x="2154646" y="683259"/>
                </a:lnTo>
                <a:lnTo>
                  <a:pt x="0" y="683259"/>
                </a:lnTo>
                <a:lnTo>
                  <a:pt x="0" y="0"/>
                </a:lnTo>
                <a:close/>
              </a:path>
            </a:pathLst>
          </a:custGeom>
          <a:blipFill>
            <a:blip r:embed="rId2"/>
            <a:stretch>
              <a:fillRect l="0" t="0" r="-335145" b="0"/>
            </a:stretch>
          </a:blipFill>
        </p:spPr>
      </p:sp>
      <p:sp>
        <p:nvSpPr>
          <p:cNvPr name="TextBox 10" id="10"/>
          <p:cNvSpPr txBox="true"/>
          <p:nvPr/>
        </p:nvSpPr>
        <p:spPr>
          <a:xfrm rot="0">
            <a:off x="1028700" y="2509833"/>
            <a:ext cx="9493362" cy="1504960"/>
          </a:xfrm>
          <a:prstGeom prst="rect">
            <a:avLst/>
          </a:prstGeom>
        </p:spPr>
        <p:txBody>
          <a:bodyPr anchor="t" rtlCol="false" tIns="0" lIns="0" bIns="0" rIns="0">
            <a:spAutoFit/>
          </a:bodyPr>
          <a:lstStyle/>
          <a:p>
            <a:pPr algn="l">
              <a:lnSpc>
                <a:spcPts val="10500"/>
              </a:lnSpc>
            </a:pPr>
            <a:r>
              <a:rPr lang="en-US" sz="10500">
                <a:solidFill>
                  <a:srgbClr val="0D0D0D"/>
                </a:solidFill>
                <a:latin typeface="Poppins Light"/>
                <a:ea typeface="Poppins Light"/>
                <a:cs typeface="Poppins Light"/>
                <a:sym typeface="Poppins Light"/>
              </a:rPr>
              <a:t>AI Integrations</a:t>
            </a:r>
          </a:p>
        </p:txBody>
      </p:sp>
      <p:sp>
        <p:nvSpPr>
          <p:cNvPr name="TextBox 11" id="11"/>
          <p:cNvSpPr txBox="true"/>
          <p:nvPr/>
        </p:nvSpPr>
        <p:spPr>
          <a:xfrm rot="0">
            <a:off x="1104414" y="4852558"/>
            <a:ext cx="6721008" cy="640080"/>
          </a:xfrm>
          <a:prstGeom prst="rect">
            <a:avLst/>
          </a:prstGeom>
        </p:spPr>
        <p:txBody>
          <a:bodyPr anchor="t" rtlCol="false" tIns="0" lIns="0" bIns="0" rIns="0">
            <a:spAutoFit/>
          </a:bodyPr>
          <a:lstStyle/>
          <a:p>
            <a:pPr algn="l">
              <a:lnSpc>
                <a:spcPts val="2520"/>
              </a:lnSpc>
              <a:spcBef>
                <a:spcPct val="0"/>
              </a:spcBef>
            </a:pPr>
            <a:r>
              <a:rPr lang="en-US" sz="1800">
                <a:solidFill>
                  <a:srgbClr val="0D0D0D"/>
                </a:solidFill>
                <a:latin typeface="Poppins"/>
                <a:ea typeface="Poppins"/>
                <a:cs typeface="Poppins"/>
                <a:sym typeface="Poppins"/>
              </a:rPr>
              <a:t>Streamline workfl</a:t>
            </a:r>
            <a:r>
              <a:rPr lang="en-US" sz="1800">
                <a:solidFill>
                  <a:srgbClr val="0D0D0D"/>
                </a:solidFill>
                <a:latin typeface="Poppins"/>
                <a:ea typeface="Poppins"/>
                <a:cs typeface="Poppins"/>
                <a:sym typeface="Poppins"/>
              </a:rPr>
              <a:t>ows</a:t>
            </a:r>
            <a:r>
              <a:rPr lang="en-US" sz="1800">
                <a:solidFill>
                  <a:srgbClr val="0D0D0D"/>
                </a:solidFill>
                <a:latin typeface="Poppins"/>
                <a:ea typeface="Poppins"/>
                <a:cs typeface="Poppins"/>
                <a:sym typeface="Poppins"/>
              </a:rPr>
              <a:t>, </a:t>
            </a:r>
            <a:r>
              <a:rPr lang="en-US" sz="1800">
                <a:solidFill>
                  <a:srgbClr val="0D0D0D"/>
                </a:solidFill>
                <a:latin typeface="Poppins"/>
                <a:ea typeface="Poppins"/>
                <a:cs typeface="Poppins"/>
                <a:sym typeface="Poppins"/>
              </a:rPr>
              <a:t>a</a:t>
            </a:r>
            <a:r>
              <a:rPr lang="en-US" sz="1800">
                <a:solidFill>
                  <a:srgbClr val="0D0D0D"/>
                </a:solidFill>
                <a:latin typeface="Poppins"/>
                <a:ea typeface="Poppins"/>
                <a:cs typeface="Poppins"/>
                <a:sym typeface="Poppins"/>
              </a:rPr>
              <a:t>utomate </a:t>
            </a:r>
            <a:r>
              <a:rPr lang="en-US" sz="1800">
                <a:solidFill>
                  <a:srgbClr val="0D0D0D"/>
                </a:solidFill>
                <a:latin typeface="Poppins"/>
                <a:ea typeface="Poppins"/>
                <a:cs typeface="Poppins"/>
                <a:sym typeface="Poppins"/>
              </a:rPr>
              <a:t>t</a:t>
            </a:r>
            <a:r>
              <a:rPr lang="en-US" sz="1800">
                <a:solidFill>
                  <a:srgbClr val="0D0D0D"/>
                </a:solidFill>
                <a:latin typeface="Poppins"/>
                <a:ea typeface="Poppins"/>
                <a:cs typeface="Poppins"/>
                <a:sym typeface="Poppins"/>
              </a:rPr>
              <a:t>a</a:t>
            </a:r>
            <a:r>
              <a:rPr lang="en-US" sz="1800">
                <a:solidFill>
                  <a:srgbClr val="0D0D0D"/>
                </a:solidFill>
                <a:latin typeface="Poppins"/>
                <a:ea typeface="Poppins"/>
                <a:cs typeface="Poppins"/>
                <a:sym typeface="Poppins"/>
              </a:rPr>
              <a:t>s</a:t>
            </a:r>
            <a:r>
              <a:rPr lang="en-US" sz="1800">
                <a:solidFill>
                  <a:srgbClr val="0D0D0D"/>
                </a:solidFill>
                <a:latin typeface="Poppins"/>
                <a:ea typeface="Poppins"/>
                <a:cs typeface="Poppins"/>
                <a:sym typeface="Poppins"/>
              </a:rPr>
              <a:t>k</a:t>
            </a:r>
            <a:r>
              <a:rPr lang="en-US" sz="1800">
                <a:solidFill>
                  <a:srgbClr val="0D0D0D"/>
                </a:solidFill>
                <a:latin typeface="Poppins"/>
                <a:ea typeface="Poppins"/>
                <a:cs typeface="Poppins"/>
                <a:sym typeface="Poppins"/>
              </a:rPr>
              <a:t>s</a:t>
            </a:r>
            <a:r>
              <a:rPr lang="en-US" sz="1800">
                <a:solidFill>
                  <a:srgbClr val="0D0D0D"/>
                </a:solidFill>
                <a:latin typeface="Poppins"/>
                <a:ea typeface="Poppins"/>
                <a:cs typeface="Poppins"/>
                <a:sym typeface="Poppins"/>
              </a:rPr>
              <a:t>,</a:t>
            </a:r>
            <a:r>
              <a:rPr lang="en-US" sz="1800">
                <a:solidFill>
                  <a:srgbClr val="0D0D0D"/>
                </a:solidFill>
                <a:latin typeface="Poppins"/>
                <a:ea typeface="Poppins"/>
                <a:cs typeface="Poppins"/>
                <a:sym typeface="Poppins"/>
              </a:rPr>
              <a:t> and </a:t>
            </a:r>
            <a:r>
              <a:rPr lang="en-US" sz="1800">
                <a:solidFill>
                  <a:srgbClr val="0D0D0D"/>
                </a:solidFill>
                <a:latin typeface="Poppins"/>
                <a:ea typeface="Poppins"/>
                <a:cs typeface="Poppins"/>
                <a:sym typeface="Poppins"/>
              </a:rPr>
              <a:t>unlock insights with AI solutions tailored to your business.</a:t>
            </a:r>
          </a:p>
        </p:txBody>
      </p:sp>
      <p:sp>
        <p:nvSpPr>
          <p:cNvPr name="TextBox 12" id="12"/>
          <p:cNvSpPr txBox="true"/>
          <p:nvPr/>
        </p:nvSpPr>
        <p:spPr>
          <a:xfrm rot="0">
            <a:off x="1104414" y="4308587"/>
            <a:ext cx="6977062" cy="428625"/>
          </a:xfrm>
          <a:prstGeom prst="rect">
            <a:avLst/>
          </a:prstGeom>
        </p:spPr>
        <p:txBody>
          <a:bodyPr anchor="t" rtlCol="false" tIns="0" lIns="0" bIns="0" rIns="0">
            <a:spAutoFit/>
          </a:bodyPr>
          <a:lstStyle/>
          <a:p>
            <a:pPr algn="l">
              <a:lnSpc>
                <a:spcPts val="3000"/>
              </a:lnSpc>
            </a:pPr>
            <a:r>
              <a:rPr lang="en-US" sz="3000" b="true">
                <a:solidFill>
                  <a:srgbClr val="0D0D0D"/>
                </a:solidFill>
                <a:latin typeface="Poppins Medium"/>
                <a:ea typeface="Poppins Medium"/>
                <a:cs typeface="Poppins Medium"/>
                <a:sym typeface="Poppins Medium"/>
              </a:rPr>
              <a:t>Smarter Software with AI Insight</a:t>
            </a:r>
          </a:p>
        </p:txBody>
      </p:sp>
      <p:sp>
        <p:nvSpPr>
          <p:cNvPr name="Freeform 13" id="13"/>
          <p:cNvSpPr/>
          <p:nvPr/>
        </p:nvSpPr>
        <p:spPr>
          <a:xfrm flipH="false" flipV="false" rot="0">
            <a:off x="12171142" y="4460241"/>
            <a:ext cx="2338578" cy="683259"/>
          </a:xfrm>
          <a:custGeom>
            <a:avLst/>
            <a:gdLst/>
            <a:ahLst/>
            <a:cxnLst/>
            <a:rect r="r" b="b" t="t" l="l"/>
            <a:pathLst>
              <a:path h="683259" w="2338578">
                <a:moveTo>
                  <a:pt x="0" y="0"/>
                </a:moveTo>
                <a:lnTo>
                  <a:pt x="2338577" y="0"/>
                </a:lnTo>
                <a:lnTo>
                  <a:pt x="2338577" y="683259"/>
                </a:lnTo>
                <a:lnTo>
                  <a:pt x="0" y="683259"/>
                </a:lnTo>
                <a:lnTo>
                  <a:pt x="0" y="0"/>
                </a:lnTo>
                <a:close/>
              </a:path>
            </a:pathLst>
          </a:custGeom>
          <a:blipFill>
            <a:blip r:embed="rId2"/>
            <a:stretch>
              <a:fillRect l="-156194" t="0" r="-144725" b="0"/>
            </a:stretch>
          </a:blipFill>
        </p:spPr>
      </p:sp>
      <p:sp>
        <p:nvSpPr>
          <p:cNvPr name="Freeform 14" id="14"/>
          <p:cNvSpPr/>
          <p:nvPr/>
        </p:nvSpPr>
        <p:spPr>
          <a:xfrm flipH="false" flipV="false" rot="0">
            <a:off x="15271719" y="4403369"/>
            <a:ext cx="1837355" cy="667687"/>
          </a:xfrm>
          <a:custGeom>
            <a:avLst/>
            <a:gdLst/>
            <a:ahLst/>
            <a:cxnLst/>
            <a:rect r="r" b="b" t="t" l="l"/>
            <a:pathLst>
              <a:path h="667687" w="1837355">
                <a:moveTo>
                  <a:pt x="0" y="0"/>
                </a:moveTo>
                <a:lnTo>
                  <a:pt x="1837355" y="0"/>
                </a:lnTo>
                <a:lnTo>
                  <a:pt x="1837355" y="667687"/>
                </a:lnTo>
                <a:lnTo>
                  <a:pt x="0" y="667687"/>
                </a:lnTo>
                <a:lnTo>
                  <a:pt x="0" y="0"/>
                </a:lnTo>
                <a:close/>
              </a:path>
            </a:pathLst>
          </a:custGeom>
          <a:blipFill>
            <a:blip r:embed="rId2"/>
            <a:stretch>
              <a:fillRect l="-410290" t="0" r="0" b="-2332"/>
            </a:stretch>
          </a:blipFill>
        </p:spPr>
      </p:sp>
      <p:sp>
        <p:nvSpPr>
          <p:cNvPr name="TextBox 15" id="15"/>
          <p:cNvSpPr txBox="true"/>
          <p:nvPr/>
        </p:nvSpPr>
        <p:spPr>
          <a:xfrm rot="0">
            <a:off x="5655469" y="6168969"/>
            <a:ext cx="6977062" cy="361315"/>
          </a:xfrm>
          <a:prstGeom prst="rect">
            <a:avLst/>
          </a:prstGeom>
        </p:spPr>
        <p:txBody>
          <a:bodyPr anchor="t" rtlCol="false" tIns="0" lIns="0" bIns="0" rIns="0">
            <a:spAutoFit/>
          </a:bodyPr>
          <a:lstStyle/>
          <a:p>
            <a:pPr algn="ctr">
              <a:lnSpc>
                <a:spcPts val="2600"/>
              </a:lnSpc>
            </a:pPr>
            <a:r>
              <a:rPr lang="en-US" b="true" sz="2600">
                <a:solidFill>
                  <a:srgbClr val="0D0D0D"/>
                </a:solidFill>
                <a:latin typeface="Poppins Semi-Bold"/>
                <a:ea typeface="Poppins Semi-Bold"/>
                <a:cs typeface="Poppins Semi-Bold"/>
                <a:sym typeface="Poppins Semi-Bold"/>
              </a:rPr>
              <a:t>OUR SIMPLE 3-STEP PLAN</a:t>
            </a:r>
          </a:p>
        </p:txBody>
      </p:sp>
      <p:grpSp>
        <p:nvGrpSpPr>
          <p:cNvPr name="Group 16" id="16"/>
          <p:cNvGrpSpPr/>
          <p:nvPr/>
        </p:nvGrpSpPr>
        <p:grpSpPr>
          <a:xfrm rot="0">
            <a:off x="1028700" y="7181934"/>
            <a:ext cx="1395412" cy="784945"/>
            <a:chOff x="0" y="0"/>
            <a:chExt cx="1860550" cy="1046593"/>
          </a:xfrm>
        </p:grpSpPr>
        <p:grpSp>
          <p:nvGrpSpPr>
            <p:cNvPr name="Group 17" id="17"/>
            <p:cNvGrpSpPr/>
            <p:nvPr/>
          </p:nvGrpSpPr>
          <p:grpSpPr>
            <a:xfrm rot="0">
              <a:off x="0" y="0"/>
              <a:ext cx="1860550" cy="1046593"/>
              <a:chOff x="0" y="0"/>
              <a:chExt cx="367516" cy="206735"/>
            </a:xfrm>
          </p:grpSpPr>
          <p:sp>
            <p:nvSpPr>
              <p:cNvPr name="Freeform 18" id="18"/>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9" id="19"/>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1</a:t>
              </a:r>
            </a:p>
          </p:txBody>
        </p:sp>
      </p:grpSp>
      <p:grpSp>
        <p:nvGrpSpPr>
          <p:cNvPr name="Group 21" id="21"/>
          <p:cNvGrpSpPr/>
          <p:nvPr/>
        </p:nvGrpSpPr>
        <p:grpSpPr>
          <a:xfrm rot="0">
            <a:off x="6407536" y="7181934"/>
            <a:ext cx="1395412" cy="784945"/>
            <a:chOff x="0" y="0"/>
            <a:chExt cx="1860550" cy="1046593"/>
          </a:xfrm>
        </p:grpSpPr>
        <p:grpSp>
          <p:nvGrpSpPr>
            <p:cNvPr name="Group 22" id="22"/>
            <p:cNvGrpSpPr/>
            <p:nvPr/>
          </p:nvGrpSpPr>
          <p:grpSpPr>
            <a:xfrm rot="0">
              <a:off x="0" y="0"/>
              <a:ext cx="1860550" cy="1046593"/>
              <a:chOff x="0" y="0"/>
              <a:chExt cx="367516" cy="206735"/>
            </a:xfrm>
          </p:grpSpPr>
          <p:sp>
            <p:nvSpPr>
              <p:cNvPr name="Freeform 23" id="23"/>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4" id="24"/>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25" id="25"/>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2</a:t>
              </a:r>
            </a:p>
          </p:txBody>
        </p:sp>
      </p:grpSp>
      <p:grpSp>
        <p:nvGrpSpPr>
          <p:cNvPr name="Group 26" id="26"/>
          <p:cNvGrpSpPr/>
          <p:nvPr/>
        </p:nvGrpSpPr>
        <p:grpSpPr>
          <a:xfrm rot="0">
            <a:off x="11786372" y="7181934"/>
            <a:ext cx="1395412" cy="784945"/>
            <a:chOff x="0" y="0"/>
            <a:chExt cx="1860550" cy="1046593"/>
          </a:xfrm>
        </p:grpSpPr>
        <p:grpSp>
          <p:nvGrpSpPr>
            <p:cNvPr name="Group 27" id="27"/>
            <p:cNvGrpSpPr/>
            <p:nvPr/>
          </p:nvGrpSpPr>
          <p:grpSpPr>
            <a:xfrm rot="0">
              <a:off x="0" y="0"/>
              <a:ext cx="1860550" cy="1046593"/>
              <a:chOff x="0" y="0"/>
              <a:chExt cx="367516" cy="206735"/>
            </a:xfrm>
          </p:grpSpPr>
          <p:sp>
            <p:nvSpPr>
              <p:cNvPr name="Freeform 28" id="28"/>
              <p:cNvSpPr/>
              <p:nvPr/>
            </p:nvSpPr>
            <p:spPr>
              <a:xfrm flipH="false" flipV="false" rot="0">
                <a:off x="0" y="0"/>
                <a:ext cx="367516" cy="206735"/>
              </a:xfrm>
              <a:custGeom>
                <a:avLst/>
                <a:gdLst/>
                <a:ahLst/>
                <a:cxnLst/>
                <a:rect r="r" b="b" t="t" l="l"/>
                <a:pathLst>
                  <a:path h="206735" w="367516">
                    <a:moveTo>
                      <a:pt x="103367" y="0"/>
                    </a:moveTo>
                    <a:lnTo>
                      <a:pt x="264149" y="0"/>
                    </a:lnTo>
                    <a:cubicBezTo>
                      <a:pt x="291564" y="0"/>
                      <a:pt x="317855" y="10890"/>
                      <a:pt x="337240" y="30276"/>
                    </a:cubicBezTo>
                    <a:cubicBezTo>
                      <a:pt x="356626" y="49661"/>
                      <a:pt x="367516" y="75953"/>
                      <a:pt x="367516" y="103367"/>
                    </a:cubicBezTo>
                    <a:lnTo>
                      <a:pt x="367516" y="103367"/>
                    </a:lnTo>
                    <a:cubicBezTo>
                      <a:pt x="367516" y="130782"/>
                      <a:pt x="356626" y="157074"/>
                      <a:pt x="337240" y="176459"/>
                    </a:cubicBezTo>
                    <a:cubicBezTo>
                      <a:pt x="317855" y="195844"/>
                      <a:pt x="291564" y="206735"/>
                      <a:pt x="2641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367516"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696495" y="74563"/>
              <a:ext cx="467561" cy="802217"/>
            </a:xfrm>
            <a:prstGeom prst="rect">
              <a:avLst/>
            </a:prstGeom>
          </p:spPr>
          <p:txBody>
            <a:bodyPr anchor="t" rtlCol="false" tIns="0" lIns="0" bIns="0" rIns="0">
              <a:spAutoFit/>
            </a:bodyPr>
            <a:lstStyle/>
            <a:p>
              <a:pPr algn="ctr">
                <a:lnSpc>
                  <a:spcPts val="4899"/>
                </a:lnSpc>
              </a:pPr>
              <a:r>
                <a:rPr lang="en-US" b="true" sz="3499">
                  <a:solidFill>
                    <a:srgbClr val="0D0D0D"/>
                  </a:solidFill>
                  <a:latin typeface="Poppins Bold"/>
                  <a:ea typeface="Poppins Bold"/>
                  <a:cs typeface="Poppins Bold"/>
                  <a:sym typeface="Poppins Bold"/>
                </a:rPr>
                <a:t>3</a:t>
              </a:r>
            </a:p>
          </p:txBody>
        </p:sp>
      </p:grpSp>
      <p:sp>
        <p:nvSpPr>
          <p:cNvPr name="TextBox 31" id="31"/>
          <p:cNvSpPr txBox="true"/>
          <p:nvPr/>
        </p:nvSpPr>
        <p:spPr>
          <a:xfrm rot="0">
            <a:off x="2654399" y="7124784"/>
            <a:ext cx="3120982"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Schedule a Discovery Call</a:t>
            </a:r>
          </a:p>
          <a:p>
            <a:pPr algn="l">
              <a:lnSpc>
                <a:spcPts val="2520"/>
              </a:lnSpc>
              <a:spcBef>
                <a:spcPct val="0"/>
              </a:spcBef>
            </a:pPr>
            <a:r>
              <a:rPr lang="en-US" sz="1800">
                <a:solidFill>
                  <a:srgbClr val="0D0D0D"/>
                </a:solidFill>
                <a:latin typeface="Poppins Light"/>
                <a:ea typeface="Poppins Light"/>
                <a:cs typeface="Poppins Light"/>
                <a:sym typeface="Poppins Light"/>
              </a:rPr>
              <a:t>Tell us about your challenges and goals so we can understand where AI can deliver real impact.</a:t>
            </a:r>
          </a:p>
        </p:txBody>
      </p:sp>
      <p:sp>
        <p:nvSpPr>
          <p:cNvPr name="TextBox 32" id="32"/>
          <p:cNvSpPr txBox="true"/>
          <p:nvPr/>
        </p:nvSpPr>
        <p:spPr>
          <a:xfrm rot="0">
            <a:off x="13452687" y="7124784"/>
            <a:ext cx="3806613"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Build and Scale with Confidence</a:t>
            </a:r>
          </a:p>
          <a:p>
            <a:pPr algn="l">
              <a:lnSpc>
                <a:spcPts val="2520"/>
              </a:lnSpc>
              <a:spcBef>
                <a:spcPct val="0"/>
              </a:spcBef>
            </a:pPr>
            <a:r>
              <a:rPr lang="en-US" sz="1800">
                <a:solidFill>
                  <a:srgbClr val="0D0D0D"/>
                </a:solidFill>
                <a:latin typeface="Poppins Light"/>
                <a:ea typeface="Poppins Light"/>
                <a:cs typeface="Poppins Light"/>
                <a:sym typeface="Poppins Light"/>
              </a:rPr>
              <a:t>We implement intelligent solutions that grow with your needs — and support you every step of the way.</a:t>
            </a:r>
          </a:p>
        </p:txBody>
      </p:sp>
      <p:sp>
        <p:nvSpPr>
          <p:cNvPr name="TextBox 33" id="33"/>
          <p:cNvSpPr txBox="true"/>
          <p:nvPr/>
        </p:nvSpPr>
        <p:spPr>
          <a:xfrm rot="0">
            <a:off x="8053543" y="7124784"/>
            <a:ext cx="3120982" cy="1583055"/>
          </a:xfrm>
          <a:prstGeom prst="rect">
            <a:avLst/>
          </a:prstGeom>
        </p:spPr>
        <p:txBody>
          <a:bodyPr anchor="t" rtlCol="false" tIns="0" lIns="0" bIns="0" rIns="0">
            <a:spAutoFit/>
          </a:bodyPr>
          <a:lstStyle/>
          <a:p>
            <a:pPr algn="l">
              <a:lnSpc>
                <a:spcPts val="2520"/>
              </a:lnSpc>
            </a:pPr>
            <a:r>
              <a:rPr lang="en-US" sz="1800" b="true">
                <a:solidFill>
                  <a:srgbClr val="0D0D0D"/>
                </a:solidFill>
                <a:latin typeface="Poppins Semi-Bold"/>
                <a:ea typeface="Poppins Semi-Bold"/>
                <a:cs typeface="Poppins Semi-Bold"/>
                <a:sym typeface="Poppins Semi-Bold"/>
              </a:rPr>
              <a:t>Get a Custom AI Strategy</a:t>
            </a:r>
          </a:p>
          <a:p>
            <a:pPr algn="l">
              <a:lnSpc>
                <a:spcPts val="2520"/>
              </a:lnSpc>
              <a:spcBef>
                <a:spcPct val="0"/>
              </a:spcBef>
            </a:pPr>
            <a:r>
              <a:rPr lang="en-US" sz="1800">
                <a:solidFill>
                  <a:srgbClr val="0D0D0D"/>
                </a:solidFill>
                <a:latin typeface="Poppins Light"/>
                <a:ea typeface="Poppins Light"/>
                <a:cs typeface="Poppins Light"/>
                <a:sym typeface="Poppins Light"/>
              </a:rPr>
              <a:t>We design a tailored plan that fits your workflows, data, and business priorities.</a:t>
            </a:r>
          </a:p>
        </p:txBody>
      </p:sp>
      <p:sp>
        <p:nvSpPr>
          <p:cNvPr name="Freeform 34" id="34"/>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5" id="35"/>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sp>
        <p:nvSpPr>
          <p:cNvPr name="TextBox 36" id="36"/>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Overview</a:t>
            </a:r>
          </a:p>
        </p:txBody>
      </p:sp>
      <p:grpSp>
        <p:nvGrpSpPr>
          <p:cNvPr name="Group 37" id="37"/>
          <p:cNvGrpSpPr/>
          <p:nvPr/>
        </p:nvGrpSpPr>
        <p:grpSpPr>
          <a:xfrm rot="0">
            <a:off x="15319698" y="1344472"/>
            <a:ext cx="240861" cy="240861"/>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40" id="40"/>
          <p:cNvGrpSpPr/>
          <p:nvPr/>
        </p:nvGrpSpPr>
        <p:grpSpPr>
          <a:xfrm rot="0">
            <a:off x="13465350" y="1072430"/>
            <a:ext cx="3793950" cy="784945"/>
            <a:chOff x="0" y="0"/>
            <a:chExt cx="999230" cy="206735"/>
          </a:xfrm>
        </p:grpSpPr>
        <p:sp>
          <p:nvSpPr>
            <p:cNvPr name="Freeform 41" id="41"/>
            <p:cNvSpPr/>
            <p:nvPr/>
          </p:nvSpPr>
          <p:spPr>
            <a:xfrm flipH="false" flipV="false" rot="0">
              <a:off x="0" y="0"/>
              <a:ext cx="999230" cy="206735"/>
            </a:xfrm>
            <a:custGeom>
              <a:avLst/>
              <a:gdLst/>
              <a:ahLst/>
              <a:cxnLst/>
              <a:rect r="r" b="b" t="t" l="l"/>
              <a:pathLst>
                <a:path h="206735" w="999230">
                  <a:moveTo>
                    <a:pt x="103367" y="0"/>
                  </a:moveTo>
                  <a:lnTo>
                    <a:pt x="895862" y="0"/>
                  </a:lnTo>
                  <a:cubicBezTo>
                    <a:pt x="923277" y="0"/>
                    <a:pt x="949569" y="10890"/>
                    <a:pt x="968954" y="30276"/>
                  </a:cubicBezTo>
                  <a:cubicBezTo>
                    <a:pt x="988339" y="49661"/>
                    <a:pt x="999230" y="75953"/>
                    <a:pt x="999230" y="103367"/>
                  </a:cubicBezTo>
                  <a:lnTo>
                    <a:pt x="999230" y="103367"/>
                  </a:lnTo>
                  <a:cubicBezTo>
                    <a:pt x="999230" y="130782"/>
                    <a:pt x="988339" y="157074"/>
                    <a:pt x="968954" y="176459"/>
                  </a:cubicBezTo>
                  <a:cubicBezTo>
                    <a:pt x="949569" y="195844"/>
                    <a:pt x="923277" y="206735"/>
                    <a:pt x="89586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2" id="42"/>
            <p:cNvSpPr txBox="true"/>
            <p:nvPr/>
          </p:nvSpPr>
          <p:spPr>
            <a:xfrm>
              <a:off x="0" y="-38100"/>
              <a:ext cx="999230" cy="244835"/>
            </a:xfrm>
            <a:prstGeom prst="rect">
              <a:avLst/>
            </a:prstGeom>
          </p:spPr>
          <p:txBody>
            <a:bodyPr anchor="ctr" rtlCol="false" tIns="50800" lIns="50800" bIns="50800" rIns="50800"/>
            <a:lstStyle/>
            <a:p>
              <a:pPr algn="ctr">
                <a:lnSpc>
                  <a:spcPts val="2520"/>
                </a:lnSpc>
              </a:pPr>
            </a:p>
          </p:txBody>
        </p:sp>
      </p:grpSp>
      <p:sp>
        <p:nvSpPr>
          <p:cNvPr name="TextBox 43" id="43"/>
          <p:cNvSpPr txBox="true"/>
          <p:nvPr/>
        </p:nvSpPr>
        <p:spPr>
          <a:xfrm rot="0">
            <a:off x="13706973" y="1220428"/>
            <a:ext cx="3286722"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Capabilities Overview</a:t>
            </a:r>
          </a:p>
        </p:txBody>
      </p:sp>
      <p:grpSp>
        <p:nvGrpSpPr>
          <p:cNvPr name="Group 44" id="44"/>
          <p:cNvGrpSpPr/>
          <p:nvPr/>
        </p:nvGrpSpPr>
        <p:grpSpPr>
          <a:xfrm rot="0">
            <a:off x="13706973" y="1344472"/>
            <a:ext cx="240861" cy="240861"/>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Tree>
  </p:cSld>
  <p:clrMapOvr>
    <a:masterClrMapping/>
  </p:clrMapOvr>
  <p:transition spd="fast">
    <p:wipe dir="u"/>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1138505">
            <a:off x="1975475" y="666032"/>
            <a:ext cx="20219053" cy="10370689"/>
          </a:xfrm>
          <a:custGeom>
            <a:avLst/>
            <a:gdLst/>
            <a:ahLst/>
            <a:cxnLst/>
            <a:rect r="r" b="b" t="t" l="l"/>
            <a:pathLst>
              <a:path h="10370689" w="20219053">
                <a:moveTo>
                  <a:pt x="0" y="0"/>
                </a:moveTo>
                <a:lnTo>
                  <a:pt x="20219053" y="0"/>
                </a:lnTo>
                <a:lnTo>
                  <a:pt x="20219053"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6478581"/>
            <a:ext cx="15276523" cy="2292363"/>
          </a:xfrm>
          <a:prstGeom prst="rect">
            <a:avLst/>
          </a:prstGeom>
        </p:spPr>
        <p:txBody>
          <a:bodyPr anchor="t" rtlCol="false" tIns="0" lIns="0" bIns="0" rIns="0">
            <a:spAutoFit/>
          </a:bodyPr>
          <a:lstStyle/>
          <a:p>
            <a:pPr algn="l">
              <a:lnSpc>
                <a:spcPts val="8500"/>
              </a:lnSpc>
            </a:pPr>
            <a:r>
              <a:rPr lang="en-US" sz="8500">
                <a:solidFill>
                  <a:srgbClr val="0D0D0D"/>
                </a:solidFill>
                <a:latin typeface="Poppins Light"/>
                <a:ea typeface="Poppins Light"/>
                <a:cs typeface="Poppins Light"/>
                <a:sym typeface="Poppins Light"/>
              </a:rPr>
              <a:t>Areas of Software </a:t>
            </a:r>
            <a:r>
              <a:rPr lang="en-US" sz="8500" b="true">
                <a:solidFill>
                  <a:srgbClr val="0D0D0D"/>
                </a:solidFill>
                <a:latin typeface="Poppins Semi-Bold"/>
                <a:ea typeface="Poppins Semi-Bold"/>
                <a:cs typeface="Poppins Semi-Bold"/>
                <a:sym typeface="Poppins Semi-Bold"/>
              </a:rPr>
              <a:t>Development Experience</a:t>
            </a:r>
          </a:p>
        </p:txBody>
      </p:sp>
      <p:sp>
        <p:nvSpPr>
          <p:cNvPr name="Freeform 4" id="4"/>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3656650">
            <a:off x="2838050" y="2078374"/>
            <a:ext cx="20219053" cy="10370689"/>
          </a:xfrm>
          <a:custGeom>
            <a:avLst/>
            <a:gdLst/>
            <a:ahLst/>
            <a:cxnLst/>
            <a:rect r="r" b="b" t="t" l="l"/>
            <a:pathLst>
              <a:path h="10370689" w="20219053">
                <a:moveTo>
                  <a:pt x="20219053" y="0"/>
                </a:moveTo>
                <a:lnTo>
                  <a:pt x="0" y="0"/>
                </a:lnTo>
                <a:lnTo>
                  <a:pt x="0" y="10370690"/>
                </a:lnTo>
                <a:lnTo>
                  <a:pt x="20219053" y="10370690"/>
                </a:lnTo>
                <a:lnTo>
                  <a:pt x="20219053"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4054" y="2595570"/>
            <a:ext cx="836778" cy="836778"/>
          </a:xfrm>
          <a:custGeom>
            <a:avLst/>
            <a:gdLst/>
            <a:ahLst/>
            <a:cxnLst/>
            <a:rect r="r" b="b" t="t" l="l"/>
            <a:pathLst>
              <a:path h="836778" w="836778">
                <a:moveTo>
                  <a:pt x="0" y="0"/>
                </a:moveTo>
                <a:lnTo>
                  <a:pt x="836778" y="0"/>
                </a:lnTo>
                <a:lnTo>
                  <a:pt x="836778" y="836779"/>
                </a:lnTo>
                <a:lnTo>
                  <a:pt x="0" y="836779"/>
                </a:lnTo>
                <a:lnTo>
                  <a:pt x="0" y="0"/>
                </a:lnTo>
                <a:close/>
              </a:path>
            </a:pathLst>
          </a:custGeom>
          <a:blipFill>
            <a:blip r:embed="rId4"/>
            <a:stretch>
              <a:fillRect l="0" t="0" r="0" b="0"/>
            </a:stretch>
          </a:blipFill>
        </p:spPr>
      </p:sp>
      <p:sp>
        <p:nvSpPr>
          <p:cNvPr name="Freeform 4" id="4"/>
          <p:cNvSpPr/>
          <p:nvPr/>
        </p:nvSpPr>
        <p:spPr>
          <a:xfrm flipH="false" flipV="false" rot="0">
            <a:off x="604054" y="3686972"/>
            <a:ext cx="836778" cy="836778"/>
          </a:xfrm>
          <a:custGeom>
            <a:avLst/>
            <a:gdLst/>
            <a:ahLst/>
            <a:cxnLst/>
            <a:rect r="r" b="b" t="t" l="l"/>
            <a:pathLst>
              <a:path h="836778" w="836778">
                <a:moveTo>
                  <a:pt x="0" y="0"/>
                </a:moveTo>
                <a:lnTo>
                  <a:pt x="836778" y="0"/>
                </a:lnTo>
                <a:lnTo>
                  <a:pt x="836778" y="836778"/>
                </a:lnTo>
                <a:lnTo>
                  <a:pt x="0" y="836778"/>
                </a:lnTo>
                <a:lnTo>
                  <a:pt x="0" y="0"/>
                </a:lnTo>
                <a:close/>
              </a:path>
            </a:pathLst>
          </a:custGeom>
          <a:blipFill>
            <a:blip r:embed="rId5"/>
            <a:stretch>
              <a:fillRect l="0" t="0" r="0" b="0"/>
            </a:stretch>
          </a:blipFill>
        </p:spPr>
      </p:sp>
      <p:sp>
        <p:nvSpPr>
          <p:cNvPr name="Freeform 5" id="5"/>
          <p:cNvSpPr/>
          <p:nvPr/>
        </p:nvSpPr>
        <p:spPr>
          <a:xfrm flipH="false" flipV="false" rot="0">
            <a:off x="604054" y="4778374"/>
            <a:ext cx="836778" cy="836778"/>
          </a:xfrm>
          <a:custGeom>
            <a:avLst/>
            <a:gdLst/>
            <a:ahLst/>
            <a:cxnLst/>
            <a:rect r="r" b="b" t="t" l="l"/>
            <a:pathLst>
              <a:path h="836778" w="836778">
                <a:moveTo>
                  <a:pt x="0" y="0"/>
                </a:moveTo>
                <a:lnTo>
                  <a:pt x="836778" y="0"/>
                </a:lnTo>
                <a:lnTo>
                  <a:pt x="836778" y="836778"/>
                </a:lnTo>
                <a:lnTo>
                  <a:pt x="0" y="836778"/>
                </a:lnTo>
                <a:lnTo>
                  <a:pt x="0" y="0"/>
                </a:lnTo>
                <a:close/>
              </a:path>
            </a:pathLst>
          </a:custGeom>
          <a:blipFill>
            <a:blip r:embed="rId6"/>
            <a:stretch>
              <a:fillRect l="0" t="0" r="0" b="0"/>
            </a:stretch>
          </a:blipFill>
        </p:spPr>
      </p:sp>
      <p:sp>
        <p:nvSpPr>
          <p:cNvPr name="Freeform 6" id="6"/>
          <p:cNvSpPr/>
          <p:nvPr/>
        </p:nvSpPr>
        <p:spPr>
          <a:xfrm flipH="false" flipV="false" rot="0">
            <a:off x="604054" y="5869776"/>
            <a:ext cx="836778" cy="836778"/>
          </a:xfrm>
          <a:custGeom>
            <a:avLst/>
            <a:gdLst/>
            <a:ahLst/>
            <a:cxnLst/>
            <a:rect r="r" b="b" t="t" l="l"/>
            <a:pathLst>
              <a:path h="836778" w="836778">
                <a:moveTo>
                  <a:pt x="0" y="0"/>
                </a:moveTo>
                <a:lnTo>
                  <a:pt x="836778" y="0"/>
                </a:lnTo>
                <a:lnTo>
                  <a:pt x="836778" y="836778"/>
                </a:lnTo>
                <a:lnTo>
                  <a:pt x="0" y="836778"/>
                </a:lnTo>
                <a:lnTo>
                  <a:pt x="0" y="0"/>
                </a:lnTo>
                <a:close/>
              </a:path>
            </a:pathLst>
          </a:custGeom>
          <a:blipFill>
            <a:blip r:embed="rId7"/>
            <a:stretch>
              <a:fillRect l="0" t="0" r="0" b="0"/>
            </a:stretch>
          </a:blipFill>
        </p:spPr>
      </p:sp>
      <p:sp>
        <p:nvSpPr>
          <p:cNvPr name="Freeform 7" id="7"/>
          <p:cNvSpPr/>
          <p:nvPr/>
        </p:nvSpPr>
        <p:spPr>
          <a:xfrm flipH="false" flipV="false" rot="0">
            <a:off x="604054" y="8052579"/>
            <a:ext cx="836778" cy="836778"/>
          </a:xfrm>
          <a:custGeom>
            <a:avLst/>
            <a:gdLst/>
            <a:ahLst/>
            <a:cxnLst/>
            <a:rect r="r" b="b" t="t" l="l"/>
            <a:pathLst>
              <a:path h="836778" w="836778">
                <a:moveTo>
                  <a:pt x="0" y="0"/>
                </a:moveTo>
                <a:lnTo>
                  <a:pt x="836778" y="0"/>
                </a:lnTo>
                <a:lnTo>
                  <a:pt x="836778" y="836778"/>
                </a:lnTo>
                <a:lnTo>
                  <a:pt x="0" y="836778"/>
                </a:lnTo>
                <a:lnTo>
                  <a:pt x="0" y="0"/>
                </a:lnTo>
                <a:close/>
              </a:path>
            </a:pathLst>
          </a:custGeom>
          <a:blipFill>
            <a:blip r:embed="rId8"/>
            <a:stretch>
              <a:fillRect l="0" t="0" r="0" b="0"/>
            </a:stretch>
          </a:blipFill>
        </p:spPr>
      </p:sp>
      <p:sp>
        <p:nvSpPr>
          <p:cNvPr name="Freeform 8" id="8"/>
          <p:cNvSpPr/>
          <p:nvPr/>
        </p:nvSpPr>
        <p:spPr>
          <a:xfrm flipH="false" flipV="false" rot="0">
            <a:off x="604054" y="6961177"/>
            <a:ext cx="836778" cy="836778"/>
          </a:xfrm>
          <a:custGeom>
            <a:avLst/>
            <a:gdLst/>
            <a:ahLst/>
            <a:cxnLst/>
            <a:rect r="r" b="b" t="t" l="l"/>
            <a:pathLst>
              <a:path h="836778" w="836778">
                <a:moveTo>
                  <a:pt x="0" y="0"/>
                </a:moveTo>
                <a:lnTo>
                  <a:pt x="836778" y="0"/>
                </a:lnTo>
                <a:lnTo>
                  <a:pt x="836778" y="836779"/>
                </a:lnTo>
                <a:lnTo>
                  <a:pt x="0" y="836779"/>
                </a:lnTo>
                <a:lnTo>
                  <a:pt x="0" y="0"/>
                </a:lnTo>
                <a:close/>
              </a:path>
            </a:pathLst>
          </a:custGeom>
          <a:blipFill>
            <a:blip r:embed="rId9"/>
            <a:stretch>
              <a:fillRect l="0" t="0" r="0" b="0"/>
            </a:stretch>
          </a:blipFill>
        </p:spPr>
      </p:sp>
      <p:sp>
        <p:nvSpPr>
          <p:cNvPr name="Freeform 9" id="9"/>
          <p:cNvSpPr/>
          <p:nvPr/>
        </p:nvSpPr>
        <p:spPr>
          <a:xfrm flipH="false" flipV="false" rot="0">
            <a:off x="6386242" y="2595570"/>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0"/>
            <a:stretch>
              <a:fillRect l="0" t="0" r="0" b="0"/>
            </a:stretch>
          </a:blipFill>
        </p:spPr>
      </p:sp>
      <p:sp>
        <p:nvSpPr>
          <p:cNvPr name="Freeform 10" id="10"/>
          <p:cNvSpPr/>
          <p:nvPr/>
        </p:nvSpPr>
        <p:spPr>
          <a:xfrm flipH="false" flipV="false" rot="0">
            <a:off x="6386242" y="3694907"/>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1"/>
            <a:stretch>
              <a:fillRect l="0" t="0" r="0" b="0"/>
            </a:stretch>
          </a:blipFill>
        </p:spPr>
      </p:sp>
      <p:sp>
        <p:nvSpPr>
          <p:cNvPr name="Freeform 11" id="11"/>
          <p:cNvSpPr/>
          <p:nvPr/>
        </p:nvSpPr>
        <p:spPr>
          <a:xfrm flipH="false" flipV="false" rot="0">
            <a:off x="6386242" y="4794244"/>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2"/>
            <a:stretch>
              <a:fillRect l="0" t="0" r="0" b="0"/>
            </a:stretch>
          </a:blipFill>
        </p:spPr>
      </p:sp>
      <p:sp>
        <p:nvSpPr>
          <p:cNvPr name="Freeform 12" id="12"/>
          <p:cNvSpPr/>
          <p:nvPr/>
        </p:nvSpPr>
        <p:spPr>
          <a:xfrm flipH="false" flipV="false" rot="0">
            <a:off x="6386242" y="5893581"/>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3"/>
            <a:stretch>
              <a:fillRect l="0" t="0" r="0" b="0"/>
            </a:stretch>
          </a:blipFill>
        </p:spPr>
      </p:sp>
      <p:sp>
        <p:nvSpPr>
          <p:cNvPr name="Freeform 13" id="13"/>
          <p:cNvSpPr/>
          <p:nvPr/>
        </p:nvSpPr>
        <p:spPr>
          <a:xfrm flipH="false" flipV="false" rot="0">
            <a:off x="6386242" y="6992918"/>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4"/>
            <a:stretch>
              <a:fillRect l="0" t="0" r="0" b="0"/>
            </a:stretch>
          </a:blipFill>
        </p:spPr>
      </p:sp>
      <p:sp>
        <p:nvSpPr>
          <p:cNvPr name="Freeform 14" id="14"/>
          <p:cNvSpPr/>
          <p:nvPr/>
        </p:nvSpPr>
        <p:spPr>
          <a:xfrm flipH="false" flipV="false" rot="0">
            <a:off x="6386242" y="8092255"/>
            <a:ext cx="797102" cy="797102"/>
          </a:xfrm>
          <a:custGeom>
            <a:avLst/>
            <a:gdLst/>
            <a:ahLst/>
            <a:cxnLst/>
            <a:rect r="r" b="b" t="t" l="l"/>
            <a:pathLst>
              <a:path h="797102" w="797102">
                <a:moveTo>
                  <a:pt x="0" y="0"/>
                </a:moveTo>
                <a:lnTo>
                  <a:pt x="797102" y="0"/>
                </a:lnTo>
                <a:lnTo>
                  <a:pt x="797102" y="797102"/>
                </a:lnTo>
                <a:lnTo>
                  <a:pt x="0" y="797102"/>
                </a:lnTo>
                <a:lnTo>
                  <a:pt x="0" y="0"/>
                </a:lnTo>
                <a:close/>
              </a:path>
            </a:pathLst>
          </a:custGeom>
          <a:blipFill>
            <a:blip r:embed="rId15"/>
            <a:stretch>
              <a:fillRect l="0" t="0" r="0" b="0"/>
            </a:stretch>
          </a:blipFill>
        </p:spPr>
      </p:sp>
      <p:sp>
        <p:nvSpPr>
          <p:cNvPr name="Freeform 15" id="15"/>
          <p:cNvSpPr/>
          <p:nvPr/>
        </p:nvSpPr>
        <p:spPr>
          <a:xfrm flipH="false" flipV="false" rot="0">
            <a:off x="12133609" y="2595570"/>
            <a:ext cx="840009" cy="840009"/>
          </a:xfrm>
          <a:custGeom>
            <a:avLst/>
            <a:gdLst/>
            <a:ahLst/>
            <a:cxnLst/>
            <a:rect r="r" b="b" t="t" l="l"/>
            <a:pathLst>
              <a:path h="840009" w="840009">
                <a:moveTo>
                  <a:pt x="0" y="0"/>
                </a:moveTo>
                <a:lnTo>
                  <a:pt x="840008" y="0"/>
                </a:lnTo>
                <a:lnTo>
                  <a:pt x="840008" y="840009"/>
                </a:lnTo>
                <a:lnTo>
                  <a:pt x="0" y="840009"/>
                </a:lnTo>
                <a:lnTo>
                  <a:pt x="0" y="0"/>
                </a:lnTo>
                <a:close/>
              </a:path>
            </a:pathLst>
          </a:custGeom>
          <a:blipFill>
            <a:blip r:embed="rId16"/>
            <a:stretch>
              <a:fillRect l="0" t="0" r="0" b="0"/>
            </a:stretch>
          </a:blipFill>
        </p:spPr>
      </p:sp>
      <p:sp>
        <p:nvSpPr>
          <p:cNvPr name="Freeform 16" id="16"/>
          <p:cNvSpPr/>
          <p:nvPr/>
        </p:nvSpPr>
        <p:spPr>
          <a:xfrm flipH="false" flipV="false" rot="0">
            <a:off x="12133609" y="6952427"/>
            <a:ext cx="840009" cy="840009"/>
          </a:xfrm>
          <a:custGeom>
            <a:avLst/>
            <a:gdLst/>
            <a:ahLst/>
            <a:cxnLst/>
            <a:rect r="r" b="b" t="t" l="l"/>
            <a:pathLst>
              <a:path h="840009" w="840009">
                <a:moveTo>
                  <a:pt x="0" y="0"/>
                </a:moveTo>
                <a:lnTo>
                  <a:pt x="840008" y="0"/>
                </a:lnTo>
                <a:lnTo>
                  <a:pt x="840008" y="840008"/>
                </a:lnTo>
                <a:lnTo>
                  <a:pt x="0" y="840008"/>
                </a:lnTo>
                <a:lnTo>
                  <a:pt x="0" y="0"/>
                </a:lnTo>
                <a:close/>
              </a:path>
            </a:pathLst>
          </a:custGeom>
          <a:blipFill>
            <a:blip r:embed="rId17"/>
            <a:stretch>
              <a:fillRect l="0" t="0" r="0" b="0"/>
            </a:stretch>
          </a:blipFill>
        </p:spPr>
      </p:sp>
      <p:sp>
        <p:nvSpPr>
          <p:cNvPr name="Freeform 17" id="17"/>
          <p:cNvSpPr/>
          <p:nvPr/>
        </p:nvSpPr>
        <p:spPr>
          <a:xfrm flipH="false" flipV="false" rot="0">
            <a:off x="12133609" y="8049349"/>
            <a:ext cx="840009" cy="840009"/>
          </a:xfrm>
          <a:custGeom>
            <a:avLst/>
            <a:gdLst/>
            <a:ahLst/>
            <a:cxnLst/>
            <a:rect r="r" b="b" t="t" l="l"/>
            <a:pathLst>
              <a:path h="840009" w="840009">
                <a:moveTo>
                  <a:pt x="0" y="0"/>
                </a:moveTo>
                <a:lnTo>
                  <a:pt x="840008" y="0"/>
                </a:lnTo>
                <a:lnTo>
                  <a:pt x="840008" y="840008"/>
                </a:lnTo>
                <a:lnTo>
                  <a:pt x="0" y="840008"/>
                </a:lnTo>
                <a:lnTo>
                  <a:pt x="0" y="0"/>
                </a:lnTo>
                <a:close/>
              </a:path>
            </a:pathLst>
          </a:custGeom>
          <a:blipFill>
            <a:blip r:embed="rId18"/>
            <a:stretch>
              <a:fillRect l="0" t="0" r="0" b="0"/>
            </a:stretch>
          </a:blipFill>
        </p:spPr>
      </p:sp>
      <p:sp>
        <p:nvSpPr>
          <p:cNvPr name="Freeform 18" id="18"/>
          <p:cNvSpPr/>
          <p:nvPr/>
        </p:nvSpPr>
        <p:spPr>
          <a:xfrm flipH="false" flipV="false" rot="0">
            <a:off x="12133609" y="5855504"/>
            <a:ext cx="840009" cy="840009"/>
          </a:xfrm>
          <a:custGeom>
            <a:avLst/>
            <a:gdLst/>
            <a:ahLst/>
            <a:cxnLst/>
            <a:rect r="r" b="b" t="t" l="l"/>
            <a:pathLst>
              <a:path h="840009" w="840009">
                <a:moveTo>
                  <a:pt x="0" y="0"/>
                </a:moveTo>
                <a:lnTo>
                  <a:pt x="840008" y="0"/>
                </a:lnTo>
                <a:lnTo>
                  <a:pt x="840008" y="840009"/>
                </a:lnTo>
                <a:lnTo>
                  <a:pt x="0" y="840009"/>
                </a:lnTo>
                <a:lnTo>
                  <a:pt x="0" y="0"/>
                </a:lnTo>
                <a:close/>
              </a:path>
            </a:pathLst>
          </a:custGeom>
          <a:blipFill>
            <a:blip r:embed="rId19"/>
            <a:stretch>
              <a:fillRect l="0" t="0" r="0" b="0"/>
            </a:stretch>
          </a:blipFill>
        </p:spPr>
      </p:sp>
      <p:sp>
        <p:nvSpPr>
          <p:cNvPr name="Freeform 19" id="19"/>
          <p:cNvSpPr/>
          <p:nvPr/>
        </p:nvSpPr>
        <p:spPr>
          <a:xfrm flipH="false" flipV="false" rot="0">
            <a:off x="12158095" y="3692493"/>
            <a:ext cx="791037" cy="791037"/>
          </a:xfrm>
          <a:custGeom>
            <a:avLst/>
            <a:gdLst/>
            <a:ahLst/>
            <a:cxnLst/>
            <a:rect r="r" b="b" t="t" l="l"/>
            <a:pathLst>
              <a:path h="791037" w="791037">
                <a:moveTo>
                  <a:pt x="0" y="0"/>
                </a:moveTo>
                <a:lnTo>
                  <a:pt x="791036" y="0"/>
                </a:lnTo>
                <a:lnTo>
                  <a:pt x="791036" y="791036"/>
                </a:lnTo>
                <a:lnTo>
                  <a:pt x="0" y="791036"/>
                </a:lnTo>
                <a:lnTo>
                  <a:pt x="0" y="0"/>
                </a:lnTo>
                <a:close/>
              </a:path>
            </a:pathLst>
          </a:custGeom>
          <a:blipFill>
            <a:blip r:embed="rId20"/>
            <a:stretch>
              <a:fillRect l="0" t="0" r="0" b="0"/>
            </a:stretch>
          </a:blipFill>
        </p:spPr>
      </p:sp>
      <p:sp>
        <p:nvSpPr>
          <p:cNvPr name="Freeform 20" id="20"/>
          <p:cNvSpPr/>
          <p:nvPr/>
        </p:nvSpPr>
        <p:spPr>
          <a:xfrm flipH="false" flipV="false" rot="0">
            <a:off x="12124539" y="4740443"/>
            <a:ext cx="858147" cy="858147"/>
          </a:xfrm>
          <a:custGeom>
            <a:avLst/>
            <a:gdLst/>
            <a:ahLst/>
            <a:cxnLst/>
            <a:rect r="r" b="b" t="t" l="l"/>
            <a:pathLst>
              <a:path h="858147" w="858147">
                <a:moveTo>
                  <a:pt x="0" y="0"/>
                </a:moveTo>
                <a:lnTo>
                  <a:pt x="858148" y="0"/>
                </a:lnTo>
                <a:lnTo>
                  <a:pt x="858148" y="858147"/>
                </a:lnTo>
                <a:lnTo>
                  <a:pt x="0" y="858147"/>
                </a:lnTo>
                <a:lnTo>
                  <a:pt x="0" y="0"/>
                </a:lnTo>
                <a:close/>
              </a:path>
            </a:pathLst>
          </a:custGeom>
          <a:blipFill>
            <a:blip r:embed="rId21"/>
            <a:stretch>
              <a:fillRect l="0" t="0" r="0" b="0"/>
            </a:stretch>
          </a:blipFill>
        </p:spPr>
      </p:sp>
      <p:sp>
        <p:nvSpPr>
          <p:cNvPr name="TextBox 21" id="21"/>
          <p:cNvSpPr txBox="true"/>
          <p:nvPr/>
        </p:nvSpPr>
        <p:spPr>
          <a:xfrm rot="0">
            <a:off x="1653496" y="2703879"/>
            <a:ext cx="1123225"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Trav</a:t>
            </a:r>
            <a:r>
              <a:rPr lang="en-US" b="true" sz="2868">
                <a:solidFill>
                  <a:srgbClr val="000000"/>
                </a:solidFill>
                <a:latin typeface="Poppins Medium"/>
                <a:ea typeface="Poppins Medium"/>
                <a:cs typeface="Poppins Medium"/>
                <a:sym typeface="Poppins Medium"/>
              </a:rPr>
              <a:t>el</a:t>
            </a:r>
          </a:p>
        </p:txBody>
      </p:sp>
      <p:sp>
        <p:nvSpPr>
          <p:cNvPr name="TextBox 22" id="22"/>
          <p:cNvSpPr txBox="true"/>
          <p:nvPr/>
        </p:nvSpPr>
        <p:spPr>
          <a:xfrm rot="0">
            <a:off x="1645556" y="3793665"/>
            <a:ext cx="3285401"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Financial Services</a:t>
            </a:r>
          </a:p>
        </p:txBody>
      </p:sp>
      <p:sp>
        <p:nvSpPr>
          <p:cNvPr name="TextBox 23" id="23"/>
          <p:cNvSpPr txBox="true"/>
          <p:nvPr/>
        </p:nvSpPr>
        <p:spPr>
          <a:xfrm rot="0">
            <a:off x="1602072" y="4931204"/>
            <a:ext cx="1830367"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Ins</a:t>
            </a:r>
            <a:r>
              <a:rPr lang="en-US" b="true" sz="2868">
                <a:solidFill>
                  <a:srgbClr val="000000"/>
                </a:solidFill>
                <a:latin typeface="Poppins Medium"/>
                <a:ea typeface="Poppins Medium"/>
                <a:cs typeface="Poppins Medium"/>
                <a:sym typeface="Poppins Medium"/>
              </a:rPr>
              <a:t>urance</a:t>
            </a:r>
          </a:p>
        </p:txBody>
      </p:sp>
      <p:sp>
        <p:nvSpPr>
          <p:cNvPr name="TextBox 24" id="24"/>
          <p:cNvSpPr txBox="true"/>
          <p:nvPr/>
        </p:nvSpPr>
        <p:spPr>
          <a:xfrm rot="0">
            <a:off x="1653496" y="5973239"/>
            <a:ext cx="1030009"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R</a:t>
            </a:r>
            <a:r>
              <a:rPr lang="en-US" b="true" sz="2868">
                <a:solidFill>
                  <a:srgbClr val="000000"/>
                </a:solidFill>
                <a:latin typeface="Poppins Medium"/>
                <a:ea typeface="Poppins Medium"/>
                <a:cs typeface="Poppins Medium"/>
                <a:sym typeface="Poppins Medium"/>
              </a:rPr>
              <a:t>etail</a:t>
            </a:r>
          </a:p>
        </p:txBody>
      </p:sp>
      <p:sp>
        <p:nvSpPr>
          <p:cNvPr name="TextBox 25" id="25"/>
          <p:cNvSpPr txBox="true"/>
          <p:nvPr/>
        </p:nvSpPr>
        <p:spPr>
          <a:xfrm rot="0">
            <a:off x="1653496" y="7063025"/>
            <a:ext cx="2726054"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Transport</a:t>
            </a:r>
            <a:r>
              <a:rPr lang="en-US" b="true" sz="2868">
                <a:solidFill>
                  <a:srgbClr val="000000"/>
                </a:solidFill>
                <a:latin typeface="Poppins Medium"/>
                <a:ea typeface="Poppins Medium"/>
                <a:cs typeface="Poppins Medium"/>
                <a:sym typeface="Poppins Medium"/>
              </a:rPr>
              <a:t>ation</a:t>
            </a:r>
          </a:p>
        </p:txBody>
      </p:sp>
      <p:sp>
        <p:nvSpPr>
          <p:cNvPr name="TextBox 26" id="26"/>
          <p:cNvSpPr txBox="true"/>
          <p:nvPr/>
        </p:nvSpPr>
        <p:spPr>
          <a:xfrm rot="0">
            <a:off x="1653496" y="8152812"/>
            <a:ext cx="3828821"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Gr</a:t>
            </a:r>
            <a:r>
              <a:rPr lang="en-US" b="true" sz="2868">
                <a:solidFill>
                  <a:srgbClr val="000000"/>
                </a:solidFill>
                <a:latin typeface="Poppins Medium"/>
                <a:ea typeface="Poppins Medium"/>
                <a:cs typeface="Poppins Medium"/>
                <a:sym typeface="Poppins Medium"/>
              </a:rPr>
              <a:t>ants Management</a:t>
            </a:r>
          </a:p>
        </p:txBody>
      </p:sp>
      <p:sp>
        <p:nvSpPr>
          <p:cNvPr name="TextBox 27" id="27"/>
          <p:cNvSpPr txBox="true"/>
          <p:nvPr/>
        </p:nvSpPr>
        <p:spPr>
          <a:xfrm rot="0">
            <a:off x="7399664" y="2703879"/>
            <a:ext cx="3924351"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U</a:t>
            </a:r>
            <a:r>
              <a:rPr lang="en-US" b="true" sz="2868">
                <a:solidFill>
                  <a:srgbClr val="000000"/>
                </a:solidFill>
                <a:latin typeface="Poppins Medium"/>
                <a:ea typeface="Poppins Medium"/>
                <a:cs typeface="Poppins Medium"/>
                <a:sym typeface="Poppins Medium"/>
              </a:rPr>
              <a:t>S State Government</a:t>
            </a:r>
          </a:p>
        </p:txBody>
      </p:sp>
      <p:sp>
        <p:nvSpPr>
          <p:cNvPr name="TextBox 28" id="28"/>
          <p:cNvSpPr txBox="true"/>
          <p:nvPr/>
        </p:nvSpPr>
        <p:spPr>
          <a:xfrm rot="0">
            <a:off x="7399664" y="3803216"/>
            <a:ext cx="3474634" cy="504285"/>
          </a:xfrm>
          <a:prstGeom prst="rect">
            <a:avLst/>
          </a:prstGeom>
        </p:spPr>
        <p:txBody>
          <a:bodyPr anchor="t" rtlCol="false" tIns="0" lIns="0" bIns="0" rIns="0">
            <a:spAutoFit/>
          </a:bodyPr>
          <a:lstStyle/>
          <a:p>
            <a:pPr algn="ctr">
              <a:lnSpc>
                <a:spcPts val="4016"/>
              </a:lnSpc>
            </a:pPr>
            <a:r>
              <a:rPr lang="en-US" b="true" sz="2868">
                <a:solidFill>
                  <a:srgbClr val="000000"/>
                </a:solidFill>
                <a:latin typeface="Poppins Medium"/>
                <a:ea typeface="Poppins Medium"/>
                <a:cs typeface="Poppins Medium"/>
                <a:sym typeface="Poppins Medium"/>
              </a:rPr>
              <a:t>Scientific Research</a:t>
            </a:r>
          </a:p>
        </p:txBody>
      </p:sp>
      <p:sp>
        <p:nvSpPr>
          <p:cNvPr name="TextBox 29" id="29"/>
          <p:cNvSpPr txBox="true"/>
          <p:nvPr/>
        </p:nvSpPr>
        <p:spPr>
          <a:xfrm rot="0">
            <a:off x="7399664" y="4902553"/>
            <a:ext cx="2423989"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Flow</a:t>
            </a:r>
            <a:r>
              <a:rPr lang="en-US" b="true" sz="2868">
                <a:solidFill>
                  <a:srgbClr val="000000"/>
                </a:solidFill>
                <a:latin typeface="Poppins Medium"/>
                <a:ea typeface="Poppins Medium"/>
                <a:cs typeface="Poppins Medium"/>
                <a:sym typeface="Poppins Medium"/>
              </a:rPr>
              <a:t>er Farms</a:t>
            </a:r>
          </a:p>
        </p:txBody>
      </p:sp>
      <p:sp>
        <p:nvSpPr>
          <p:cNvPr name="TextBox 30" id="30"/>
          <p:cNvSpPr txBox="true"/>
          <p:nvPr/>
        </p:nvSpPr>
        <p:spPr>
          <a:xfrm rot="0">
            <a:off x="7399664" y="6001890"/>
            <a:ext cx="2021414"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R</a:t>
            </a:r>
            <a:r>
              <a:rPr lang="en-US" b="true" sz="2868">
                <a:solidFill>
                  <a:srgbClr val="000000"/>
                </a:solidFill>
                <a:latin typeface="Poppins Medium"/>
                <a:ea typeface="Poppins Medium"/>
                <a:cs typeface="Poppins Medium"/>
                <a:sym typeface="Poppins Medium"/>
              </a:rPr>
              <a:t>eal Estate</a:t>
            </a:r>
          </a:p>
        </p:txBody>
      </p:sp>
      <p:sp>
        <p:nvSpPr>
          <p:cNvPr name="TextBox 31" id="31"/>
          <p:cNvSpPr txBox="true"/>
          <p:nvPr/>
        </p:nvSpPr>
        <p:spPr>
          <a:xfrm rot="0">
            <a:off x="7399664" y="7101227"/>
            <a:ext cx="2719472"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Man</a:t>
            </a:r>
            <a:r>
              <a:rPr lang="en-US" b="true" sz="2868">
                <a:solidFill>
                  <a:srgbClr val="000000"/>
                </a:solidFill>
                <a:latin typeface="Poppins Medium"/>
                <a:ea typeface="Poppins Medium"/>
                <a:cs typeface="Poppins Medium"/>
                <a:sym typeface="Poppins Medium"/>
              </a:rPr>
              <a:t>ufacturing</a:t>
            </a:r>
          </a:p>
        </p:txBody>
      </p:sp>
      <p:sp>
        <p:nvSpPr>
          <p:cNvPr name="TextBox 32" id="32"/>
          <p:cNvSpPr txBox="true"/>
          <p:nvPr/>
        </p:nvSpPr>
        <p:spPr>
          <a:xfrm rot="0">
            <a:off x="7399664" y="8200564"/>
            <a:ext cx="1840674"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Ed</a:t>
            </a:r>
            <a:r>
              <a:rPr lang="en-US" b="true" sz="2868">
                <a:solidFill>
                  <a:srgbClr val="000000"/>
                </a:solidFill>
                <a:latin typeface="Poppins Medium"/>
                <a:ea typeface="Poppins Medium"/>
                <a:cs typeface="Poppins Medium"/>
                <a:sym typeface="Poppins Medium"/>
              </a:rPr>
              <a:t>ucation</a:t>
            </a:r>
          </a:p>
        </p:txBody>
      </p:sp>
      <p:sp>
        <p:nvSpPr>
          <p:cNvPr name="TextBox 33" id="33"/>
          <p:cNvSpPr txBox="true"/>
          <p:nvPr/>
        </p:nvSpPr>
        <p:spPr>
          <a:xfrm rot="0">
            <a:off x="13199006" y="2751630"/>
            <a:ext cx="1910586"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U</a:t>
            </a:r>
            <a:r>
              <a:rPr lang="en-US" b="true" sz="2868">
                <a:solidFill>
                  <a:srgbClr val="000000"/>
                </a:solidFill>
                <a:latin typeface="Poppins Medium"/>
                <a:ea typeface="Poppins Medium"/>
                <a:cs typeface="Poppins Medium"/>
                <a:sym typeface="Poppins Medium"/>
              </a:rPr>
              <a:t>S Military</a:t>
            </a:r>
          </a:p>
        </p:txBody>
      </p:sp>
      <p:sp>
        <p:nvSpPr>
          <p:cNvPr name="TextBox 34" id="34"/>
          <p:cNvSpPr txBox="true"/>
          <p:nvPr/>
        </p:nvSpPr>
        <p:spPr>
          <a:xfrm rot="0">
            <a:off x="13199006" y="3841417"/>
            <a:ext cx="3688819"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Backgro</a:t>
            </a:r>
            <a:r>
              <a:rPr lang="en-US" b="true" sz="2868">
                <a:solidFill>
                  <a:srgbClr val="000000"/>
                </a:solidFill>
                <a:latin typeface="Poppins Medium"/>
                <a:ea typeface="Poppins Medium"/>
                <a:cs typeface="Poppins Medium"/>
                <a:sym typeface="Poppins Medium"/>
              </a:rPr>
              <a:t>und Checks</a:t>
            </a:r>
          </a:p>
        </p:txBody>
      </p:sp>
      <p:sp>
        <p:nvSpPr>
          <p:cNvPr name="TextBox 35" id="35"/>
          <p:cNvSpPr txBox="true"/>
          <p:nvPr/>
        </p:nvSpPr>
        <p:spPr>
          <a:xfrm rot="0">
            <a:off x="13199006" y="4931204"/>
            <a:ext cx="1608521"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Cat</a:t>
            </a:r>
            <a:r>
              <a:rPr lang="en-US" b="true" sz="2868">
                <a:solidFill>
                  <a:srgbClr val="000000"/>
                </a:solidFill>
                <a:latin typeface="Poppins Medium"/>
                <a:ea typeface="Poppins Medium"/>
                <a:cs typeface="Poppins Medium"/>
                <a:sym typeface="Poppins Medium"/>
              </a:rPr>
              <a:t>ering</a:t>
            </a:r>
          </a:p>
        </p:txBody>
      </p:sp>
      <p:sp>
        <p:nvSpPr>
          <p:cNvPr name="TextBox 36" id="36"/>
          <p:cNvSpPr txBox="true"/>
          <p:nvPr/>
        </p:nvSpPr>
        <p:spPr>
          <a:xfrm rot="0">
            <a:off x="13199006" y="6020991"/>
            <a:ext cx="2070157"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Jo</a:t>
            </a:r>
            <a:r>
              <a:rPr lang="en-US" b="true" sz="2868">
                <a:solidFill>
                  <a:srgbClr val="000000"/>
                </a:solidFill>
                <a:latin typeface="Poppins Medium"/>
                <a:ea typeface="Poppins Medium"/>
                <a:cs typeface="Poppins Medium"/>
                <a:sym typeface="Poppins Medium"/>
              </a:rPr>
              <a:t>b Boards</a:t>
            </a:r>
          </a:p>
        </p:txBody>
      </p:sp>
      <p:sp>
        <p:nvSpPr>
          <p:cNvPr name="TextBox 37" id="37"/>
          <p:cNvSpPr txBox="true"/>
          <p:nvPr/>
        </p:nvSpPr>
        <p:spPr>
          <a:xfrm rot="0">
            <a:off x="13199006" y="7110777"/>
            <a:ext cx="3367897" cy="504285"/>
          </a:xfrm>
          <a:prstGeom prst="rect">
            <a:avLst/>
          </a:prstGeom>
        </p:spPr>
        <p:txBody>
          <a:bodyPr anchor="t" rtlCol="false" tIns="0" lIns="0" bIns="0" rIns="0">
            <a:spAutoFit/>
          </a:bodyPr>
          <a:lstStyle/>
          <a:p>
            <a:pPr algn="ctr">
              <a:lnSpc>
                <a:spcPts val="4016"/>
              </a:lnSpc>
            </a:pPr>
            <a:r>
              <a:rPr lang="en-US" sz="2868" b="true">
                <a:solidFill>
                  <a:srgbClr val="000000"/>
                </a:solidFill>
                <a:latin typeface="Poppins Medium"/>
                <a:ea typeface="Poppins Medium"/>
                <a:cs typeface="Poppins Medium"/>
                <a:sym typeface="Poppins Medium"/>
              </a:rPr>
              <a:t>Fitness &amp; W</a:t>
            </a:r>
            <a:r>
              <a:rPr lang="en-US" b="true" sz="2868">
                <a:solidFill>
                  <a:srgbClr val="000000"/>
                </a:solidFill>
                <a:latin typeface="Poppins Medium"/>
                <a:ea typeface="Poppins Medium"/>
                <a:cs typeface="Poppins Medium"/>
                <a:sym typeface="Poppins Medium"/>
              </a:rPr>
              <a:t>ellness</a:t>
            </a:r>
          </a:p>
        </p:txBody>
      </p:sp>
      <p:sp>
        <p:nvSpPr>
          <p:cNvPr name="TextBox 38" id="38"/>
          <p:cNvSpPr txBox="true"/>
          <p:nvPr/>
        </p:nvSpPr>
        <p:spPr>
          <a:xfrm rot="0">
            <a:off x="13199006" y="8200564"/>
            <a:ext cx="2304088" cy="504285"/>
          </a:xfrm>
          <a:prstGeom prst="rect">
            <a:avLst/>
          </a:prstGeom>
        </p:spPr>
        <p:txBody>
          <a:bodyPr anchor="t" rtlCol="false" tIns="0" lIns="0" bIns="0" rIns="0">
            <a:spAutoFit/>
          </a:bodyPr>
          <a:lstStyle/>
          <a:p>
            <a:pPr algn="ctr">
              <a:lnSpc>
                <a:spcPts val="4016"/>
              </a:lnSpc>
            </a:pPr>
            <a:r>
              <a:rPr lang="en-US" b="true" sz="2868">
                <a:solidFill>
                  <a:srgbClr val="000000"/>
                </a:solidFill>
                <a:latin typeface="Poppins Medium"/>
                <a:ea typeface="Poppins Medium"/>
                <a:cs typeface="Poppins Medium"/>
                <a:sym typeface="Poppins Medium"/>
              </a:rPr>
              <a:t>eCommerce</a:t>
            </a:r>
          </a:p>
        </p:txBody>
      </p:sp>
      <p:grpSp>
        <p:nvGrpSpPr>
          <p:cNvPr name="Group 39" id="39"/>
          <p:cNvGrpSpPr/>
          <p:nvPr/>
        </p:nvGrpSpPr>
        <p:grpSpPr>
          <a:xfrm rot="0">
            <a:off x="13588740" y="1072430"/>
            <a:ext cx="3670560" cy="784945"/>
            <a:chOff x="0" y="0"/>
            <a:chExt cx="966732" cy="206735"/>
          </a:xfrm>
        </p:grpSpPr>
        <p:sp>
          <p:nvSpPr>
            <p:cNvPr name="Freeform 40" id="40"/>
            <p:cNvSpPr/>
            <p:nvPr/>
          </p:nvSpPr>
          <p:spPr>
            <a:xfrm flipH="false" flipV="false" rot="0">
              <a:off x="0" y="0"/>
              <a:ext cx="966732" cy="206735"/>
            </a:xfrm>
            <a:custGeom>
              <a:avLst/>
              <a:gdLst/>
              <a:ahLst/>
              <a:cxnLst/>
              <a:rect r="r" b="b" t="t" l="l"/>
              <a:pathLst>
                <a:path h="206735" w="966732">
                  <a:moveTo>
                    <a:pt x="103367" y="0"/>
                  </a:moveTo>
                  <a:lnTo>
                    <a:pt x="863365" y="0"/>
                  </a:lnTo>
                  <a:cubicBezTo>
                    <a:pt x="890779" y="0"/>
                    <a:pt x="917071" y="10890"/>
                    <a:pt x="936456" y="30276"/>
                  </a:cubicBezTo>
                  <a:cubicBezTo>
                    <a:pt x="955841" y="49661"/>
                    <a:pt x="966732" y="75953"/>
                    <a:pt x="966732" y="103367"/>
                  </a:cubicBezTo>
                  <a:lnTo>
                    <a:pt x="966732" y="103367"/>
                  </a:lnTo>
                  <a:cubicBezTo>
                    <a:pt x="966732" y="130782"/>
                    <a:pt x="955841" y="157074"/>
                    <a:pt x="936456" y="176459"/>
                  </a:cubicBezTo>
                  <a:cubicBezTo>
                    <a:pt x="917071" y="195844"/>
                    <a:pt x="890779" y="206735"/>
                    <a:pt x="863365"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1" id="41"/>
            <p:cNvSpPr txBox="true"/>
            <p:nvPr/>
          </p:nvSpPr>
          <p:spPr>
            <a:xfrm>
              <a:off x="0" y="-38100"/>
              <a:ext cx="966732" cy="244835"/>
            </a:xfrm>
            <a:prstGeom prst="rect">
              <a:avLst/>
            </a:prstGeom>
          </p:spPr>
          <p:txBody>
            <a:bodyPr anchor="ctr" rtlCol="false" tIns="50800" lIns="50800" bIns="50800" rIns="50800"/>
            <a:lstStyle/>
            <a:p>
              <a:pPr algn="ctr">
                <a:lnSpc>
                  <a:spcPts val="2520"/>
                </a:lnSpc>
              </a:pPr>
            </a:p>
          </p:txBody>
        </p:sp>
      </p:grpSp>
      <p:grpSp>
        <p:nvGrpSpPr>
          <p:cNvPr name="Group 42" id="42"/>
          <p:cNvGrpSpPr/>
          <p:nvPr/>
        </p:nvGrpSpPr>
        <p:grpSpPr>
          <a:xfrm rot="0">
            <a:off x="13917948" y="1344472"/>
            <a:ext cx="240861" cy="2408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45" id="45"/>
          <p:cNvSpPr txBox="true"/>
          <p:nvPr/>
        </p:nvSpPr>
        <p:spPr>
          <a:xfrm rot="0">
            <a:off x="14363402" y="1258210"/>
            <a:ext cx="2524423"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Software Development</a:t>
            </a:r>
          </a:p>
        </p:txBody>
      </p:sp>
      <p:sp>
        <p:nvSpPr>
          <p:cNvPr name="Freeform 46" id="4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true" flipV="false" rot="-2868697">
            <a:off x="521765" y="1388834"/>
            <a:ext cx="20219053" cy="10370689"/>
          </a:xfrm>
          <a:custGeom>
            <a:avLst/>
            <a:gdLst/>
            <a:ahLst/>
            <a:cxnLst/>
            <a:rect r="r" b="b" t="t" l="l"/>
            <a:pathLst>
              <a:path h="10370689" w="20219053">
                <a:moveTo>
                  <a:pt x="20219054" y="0"/>
                </a:moveTo>
                <a:lnTo>
                  <a:pt x="0" y="0"/>
                </a:lnTo>
                <a:lnTo>
                  <a:pt x="0" y="10370690"/>
                </a:lnTo>
                <a:lnTo>
                  <a:pt x="20219054" y="10370690"/>
                </a:lnTo>
                <a:lnTo>
                  <a:pt x="20219054"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132455"/>
            <a:ext cx="10480051" cy="3726814"/>
          </a:xfrm>
          <a:prstGeom prst="rect">
            <a:avLst/>
          </a:prstGeom>
        </p:spPr>
        <p:txBody>
          <a:bodyPr anchor="t" rtlCol="false" tIns="0" lIns="0" bIns="0" rIns="0">
            <a:spAutoFit/>
          </a:bodyPr>
          <a:lstStyle/>
          <a:p>
            <a:pPr algn="l">
              <a:lnSpc>
                <a:spcPts val="14560"/>
              </a:lnSpc>
            </a:pPr>
            <a:r>
              <a:rPr lang="en-US" sz="10400">
                <a:solidFill>
                  <a:srgbClr val="0D0D0D"/>
                </a:solidFill>
                <a:latin typeface="Poppins Light"/>
                <a:ea typeface="Poppins Light"/>
                <a:cs typeface="Poppins Light"/>
                <a:sym typeface="Poppins Light"/>
              </a:rPr>
              <a:t>Core</a:t>
            </a:r>
          </a:p>
          <a:p>
            <a:pPr algn="l">
              <a:lnSpc>
                <a:spcPts val="14560"/>
              </a:lnSpc>
            </a:pPr>
            <a:r>
              <a:rPr lang="en-US" sz="10400">
                <a:solidFill>
                  <a:srgbClr val="0D0D0D"/>
                </a:solidFill>
                <a:latin typeface="Poppins Light"/>
                <a:ea typeface="Poppins Light"/>
                <a:cs typeface="Poppins Light"/>
                <a:sym typeface="Poppins Light"/>
              </a:rPr>
              <a:t>Services</a:t>
            </a:r>
          </a:p>
        </p:txBody>
      </p:sp>
      <p:sp>
        <p:nvSpPr>
          <p:cNvPr name="Freeform 4" id="4"/>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d"/>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319698" y="1344472"/>
            <a:ext cx="240861" cy="2408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971550" y="6508609"/>
            <a:ext cx="2424341" cy="2424341"/>
          </a:xfrm>
          <a:custGeom>
            <a:avLst/>
            <a:gdLst/>
            <a:ahLst/>
            <a:cxnLst/>
            <a:rect r="r" b="b" t="t" l="l"/>
            <a:pathLst>
              <a:path h="2424341" w="2424341">
                <a:moveTo>
                  <a:pt x="0" y="0"/>
                </a:moveTo>
                <a:lnTo>
                  <a:pt x="2424341" y="0"/>
                </a:lnTo>
                <a:lnTo>
                  <a:pt x="2424341" y="2424341"/>
                </a:lnTo>
                <a:lnTo>
                  <a:pt x="0" y="2424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71550" y="5365117"/>
            <a:ext cx="6456478" cy="1113790"/>
          </a:xfrm>
          <a:prstGeom prst="rect">
            <a:avLst/>
          </a:prstGeom>
        </p:spPr>
        <p:txBody>
          <a:bodyPr anchor="t" rtlCol="false" tIns="0" lIns="0" bIns="0" rIns="0">
            <a:spAutoFit/>
          </a:bodyPr>
          <a:lstStyle/>
          <a:p>
            <a:pPr algn="l">
              <a:lnSpc>
                <a:spcPts val="2990"/>
              </a:lnSpc>
            </a:pPr>
            <a:r>
              <a:rPr lang="en-US" sz="2300">
                <a:solidFill>
                  <a:srgbClr val="0D0D0D"/>
                </a:solidFill>
                <a:latin typeface="Poppins Light"/>
                <a:ea typeface="Poppins Light"/>
                <a:cs typeface="Poppins Light"/>
                <a:sym typeface="Poppins Light"/>
              </a:rPr>
              <a:t>We provide structured, SLA-driven support designed to keep mission-critical systems stable, optimized, and continuously evolving.</a:t>
            </a:r>
          </a:p>
        </p:txBody>
      </p:sp>
      <p:grpSp>
        <p:nvGrpSpPr>
          <p:cNvPr name="Group 7" id="7"/>
          <p:cNvGrpSpPr/>
          <p:nvPr/>
        </p:nvGrpSpPr>
        <p:grpSpPr>
          <a:xfrm rot="0">
            <a:off x="8799836" y="1687513"/>
            <a:ext cx="3467100" cy="685800"/>
            <a:chOff x="0" y="0"/>
            <a:chExt cx="913146" cy="180622"/>
          </a:xfrm>
        </p:grpSpPr>
        <p:sp>
          <p:nvSpPr>
            <p:cNvPr name="Freeform 8" id="8"/>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9" id="9"/>
            <p:cNvSpPr txBox="true"/>
            <p:nvPr/>
          </p:nvSpPr>
          <p:spPr>
            <a:xfrm>
              <a:off x="0" y="-57150"/>
              <a:ext cx="913146" cy="237772"/>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Bold"/>
                  <a:ea typeface="Poppins Bold"/>
                  <a:cs typeface="Poppins Bold"/>
                  <a:sym typeface="Poppins Bold"/>
                </a:rPr>
                <a:t>Support Model</a:t>
              </a:r>
            </a:p>
          </p:txBody>
        </p:sp>
      </p:grpSp>
      <p:grpSp>
        <p:nvGrpSpPr>
          <p:cNvPr name="Group 10" id="10"/>
          <p:cNvGrpSpPr/>
          <p:nvPr/>
        </p:nvGrpSpPr>
        <p:grpSpPr>
          <a:xfrm rot="0">
            <a:off x="8799836" y="5847715"/>
            <a:ext cx="3467100" cy="685800"/>
            <a:chOff x="0" y="0"/>
            <a:chExt cx="913146" cy="180622"/>
          </a:xfrm>
        </p:grpSpPr>
        <p:sp>
          <p:nvSpPr>
            <p:cNvPr name="Freeform 11" id="11"/>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2" id="12"/>
            <p:cNvSpPr txBox="true"/>
            <p:nvPr/>
          </p:nvSpPr>
          <p:spPr>
            <a:xfrm>
              <a:off x="0" y="-57150"/>
              <a:ext cx="913146" cy="237772"/>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Bold"/>
                  <a:ea typeface="Poppins Bold"/>
                  <a:cs typeface="Poppins Bold"/>
                  <a:sym typeface="Poppins Bold"/>
                </a:rPr>
                <a:t>Engagement</a:t>
              </a:r>
            </a:p>
          </p:txBody>
        </p:sp>
      </p:grpSp>
      <p:sp>
        <p:nvSpPr>
          <p:cNvPr name="TextBox 13" id="13"/>
          <p:cNvSpPr txBox="true"/>
          <p:nvPr/>
        </p:nvSpPr>
        <p:spPr>
          <a:xfrm rot="0">
            <a:off x="8799836" y="2573338"/>
            <a:ext cx="7578402" cy="23444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D0D0D"/>
                </a:solidFill>
                <a:latin typeface="Poppins"/>
                <a:ea typeface="Poppins"/>
                <a:cs typeface="Poppins"/>
                <a:sym typeface="Poppins"/>
              </a:rPr>
              <a:t>SLA-based agreeme</a:t>
            </a:r>
            <a:r>
              <a:rPr lang="en-US" sz="2199">
                <a:solidFill>
                  <a:srgbClr val="0D0D0D"/>
                </a:solidFill>
                <a:latin typeface="Poppins"/>
                <a:ea typeface="Poppins"/>
                <a:cs typeface="Poppins"/>
                <a:sym typeface="Poppins"/>
              </a:rPr>
              <a:t>nts with define</a:t>
            </a:r>
            <a:r>
              <a:rPr lang="en-US" sz="2199">
                <a:solidFill>
                  <a:srgbClr val="0D0D0D"/>
                </a:solidFill>
                <a:latin typeface="Poppins"/>
                <a:ea typeface="Poppins"/>
                <a:cs typeface="Poppins"/>
                <a:sym typeface="Poppins"/>
              </a:rPr>
              <a:t>d response times</a:t>
            </a:r>
          </a:p>
          <a:p>
            <a:pPr algn="l" marL="474979" indent="-237490" lvl="1">
              <a:lnSpc>
                <a:spcPts val="3079"/>
              </a:lnSpc>
              <a:buFont typeface="Arial"/>
              <a:buChar char="•"/>
            </a:pPr>
            <a:r>
              <a:rPr lang="en-US" sz="2199">
                <a:solidFill>
                  <a:srgbClr val="0D0D0D"/>
                </a:solidFill>
                <a:latin typeface="Poppins"/>
                <a:ea typeface="Poppins"/>
                <a:cs typeface="Poppins"/>
                <a:sym typeface="Poppins"/>
              </a:rPr>
              <a:t>Continuous support across supported technologies</a:t>
            </a:r>
          </a:p>
          <a:p>
            <a:pPr algn="l" marL="474979" indent="-237490" lvl="1">
              <a:lnSpc>
                <a:spcPts val="3079"/>
              </a:lnSpc>
              <a:buFont typeface="Arial"/>
              <a:buChar char="•"/>
            </a:pPr>
            <a:r>
              <a:rPr lang="en-US" sz="2199">
                <a:solidFill>
                  <a:srgbClr val="0D0D0D"/>
                </a:solidFill>
                <a:latin typeface="Poppins"/>
                <a:ea typeface="Poppins"/>
                <a:cs typeface="Poppins"/>
                <a:sym typeface="Poppins"/>
              </a:rPr>
              <a:t>Dedicated ticketing system and</a:t>
            </a:r>
            <a:r>
              <a:rPr lang="en-US" sz="2199">
                <a:solidFill>
                  <a:srgbClr val="0D0D0D"/>
                </a:solidFill>
                <a:latin typeface="Poppins"/>
                <a:ea typeface="Poppins"/>
                <a:cs typeface="Poppins"/>
                <a:sym typeface="Poppins"/>
              </a:rPr>
              <a:t> </a:t>
            </a:r>
            <a:r>
              <a:rPr lang="en-US" b="true" sz="2199">
                <a:solidFill>
                  <a:srgbClr val="0D0D0D"/>
                </a:solidFill>
                <a:latin typeface="Poppins Bold"/>
                <a:ea typeface="Poppins Bold"/>
                <a:cs typeface="Poppins Bold"/>
                <a:sym typeface="Poppins Bold"/>
              </a:rPr>
              <a:t>asynchronous communication via Slack</a:t>
            </a:r>
          </a:p>
        </p:txBody>
      </p:sp>
      <p:sp>
        <p:nvSpPr>
          <p:cNvPr name="TextBox 14" id="14"/>
          <p:cNvSpPr txBox="true"/>
          <p:nvPr/>
        </p:nvSpPr>
        <p:spPr>
          <a:xfrm rot="0">
            <a:off x="8799836" y="6733540"/>
            <a:ext cx="7578402" cy="156337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D0D0D"/>
                </a:solidFill>
                <a:latin typeface="Poppins"/>
                <a:ea typeface="Poppins"/>
                <a:cs typeface="Poppins"/>
                <a:sym typeface="Poppins"/>
              </a:rPr>
              <a:t>Flexible re</a:t>
            </a:r>
            <a:r>
              <a:rPr lang="en-US" sz="2199">
                <a:solidFill>
                  <a:srgbClr val="0D0D0D"/>
                </a:solidFill>
                <a:latin typeface="Poppins"/>
                <a:ea typeface="Poppins"/>
                <a:cs typeface="Poppins"/>
                <a:sym typeface="Poppins"/>
              </a:rPr>
              <a:t>tainer or on-deman</a:t>
            </a:r>
            <a:r>
              <a:rPr lang="en-US" sz="2199">
                <a:solidFill>
                  <a:srgbClr val="0D0D0D"/>
                </a:solidFill>
                <a:latin typeface="Poppins"/>
                <a:ea typeface="Poppins"/>
                <a:cs typeface="Poppins"/>
                <a:sym typeface="Poppins"/>
              </a:rPr>
              <a:t>d support</a:t>
            </a:r>
          </a:p>
          <a:p>
            <a:pPr algn="l" marL="474979" indent="-237490" lvl="1">
              <a:lnSpc>
                <a:spcPts val="3079"/>
              </a:lnSpc>
              <a:buFont typeface="Arial"/>
              <a:buChar char="•"/>
            </a:pPr>
            <a:r>
              <a:rPr lang="en-US" sz="2199">
                <a:solidFill>
                  <a:srgbClr val="0D0D0D"/>
                </a:solidFill>
                <a:latin typeface="Poppins"/>
                <a:ea typeface="Poppins"/>
                <a:cs typeface="Poppins"/>
                <a:sym typeface="Poppins"/>
              </a:rPr>
              <a:t>Scalable based on client needs</a:t>
            </a:r>
          </a:p>
          <a:p>
            <a:pPr algn="l" marL="474979" indent="-237490" lvl="1">
              <a:lnSpc>
                <a:spcPts val="3079"/>
              </a:lnSpc>
              <a:buFont typeface="Arial"/>
              <a:buChar char="•"/>
            </a:pPr>
            <a:r>
              <a:rPr lang="en-US" sz="2199">
                <a:solidFill>
                  <a:srgbClr val="0D0D0D"/>
                </a:solidFill>
                <a:latin typeface="Poppins"/>
                <a:ea typeface="Poppins"/>
                <a:cs typeface="Poppins"/>
                <a:sym typeface="Poppins"/>
              </a:rPr>
              <a:t>Direct access to </a:t>
            </a:r>
            <a:r>
              <a:rPr lang="en-US" sz="2199">
                <a:solidFill>
                  <a:srgbClr val="0D0D0D"/>
                </a:solidFill>
                <a:latin typeface="Poppins"/>
                <a:ea typeface="Poppins"/>
                <a:cs typeface="Poppins"/>
                <a:sym typeface="Poppins"/>
              </a:rPr>
              <a:t>s</a:t>
            </a:r>
            <a:r>
              <a:rPr lang="en-US" sz="2199">
                <a:solidFill>
                  <a:srgbClr val="0D0D0D"/>
                </a:solidFill>
                <a:latin typeface="Poppins"/>
                <a:ea typeface="Poppins"/>
                <a:cs typeface="Poppins"/>
                <a:sym typeface="Poppins"/>
              </a:rPr>
              <a:t>e</a:t>
            </a:r>
            <a:r>
              <a:rPr lang="en-US" sz="2199">
                <a:solidFill>
                  <a:srgbClr val="0D0D0D"/>
                </a:solidFill>
                <a:latin typeface="Poppins"/>
                <a:ea typeface="Poppins"/>
                <a:cs typeface="Poppins"/>
                <a:sym typeface="Poppins"/>
              </a:rPr>
              <a:t>nio</a:t>
            </a:r>
            <a:r>
              <a:rPr lang="en-US" sz="2199">
                <a:solidFill>
                  <a:srgbClr val="0D0D0D"/>
                </a:solidFill>
                <a:latin typeface="Poppins"/>
                <a:ea typeface="Poppins"/>
                <a:cs typeface="Poppins"/>
                <a:sym typeface="Poppins"/>
              </a:rPr>
              <a:t>r</a:t>
            </a:r>
            <a:r>
              <a:rPr lang="en-US" sz="2199">
                <a:solidFill>
                  <a:srgbClr val="0D0D0D"/>
                </a:solidFill>
                <a:latin typeface="Poppins"/>
                <a:ea typeface="Poppins"/>
                <a:cs typeface="Poppins"/>
                <a:sym typeface="Poppins"/>
              </a:rPr>
              <a:t> </a:t>
            </a:r>
            <a:r>
              <a:rPr lang="en-US" sz="2199">
                <a:solidFill>
                  <a:srgbClr val="0D0D0D"/>
                </a:solidFill>
                <a:latin typeface="Poppins"/>
                <a:ea typeface="Poppins"/>
                <a:cs typeface="Poppins"/>
                <a:sym typeface="Poppins"/>
              </a:rPr>
              <a:t>engineers and product-focused consultants</a:t>
            </a:r>
          </a:p>
        </p:txBody>
      </p:sp>
      <p:sp>
        <p:nvSpPr>
          <p:cNvPr name="Freeform 15" id="15"/>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14002740" y="997718"/>
            <a:ext cx="3256560" cy="784945"/>
            <a:chOff x="0" y="0"/>
            <a:chExt cx="4342080" cy="1046593"/>
          </a:xfrm>
        </p:grpSpPr>
        <p:grpSp>
          <p:nvGrpSpPr>
            <p:cNvPr name="Group 17" id="17"/>
            <p:cNvGrpSpPr/>
            <p:nvPr/>
          </p:nvGrpSpPr>
          <p:grpSpPr>
            <a:xfrm rot="0">
              <a:off x="369135" y="0"/>
              <a:ext cx="3972945" cy="1046593"/>
              <a:chOff x="0" y="0"/>
              <a:chExt cx="784779" cy="206735"/>
            </a:xfrm>
          </p:grpSpPr>
          <p:sp>
            <p:nvSpPr>
              <p:cNvPr name="Freeform 18" id="18"/>
              <p:cNvSpPr/>
              <p:nvPr/>
            </p:nvSpPr>
            <p:spPr>
              <a:xfrm flipH="false" flipV="false" rot="0">
                <a:off x="0" y="0"/>
                <a:ext cx="784779" cy="206735"/>
              </a:xfrm>
              <a:custGeom>
                <a:avLst/>
                <a:gdLst/>
                <a:ahLst/>
                <a:cxnLst/>
                <a:rect r="r" b="b" t="t" l="l"/>
                <a:pathLst>
                  <a:path h="206735" w="784779">
                    <a:moveTo>
                      <a:pt x="103367" y="0"/>
                    </a:moveTo>
                    <a:lnTo>
                      <a:pt x="681412" y="0"/>
                    </a:lnTo>
                    <a:cubicBezTo>
                      <a:pt x="708827" y="0"/>
                      <a:pt x="735119" y="10890"/>
                      <a:pt x="754504" y="30276"/>
                    </a:cubicBezTo>
                    <a:cubicBezTo>
                      <a:pt x="773889" y="49661"/>
                      <a:pt x="784779" y="75953"/>
                      <a:pt x="784779" y="103367"/>
                    </a:cubicBezTo>
                    <a:lnTo>
                      <a:pt x="784779" y="103367"/>
                    </a:lnTo>
                    <a:cubicBezTo>
                      <a:pt x="784779" y="130782"/>
                      <a:pt x="773889" y="157074"/>
                      <a:pt x="754504" y="176459"/>
                    </a:cubicBezTo>
                    <a:cubicBezTo>
                      <a:pt x="735119" y="195844"/>
                      <a:pt x="708827" y="206735"/>
                      <a:pt x="68141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9" id="19"/>
              <p:cNvSpPr txBox="true"/>
              <p:nvPr/>
            </p:nvSpPr>
            <p:spPr>
              <a:xfrm>
                <a:off x="0" y="-38100"/>
                <a:ext cx="784779" cy="244835"/>
              </a:xfrm>
              <a:prstGeom prst="rect">
                <a:avLst/>
              </a:prstGeom>
            </p:spPr>
            <p:txBody>
              <a:bodyPr anchor="ctr" rtlCol="false" tIns="50800" lIns="50800" bIns="50800" rIns="50800"/>
              <a:lstStyle/>
              <a:p>
                <a:pPr algn="ctr">
                  <a:lnSpc>
                    <a:spcPts val="2520"/>
                  </a:lnSpc>
                </a:pPr>
              </a:p>
            </p:txBody>
          </p:sp>
        </p:grpSp>
        <p:sp>
          <p:nvSpPr>
            <p:cNvPr name="TextBox 20" id="20"/>
            <p:cNvSpPr txBox="true"/>
            <p:nvPr/>
          </p:nvSpPr>
          <p:spPr>
            <a:xfrm rot="0">
              <a:off x="0" y="216380"/>
              <a:ext cx="3893996" cy="55668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Services</a:t>
              </a:r>
            </a:p>
          </p:txBody>
        </p:sp>
        <p:grpSp>
          <p:nvGrpSpPr>
            <p:cNvPr name="Group 21" id="21"/>
            <p:cNvGrpSpPr/>
            <p:nvPr/>
          </p:nvGrpSpPr>
          <p:grpSpPr>
            <a:xfrm rot="0">
              <a:off x="807825" y="362723"/>
              <a:ext cx="321148" cy="32114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4" id="24"/>
          <p:cNvSpPr txBox="true"/>
          <p:nvPr/>
        </p:nvSpPr>
        <p:spPr>
          <a:xfrm rot="0">
            <a:off x="877282" y="3013075"/>
            <a:ext cx="6025368"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Support &amp; Consulting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002740" y="997718"/>
            <a:ext cx="3256560" cy="784945"/>
            <a:chOff x="0" y="0"/>
            <a:chExt cx="4342080" cy="1046593"/>
          </a:xfrm>
        </p:grpSpPr>
        <p:grpSp>
          <p:nvGrpSpPr>
            <p:cNvPr name="Group 4" id="4"/>
            <p:cNvGrpSpPr/>
            <p:nvPr/>
          </p:nvGrpSpPr>
          <p:grpSpPr>
            <a:xfrm rot="0">
              <a:off x="369135" y="0"/>
              <a:ext cx="3972945" cy="1046593"/>
              <a:chOff x="0" y="0"/>
              <a:chExt cx="784779" cy="206735"/>
            </a:xfrm>
          </p:grpSpPr>
          <p:sp>
            <p:nvSpPr>
              <p:cNvPr name="Freeform 5" id="5"/>
              <p:cNvSpPr/>
              <p:nvPr/>
            </p:nvSpPr>
            <p:spPr>
              <a:xfrm flipH="false" flipV="false" rot="0">
                <a:off x="0" y="0"/>
                <a:ext cx="784779" cy="206735"/>
              </a:xfrm>
              <a:custGeom>
                <a:avLst/>
                <a:gdLst/>
                <a:ahLst/>
                <a:cxnLst/>
                <a:rect r="r" b="b" t="t" l="l"/>
                <a:pathLst>
                  <a:path h="206735" w="784779">
                    <a:moveTo>
                      <a:pt x="103367" y="0"/>
                    </a:moveTo>
                    <a:lnTo>
                      <a:pt x="681412" y="0"/>
                    </a:lnTo>
                    <a:cubicBezTo>
                      <a:pt x="708827" y="0"/>
                      <a:pt x="735119" y="10890"/>
                      <a:pt x="754504" y="30276"/>
                    </a:cubicBezTo>
                    <a:cubicBezTo>
                      <a:pt x="773889" y="49661"/>
                      <a:pt x="784779" y="75953"/>
                      <a:pt x="784779" y="103367"/>
                    </a:cubicBezTo>
                    <a:lnTo>
                      <a:pt x="784779" y="103367"/>
                    </a:lnTo>
                    <a:cubicBezTo>
                      <a:pt x="784779" y="130782"/>
                      <a:pt x="773889" y="157074"/>
                      <a:pt x="754504" y="176459"/>
                    </a:cubicBezTo>
                    <a:cubicBezTo>
                      <a:pt x="735119" y="195844"/>
                      <a:pt x="708827" y="206735"/>
                      <a:pt x="68141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6" id="6"/>
              <p:cNvSpPr txBox="true"/>
              <p:nvPr/>
            </p:nvSpPr>
            <p:spPr>
              <a:xfrm>
                <a:off x="0" y="-38100"/>
                <a:ext cx="784779" cy="244835"/>
              </a:xfrm>
              <a:prstGeom prst="rect">
                <a:avLst/>
              </a:prstGeom>
            </p:spPr>
            <p:txBody>
              <a:bodyPr anchor="ctr" rtlCol="false" tIns="50800" lIns="50800" bIns="50800" rIns="50800"/>
              <a:lstStyle/>
              <a:p>
                <a:pPr algn="ctr">
                  <a:lnSpc>
                    <a:spcPts val="2520"/>
                  </a:lnSpc>
                </a:pPr>
              </a:p>
            </p:txBody>
          </p:sp>
        </p:grpSp>
        <p:sp>
          <p:nvSpPr>
            <p:cNvPr name="TextBox 7" id="7"/>
            <p:cNvSpPr txBox="true"/>
            <p:nvPr/>
          </p:nvSpPr>
          <p:spPr>
            <a:xfrm rot="0">
              <a:off x="0" y="216380"/>
              <a:ext cx="3893996" cy="55668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Services</a:t>
              </a:r>
            </a:p>
          </p:txBody>
        </p:sp>
        <p:grpSp>
          <p:nvGrpSpPr>
            <p:cNvPr name="Group 8" id="8"/>
            <p:cNvGrpSpPr/>
            <p:nvPr/>
          </p:nvGrpSpPr>
          <p:grpSpPr>
            <a:xfrm rot="0">
              <a:off x="807825" y="362723"/>
              <a:ext cx="321148" cy="32114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11" id="11"/>
          <p:cNvSpPr/>
          <p:nvPr/>
        </p:nvSpPr>
        <p:spPr>
          <a:xfrm flipH="false" flipV="false" rot="0">
            <a:off x="375833" y="3760433"/>
            <a:ext cx="16883467" cy="5339396"/>
          </a:xfrm>
          <a:custGeom>
            <a:avLst/>
            <a:gdLst/>
            <a:ahLst/>
            <a:cxnLst/>
            <a:rect r="r" b="b" t="t" l="l"/>
            <a:pathLst>
              <a:path h="5339396" w="16883467">
                <a:moveTo>
                  <a:pt x="0" y="0"/>
                </a:moveTo>
                <a:lnTo>
                  <a:pt x="16883467" y="0"/>
                </a:lnTo>
                <a:lnTo>
                  <a:pt x="16883467" y="5339397"/>
                </a:lnTo>
                <a:lnTo>
                  <a:pt x="0" y="53393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971550" y="2202633"/>
            <a:ext cx="10154312" cy="98742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Support &amp; Consulting</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80744" y="4443013"/>
            <a:ext cx="6159385" cy="784945"/>
            <a:chOff x="0" y="0"/>
            <a:chExt cx="8212513" cy="1046593"/>
          </a:xfrm>
        </p:grpSpPr>
        <p:grpSp>
          <p:nvGrpSpPr>
            <p:cNvPr name="Group 3" id="3"/>
            <p:cNvGrpSpPr/>
            <p:nvPr/>
          </p:nvGrpSpPr>
          <p:grpSpPr>
            <a:xfrm rot="0">
              <a:off x="0" y="0"/>
              <a:ext cx="8212513" cy="1046593"/>
              <a:chOff x="0" y="0"/>
              <a:chExt cx="1622225" cy="206735"/>
            </a:xfrm>
          </p:grpSpPr>
          <p:sp>
            <p:nvSpPr>
              <p:cNvPr name="Freeform 4" id="4"/>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 id="5"/>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Online private ticketing system</a:t>
              </a:r>
            </a:p>
          </p:txBody>
        </p:sp>
        <p:grpSp>
          <p:nvGrpSpPr>
            <p:cNvPr name="Group 7" id="7"/>
            <p:cNvGrpSpPr/>
            <p:nvPr/>
          </p:nvGrpSpPr>
          <p:grpSpPr>
            <a:xfrm rot="0">
              <a:off x="376982" y="362723"/>
              <a:ext cx="321148" cy="32114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0" id="10"/>
          <p:cNvGrpSpPr/>
          <p:nvPr/>
        </p:nvGrpSpPr>
        <p:grpSpPr>
          <a:xfrm rot="0">
            <a:off x="9280744" y="7256699"/>
            <a:ext cx="3560763" cy="784945"/>
            <a:chOff x="0" y="0"/>
            <a:chExt cx="4747684" cy="1046593"/>
          </a:xfrm>
        </p:grpSpPr>
        <p:grpSp>
          <p:nvGrpSpPr>
            <p:cNvPr name="Group 11" id="11"/>
            <p:cNvGrpSpPr/>
            <p:nvPr/>
          </p:nvGrpSpPr>
          <p:grpSpPr>
            <a:xfrm rot="0">
              <a:off x="0" y="0"/>
              <a:ext cx="4747684" cy="1046593"/>
              <a:chOff x="0" y="0"/>
              <a:chExt cx="937814" cy="206735"/>
            </a:xfrm>
          </p:grpSpPr>
          <p:sp>
            <p:nvSpPr>
              <p:cNvPr name="Freeform 12" id="12"/>
              <p:cNvSpPr/>
              <p:nvPr/>
            </p:nvSpPr>
            <p:spPr>
              <a:xfrm flipH="false" flipV="false" rot="0">
                <a:off x="0" y="0"/>
                <a:ext cx="937814" cy="206735"/>
              </a:xfrm>
              <a:custGeom>
                <a:avLst/>
                <a:gdLst/>
                <a:ahLst/>
                <a:cxnLst/>
                <a:rect r="r" b="b" t="t" l="l"/>
                <a:pathLst>
                  <a:path h="206735" w="937814">
                    <a:moveTo>
                      <a:pt x="103367" y="0"/>
                    </a:moveTo>
                    <a:lnTo>
                      <a:pt x="834447" y="0"/>
                    </a:lnTo>
                    <a:cubicBezTo>
                      <a:pt x="861862" y="0"/>
                      <a:pt x="888153" y="10890"/>
                      <a:pt x="907539" y="30276"/>
                    </a:cubicBezTo>
                    <a:cubicBezTo>
                      <a:pt x="926924" y="49661"/>
                      <a:pt x="937814" y="75953"/>
                      <a:pt x="937814" y="103367"/>
                    </a:cubicBezTo>
                    <a:lnTo>
                      <a:pt x="937814" y="103367"/>
                    </a:lnTo>
                    <a:cubicBezTo>
                      <a:pt x="937814" y="130782"/>
                      <a:pt x="926924" y="157074"/>
                      <a:pt x="907539" y="176459"/>
                    </a:cubicBezTo>
                    <a:cubicBezTo>
                      <a:pt x="888153" y="195844"/>
                      <a:pt x="861862" y="206735"/>
                      <a:pt x="83444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937814"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312624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Custom builds</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5380908"/>
            <a:ext cx="6159385" cy="784945"/>
            <a:chOff x="0" y="0"/>
            <a:chExt cx="8212513" cy="1046593"/>
          </a:xfrm>
        </p:grpSpPr>
        <p:grpSp>
          <p:nvGrpSpPr>
            <p:cNvPr name="Group 19" id="19"/>
            <p:cNvGrpSpPr/>
            <p:nvPr/>
          </p:nvGrpSpPr>
          <p:grpSpPr>
            <a:xfrm rot="0">
              <a:off x="0" y="0"/>
              <a:ext cx="8212513" cy="1046593"/>
              <a:chOff x="0" y="0"/>
              <a:chExt cx="1622225" cy="206735"/>
            </a:xfrm>
          </p:grpSpPr>
          <p:sp>
            <p:nvSpPr>
              <p:cNvPr name="Freeform 20" id="20"/>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Development discounted rates</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8194594"/>
            <a:ext cx="6159385" cy="784945"/>
            <a:chOff x="0" y="0"/>
            <a:chExt cx="8212513" cy="1046593"/>
          </a:xfrm>
        </p:grpSpPr>
        <p:grpSp>
          <p:nvGrpSpPr>
            <p:cNvPr name="Group 27" id="27"/>
            <p:cNvGrpSpPr/>
            <p:nvPr/>
          </p:nvGrpSpPr>
          <p:grpSpPr>
            <a:xfrm rot="0">
              <a:off x="0" y="0"/>
              <a:ext cx="8212513" cy="1046593"/>
              <a:chOff x="0" y="0"/>
              <a:chExt cx="1622225" cy="206735"/>
            </a:xfrm>
          </p:grpSpPr>
          <p:sp>
            <p:nvSpPr>
              <p:cNvPr name="Freeform 28" id="28"/>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6883764"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Up to 20% off training discounts</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6318803"/>
            <a:ext cx="5187731" cy="784945"/>
            <a:chOff x="0" y="0"/>
            <a:chExt cx="6916974" cy="1046593"/>
          </a:xfrm>
        </p:grpSpPr>
        <p:grpSp>
          <p:nvGrpSpPr>
            <p:cNvPr name="Group 35" id="35"/>
            <p:cNvGrpSpPr/>
            <p:nvPr/>
          </p:nvGrpSpPr>
          <p:grpSpPr>
            <a:xfrm rot="0">
              <a:off x="0" y="0"/>
              <a:ext cx="6916974" cy="1046593"/>
              <a:chOff x="0" y="0"/>
              <a:chExt cx="1366316" cy="206735"/>
            </a:xfrm>
          </p:grpSpPr>
          <p:sp>
            <p:nvSpPr>
              <p:cNvPr name="Freeform 36" id="36"/>
              <p:cNvSpPr/>
              <p:nvPr/>
            </p:nvSpPr>
            <p:spPr>
              <a:xfrm flipH="false" flipV="false" rot="0">
                <a:off x="0" y="0"/>
                <a:ext cx="1366316" cy="206735"/>
              </a:xfrm>
              <a:custGeom>
                <a:avLst/>
                <a:gdLst/>
                <a:ahLst/>
                <a:cxnLst/>
                <a:rect r="r" b="b" t="t" l="l"/>
                <a:pathLst>
                  <a:path h="206735" w="1366316">
                    <a:moveTo>
                      <a:pt x="103367" y="0"/>
                    </a:moveTo>
                    <a:lnTo>
                      <a:pt x="1262949" y="0"/>
                    </a:lnTo>
                    <a:cubicBezTo>
                      <a:pt x="1290363" y="0"/>
                      <a:pt x="1316655" y="10890"/>
                      <a:pt x="1336040" y="30276"/>
                    </a:cubicBezTo>
                    <a:cubicBezTo>
                      <a:pt x="1355426" y="49661"/>
                      <a:pt x="1366316" y="75953"/>
                      <a:pt x="1366316" y="103367"/>
                    </a:cubicBezTo>
                    <a:lnTo>
                      <a:pt x="1366316" y="103367"/>
                    </a:lnTo>
                    <a:cubicBezTo>
                      <a:pt x="1366316" y="130782"/>
                      <a:pt x="1355426" y="157074"/>
                      <a:pt x="1336040" y="176459"/>
                    </a:cubicBezTo>
                    <a:cubicBezTo>
                      <a:pt x="1316655" y="195844"/>
                      <a:pt x="1290363" y="206735"/>
                      <a:pt x="1262949"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1366316"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5528270"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Priority patches &amp; updates</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42" id="42"/>
          <p:cNvSpPr txBox="true"/>
          <p:nvPr/>
        </p:nvSpPr>
        <p:spPr>
          <a:xfrm rot="0">
            <a:off x="877282" y="3013075"/>
            <a:ext cx="6025368"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Support &amp; Consulting</a:t>
            </a:r>
          </a:p>
        </p:txBody>
      </p:sp>
      <p:sp>
        <p:nvSpPr>
          <p:cNvPr name="TextBox 43" id="43"/>
          <p:cNvSpPr txBox="true"/>
          <p:nvPr/>
        </p:nvSpPr>
        <p:spPr>
          <a:xfrm rot="0">
            <a:off x="971550" y="5150995"/>
            <a:ext cx="6456478"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Servicing our open-source community since 2006!</a:t>
            </a:r>
          </a:p>
        </p:txBody>
      </p:sp>
      <p:sp>
        <p:nvSpPr>
          <p:cNvPr name="TextBox 44" id="44"/>
          <p:cNvSpPr txBox="true"/>
          <p:nvPr/>
        </p:nvSpPr>
        <p:spPr>
          <a:xfrm rot="0">
            <a:off x="9280744" y="3257931"/>
            <a:ext cx="4443412" cy="82600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support programs cover the following areas:</a:t>
            </a:r>
          </a:p>
        </p:txBody>
      </p:sp>
      <p:sp>
        <p:nvSpPr>
          <p:cNvPr name="Freeform 45" id="45"/>
          <p:cNvSpPr/>
          <p:nvPr/>
        </p:nvSpPr>
        <p:spPr>
          <a:xfrm flipH="false" flipV="false" rot="0">
            <a:off x="971550" y="6508609"/>
            <a:ext cx="2424341" cy="2424341"/>
          </a:xfrm>
          <a:custGeom>
            <a:avLst/>
            <a:gdLst/>
            <a:ahLst/>
            <a:cxnLst/>
            <a:rect r="r" b="b" t="t" l="l"/>
            <a:pathLst>
              <a:path h="2424341" w="2424341">
                <a:moveTo>
                  <a:pt x="0" y="0"/>
                </a:moveTo>
                <a:lnTo>
                  <a:pt x="2424341" y="0"/>
                </a:lnTo>
                <a:lnTo>
                  <a:pt x="2424341" y="2424341"/>
                </a:lnTo>
                <a:lnTo>
                  <a:pt x="0" y="2424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6" id="46"/>
          <p:cNvGrpSpPr/>
          <p:nvPr/>
        </p:nvGrpSpPr>
        <p:grpSpPr>
          <a:xfrm rot="0">
            <a:off x="14002740" y="997718"/>
            <a:ext cx="3256560" cy="784945"/>
            <a:chOff x="0" y="0"/>
            <a:chExt cx="4342080" cy="1046593"/>
          </a:xfrm>
        </p:grpSpPr>
        <p:grpSp>
          <p:nvGrpSpPr>
            <p:cNvPr name="Group 47" id="47"/>
            <p:cNvGrpSpPr/>
            <p:nvPr/>
          </p:nvGrpSpPr>
          <p:grpSpPr>
            <a:xfrm rot="0">
              <a:off x="369135" y="0"/>
              <a:ext cx="3972945" cy="1046593"/>
              <a:chOff x="0" y="0"/>
              <a:chExt cx="784779" cy="206735"/>
            </a:xfrm>
          </p:grpSpPr>
          <p:sp>
            <p:nvSpPr>
              <p:cNvPr name="Freeform 48" id="48"/>
              <p:cNvSpPr/>
              <p:nvPr/>
            </p:nvSpPr>
            <p:spPr>
              <a:xfrm flipH="false" flipV="false" rot="0">
                <a:off x="0" y="0"/>
                <a:ext cx="784779" cy="206735"/>
              </a:xfrm>
              <a:custGeom>
                <a:avLst/>
                <a:gdLst/>
                <a:ahLst/>
                <a:cxnLst/>
                <a:rect r="r" b="b" t="t" l="l"/>
                <a:pathLst>
                  <a:path h="206735" w="784779">
                    <a:moveTo>
                      <a:pt x="103367" y="0"/>
                    </a:moveTo>
                    <a:lnTo>
                      <a:pt x="681412" y="0"/>
                    </a:lnTo>
                    <a:cubicBezTo>
                      <a:pt x="708827" y="0"/>
                      <a:pt x="735119" y="10890"/>
                      <a:pt x="754504" y="30276"/>
                    </a:cubicBezTo>
                    <a:cubicBezTo>
                      <a:pt x="773889" y="49661"/>
                      <a:pt x="784779" y="75953"/>
                      <a:pt x="784779" y="103367"/>
                    </a:cubicBezTo>
                    <a:lnTo>
                      <a:pt x="784779" y="103367"/>
                    </a:lnTo>
                    <a:cubicBezTo>
                      <a:pt x="784779" y="130782"/>
                      <a:pt x="773889" y="157074"/>
                      <a:pt x="754504" y="176459"/>
                    </a:cubicBezTo>
                    <a:cubicBezTo>
                      <a:pt x="735119" y="195844"/>
                      <a:pt x="708827" y="206735"/>
                      <a:pt x="68141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9" id="49"/>
              <p:cNvSpPr txBox="true"/>
              <p:nvPr/>
            </p:nvSpPr>
            <p:spPr>
              <a:xfrm>
                <a:off x="0" y="-38100"/>
                <a:ext cx="784779" cy="244835"/>
              </a:xfrm>
              <a:prstGeom prst="rect">
                <a:avLst/>
              </a:prstGeom>
            </p:spPr>
            <p:txBody>
              <a:bodyPr anchor="ctr" rtlCol="false" tIns="50800" lIns="50800" bIns="50800" rIns="50800"/>
              <a:lstStyle/>
              <a:p>
                <a:pPr algn="ctr">
                  <a:lnSpc>
                    <a:spcPts val="2520"/>
                  </a:lnSpc>
                </a:pPr>
              </a:p>
            </p:txBody>
          </p:sp>
        </p:grpSp>
        <p:sp>
          <p:nvSpPr>
            <p:cNvPr name="TextBox 50" id="50"/>
            <p:cNvSpPr txBox="true"/>
            <p:nvPr/>
          </p:nvSpPr>
          <p:spPr>
            <a:xfrm rot="0">
              <a:off x="0" y="216380"/>
              <a:ext cx="3893996" cy="55668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Services</a:t>
              </a:r>
            </a:p>
          </p:txBody>
        </p:sp>
        <p:grpSp>
          <p:nvGrpSpPr>
            <p:cNvPr name="Group 51" id="51"/>
            <p:cNvGrpSpPr/>
            <p:nvPr/>
          </p:nvGrpSpPr>
          <p:grpSpPr>
            <a:xfrm rot="0">
              <a:off x="807825" y="362723"/>
              <a:ext cx="321148" cy="321148"/>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54" id="54"/>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280744" y="3941064"/>
            <a:ext cx="6159385" cy="784945"/>
            <a:chOff x="0" y="0"/>
            <a:chExt cx="8212513" cy="1046593"/>
          </a:xfrm>
        </p:grpSpPr>
        <p:grpSp>
          <p:nvGrpSpPr>
            <p:cNvPr name="Group 3" id="3"/>
            <p:cNvGrpSpPr/>
            <p:nvPr/>
          </p:nvGrpSpPr>
          <p:grpSpPr>
            <a:xfrm rot="0">
              <a:off x="0" y="0"/>
              <a:ext cx="8212513" cy="1046593"/>
              <a:chOff x="0" y="0"/>
              <a:chExt cx="1622225" cy="206735"/>
            </a:xfrm>
          </p:grpSpPr>
          <p:sp>
            <p:nvSpPr>
              <p:cNvPr name="Freeform 4" id="4"/>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 id="5"/>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Requirements Analysis</a:t>
              </a:r>
            </a:p>
          </p:txBody>
        </p:sp>
        <p:grpSp>
          <p:nvGrpSpPr>
            <p:cNvPr name="Group 7" id="7"/>
            <p:cNvGrpSpPr/>
            <p:nvPr/>
          </p:nvGrpSpPr>
          <p:grpSpPr>
            <a:xfrm rot="0">
              <a:off x="376982" y="362723"/>
              <a:ext cx="321148" cy="32114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0" id="10"/>
          <p:cNvGrpSpPr/>
          <p:nvPr/>
        </p:nvGrpSpPr>
        <p:grpSpPr>
          <a:xfrm rot="0">
            <a:off x="9280744" y="4878960"/>
            <a:ext cx="6159385" cy="784945"/>
            <a:chOff x="0" y="0"/>
            <a:chExt cx="8212513" cy="1046593"/>
          </a:xfrm>
        </p:grpSpPr>
        <p:grpSp>
          <p:nvGrpSpPr>
            <p:cNvPr name="Group 11" id="11"/>
            <p:cNvGrpSpPr/>
            <p:nvPr/>
          </p:nvGrpSpPr>
          <p:grpSpPr>
            <a:xfrm rot="0">
              <a:off x="0" y="0"/>
              <a:ext cx="8212513" cy="1046593"/>
              <a:chOff x="0" y="0"/>
              <a:chExt cx="1622225" cy="206735"/>
            </a:xfrm>
          </p:grpSpPr>
          <p:sp>
            <p:nvSpPr>
              <p:cNvPr name="Freeform 12" id="1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Scope of Work &amp; Proposal</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5816855"/>
            <a:ext cx="3718139" cy="784945"/>
            <a:chOff x="0" y="0"/>
            <a:chExt cx="4957519" cy="1046593"/>
          </a:xfrm>
        </p:grpSpPr>
        <p:grpSp>
          <p:nvGrpSpPr>
            <p:cNvPr name="Group 19" id="19"/>
            <p:cNvGrpSpPr/>
            <p:nvPr/>
          </p:nvGrpSpPr>
          <p:grpSpPr>
            <a:xfrm rot="0">
              <a:off x="0" y="0"/>
              <a:ext cx="4957519" cy="1046593"/>
              <a:chOff x="0" y="0"/>
              <a:chExt cx="979263" cy="206735"/>
            </a:xfrm>
          </p:grpSpPr>
          <p:sp>
            <p:nvSpPr>
              <p:cNvPr name="Freeform 20" id="20"/>
              <p:cNvSpPr/>
              <p:nvPr/>
            </p:nvSpPr>
            <p:spPr>
              <a:xfrm flipH="false" flipV="false" rot="0">
                <a:off x="0" y="0"/>
                <a:ext cx="979263" cy="206735"/>
              </a:xfrm>
              <a:custGeom>
                <a:avLst/>
                <a:gdLst/>
                <a:ahLst/>
                <a:cxnLst/>
                <a:rect r="r" b="b" t="t" l="l"/>
                <a:pathLst>
                  <a:path h="206735" w="979263">
                    <a:moveTo>
                      <a:pt x="103367" y="0"/>
                    </a:moveTo>
                    <a:lnTo>
                      <a:pt x="875896" y="0"/>
                    </a:lnTo>
                    <a:cubicBezTo>
                      <a:pt x="903311" y="0"/>
                      <a:pt x="929602" y="10890"/>
                      <a:pt x="948988" y="30276"/>
                    </a:cubicBezTo>
                    <a:cubicBezTo>
                      <a:pt x="968373" y="49661"/>
                      <a:pt x="979263" y="75953"/>
                      <a:pt x="979263" y="103367"/>
                    </a:cubicBezTo>
                    <a:lnTo>
                      <a:pt x="979263" y="103367"/>
                    </a:lnTo>
                    <a:cubicBezTo>
                      <a:pt x="979263" y="130782"/>
                      <a:pt x="968373" y="157074"/>
                      <a:pt x="948988" y="176459"/>
                    </a:cubicBezTo>
                    <a:cubicBezTo>
                      <a:pt x="929602" y="195844"/>
                      <a:pt x="903311" y="206735"/>
                      <a:pt x="875896"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979263"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378128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Light"/>
                  <a:ea typeface="Poppins Light"/>
                  <a:cs typeface="Poppins Light"/>
                  <a:sym typeface="Poppins Light"/>
                </a:rPr>
                <a:t>Implementation</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TextBox 26" id="26"/>
          <p:cNvSpPr txBox="true"/>
          <p:nvPr/>
        </p:nvSpPr>
        <p:spPr>
          <a:xfrm rot="0">
            <a:off x="971550" y="3078715"/>
            <a:ext cx="6025368"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Software Projects</a:t>
            </a:r>
          </a:p>
        </p:txBody>
      </p:sp>
      <p:sp>
        <p:nvSpPr>
          <p:cNvPr name="TextBox 27" id="27"/>
          <p:cNvSpPr txBox="true"/>
          <p:nvPr/>
        </p:nvSpPr>
        <p:spPr>
          <a:xfrm rot="0">
            <a:off x="971550" y="5150995"/>
            <a:ext cx="7034212" cy="14344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End-to-end delivery of custom software solutions tailored to your business needs.</a:t>
            </a:r>
          </a:p>
        </p:txBody>
      </p:sp>
      <p:sp>
        <p:nvSpPr>
          <p:cNvPr name="TextBox 28" id="28"/>
          <p:cNvSpPr txBox="true"/>
          <p:nvPr/>
        </p:nvSpPr>
        <p:spPr>
          <a:xfrm rot="0">
            <a:off x="9280744" y="3257931"/>
            <a:ext cx="555106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Our Approach - Keep it Simple</a:t>
            </a:r>
          </a:p>
        </p:txBody>
      </p:sp>
      <p:sp>
        <p:nvSpPr>
          <p:cNvPr name="Freeform 29" id="29"/>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909049" y="6887675"/>
            <a:ext cx="1683273" cy="1683273"/>
          </a:xfrm>
          <a:custGeom>
            <a:avLst/>
            <a:gdLst/>
            <a:ahLst/>
            <a:cxnLst/>
            <a:rect r="r" b="b" t="t" l="l"/>
            <a:pathLst>
              <a:path h="1683273" w="1683273">
                <a:moveTo>
                  <a:pt x="0" y="0"/>
                </a:moveTo>
                <a:lnTo>
                  <a:pt x="1683273" y="0"/>
                </a:lnTo>
                <a:lnTo>
                  <a:pt x="1683273" y="1683273"/>
                </a:lnTo>
                <a:lnTo>
                  <a:pt x="0" y="1683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1" id="31"/>
          <p:cNvGrpSpPr/>
          <p:nvPr/>
        </p:nvGrpSpPr>
        <p:grpSpPr>
          <a:xfrm rot="0">
            <a:off x="14002740" y="997718"/>
            <a:ext cx="3256560" cy="784945"/>
            <a:chOff x="0" y="0"/>
            <a:chExt cx="4342080" cy="1046593"/>
          </a:xfrm>
        </p:grpSpPr>
        <p:grpSp>
          <p:nvGrpSpPr>
            <p:cNvPr name="Group 32" id="32"/>
            <p:cNvGrpSpPr/>
            <p:nvPr/>
          </p:nvGrpSpPr>
          <p:grpSpPr>
            <a:xfrm rot="0">
              <a:off x="369135" y="0"/>
              <a:ext cx="3972945" cy="1046593"/>
              <a:chOff x="0" y="0"/>
              <a:chExt cx="784779" cy="206735"/>
            </a:xfrm>
          </p:grpSpPr>
          <p:sp>
            <p:nvSpPr>
              <p:cNvPr name="Freeform 33" id="33"/>
              <p:cNvSpPr/>
              <p:nvPr/>
            </p:nvSpPr>
            <p:spPr>
              <a:xfrm flipH="false" flipV="false" rot="0">
                <a:off x="0" y="0"/>
                <a:ext cx="784779" cy="206735"/>
              </a:xfrm>
              <a:custGeom>
                <a:avLst/>
                <a:gdLst/>
                <a:ahLst/>
                <a:cxnLst/>
                <a:rect r="r" b="b" t="t" l="l"/>
                <a:pathLst>
                  <a:path h="206735" w="784779">
                    <a:moveTo>
                      <a:pt x="103367" y="0"/>
                    </a:moveTo>
                    <a:lnTo>
                      <a:pt x="681412" y="0"/>
                    </a:lnTo>
                    <a:cubicBezTo>
                      <a:pt x="708827" y="0"/>
                      <a:pt x="735119" y="10890"/>
                      <a:pt x="754504" y="30276"/>
                    </a:cubicBezTo>
                    <a:cubicBezTo>
                      <a:pt x="773889" y="49661"/>
                      <a:pt x="784779" y="75953"/>
                      <a:pt x="784779" y="103367"/>
                    </a:cubicBezTo>
                    <a:lnTo>
                      <a:pt x="784779" y="103367"/>
                    </a:lnTo>
                    <a:cubicBezTo>
                      <a:pt x="784779" y="130782"/>
                      <a:pt x="773889" y="157074"/>
                      <a:pt x="754504" y="176459"/>
                    </a:cubicBezTo>
                    <a:cubicBezTo>
                      <a:pt x="735119" y="195844"/>
                      <a:pt x="708827" y="206735"/>
                      <a:pt x="68141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34" id="34"/>
              <p:cNvSpPr txBox="true"/>
              <p:nvPr/>
            </p:nvSpPr>
            <p:spPr>
              <a:xfrm>
                <a:off x="0" y="-38100"/>
                <a:ext cx="784779" cy="244835"/>
              </a:xfrm>
              <a:prstGeom prst="rect">
                <a:avLst/>
              </a:prstGeom>
            </p:spPr>
            <p:txBody>
              <a:bodyPr anchor="ctr" rtlCol="false" tIns="50800" lIns="50800" bIns="50800" rIns="50800"/>
              <a:lstStyle/>
              <a:p>
                <a:pPr algn="ctr">
                  <a:lnSpc>
                    <a:spcPts val="2520"/>
                  </a:lnSpc>
                </a:pPr>
              </a:p>
            </p:txBody>
          </p:sp>
        </p:grpSp>
        <p:sp>
          <p:nvSpPr>
            <p:cNvPr name="TextBox 35" id="35"/>
            <p:cNvSpPr txBox="true"/>
            <p:nvPr/>
          </p:nvSpPr>
          <p:spPr>
            <a:xfrm rot="0">
              <a:off x="0" y="216380"/>
              <a:ext cx="3893996" cy="55668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Services</a:t>
              </a:r>
            </a:p>
          </p:txBody>
        </p:sp>
        <p:grpSp>
          <p:nvGrpSpPr>
            <p:cNvPr name="Group 36" id="36"/>
            <p:cNvGrpSpPr/>
            <p:nvPr/>
          </p:nvGrpSpPr>
          <p:grpSpPr>
            <a:xfrm rot="0">
              <a:off x="807825" y="362723"/>
              <a:ext cx="321148" cy="32114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9" id="39"/>
          <p:cNvGrpSpPr/>
          <p:nvPr/>
        </p:nvGrpSpPr>
        <p:grpSpPr>
          <a:xfrm rot="0">
            <a:off x="9280744" y="6801717"/>
            <a:ext cx="3718139" cy="784945"/>
            <a:chOff x="0" y="0"/>
            <a:chExt cx="4957519" cy="1046593"/>
          </a:xfrm>
        </p:grpSpPr>
        <p:grpSp>
          <p:nvGrpSpPr>
            <p:cNvPr name="Group 40" id="40"/>
            <p:cNvGrpSpPr/>
            <p:nvPr/>
          </p:nvGrpSpPr>
          <p:grpSpPr>
            <a:xfrm rot="0">
              <a:off x="0" y="0"/>
              <a:ext cx="4957519" cy="1046593"/>
              <a:chOff x="0" y="0"/>
              <a:chExt cx="979263" cy="206735"/>
            </a:xfrm>
          </p:grpSpPr>
          <p:sp>
            <p:nvSpPr>
              <p:cNvPr name="Freeform 41" id="41"/>
              <p:cNvSpPr/>
              <p:nvPr/>
            </p:nvSpPr>
            <p:spPr>
              <a:xfrm flipH="false" flipV="false" rot="0">
                <a:off x="0" y="0"/>
                <a:ext cx="979263" cy="206735"/>
              </a:xfrm>
              <a:custGeom>
                <a:avLst/>
                <a:gdLst/>
                <a:ahLst/>
                <a:cxnLst/>
                <a:rect r="r" b="b" t="t" l="l"/>
                <a:pathLst>
                  <a:path h="206735" w="979263">
                    <a:moveTo>
                      <a:pt x="103367" y="0"/>
                    </a:moveTo>
                    <a:lnTo>
                      <a:pt x="875896" y="0"/>
                    </a:lnTo>
                    <a:cubicBezTo>
                      <a:pt x="903311" y="0"/>
                      <a:pt x="929602" y="10890"/>
                      <a:pt x="948988" y="30276"/>
                    </a:cubicBezTo>
                    <a:cubicBezTo>
                      <a:pt x="968373" y="49661"/>
                      <a:pt x="979263" y="75953"/>
                      <a:pt x="979263" y="103367"/>
                    </a:cubicBezTo>
                    <a:lnTo>
                      <a:pt x="979263" y="103367"/>
                    </a:lnTo>
                    <a:cubicBezTo>
                      <a:pt x="979263" y="130782"/>
                      <a:pt x="968373" y="157074"/>
                      <a:pt x="948988" y="176459"/>
                    </a:cubicBezTo>
                    <a:cubicBezTo>
                      <a:pt x="929602" y="195844"/>
                      <a:pt x="903311" y="206735"/>
                      <a:pt x="875896"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2" id="42"/>
              <p:cNvSpPr txBox="true"/>
              <p:nvPr/>
            </p:nvSpPr>
            <p:spPr>
              <a:xfrm>
                <a:off x="0" y="-38100"/>
                <a:ext cx="979263" cy="244835"/>
              </a:xfrm>
              <a:prstGeom prst="rect">
                <a:avLst/>
              </a:prstGeom>
            </p:spPr>
            <p:txBody>
              <a:bodyPr anchor="ctr" rtlCol="false" tIns="50800" lIns="50800" bIns="50800" rIns="50800"/>
              <a:lstStyle/>
              <a:p>
                <a:pPr algn="ctr">
                  <a:lnSpc>
                    <a:spcPts val="2520"/>
                  </a:lnSpc>
                </a:pPr>
              </a:p>
            </p:txBody>
          </p:sp>
        </p:grpSp>
        <p:sp>
          <p:nvSpPr>
            <p:cNvPr name="TextBox 43" id="43"/>
            <p:cNvSpPr txBox="true"/>
            <p:nvPr/>
          </p:nvSpPr>
          <p:spPr>
            <a:xfrm rot="0">
              <a:off x="980011" y="197330"/>
              <a:ext cx="3781286"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Monitoring</a:t>
              </a:r>
            </a:p>
          </p:txBody>
        </p:sp>
        <p:grpSp>
          <p:nvGrpSpPr>
            <p:cNvPr name="Group 44" id="44"/>
            <p:cNvGrpSpPr/>
            <p:nvPr/>
          </p:nvGrpSpPr>
          <p:grpSpPr>
            <a:xfrm rot="0">
              <a:off x="376982" y="362723"/>
              <a:ext cx="321148" cy="321148"/>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7" id="47"/>
          <p:cNvGrpSpPr/>
          <p:nvPr/>
        </p:nvGrpSpPr>
        <p:grpSpPr>
          <a:xfrm rot="0">
            <a:off x="9280744" y="7786688"/>
            <a:ext cx="6159385" cy="784945"/>
            <a:chOff x="0" y="0"/>
            <a:chExt cx="8212513" cy="1046593"/>
          </a:xfrm>
        </p:grpSpPr>
        <p:grpSp>
          <p:nvGrpSpPr>
            <p:cNvPr name="Group 48" id="48"/>
            <p:cNvGrpSpPr/>
            <p:nvPr/>
          </p:nvGrpSpPr>
          <p:grpSpPr>
            <a:xfrm rot="0">
              <a:off x="0" y="0"/>
              <a:ext cx="8212513" cy="1046593"/>
              <a:chOff x="0" y="0"/>
              <a:chExt cx="1622225" cy="206735"/>
            </a:xfrm>
          </p:grpSpPr>
          <p:sp>
            <p:nvSpPr>
              <p:cNvPr name="Freeform 49" id="49"/>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0" id="50"/>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51" id="51"/>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Testing &amp; Delivery</a:t>
              </a:r>
            </a:p>
          </p:txBody>
        </p:sp>
        <p:grpSp>
          <p:nvGrpSpPr>
            <p:cNvPr name="Group 52" id="52"/>
            <p:cNvGrpSpPr/>
            <p:nvPr/>
          </p:nvGrpSpPr>
          <p:grpSpPr>
            <a:xfrm rot="0">
              <a:off x="376982" y="362723"/>
              <a:ext cx="321148" cy="321148"/>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68641" y="1909762"/>
            <a:ext cx="1281538" cy="923982"/>
          </a:xfrm>
          <a:custGeom>
            <a:avLst/>
            <a:gdLst/>
            <a:ahLst/>
            <a:cxnLst/>
            <a:rect r="r" b="b" t="t" l="l"/>
            <a:pathLst>
              <a:path h="923982" w="1281538">
                <a:moveTo>
                  <a:pt x="0" y="0"/>
                </a:moveTo>
                <a:lnTo>
                  <a:pt x="1281538" y="0"/>
                </a:lnTo>
                <a:lnTo>
                  <a:pt x="1281538" y="923982"/>
                </a:lnTo>
                <a:lnTo>
                  <a:pt x="0" y="923982"/>
                </a:lnTo>
                <a:lnTo>
                  <a:pt x="0" y="0"/>
                </a:lnTo>
                <a:close/>
              </a:path>
            </a:pathLst>
          </a:custGeom>
          <a:blipFill>
            <a:blip r:embed="rId2"/>
            <a:stretch>
              <a:fillRect l="0" t="0" r="0" b="0"/>
            </a:stretch>
          </a:blipFill>
        </p:spPr>
      </p:sp>
      <p:sp>
        <p:nvSpPr>
          <p:cNvPr name="TextBox 3" id="3"/>
          <p:cNvSpPr txBox="true"/>
          <p:nvPr/>
        </p:nvSpPr>
        <p:spPr>
          <a:xfrm rot="0">
            <a:off x="8868514" y="1852612"/>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NASA Portal to the Universe</a:t>
            </a:r>
          </a:p>
        </p:txBody>
      </p:sp>
      <p:sp>
        <p:nvSpPr>
          <p:cNvPr name="TextBox 4" id="4"/>
          <p:cNvSpPr txBox="true"/>
          <p:nvPr/>
        </p:nvSpPr>
        <p:spPr>
          <a:xfrm rot="0">
            <a:off x="8868514" y="2252453"/>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Built a scalable</a:t>
            </a:r>
            <a:r>
              <a:rPr lang="en-US" sz="1800">
                <a:solidFill>
                  <a:srgbClr val="000000"/>
                </a:solidFill>
                <a:latin typeface="Poppins"/>
                <a:ea typeface="Poppins"/>
                <a:cs typeface="Poppins"/>
                <a:sym typeface="Poppins"/>
              </a:rPr>
              <a:t> BoxLang-powered platform delivering global space science data.</a:t>
            </a:r>
          </a:p>
        </p:txBody>
      </p:sp>
      <p:sp>
        <p:nvSpPr>
          <p:cNvPr name="Freeform 5" id="5"/>
          <p:cNvSpPr/>
          <p:nvPr/>
        </p:nvSpPr>
        <p:spPr>
          <a:xfrm flipH="false" flipV="false" rot="0">
            <a:off x="6610350" y="3388040"/>
            <a:ext cx="1798121" cy="343038"/>
          </a:xfrm>
          <a:custGeom>
            <a:avLst/>
            <a:gdLst/>
            <a:ahLst/>
            <a:cxnLst/>
            <a:rect r="r" b="b" t="t" l="l"/>
            <a:pathLst>
              <a:path h="343038" w="1798121">
                <a:moveTo>
                  <a:pt x="0" y="0"/>
                </a:moveTo>
                <a:lnTo>
                  <a:pt x="1798121" y="0"/>
                </a:lnTo>
                <a:lnTo>
                  <a:pt x="1798121" y="343037"/>
                </a:lnTo>
                <a:lnTo>
                  <a:pt x="0" y="343037"/>
                </a:lnTo>
                <a:lnTo>
                  <a:pt x="0" y="0"/>
                </a:lnTo>
                <a:close/>
              </a:path>
            </a:pathLst>
          </a:custGeom>
          <a:blipFill>
            <a:blip r:embed="rId3"/>
            <a:stretch>
              <a:fillRect l="0" t="0" r="0" b="0"/>
            </a:stretch>
          </a:blipFill>
        </p:spPr>
      </p:sp>
      <p:sp>
        <p:nvSpPr>
          <p:cNvPr name="TextBox 6" id="6"/>
          <p:cNvSpPr txBox="true"/>
          <p:nvPr/>
        </p:nvSpPr>
        <p:spPr>
          <a:xfrm rot="0">
            <a:off x="8868514" y="3330890"/>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Direct Indexing Platform</a:t>
            </a:r>
          </a:p>
        </p:txBody>
      </p:sp>
      <p:sp>
        <p:nvSpPr>
          <p:cNvPr name="TextBox 7" id="7"/>
          <p:cNvSpPr txBox="true"/>
          <p:nvPr/>
        </p:nvSpPr>
        <p:spPr>
          <a:xfrm rot="0">
            <a:off x="8868514" y="3730730"/>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Developed a value-based investment automation portal for personalized portfolio management.</a:t>
            </a:r>
          </a:p>
        </p:txBody>
      </p:sp>
      <p:sp>
        <p:nvSpPr>
          <p:cNvPr name="Freeform 8" id="8"/>
          <p:cNvSpPr/>
          <p:nvPr/>
        </p:nvSpPr>
        <p:spPr>
          <a:xfrm flipH="false" flipV="false" rot="0">
            <a:off x="6610350" y="4610781"/>
            <a:ext cx="1798121" cy="756929"/>
          </a:xfrm>
          <a:custGeom>
            <a:avLst/>
            <a:gdLst/>
            <a:ahLst/>
            <a:cxnLst/>
            <a:rect r="r" b="b" t="t" l="l"/>
            <a:pathLst>
              <a:path h="756929" w="1798121">
                <a:moveTo>
                  <a:pt x="0" y="0"/>
                </a:moveTo>
                <a:lnTo>
                  <a:pt x="1798121" y="0"/>
                </a:lnTo>
                <a:lnTo>
                  <a:pt x="1798121" y="756929"/>
                </a:lnTo>
                <a:lnTo>
                  <a:pt x="0" y="756929"/>
                </a:lnTo>
                <a:lnTo>
                  <a:pt x="0" y="0"/>
                </a:lnTo>
                <a:close/>
              </a:path>
            </a:pathLst>
          </a:custGeom>
          <a:blipFill>
            <a:blip r:embed="rId4"/>
            <a:stretch>
              <a:fillRect l="0" t="0" r="0" b="0"/>
            </a:stretch>
          </a:blipFill>
        </p:spPr>
      </p:sp>
      <p:sp>
        <p:nvSpPr>
          <p:cNvPr name="TextBox 9" id="9"/>
          <p:cNvSpPr txBox="true"/>
          <p:nvPr/>
        </p:nvSpPr>
        <p:spPr>
          <a:xfrm rot="0">
            <a:off x="8868514" y="4553631"/>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InstallNet</a:t>
            </a:r>
          </a:p>
        </p:txBody>
      </p:sp>
      <p:sp>
        <p:nvSpPr>
          <p:cNvPr name="TextBox 10" id="10"/>
          <p:cNvSpPr txBox="true"/>
          <p:nvPr/>
        </p:nvSpPr>
        <p:spPr>
          <a:xfrm rot="0">
            <a:off x="8868514" y="4953471"/>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Delivered an enterprise notification system supporting large-scale operations.</a:t>
            </a:r>
          </a:p>
        </p:txBody>
      </p:sp>
      <p:sp>
        <p:nvSpPr>
          <p:cNvPr name="Freeform 11" id="11"/>
          <p:cNvSpPr/>
          <p:nvPr/>
        </p:nvSpPr>
        <p:spPr>
          <a:xfrm flipH="false" flipV="false" rot="0">
            <a:off x="6671340" y="5922005"/>
            <a:ext cx="1676140" cy="609218"/>
          </a:xfrm>
          <a:custGeom>
            <a:avLst/>
            <a:gdLst/>
            <a:ahLst/>
            <a:cxnLst/>
            <a:rect r="r" b="b" t="t" l="l"/>
            <a:pathLst>
              <a:path h="609218" w="1676140">
                <a:moveTo>
                  <a:pt x="0" y="0"/>
                </a:moveTo>
                <a:lnTo>
                  <a:pt x="1676140" y="0"/>
                </a:lnTo>
                <a:lnTo>
                  <a:pt x="1676140" y="609219"/>
                </a:lnTo>
                <a:lnTo>
                  <a:pt x="0" y="609219"/>
                </a:lnTo>
                <a:lnTo>
                  <a:pt x="0" y="0"/>
                </a:lnTo>
                <a:close/>
              </a:path>
            </a:pathLst>
          </a:custGeom>
          <a:blipFill>
            <a:blip r:embed="rId5"/>
            <a:stretch>
              <a:fillRect l="0" t="0" r="0" b="0"/>
            </a:stretch>
          </a:blipFill>
        </p:spPr>
      </p:sp>
      <p:sp>
        <p:nvSpPr>
          <p:cNvPr name="TextBox 12" id="12"/>
          <p:cNvSpPr txBox="true"/>
          <p:nvPr/>
        </p:nvSpPr>
        <p:spPr>
          <a:xfrm rot="0">
            <a:off x="8868514" y="5864855"/>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Avoya</a:t>
            </a:r>
            <a:r>
              <a:rPr lang="en-US" b="true" sz="2100">
                <a:solidFill>
                  <a:srgbClr val="000000"/>
                </a:solidFill>
                <a:latin typeface="Poppins Bold"/>
                <a:ea typeface="Poppins Bold"/>
                <a:cs typeface="Poppins Bold"/>
                <a:sym typeface="Poppins Bold"/>
              </a:rPr>
              <a:t> Travel</a:t>
            </a:r>
          </a:p>
        </p:txBody>
      </p:sp>
      <p:sp>
        <p:nvSpPr>
          <p:cNvPr name="TextBox 13" id="13"/>
          <p:cNvSpPr txBox="true"/>
          <p:nvPr/>
        </p:nvSpPr>
        <p:spPr>
          <a:xfrm rot="0">
            <a:off x="8868514" y="6264696"/>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Engin</a:t>
            </a:r>
            <a:r>
              <a:rPr lang="en-US" sz="1800">
                <a:solidFill>
                  <a:srgbClr val="000000"/>
                </a:solidFill>
                <a:latin typeface="Poppins"/>
                <a:ea typeface="Poppins"/>
                <a:cs typeface="Poppins"/>
                <a:sym typeface="Poppins"/>
              </a:rPr>
              <a:t>eered a high-performance booking engine to improve conversion and user experience.</a:t>
            </a:r>
          </a:p>
        </p:txBody>
      </p:sp>
      <p:sp>
        <p:nvSpPr>
          <p:cNvPr name="Freeform 14" id="14"/>
          <p:cNvSpPr/>
          <p:nvPr/>
        </p:nvSpPr>
        <p:spPr>
          <a:xfrm flipH="false" flipV="false" rot="0">
            <a:off x="6831837" y="7144746"/>
            <a:ext cx="1355147" cy="650471"/>
          </a:xfrm>
          <a:custGeom>
            <a:avLst/>
            <a:gdLst/>
            <a:ahLst/>
            <a:cxnLst/>
            <a:rect r="r" b="b" t="t" l="l"/>
            <a:pathLst>
              <a:path h="650471" w="1355147">
                <a:moveTo>
                  <a:pt x="0" y="0"/>
                </a:moveTo>
                <a:lnTo>
                  <a:pt x="1355147" y="0"/>
                </a:lnTo>
                <a:lnTo>
                  <a:pt x="1355147" y="650471"/>
                </a:lnTo>
                <a:lnTo>
                  <a:pt x="0" y="650471"/>
                </a:lnTo>
                <a:lnTo>
                  <a:pt x="0" y="0"/>
                </a:lnTo>
                <a:close/>
              </a:path>
            </a:pathLst>
          </a:custGeom>
          <a:blipFill>
            <a:blip r:embed="rId6"/>
            <a:stretch>
              <a:fillRect l="0" t="0" r="0" b="0"/>
            </a:stretch>
          </a:blipFill>
        </p:spPr>
      </p:sp>
      <p:sp>
        <p:nvSpPr>
          <p:cNvPr name="TextBox 15" id="15"/>
          <p:cNvSpPr txBox="true"/>
          <p:nvPr/>
        </p:nvSpPr>
        <p:spPr>
          <a:xfrm rot="0">
            <a:off x="8868514" y="7087596"/>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Na</a:t>
            </a:r>
            <a:r>
              <a:rPr lang="en-US" b="true" sz="2100">
                <a:solidFill>
                  <a:srgbClr val="000000"/>
                </a:solidFill>
                <a:latin typeface="Poppins Bold"/>
                <a:ea typeface="Poppins Bold"/>
                <a:cs typeface="Poppins Bold"/>
                <a:sym typeface="Poppins Bold"/>
              </a:rPr>
              <a:t>rvar Integration</a:t>
            </a:r>
          </a:p>
        </p:txBody>
      </p:sp>
      <p:sp>
        <p:nvSpPr>
          <p:cNvPr name="TextBox 16" id="16"/>
          <p:cNvSpPr txBox="true"/>
          <p:nvPr/>
        </p:nvSpPr>
        <p:spPr>
          <a:xfrm rot="0">
            <a:off x="8868514" y="7487437"/>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Impl</a:t>
            </a:r>
            <a:r>
              <a:rPr lang="en-US" sz="1800">
                <a:solidFill>
                  <a:srgbClr val="000000"/>
                </a:solidFill>
                <a:latin typeface="Poppins"/>
                <a:ea typeface="Poppins"/>
                <a:cs typeface="Poppins"/>
                <a:sym typeface="Poppins"/>
              </a:rPr>
              <a:t>emented a seamless insurance quoting integration for logistics workflows.</a:t>
            </a:r>
          </a:p>
        </p:txBody>
      </p:sp>
      <p:sp>
        <p:nvSpPr>
          <p:cNvPr name="Freeform 17" id="17"/>
          <p:cNvSpPr/>
          <p:nvPr/>
        </p:nvSpPr>
        <p:spPr>
          <a:xfrm flipH="false" flipV="false" rot="0">
            <a:off x="6850239" y="8367487"/>
            <a:ext cx="1318342" cy="385615"/>
          </a:xfrm>
          <a:custGeom>
            <a:avLst/>
            <a:gdLst/>
            <a:ahLst/>
            <a:cxnLst/>
            <a:rect r="r" b="b" t="t" l="l"/>
            <a:pathLst>
              <a:path h="385615" w="1318342">
                <a:moveTo>
                  <a:pt x="0" y="0"/>
                </a:moveTo>
                <a:lnTo>
                  <a:pt x="1318342" y="0"/>
                </a:lnTo>
                <a:lnTo>
                  <a:pt x="1318342" y="385615"/>
                </a:lnTo>
                <a:lnTo>
                  <a:pt x="0" y="385615"/>
                </a:lnTo>
                <a:lnTo>
                  <a:pt x="0" y="0"/>
                </a:lnTo>
                <a:close/>
              </a:path>
            </a:pathLst>
          </a:custGeom>
          <a:blipFill>
            <a:blip r:embed="rId7"/>
            <a:stretch>
              <a:fillRect l="0" t="0" r="0" b="0"/>
            </a:stretch>
          </a:blipFill>
        </p:spPr>
      </p:sp>
      <p:sp>
        <p:nvSpPr>
          <p:cNvPr name="TextBox 18" id="18"/>
          <p:cNvSpPr txBox="true"/>
          <p:nvPr/>
        </p:nvSpPr>
        <p:spPr>
          <a:xfrm rot="0">
            <a:off x="8868514" y="8310337"/>
            <a:ext cx="8062598" cy="375285"/>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Loeb</a:t>
            </a:r>
            <a:r>
              <a:rPr lang="en-US" b="true" sz="2100">
                <a:solidFill>
                  <a:srgbClr val="000000"/>
                </a:solidFill>
                <a:latin typeface="Poppins Bold"/>
                <a:ea typeface="Poppins Bold"/>
                <a:cs typeface="Poppins Bold"/>
                <a:sym typeface="Poppins Bold"/>
              </a:rPr>
              <a:t> Electric</a:t>
            </a:r>
          </a:p>
        </p:txBody>
      </p:sp>
      <p:sp>
        <p:nvSpPr>
          <p:cNvPr name="TextBox 19" id="19"/>
          <p:cNvSpPr txBox="true"/>
          <p:nvPr/>
        </p:nvSpPr>
        <p:spPr>
          <a:xfrm rot="0">
            <a:off x="8868514" y="8710178"/>
            <a:ext cx="7814715" cy="64008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Buil</a:t>
            </a:r>
            <a:r>
              <a:rPr lang="en-US" sz="1800">
                <a:solidFill>
                  <a:srgbClr val="000000"/>
                </a:solidFill>
                <a:latin typeface="Poppins"/>
                <a:ea typeface="Poppins"/>
                <a:cs typeface="Poppins"/>
                <a:sym typeface="Poppins"/>
              </a:rPr>
              <a:t>t a configurable panel builder to streamline complex product configuration.</a:t>
            </a:r>
          </a:p>
        </p:txBody>
      </p:sp>
      <p:sp>
        <p:nvSpPr>
          <p:cNvPr name="Freeform 20" id="20"/>
          <p:cNvSpPr/>
          <p:nvPr/>
        </p:nvSpPr>
        <p:spPr>
          <a:xfrm flipH="false" flipV="false" rot="0">
            <a:off x="1029412" y="4604832"/>
            <a:ext cx="2299943" cy="2299943"/>
          </a:xfrm>
          <a:custGeom>
            <a:avLst/>
            <a:gdLst/>
            <a:ahLst/>
            <a:cxnLst/>
            <a:rect r="r" b="b" t="t" l="l"/>
            <a:pathLst>
              <a:path h="2299943" w="2299943">
                <a:moveTo>
                  <a:pt x="0" y="0"/>
                </a:moveTo>
                <a:lnTo>
                  <a:pt x="2299943" y="0"/>
                </a:lnTo>
                <a:lnTo>
                  <a:pt x="2299943" y="2299944"/>
                </a:lnTo>
                <a:lnTo>
                  <a:pt x="0" y="22999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1028700" y="1788841"/>
            <a:ext cx="5067977" cy="2498090"/>
            <a:chOff x="0" y="0"/>
            <a:chExt cx="6757303" cy="3330787"/>
          </a:xfrm>
        </p:grpSpPr>
        <p:sp>
          <p:nvSpPr>
            <p:cNvPr name="TextBox 22" id="22"/>
            <p:cNvSpPr txBox="true"/>
            <p:nvPr/>
          </p:nvSpPr>
          <p:spPr>
            <a:xfrm rot="0">
              <a:off x="0" y="2627842"/>
              <a:ext cx="5953014" cy="70294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Selected Highlights</a:t>
              </a:r>
            </a:p>
          </p:txBody>
        </p:sp>
        <p:sp>
          <p:nvSpPr>
            <p:cNvPr name="TextBox 23" id="23"/>
            <p:cNvSpPr txBox="true"/>
            <p:nvPr/>
          </p:nvSpPr>
          <p:spPr>
            <a:xfrm rot="0">
              <a:off x="0" y="76200"/>
              <a:ext cx="6757303" cy="2523067"/>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Project References</a:t>
              </a:r>
            </a:p>
          </p:txBody>
        </p:sp>
      </p:grpSp>
      <p:sp>
        <p:nvSpPr>
          <p:cNvPr name="Freeform 24" id="24"/>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965095" y="8367487"/>
            <a:ext cx="1511182" cy="698270"/>
          </a:xfrm>
          <a:custGeom>
            <a:avLst/>
            <a:gdLst/>
            <a:ahLst/>
            <a:cxnLst/>
            <a:rect r="r" b="b" t="t" l="l"/>
            <a:pathLst>
              <a:path h="698270" w="1511182">
                <a:moveTo>
                  <a:pt x="0" y="0"/>
                </a:moveTo>
                <a:lnTo>
                  <a:pt x="1511182" y="0"/>
                </a:lnTo>
                <a:lnTo>
                  <a:pt x="1511182" y="698270"/>
                </a:lnTo>
                <a:lnTo>
                  <a:pt x="0" y="698270"/>
                </a:lnTo>
                <a:lnTo>
                  <a:pt x="0" y="0"/>
                </a:lnTo>
                <a:close/>
              </a:path>
            </a:pathLst>
          </a:custGeom>
          <a:blipFill>
            <a:blip r:embed="rId2"/>
            <a:stretch>
              <a:fillRect l="0" t="0" r="0" b="0"/>
            </a:stretch>
          </a:blipFill>
        </p:spPr>
      </p:sp>
      <p:sp>
        <p:nvSpPr>
          <p:cNvPr name="Freeform 3" id="3"/>
          <p:cNvSpPr/>
          <p:nvPr/>
        </p:nvSpPr>
        <p:spPr>
          <a:xfrm flipH="false" flipV="false" rot="0">
            <a:off x="1029412" y="4604832"/>
            <a:ext cx="2299943" cy="2299943"/>
          </a:xfrm>
          <a:custGeom>
            <a:avLst/>
            <a:gdLst/>
            <a:ahLst/>
            <a:cxnLst/>
            <a:rect r="r" b="b" t="t" l="l"/>
            <a:pathLst>
              <a:path h="2299943" w="2299943">
                <a:moveTo>
                  <a:pt x="0" y="0"/>
                </a:moveTo>
                <a:lnTo>
                  <a:pt x="2299943" y="0"/>
                </a:lnTo>
                <a:lnTo>
                  <a:pt x="2299943" y="2299944"/>
                </a:lnTo>
                <a:lnTo>
                  <a:pt x="0" y="22999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877335" y="1909762"/>
            <a:ext cx="1686702" cy="468308"/>
          </a:xfrm>
          <a:custGeom>
            <a:avLst/>
            <a:gdLst/>
            <a:ahLst/>
            <a:cxnLst/>
            <a:rect r="r" b="b" t="t" l="l"/>
            <a:pathLst>
              <a:path h="468308" w="1686702">
                <a:moveTo>
                  <a:pt x="0" y="0"/>
                </a:moveTo>
                <a:lnTo>
                  <a:pt x="1686702" y="0"/>
                </a:lnTo>
                <a:lnTo>
                  <a:pt x="1686702" y="468308"/>
                </a:lnTo>
                <a:lnTo>
                  <a:pt x="0" y="468308"/>
                </a:lnTo>
                <a:lnTo>
                  <a:pt x="0" y="0"/>
                </a:lnTo>
                <a:close/>
              </a:path>
            </a:pathLst>
          </a:custGeom>
          <a:blipFill>
            <a:blip r:embed="rId5"/>
            <a:stretch>
              <a:fillRect l="0" t="0" r="0" b="0"/>
            </a:stretch>
          </a:blipFill>
        </p:spPr>
      </p:sp>
      <p:sp>
        <p:nvSpPr>
          <p:cNvPr name="Freeform 5" id="5"/>
          <p:cNvSpPr/>
          <p:nvPr/>
        </p:nvSpPr>
        <p:spPr>
          <a:xfrm flipH="false" flipV="false" rot="0">
            <a:off x="6914244" y="3388040"/>
            <a:ext cx="1612884" cy="397461"/>
          </a:xfrm>
          <a:custGeom>
            <a:avLst/>
            <a:gdLst/>
            <a:ahLst/>
            <a:cxnLst/>
            <a:rect r="r" b="b" t="t" l="l"/>
            <a:pathLst>
              <a:path h="397461" w="1612884">
                <a:moveTo>
                  <a:pt x="0" y="0"/>
                </a:moveTo>
                <a:lnTo>
                  <a:pt x="1612884" y="0"/>
                </a:lnTo>
                <a:lnTo>
                  <a:pt x="1612884" y="397460"/>
                </a:lnTo>
                <a:lnTo>
                  <a:pt x="0" y="397460"/>
                </a:lnTo>
                <a:lnTo>
                  <a:pt x="0" y="0"/>
                </a:lnTo>
                <a:close/>
              </a:path>
            </a:pathLst>
          </a:custGeom>
          <a:blipFill>
            <a:blip r:embed="rId6"/>
            <a:stretch>
              <a:fillRect l="0" t="0" r="0" b="0"/>
            </a:stretch>
          </a:blipFill>
        </p:spPr>
      </p:sp>
      <p:sp>
        <p:nvSpPr>
          <p:cNvPr name="Freeform 6" id="6"/>
          <p:cNvSpPr/>
          <p:nvPr/>
        </p:nvSpPr>
        <p:spPr>
          <a:xfrm flipH="false" flipV="false" rot="0">
            <a:off x="7057664" y="4610781"/>
            <a:ext cx="1326043" cy="509395"/>
          </a:xfrm>
          <a:custGeom>
            <a:avLst/>
            <a:gdLst/>
            <a:ahLst/>
            <a:cxnLst/>
            <a:rect r="r" b="b" t="t" l="l"/>
            <a:pathLst>
              <a:path h="509395" w="1326043">
                <a:moveTo>
                  <a:pt x="0" y="0"/>
                </a:moveTo>
                <a:lnTo>
                  <a:pt x="1326043" y="0"/>
                </a:lnTo>
                <a:lnTo>
                  <a:pt x="1326043" y="509394"/>
                </a:lnTo>
                <a:lnTo>
                  <a:pt x="0" y="509394"/>
                </a:lnTo>
                <a:lnTo>
                  <a:pt x="0" y="0"/>
                </a:lnTo>
                <a:close/>
              </a:path>
            </a:pathLst>
          </a:custGeom>
          <a:blipFill>
            <a:blip r:embed="rId7"/>
            <a:stretch>
              <a:fillRect l="0" t="0" r="0" b="0"/>
            </a:stretch>
          </a:blipFill>
        </p:spPr>
      </p:sp>
      <p:sp>
        <p:nvSpPr>
          <p:cNvPr name="Freeform 7" id="7"/>
          <p:cNvSpPr/>
          <p:nvPr/>
        </p:nvSpPr>
        <p:spPr>
          <a:xfrm flipH="false" flipV="false" rot="0">
            <a:off x="6975190" y="5922005"/>
            <a:ext cx="1490992" cy="792897"/>
          </a:xfrm>
          <a:custGeom>
            <a:avLst/>
            <a:gdLst/>
            <a:ahLst/>
            <a:cxnLst/>
            <a:rect r="r" b="b" t="t" l="l"/>
            <a:pathLst>
              <a:path h="792897" w="1490992">
                <a:moveTo>
                  <a:pt x="0" y="0"/>
                </a:moveTo>
                <a:lnTo>
                  <a:pt x="1490992" y="0"/>
                </a:lnTo>
                <a:lnTo>
                  <a:pt x="1490992" y="792898"/>
                </a:lnTo>
                <a:lnTo>
                  <a:pt x="0" y="792898"/>
                </a:lnTo>
                <a:lnTo>
                  <a:pt x="0" y="0"/>
                </a:lnTo>
                <a:close/>
              </a:path>
            </a:pathLst>
          </a:custGeom>
          <a:blipFill>
            <a:blip r:embed="rId8"/>
            <a:stretch>
              <a:fillRect l="0" t="0" r="0" b="0"/>
            </a:stretch>
          </a:blipFill>
        </p:spPr>
      </p:sp>
      <p:sp>
        <p:nvSpPr>
          <p:cNvPr name="Freeform 8" id="8"/>
          <p:cNvSpPr/>
          <p:nvPr/>
        </p:nvSpPr>
        <p:spPr>
          <a:xfrm flipH="false" flipV="false" rot="0">
            <a:off x="7163107" y="7144746"/>
            <a:ext cx="1115158" cy="512655"/>
          </a:xfrm>
          <a:custGeom>
            <a:avLst/>
            <a:gdLst/>
            <a:ahLst/>
            <a:cxnLst/>
            <a:rect r="r" b="b" t="t" l="l"/>
            <a:pathLst>
              <a:path h="512655" w="1115158">
                <a:moveTo>
                  <a:pt x="0" y="0"/>
                </a:moveTo>
                <a:lnTo>
                  <a:pt x="1115158" y="0"/>
                </a:lnTo>
                <a:lnTo>
                  <a:pt x="1115158" y="512656"/>
                </a:lnTo>
                <a:lnTo>
                  <a:pt x="0" y="512656"/>
                </a:lnTo>
                <a:lnTo>
                  <a:pt x="0" y="0"/>
                </a:lnTo>
                <a:close/>
              </a:path>
            </a:pathLst>
          </a:custGeom>
          <a:blipFill>
            <a:blip r:embed="rId9"/>
            <a:stretch>
              <a:fillRect l="0" t="0" r="0" b="0"/>
            </a:stretch>
          </a:blipFill>
        </p:spPr>
      </p:sp>
      <p:grpSp>
        <p:nvGrpSpPr>
          <p:cNvPr name="Group 9" id="9"/>
          <p:cNvGrpSpPr/>
          <p:nvPr/>
        </p:nvGrpSpPr>
        <p:grpSpPr>
          <a:xfrm rot="0">
            <a:off x="8868514" y="1909762"/>
            <a:ext cx="8062598" cy="982771"/>
            <a:chOff x="0" y="0"/>
            <a:chExt cx="10750131" cy="1310361"/>
          </a:xfrm>
        </p:grpSpPr>
        <p:sp>
          <p:nvSpPr>
            <p:cNvPr name="TextBox 10" id="10"/>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SBA</a:t>
              </a:r>
            </a:p>
          </p:txBody>
        </p:sp>
        <p:sp>
          <p:nvSpPr>
            <p:cNvPr name="TextBox 11" id="11"/>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Modernized leg</a:t>
              </a:r>
              <a:r>
                <a:rPr lang="en-US" sz="1800">
                  <a:solidFill>
                    <a:srgbClr val="000000"/>
                  </a:solidFill>
                  <a:latin typeface="Poppins"/>
                  <a:ea typeface="Poppins"/>
                  <a:cs typeface="Poppins"/>
                  <a:sym typeface="Poppins"/>
                </a:rPr>
                <a:t>acy platforms to improve scalability, performance, and maintainability.</a:t>
              </a:r>
            </a:p>
          </p:txBody>
        </p:sp>
      </p:grpSp>
      <p:grpSp>
        <p:nvGrpSpPr>
          <p:cNvPr name="Group 12" id="12"/>
          <p:cNvGrpSpPr/>
          <p:nvPr/>
        </p:nvGrpSpPr>
        <p:grpSpPr>
          <a:xfrm rot="0">
            <a:off x="8868514" y="3388040"/>
            <a:ext cx="8062598" cy="982771"/>
            <a:chOff x="0" y="0"/>
            <a:chExt cx="10750131" cy="1310361"/>
          </a:xfrm>
        </p:grpSpPr>
        <p:sp>
          <p:nvSpPr>
            <p:cNvPr name="TextBox 13" id="13"/>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B</a:t>
              </a:r>
              <a:r>
                <a:rPr lang="en-US" b="true" sz="2100">
                  <a:solidFill>
                    <a:srgbClr val="000000"/>
                  </a:solidFill>
                  <a:latin typeface="Poppins Bold"/>
                  <a:ea typeface="Poppins Bold"/>
                  <a:cs typeface="Poppins Bold"/>
                  <a:sym typeface="Poppins Bold"/>
                </a:rPr>
                <a:t>ridgeway</a:t>
              </a:r>
            </a:p>
          </p:txBody>
        </p:sp>
        <p:sp>
          <p:nvSpPr>
            <p:cNvPr name="TextBox 14" id="14"/>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Developed secure APIs enabling seamless financial system integrations.</a:t>
              </a:r>
            </a:p>
          </p:txBody>
        </p:sp>
      </p:grpSp>
      <p:grpSp>
        <p:nvGrpSpPr>
          <p:cNvPr name="Group 15" id="15"/>
          <p:cNvGrpSpPr/>
          <p:nvPr/>
        </p:nvGrpSpPr>
        <p:grpSpPr>
          <a:xfrm rot="0">
            <a:off x="8868514" y="4610781"/>
            <a:ext cx="8062598" cy="982771"/>
            <a:chOff x="0" y="0"/>
            <a:chExt cx="10750131" cy="1310361"/>
          </a:xfrm>
        </p:grpSpPr>
        <p:sp>
          <p:nvSpPr>
            <p:cNvPr name="TextBox 16" id="16"/>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S</a:t>
              </a:r>
              <a:r>
                <a:rPr lang="en-US" b="true" sz="2100">
                  <a:solidFill>
                    <a:srgbClr val="000000"/>
                  </a:solidFill>
                  <a:latin typeface="Poppins Bold"/>
                  <a:ea typeface="Poppins Bold"/>
                  <a:cs typeface="Poppins Bold"/>
                  <a:sym typeface="Poppins Bold"/>
                </a:rPr>
                <a:t>erco</a:t>
              </a:r>
            </a:p>
          </p:txBody>
        </p:sp>
        <p:sp>
          <p:nvSpPr>
            <p:cNvPr name="TextBox 17" id="17"/>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Enh</a:t>
              </a:r>
              <a:r>
                <a:rPr lang="en-US" sz="1800">
                  <a:solidFill>
                    <a:srgbClr val="000000"/>
                  </a:solidFill>
                  <a:latin typeface="Poppins"/>
                  <a:ea typeface="Poppins"/>
                  <a:cs typeface="Poppins"/>
                  <a:sym typeface="Poppins"/>
                </a:rPr>
                <a:t>anced US Navy critical systems to improve reliability and operational efficiency.</a:t>
              </a:r>
            </a:p>
          </p:txBody>
        </p:sp>
      </p:grpSp>
      <p:grpSp>
        <p:nvGrpSpPr>
          <p:cNvPr name="Group 18" id="18"/>
          <p:cNvGrpSpPr/>
          <p:nvPr/>
        </p:nvGrpSpPr>
        <p:grpSpPr>
          <a:xfrm rot="0">
            <a:off x="8868514" y="5922005"/>
            <a:ext cx="8062598" cy="982771"/>
            <a:chOff x="0" y="0"/>
            <a:chExt cx="10750131" cy="1310361"/>
          </a:xfrm>
        </p:grpSpPr>
        <p:sp>
          <p:nvSpPr>
            <p:cNvPr name="TextBox 19" id="19"/>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Simple</a:t>
              </a:r>
              <a:r>
                <a:rPr lang="en-US" b="true" sz="2100">
                  <a:solidFill>
                    <a:srgbClr val="000000"/>
                  </a:solidFill>
                  <a:latin typeface="Poppins Bold"/>
                  <a:ea typeface="Poppins Bold"/>
                  <a:cs typeface="Poppins Bold"/>
                  <a:sym typeface="Poppins Bold"/>
                </a:rPr>
                <a:t>view</a:t>
              </a:r>
            </a:p>
          </p:txBody>
        </p:sp>
        <p:sp>
          <p:nvSpPr>
            <p:cNvPr name="TextBox 20" id="20"/>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Redesigned </a:t>
              </a:r>
              <a:r>
                <a:rPr lang="en-US" sz="1800">
                  <a:solidFill>
                    <a:srgbClr val="000000"/>
                  </a:solidFill>
                  <a:latin typeface="Poppins"/>
                  <a:ea typeface="Poppins"/>
                  <a:cs typeface="Poppins"/>
                  <a:sym typeface="Poppins"/>
                </a:rPr>
                <a:t>infrastructure and remediated security vulnerabilities to strengthen compliance.</a:t>
              </a:r>
            </a:p>
          </p:txBody>
        </p:sp>
      </p:grpSp>
      <p:grpSp>
        <p:nvGrpSpPr>
          <p:cNvPr name="Group 21" id="21"/>
          <p:cNvGrpSpPr/>
          <p:nvPr/>
        </p:nvGrpSpPr>
        <p:grpSpPr>
          <a:xfrm rot="0">
            <a:off x="8868514" y="7144746"/>
            <a:ext cx="8062598" cy="982771"/>
            <a:chOff x="0" y="0"/>
            <a:chExt cx="10750131" cy="1310361"/>
          </a:xfrm>
        </p:grpSpPr>
        <p:sp>
          <p:nvSpPr>
            <p:cNvPr name="TextBox 22" id="22"/>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Senio</a:t>
              </a:r>
              <a:r>
                <a:rPr lang="en-US" b="true" sz="2100">
                  <a:solidFill>
                    <a:srgbClr val="000000"/>
                  </a:solidFill>
                  <a:latin typeface="Poppins Bold"/>
                  <a:ea typeface="Poppins Bold"/>
                  <a:cs typeface="Poppins Bold"/>
                  <a:sym typeface="Poppins Bold"/>
                </a:rPr>
                <a:t>r Market Sales</a:t>
              </a:r>
            </a:p>
          </p:txBody>
        </p:sp>
        <p:sp>
          <p:nvSpPr>
            <p:cNvPr name="TextBox 23" id="23"/>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Dental Quoting Engine for Analyzing Dental Insurance plans and total costs comparisons factoring in users’ dental hygiene. </a:t>
              </a:r>
            </a:p>
          </p:txBody>
        </p:sp>
      </p:grpSp>
      <p:grpSp>
        <p:nvGrpSpPr>
          <p:cNvPr name="Group 24" id="24"/>
          <p:cNvGrpSpPr/>
          <p:nvPr/>
        </p:nvGrpSpPr>
        <p:grpSpPr>
          <a:xfrm rot="0">
            <a:off x="8868514" y="8367487"/>
            <a:ext cx="8062598" cy="982771"/>
            <a:chOff x="0" y="0"/>
            <a:chExt cx="10750131" cy="1310361"/>
          </a:xfrm>
        </p:grpSpPr>
        <p:sp>
          <p:nvSpPr>
            <p:cNvPr name="TextBox 25" id="25"/>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Versa</a:t>
              </a:r>
              <a:r>
                <a:rPr lang="en-US" b="true" sz="2100">
                  <a:solidFill>
                    <a:srgbClr val="000000"/>
                  </a:solidFill>
                  <a:latin typeface="Poppins Bold"/>
                  <a:ea typeface="Poppins Bold"/>
                  <a:cs typeface="Poppins Bold"/>
                  <a:sym typeface="Poppins Bold"/>
                </a:rPr>
                <a:t> Valves</a:t>
              </a:r>
            </a:p>
          </p:txBody>
        </p:sp>
        <p:sp>
          <p:nvSpPr>
            <p:cNvPr name="TextBox 26" id="26"/>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Led full</a:t>
              </a:r>
              <a:r>
                <a:rPr lang="en-US" sz="1800">
                  <a:solidFill>
                    <a:srgbClr val="000000"/>
                  </a:solidFill>
                  <a:latin typeface="Poppins"/>
                  <a:ea typeface="Poppins"/>
                  <a:cs typeface="Poppins"/>
                  <a:sym typeface="Poppins"/>
                </a:rPr>
                <a:t> system redesign and implementation to modernize operations.</a:t>
              </a:r>
            </a:p>
          </p:txBody>
        </p:sp>
      </p:grpSp>
      <p:grpSp>
        <p:nvGrpSpPr>
          <p:cNvPr name="Group 27" id="27"/>
          <p:cNvGrpSpPr/>
          <p:nvPr/>
        </p:nvGrpSpPr>
        <p:grpSpPr>
          <a:xfrm rot="0">
            <a:off x="1028700" y="1788841"/>
            <a:ext cx="5067977" cy="2498090"/>
            <a:chOff x="0" y="0"/>
            <a:chExt cx="6757303" cy="3330787"/>
          </a:xfrm>
        </p:grpSpPr>
        <p:sp>
          <p:nvSpPr>
            <p:cNvPr name="TextBox 28" id="28"/>
            <p:cNvSpPr txBox="true"/>
            <p:nvPr/>
          </p:nvSpPr>
          <p:spPr>
            <a:xfrm rot="0">
              <a:off x="0" y="2627842"/>
              <a:ext cx="5953014" cy="70294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Selected Highlights</a:t>
              </a:r>
            </a:p>
          </p:txBody>
        </p:sp>
        <p:sp>
          <p:nvSpPr>
            <p:cNvPr name="TextBox 29" id="29"/>
            <p:cNvSpPr txBox="true"/>
            <p:nvPr/>
          </p:nvSpPr>
          <p:spPr>
            <a:xfrm rot="0">
              <a:off x="0" y="76200"/>
              <a:ext cx="6757303" cy="2523067"/>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Project References</a:t>
              </a:r>
            </a:p>
          </p:txBody>
        </p:sp>
      </p:grpSp>
      <p:sp>
        <p:nvSpPr>
          <p:cNvPr name="Freeform 30" id="30"/>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9412" y="4604832"/>
            <a:ext cx="2299943" cy="2299943"/>
          </a:xfrm>
          <a:custGeom>
            <a:avLst/>
            <a:gdLst/>
            <a:ahLst/>
            <a:cxnLst/>
            <a:rect r="r" b="b" t="t" l="l"/>
            <a:pathLst>
              <a:path h="2299943" w="2299943">
                <a:moveTo>
                  <a:pt x="0" y="0"/>
                </a:moveTo>
                <a:lnTo>
                  <a:pt x="2299943" y="0"/>
                </a:lnTo>
                <a:lnTo>
                  <a:pt x="2299943" y="2299944"/>
                </a:lnTo>
                <a:lnTo>
                  <a:pt x="0" y="22999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198221" y="1909762"/>
            <a:ext cx="9732891" cy="982771"/>
            <a:chOff x="0" y="0"/>
            <a:chExt cx="12977188" cy="1310361"/>
          </a:xfrm>
        </p:grpSpPr>
        <p:sp>
          <p:nvSpPr>
            <p:cNvPr name="Freeform 4" id="4"/>
            <p:cNvSpPr/>
            <p:nvPr/>
          </p:nvSpPr>
          <p:spPr>
            <a:xfrm flipH="false" flipV="false" rot="0">
              <a:off x="0" y="0"/>
              <a:ext cx="1174225" cy="1174225"/>
            </a:xfrm>
            <a:custGeom>
              <a:avLst/>
              <a:gdLst/>
              <a:ahLst/>
              <a:cxnLst/>
              <a:rect r="r" b="b" t="t" l="l"/>
              <a:pathLst>
                <a:path h="1174225" w="1174225">
                  <a:moveTo>
                    <a:pt x="0" y="0"/>
                  </a:moveTo>
                  <a:lnTo>
                    <a:pt x="1174225" y="0"/>
                  </a:lnTo>
                  <a:lnTo>
                    <a:pt x="1174225" y="1174225"/>
                  </a:lnTo>
                  <a:lnTo>
                    <a:pt x="0" y="1174225"/>
                  </a:lnTo>
                  <a:lnTo>
                    <a:pt x="0" y="0"/>
                  </a:lnTo>
                  <a:close/>
                </a:path>
              </a:pathLst>
            </a:custGeom>
            <a:blipFill>
              <a:blip r:embed="rId4"/>
              <a:stretch>
                <a:fillRect l="0" t="0" r="0" b="0"/>
              </a:stretch>
            </a:blipFill>
          </p:spPr>
        </p:sp>
        <p:sp>
          <p:nvSpPr>
            <p:cNvPr name="TextBox 5" id="5"/>
            <p:cNvSpPr txBox="true"/>
            <p:nvPr/>
          </p:nvSpPr>
          <p:spPr>
            <a:xfrm rot="0">
              <a:off x="2227057"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Tau </a:t>
              </a:r>
              <a:r>
                <a:rPr lang="en-US" b="true" sz="2100">
                  <a:solidFill>
                    <a:srgbClr val="000000"/>
                  </a:solidFill>
                  <a:latin typeface="Poppins Bold"/>
                  <a:ea typeface="Poppins Bold"/>
                  <a:cs typeface="Poppins Bold"/>
                  <a:sym typeface="Poppins Bold"/>
                </a:rPr>
                <a:t>Beta Pi - Engineering Honor Society</a:t>
              </a:r>
            </a:p>
          </p:txBody>
        </p:sp>
        <p:sp>
          <p:nvSpPr>
            <p:cNvPr name="TextBox 6" id="6"/>
            <p:cNvSpPr txBox="true"/>
            <p:nvPr/>
          </p:nvSpPr>
          <p:spPr>
            <a:xfrm rot="0">
              <a:off x="2227057"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Provisioned </a:t>
              </a:r>
              <a:r>
                <a:rPr lang="en-US" sz="1800">
                  <a:solidFill>
                    <a:srgbClr val="000000"/>
                  </a:solidFill>
                  <a:latin typeface="Poppins"/>
                  <a:ea typeface="Poppins"/>
                  <a:cs typeface="Poppins"/>
                  <a:sym typeface="Poppins"/>
                </a:rPr>
                <a:t>and deployed new infrastructure to support growth and reliability.</a:t>
              </a:r>
            </a:p>
          </p:txBody>
        </p:sp>
      </p:grpSp>
      <p:grpSp>
        <p:nvGrpSpPr>
          <p:cNvPr name="Group 7" id="7"/>
          <p:cNvGrpSpPr/>
          <p:nvPr/>
        </p:nvGrpSpPr>
        <p:grpSpPr>
          <a:xfrm rot="0">
            <a:off x="6997787" y="3343825"/>
            <a:ext cx="9933325" cy="982771"/>
            <a:chOff x="0" y="0"/>
            <a:chExt cx="13244434" cy="1310361"/>
          </a:xfrm>
        </p:grpSpPr>
        <p:sp>
          <p:nvSpPr>
            <p:cNvPr name="Freeform 8" id="8"/>
            <p:cNvSpPr/>
            <p:nvPr/>
          </p:nvSpPr>
          <p:spPr>
            <a:xfrm flipH="false" flipV="false" rot="0">
              <a:off x="0" y="0"/>
              <a:ext cx="1708717" cy="1231976"/>
            </a:xfrm>
            <a:custGeom>
              <a:avLst/>
              <a:gdLst/>
              <a:ahLst/>
              <a:cxnLst/>
              <a:rect r="r" b="b" t="t" l="l"/>
              <a:pathLst>
                <a:path h="1231976" w="1708717">
                  <a:moveTo>
                    <a:pt x="0" y="0"/>
                  </a:moveTo>
                  <a:lnTo>
                    <a:pt x="1708717" y="0"/>
                  </a:lnTo>
                  <a:lnTo>
                    <a:pt x="1708717" y="1231976"/>
                  </a:lnTo>
                  <a:lnTo>
                    <a:pt x="0" y="1231976"/>
                  </a:lnTo>
                  <a:lnTo>
                    <a:pt x="0" y="0"/>
                  </a:lnTo>
                  <a:close/>
                </a:path>
              </a:pathLst>
            </a:custGeom>
            <a:blipFill>
              <a:blip r:embed="rId5"/>
              <a:stretch>
                <a:fillRect l="0" t="0" r="0" b="0"/>
              </a:stretch>
            </a:blipFill>
          </p:spPr>
        </p:sp>
        <p:sp>
          <p:nvSpPr>
            <p:cNvPr name="TextBox 9" id="9"/>
            <p:cNvSpPr txBox="true"/>
            <p:nvPr/>
          </p:nvSpPr>
          <p:spPr>
            <a:xfrm rot="0">
              <a:off x="2494303"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USRA (Meet</a:t>
              </a:r>
              <a:r>
                <a:rPr lang="en-US" b="true" sz="2100">
                  <a:solidFill>
                    <a:srgbClr val="000000"/>
                  </a:solidFill>
                  <a:latin typeface="Poppins Bold"/>
                  <a:ea typeface="Poppins Bold"/>
                  <a:cs typeface="Poppins Bold"/>
                  <a:sym typeface="Poppins Bold"/>
                </a:rPr>
                <a:t>ings &amp; Conferences App)</a:t>
              </a:r>
            </a:p>
          </p:txBody>
        </p:sp>
        <p:sp>
          <p:nvSpPr>
            <p:cNvPr name="TextBox 10" id="10"/>
            <p:cNvSpPr txBox="true"/>
            <p:nvPr/>
          </p:nvSpPr>
          <p:spPr>
            <a:xfrm rot="0">
              <a:off x="2494303"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Bui</a:t>
              </a:r>
              <a:r>
                <a:rPr lang="en-US" sz="1800">
                  <a:solidFill>
                    <a:srgbClr val="000000"/>
                  </a:solidFill>
                  <a:latin typeface="Poppins"/>
                  <a:ea typeface="Poppins"/>
                  <a:cs typeface="Poppins"/>
                  <a:sym typeface="Poppins"/>
                </a:rPr>
                <a:t>lt a mobile app to streamline event management and attendee engagement.</a:t>
              </a:r>
            </a:p>
          </p:txBody>
        </p:sp>
      </p:grpSp>
      <p:grpSp>
        <p:nvGrpSpPr>
          <p:cNvPr name="Group 11" id="11"/>
          <p:cNvGrpSpPr/>
          <p:nvPr/>
        </p:nvGrpSpPr>
        <p:grpSpPr>
          <a:xfrm rot="0">
            <a:off x="8868514" y="4777887"/>
            <a:ext cx="8062598" cy="982771"/>
            <a:chOff x="0" y="0"/>
            <a:chExt cx="10750131" cy="1310361"/>
          </a:xfrm>
        </p:grpSpPr>
        <p:sp>
          <p:nvSpPr>
            <p:cNvPr name="TextBox 12" id="12"/>
            <p:cNvSpPr txBox="true"/>
            <p:nvPr/>
          </p:nvSpPr>
          <p:spPr>
            <a:xfrm rot="0">
              <a:off x="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Order My G</a:t>
              </a:r>
              <a:r>
                <a:rPr lang="en-US" b="true" sz="2100">
                  <a:solidFill>
                    <a:srgbClr val="000000"/>
                  </a:solidFill>
                  <a:latin typeface="Poppins Bold"/>
                  <a:ea typeface="Poppins Bold"/>
                  <a:cs typeface="Poppins Bold"/>
                  <a:sym typeface="Poppins Bold"/>
                </a:rPr>
                <a:t>ear</a:t>
              </a:r>
            </a:p>
          </p:txBody>
        </p:sp>
        <p:sp>
          <p:nvSpPr>
            <p:cNvPr name="TextBox 13" id="13"/>
            <p:cNvSpPr txBox="true"/>
            <p:nvPr/>
          </p:nvSpPr>
          <p:spPr>
            <a:xfrm rot="0">
              <a:off x="0"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Perform</a:t>
              </a:r>
              <a:r>
                <a:rPr lang="en-US" sz="1800">
                  <a:solidFill>
                    <a:srgbClr val="000000"/>
                  </a:solidFill>
                  <a:latin typeface="Poppins"/>
                  <a:ea typeface="Poppins"/>
                  <a:cs typeface="Poppins"/>
                  <a:sym typeface="Poppins"/>
                </a:rPr>
                <a:t>ed security audit and remediation to mitigate risk and improve compliance.</a:t>
              </a:r>
            </a:p>
          </p:txBody>
        </p:sp>
      </p:grpSp>
      <p:grpSp>
        <p:nvGrpSpPr>
          <p:cNvPr name="Group 14" id="14"/>
          <p:cNvGrpSpPr/>
          <p:nvPr/>
        </p:nvGrpSpPr>
        <p:grpSpPr>
          <a:xfrm rot="0">
            <a:off x="7108140" y="6211949"/>
            <a:ext cx="9822972" cy="1040112"/>
            <a:chOff x="0" y="0"/>
            <a:chExt cx="13097296" cy="1386816"/>
          </a:xfrm>
        </p:grpSpPr>
        <p:sp>
          <p:nvSpPr>
            <p:cNvPr name="Freeform 15" id="15"/>
            <p:cNvSpPr/>
            <p:nvPr/>
          </p:nvSpPr>
          <p:spPr>
            <a:xfrm flipH="false" flipV="false" rot="0">
              <a:off x="0" y="0"/>
              <a:ext cx="1414442" cy="1386816"/>
            </a:xfrm>
            <a:custGeom>
              <a:avLst/>
              <a:gdLst/>
              <a:ahLst/>
              <a:cxnLst/>
              <a:rect r="r" b="b" t="t" l="l"/>
              <a:pathLst>
                <a:path h="1386816" w="1414442">
                  <a:moveTo>
                    <a:pt x="0" y="0"/>
                  </a:moveTo>
                  <a:lnTo>
                    <a:pt x="1414442" y="0"/>
                  </a:lnTo>
                  <a:lnTo>
                    <a:pt x="1414442" y="1386816"/>
                  </a:lnTo>
                  <a:lnTo>
                    <a:pt x="0" y="1386816"/>
                  </a:lnTo>
                  <a:lnTo>
                    <a:pt x="0" y="0"/>
                  </a:lnTo>
                  <a:close/>
                </a:path>
              </a:pathLst>
            </a:custGeom>
            <a:blipFill>
              <a:blip r:embed="rId6"/>
              <a:stretch>
                <a:fillRect l="0" t="0" r="0" b="0"/>
              </a:stretch>
            </a:blipFill>
          </p:spPr>
        </p:sp>
        <p:sp>
          <p:nvSpPr>
            <p:cNvPr name="TextBox 16" id="16"/>
            <p:cNvSpPr txBox="true"/>
            <p:nvPr/>
          </p:nvSpPr>
          <p:spPr>
            <a:xfrm rot="0">
              <a:off x="2347165"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US Na</a:t>
              </a:r>
              <a:r>
                <a:rPr lang="en-US" b="true" sz="2100">
                  <a:solidFill>
                    <a:srgbClr val="000000"/>
                  </a:solidFill>
                  <a:latin typeface="Poppins Bold"/>
                  <a:ea typeface="Poppins Bold"/>
                  <a:cs typeface="Poppins Bold"/>
                  <a:sym typeface="Poppins Bold"/>
                </a:rPr>
                <a:t>vy</a:t>
              </a:r>
            </a:p>
          </p:txBody>
        </p:sp>
        <p:sp>
          <p:nvSpPr>
            <p:cNvPr name="TextBox 17" id="17"/>
            <p:cNvSpPr txBox="true"/>
            <p:nvPr/>
          </p:nvSpPr>
          <p:spPr>
            <a:xfrm rot="0">
              <a:off x="2347165" y="475971"/>
              <a:ext cx="10419620" cy="8343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Delivered sy</a:t>
              </a:r>
              <a:r>
                <a:rPr lang="en-US" sz="1800">
                  <a:solidFill>
                    <a:srgbClr val="000000"/>
                  </a:solidFill>
                  <a:latin typeface="Poppins"/>
                  <a:ea typeface="Poppins"/>
                  <a:cs typeface="Poppins"/>
                  <a:sym typeface="Poppins"/>
                </a:rPr>
                <a:t>stem modernization and custom development for mission-critical environments.</a:t>
              </a:r>
            </a:p>
          </p:txBody>
        </p:sp>
      </p:grpSp>
      <p:grpSp>
        <p:nvGrpSpPr>
          <p:cNvPr name="Group 18" id="18"/>
          <p:cNvGrpSpPr/>
          <p:nvPr/>
        </p:nvGrpSpPr>
        <p:grpSpPr>
          <a:xfrm rot="0">
            <a:off x="6994511" y="7703353"/>
            <a:ext cx="9936601" cy="695984"/>
            <a:chOff x="0" y="0"/>
            <a:chExt cx="13248801" cy="927978"/>
          </a:xfrm>
        </p:grpSpPr>
        <p:sp>
          <p:nvSpPr>
            <p:cNvPr name="Freeform 19" id="19"/>
            <p:cNvSpPr/>
            <p:nvPr/>
          </p:nvSpPr>
          <p:spPr>
            <a:xfrm flipH="false" flipV="false" rot="0">
              <a:off x="0" y="0"/>
              <a:ext cx="1717452" cy="927978"/>
            </a:xfrm>
            <a:custGeom>
              <a:avLst/>
              <a:gdLst/>
              <a:ahLst/>
              <a:cxnLst/>
              <a:rect r="r" b="b" t="t" l="l"/>
              <a:pathLst>
                <a:path h="927978" w="1717452">
                  <a:moveTo>
                    <a:pt x="0" y="0"/>
                  </a:moveTo>
                  <a:lnTo>
                    <a:pt x="1717452" y="0"/>
                  </a:lnTo>
                  <a:lnTo>
                    <a:pt x="1717452" y="927978"/>
                  </a:lnTo>
                  <a:lnTo>
                    <a:pt x="0" y="927978"/>
                  </a:lnTo>
                  <a:lnTo>
                    <a:pt x="0" y="0"/>
                  </a:lnTo>
                  <a:close/>
                </a:path>
              </a:pathLst>
            </a:custGeom>
            <a:blipFill>
              <a:blip r:embed="rId7"/>
              <a:stretch>
                <a:fillRect l="0" t="0" r="0" b="0"/>
              </a:stretch>
            </a:blipFill>
          </p:spPr>
        </p:sp>
        <p:sp>
          <p:nvSpPr>
            <p:cNvPr name="TextBox 20" id="20"/>
            <p:cNvSpPr txBox="true"/>
            <p:nvPr/>
          </p:nvSpPr>
          <p:spPr>
            <a:xfrm rot="0">
              <a:off x="2498670" y="-57150"/>
              <a:ext cx="10750131" cy="481330"/>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Poppins Bold"/>
                  <a:ea typeface="Poppins Bold"/>
                  <a:cs typeface="Poppins Bold"/>
                  <a:sym typeface="Poppins Bold"/>
                </a:rPr>
                <a:t>West Fraser</a:t>
              </a:r>
            </a:p>
          </p:txBody>
        </p:sp>
        <p:sp>
          <p:nvSpPr>
            <p:cNvPr name="TextBox 21" id="21"/>
            <p:cNvSpPr txBox="true"/>
            <p:nvPr/>
          </p:nvSpPr>
          <p:spPr>
            <a:xfrm rot="0">
              <a:off x="2498670" y="475971"/>
              <a:ext cx="10419620" cy="415290"/>
            </a:xfrm>
            <a:prstGeom prst="rect">
              <a:avLst/>
            </a:prstGeom>
          </p:spPr>
          <p:txBody>
            <a:bodyPr anchor="t" rtlCol="false" tIns="0" lIns="0" bIns="0" rIns="0">
              <a:spAutoFit/>
            </a:bodyPr>
            <a:lstStyle/>
            <a:p>
              <a:pPr algn="l">
                <a:lnSpc>
                  <a:spcPts val="2520"/>
                </a:lnSpc>
                <a:spcBef>
                  <a:spcPct val="0"/>
                </a:spcBef>
              </a:pPr>
              <a:r>
                <a:rPr lang="en-US" sz="1800">
                  <a:solidFill>
                    <a:srgbClr val="000000"/>
                  </a:solidFill>
                  <a:latin typeface="Poppins"/>
                  <a:ea typeface="Poppins"/>
                  <a:cs typeface="Poppins"/>
                  <a:sym typeface="Poppins"/>
                </a:rPr>
                <a:t>Security</a:t>
              </a:r>
              <a:r>
                <a:rPr lang="en-US" sz="1800">
                  <a:solidFill>
                    <a:srgbClr val="000000"/>
                  </a:solidFill>
                  <a:latin typeface="Poppins"/>
                  <a:ea typeface="Poppins"/>
                  <a:cs typeface="Poppins"/>
                  <a:sym typeface="Poppins"/>
                </a:rPr>
                <a:t> Audit and Vulnerabilities Remediations</a:t>
              </a:r>
            </a:p>
          </p:txBody>
        </p:sp>
      </p:grpSp>
      <p:sp>
        <p:nvSpPr>
          <p:cNvPr name="Freeform 22" id="2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0">
            <a:off x="6994511" y="4777887"/>
            <a:ext cx="1394196" cy="430458"/>
          </a:xfrm>
          <a:custGeom>
            <a:avLst/>
            <a:gdLst/>
            <a:ahLst/>
            <a:cxnLst/>
            <a:rect r="r" b="b" t="t" l="l"/>
            <a:pathLst>
              <a:path h="430458" w="1394196">
                <a:moveTo>
                  <a:pt x="0" y="0"/>
                </a:moveTo>
                <a:lnTo>
                  <a:pt x="1394197" y="0"/>
                </a:lnTo>
                <a:lnTo>
                  <a:pt x="1394197" y="430458"/>
                </a:lnTo>
                <a:lnTo>
                  <a:pt x="0" y="430458"/>
                </a:lnTo>
                <a:lnTo>
                  <a:pt x="0" y="0"/>
                </a:lnTo>
                <a:close/>
              </a:path>
            </a:pathLst>
          </a:custGeom>
          <a:blipFill>
            <a:blip r:embed="rId10"/>
            <a:stretch>
              <a:fillRect l="0" t="0" r="0" b="0"/>
            </a:stretch>
          </a:blipFill>
        </p:spPr>
      </p:sp>
      <p:grpSp>
        <p:nvGrpSpPr>
          <p:cNvPr name="Group 24" id="24"/>
          <p:cNvGrpSpPr/>
          <p:nvPr/>
        </p:nvGrpSpPr>
        <p:grpSpPr>
          <a:xfrm rot="0">
            <a:off x="1028700" y="1788841"/>
            <a:ext cx="5067977" cy="2498090"/>
            <a:chOff x="0" y="0"/>
            <a:chExt cx="6757303" cy="3330787"/>
          </a:xfrm>
        </p:grpSpPr>
        <p:sp>
          <p:nvSpPr>
            <p:cNvPr name="TextBox 25" id="25"/>
            <p:cNvSpPr txBox="true"/>
            <p:nvPr/>
          </p:nvSpPr>
          <p:spPr>
            <a:xfrm rot="0">
              <a:off x="0" y="2627842"/>
              <a:ext cx="5953014" cy="70294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Selected Highlights</a:t>
              </a:r>
            </a:p>
          </p:txBody>
        </p:sp>
        <p:sp>
          <p:nvSpPr>
            <p:cNvPr name="TextBox 26" id="26"/>
            <p:cNvSpPr txBox="true"/>
            <p:nvPr/>
          </p:nvSpPr>
          <p:spPr>
            <a:xfrm rot="0">
              <a:off x="0" y="76200"/>
              <a:ext cx="6757303" cy="2523067"/>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Project References</a:t>
              </a:r>
            </a:p>
          </p:txBody>
        </p:sp>
      </p:grpSp>
      <p:sp>
        <p:nvSpPr>
          <p:cNvPr name="TextBox 27" id="27"/>
          <p:cNvSpPr txBox="true"/>
          <p:nvPr/>
        </p:nvSpPr>
        <p:spPr>
          <a:xfrm rot="0">
            <a:off x="14385653" y="8807450"/>
            <a:ext cx="2873647" cy="450850"/>
          </a:xfrm>
          <a:prstGeom prst="rect">
            <a:avLst/>
          </a:prstGeom>
        </p:spPr>
        <p:txBody>
          <a:bodyPr anchor="t" rtlCol="false" tIns="0" lIns="0" bIns="0" rIns="0">
            <a:spAutoFit/>
          </a:bodyPr>
          <a:lstStyle/>
          <a:p>
            <a:pPr algn="ctr" marL="0" indent="0" lvl="0">
              <a:lnSpc>
                <a:spcPts val="3500"/>
              </a:lnSpc>
              <a:spcBef>
                <a:spcPct val="0"/>
              </a:spcBef>
            </a:pPr>
            <a:r>
              <a:rPr lang="en-US" sz="2500">
                <a:solidFill>
                  <a:srgbClr val="0D0D0D"/>
                </a:solidFill>
                <a:latin typeface="Poppins Light"/>
                <a:ea typeface="Poppins Light"/>
                <a:cs typeface="Poppins Light"/>
                <a:sym typeface="Poppins Light"/>
              </a:rPr>
              <a:t>…and many more</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71550" y="2430363"/>
            <a:ext cx="6519862"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Staff Augmentation</a:t>
            </a:r>
          </a:p>
        </p:txBody>
      </p:sp>
      <p:sp>
        <p:nvSpPr>
          <p:cNvPr name="TextBox 3" id="3"/>
          <p:cNvSpPr txBox="true"/>
          <p:nvPr/>
        </p:nvSpPr>
        <p:spPr>
          <a:xfrm rot="0">
            <a:off x="971550" y="4502644"/>
            <a:ext cx="7034212"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The level of engagement</a:t>
            </a:r>
          </a:p>
          <a:p>
            <a:pPr algn="l">
              <a:lnSpc>
                <a:spcPts val="3600"/>
              </a:lnSpc>
            </a:pPr>
            <a:r>
              <a:rPr lang="en-US" sz="3600">
                <a:solidFill>
                  <a:srgbClr val="0D0D0D"/>
                </a:solidFill>
                <a:latin typeface="Poppins Light"/>
                <a:ea typeface="Poppins Light"/>
                <a:cs typeface="Poppins Light"/>
                <a:sym typeface="Poppins Light"/>
              </a:rPr>
              <a:t>that your company needs</a:t>
            </a:r>
          </a:p>
        </p:txBody>
      </p:sp>
      <p:sp>
        <p:nvSpPr>
          <p:cNvPr name="Freeform 4" id="4"/>
          <p:cNvSpPr/>
          <p:nvPr/>
        </p:nvSpPr>
        <p:spPr>
          <a:xfrm flipH="false" flipV="false" rot="0">
            <a:off x="1028700" y="6508609"/>
            <a:ext cx="2381250" cy="2381250"/>
          </a:xfrm>
          <a:custGeom>
            <a:avLst/>
            <a:gdLst/>
            <a:ahLst/>
            <a:cxnLst/>
            <a:rect r="r" b="b" t="t" l="l"/>
            <a:pathLst>
              <a:path h="2381250" w="2381250">
                <a:moveTo>
                  <a:pt x="0" y="0"/>
                </a:moveTo>
                <a:lnTo>
                  <a:pt x="2381250" y="0"/>
                </a:lnTo>
                <a:lnTo>
                  <a:pt x="2381250" y="2381250"/>
                </a:lnTo>
                <a:lnTo>
                  <a:pt x="0" y="23812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799836" y="2484279"/>
            <a:ext cx="3467100" cy="685800"/>
            <a:chOff x="0" y="0"/>
            <a:chExt cx="913146" cy="180622"/>
          </a:xfrm>
        </p:grpSpPr>
        <p:sp>
          <p:nvSpPr>
            <p:cNvPr name="Freeform 6" id="6"/>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7" id="7"/>
            <p:cNvSpPr txBox="true"/>
            <p:nvPr/>
          </p:nvSpPr>
          <p:spPr>
            <a:xfrm>
              <a:off x="0" y="-57150"/>
              <a:ext cx="913146" cy="237772"/>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Bold"/>
                  <a:ea typeface="Poppins Bold"/>
                  <a:cs typeface="Poppins Bold"/>
                  <a:sym typeface="Poppins Bold"/>
                </a:rPr>
                <a:t>Engagement Model</a:t>
              </a:r>
            </a:p>
          </p:txBody>
        </p:sp>
      </p:grpSp>
      <p:grpSp>
        <p:nvGrpSpPr>
          <p:cNvPr name="Group 8" id="8"/>
          <p:cNvGrpSpPr/>
          <p:nvPr/>
        </p:nvGrpSpPr>
        <p:grpSpPr>
          <a:xfrm rot="0">
            <a:off x="8799836" y="5937109"/>
            <a:ext cx="3467100" cy="685800"/>
            <a:chOff x="0" y="0"/>
            <a:chExt cx="913146" cy="180622"/>
          </a:xfrm>
        </p:grpSpPr>
        <p:sp>
          <p:nvSpPr>
            <p:cNvPr name="Freeform 9" id="9"/>
            <p:cNvSpPr/>
            <p:nvPr/>
          </p:nvSpPr>
          <p:spPr>
            <a:xfrm flipH="false" flipV="false" rot="0">
              <a:off x="0" y="0"/>
              <a:ext cx="913146" cy="180622"/>
            </a:xfrm>
            <a:custGeom>
              <a:avLst/>
              <a:gdLst/>
              <a:ahLst/>
              <a:cxnLst/>
              <a:rect r="r" b="b" t="t" l="l"/>
              <a:pathLst>
                <a:path h="180622" w="913146">
                  <a:moveTo>
                    <a:pt x="90311" y="0"/>
                  </a:moveTo>
                  <a:lnTo>
                    <a:pt x="822835" y="0"/>
                  </a:lnTo>
                  <a:cubicBezTo>
                    <a:pt x="846787" y="0"/>
                    <a:pt x="869758" y="9515"/>
                    <a:pt x="886694" y="26452"/>
                  </a:cubicBezTo>
                  <a:cubicBezTo>
                    <a:pt x="903631" y="43388"/>
                    <a:pt x="913146" y="66359"/>
                    <a:pt x="913146" y="90311"/>
                  </a:cubicBezTo>
                  <a:lnTo>
                    <a:pt x="913146" y="90311"/>
                  </a:lnTo>
                  <a:cubicBezTo>
                    <a:pt x="913146" y="114263"/>
                    <a:pt x="903631" y="137234"/>
                    <a:pt x="886694" y="154171"/>
                  </a:cubicBezTo>
                  <a:cubicBezTo>
                    <a:pt x="869758" y="171107"/>
                    <a:pt x="846787" y="180622"/>
                    <a:pt x="822835" y="180622"/>
                  </a:cubicBezTo>
                  <a:lnTo>
                    <a:pt x="90311" y="180622"/>
                  </a:lnTo>
                  <a:cubicBezTo>
                    <a:pt x="66359" y="180622"/>
                    <a:pt x="43388" y="171107"/>
                    <a:pt x="26452" y="154171"/>
                  </a:cubicBezTo>
                  <a:cubicBezTo>
                    <a:pt x="9515" y="137234"/>
                    <a:pt x="0" y="114263"/>
                    <a:pt x="0" y="90311"/>
                  </a:cubicBezTo>
                  <a:lnTo>
                    <a:pt x="0" y="90311"/>
                  </a:lnTo>
                  <a:cubicBezTo>
                    <a:pt x="0" y="66359"/>
                    <a:pt x="9515" y="43388"/>
                    <a:pt x="26452" y="26452"/>
                  </a:cubicBezTo>
                  <a:cubicBezTo>
                    <a:pt x="43388" y="9515"/>
                    <a:pt x="66359" y="0"/>
                    <a:pt x="90311" y="0"/>
                  </a:cubicBezTo>
                  <a:close/>
                </a:path>
              </a:pathLst>
            </a:custGeom>
            <a:solidFill>
              <a:srgbClr val="68DE68"/>
            </a:solidFill>
          </p:spPr>
        </p:sp>
        <p:sp>
          <p:nvSpPr>
            <p:cNvPr name="TextBox 10" id="10"/>
            <p:cNvSpPr txBox="true"/>
            <p:nvPr/>
          </p:nvSpPr>
          <p:spPr>
            <a:xfrm>
              <a:off x="0" y="-57150"/>
              <a:ext cx="913146" cy="237772"/>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Bold"/>
                  <a:ea typeface="Poppins Bold"/>
                  <a:cs typeface="Poppins Bold"/>
                  <a:sym typeface="Poppins Bold"/>
                </a:rPr>
                <a:t>Operational Flexibility</a:t>
              </a:r>
            </a:p>
          </p:txBody>
        </p:sp>
      </p:grpSp>
      <p:sp>
        <p:nvSpPr>
          <p:cNvPr name="TextBox 11" id="11"/>
          <p:cNvSpPr txBox="true"/>
          <p:nvPr/>
        </p:nvSpPr>
        <p:spPr>
          <a:xfrm rot="0">
            <a:off x="8799836" y="3370104"/>
            <a:ext cx="7578402" cy="156337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D0D0D"/>
                </a:solidFill>
                <a:latin typeface="Poppins"/>
                <a:ea typeface="Poppins"/>
                <a:cs typeface="Poppins"/>
                <a:sym typeface="Poppins"/>
              </a:rPr>
              <a:t>Time &amp; Materials or Fixed Fee</a:t>
            </a:r>
          </a:p>
          <a:p>
            <a:pPr algn="l" marL="474979" indent="-237490" lvl="1">
              <a:lnSpc>
                <a:spcPts val="3079"/>
              </a:lnSpc>
              <a:buFont typeface="Arial"/>
              <a:buChar char="•"/>
            </a:pPr>
            <a:r>
              <a:rPr lang="en-US" sz="2199">
                <a:solidFill>
                  <a:srgbClr val="0D0D0D"/>
                </a:solidFill>
                <a:latin typeface="Poppins"/>
                <a:ea typeface="Poppins"/>
                <a:cs typeface="Poppins"/>
                <a:sym typeface="Poppins"/>
              </a:rPr>
              <a:t>Team composition tailored to your required skill set and tech stack</a:t>
            </a:r>
          </a:p>
          <a:p>
            <a:pPr algn="l" marL="474979" indent="-237490" lvl="1">
              <a:lnSpc>
                <a:spcPts val="3079"/>
              </a:lnSpc>
              <a:buFont typeface="Arial"/>
              <a:buChar char="•"/>
            </a:pPr>
            <a:r>
              <a:rPr lang="en-US" sz="2199">
                <a:solidFill>
                  <a:srgbClr val="0D0D0D"/>
                </a:solidFill>
                <a:latin typeface="Poppins"/>
                <a:ea typeface="Poppins"/>
                <a:cs typeface="Poppins"/>
                <a:sym typeface="Poppins"/>
              </a:rPr>
              <a:t>Flexible duration: 3, 6, 9 months and</a:t>
            </a:r>
            <a:r>
              <a:rPr lang="en-US" sz="2199">
                <a:solidFill>
                  <a:srgbClr val="0D0D0D"/>
                </a:solidFill>
                <a:latin typeface="Poppins"/>
                <a:ea typeface="Poppins"/>
                <a:cs typeface="Poppins"/>
                <a:sym typeface="Poppins"/>
              </a:rPr>
              <a:t> beyon</a:t>
            </a:r>
            <a:r>
              <a:rPr lang="en-US" sz="2199">
                <a:solidFill>
                  <a:srgbClr val="0D0D0D"/>
                </a:solidFill>
                <a:latin typeface="Poppins"/>
                <a:ea typeface="Poppins"/>
                <a:cs typeface="Poppins"/>
                <a:sym typeface="Poppins"/>
              </a:rPr>
              <a:t>d</a:t>
            </a:r>
          </a:p>
        </p:txBody>
      </p:sp>
      <p:sp>
        <p:nvSpPr>
          <p:cNvPr name="TextBox 12" id="12"/>
          <p:cNvSpPr txBox="true"/>
          <p:nvPr/>
        </p:nvSpPr>
        <p:spPr>
          <a:xfrm rot="0">
            <a:off x="8799836" y="6822934"/>
            <a:ext cx="7578402" cy="156337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D0D0D"/>
                </a:solidFill>
                <a:latin typeface="Poppins"/>
                <a:ea typeface="Poppins"/>
                <a:cs typeface="Poppins"/>
                <a:sym typeface="Poppins"/>
              </a:rPr>
              <a:t>Typical ramp-up / ramp-down: ~1 month</a:t>
            </a:r>
          </a:p>
          <a:p>
            <a:pPr algn="l" marL="474979" indent="-237490" lvl="1">
              <a:lnSpc>
                <a:spcPts val="3079"/>
              </a:lnSpc>
              <a:buFont typeface="Arial"/>
              <a:buChar char="•"/>
            </a:pPr>
            <a:r>
              <a:rPr lang="en-US" sz="2199">
                <a:solidFill>
                  <a:srgbClr val="0D0D0D"/>
                </a:solidFill>
                <a:latin typeface="Poppins"/>
                <a:ea typeface="Poppins"/>
                <a:cs typeface="Poppins"/>
                <a:sym typeface="Poppins"/>
              </a:rPr>
              <a:t>Notice period: 60 days </a:t>
            </a:r>
          </a:p>
          <a:p>
            <a:pPr algn="l" marL="474979" indent="-237490" lvl="1">
              <a:lnSpc>
                <a:spcPts val="3079"/>
              </a:lnSpc>
              <a:buFont typeface="Arial"/>
              <a:buChar char="•"/>
            </a:pPr>
            <a:r>
              <a:rPr lang="en-US" sz="2199">
                <a:solidFill>
                  <a:srgbClr val="0D0D0D"/>
                </a:solidFill>
                <a:latin typeface="Poppins"/>
                <a:ea typeface="Poppins"/>
                <a:cs typeface="Poppins"/>
                <a:sym typeface="Poppins"/>
              </a:rPr>
              <a:t>Scalable team size based on</a:t>
            </a:r>
            <a:r>
              <a:rPr lang="en-US" sz="2199">
                <a:solidFill>
                  <a:srgbClr val="0D0D0D"/>
                </a:solidFill>
                <a:latin typeface="Poppins"/>
                <a:ea typeface="Poppins"/>
                <a:cs typeface="Poppins"/>
                <a:sym typeface="Poppins"/>
              </a:rPr>
              <a:t> evolving project needs</a:t>
            </a:r>
          </a:p>
        </p:txBody>
      </p:sp>
      <p:sp>
        <p:nvSpPr>
          <p:cNvPr name="Freeform 13" id="13"/>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4002740" y="997718"/>
            <a:ext cx="3256560" cy="784945"/>
            <a:chOff x="0" y="0"/>
            <a:chExt cx="4342080" cy="1046593"/>
          </a:xfrm>
        </p:grpSpPr>
        <p:grpSp>
          <p:nvGrpSpPr>
            <p:cNvPr name="Group 15" id="15"/>
            <p:cNvGrpSpPr/>
            <p:nvPr/>
          </p:nvGrpSpPr>
          <p:grpSpPr>
            <a:xfrm rot="0">
              <a:off x="369135" y="0"/>
              <a:ext cx="3972945" cy="1046593"/>
              <a:chOff x="0" y="0"/>
              <a:chExt cx="784779" cy="206735"/>
            </a:xfrm>
          </p:grpSpPr>
          <p:sp>
            <p:nvSpPr>
              <p:cNvPr name="Freeform 16" id="16"/>
              <p:cNvSpPr/>
              <p:nvPr/>
            </p:nvSpPr>
            <p:spPr>
              <a:xfrm flipH="false" flipV="false" rot="0">
                <a:off x="0" y="0"/>
                <a:ext cx="784779" cy="206735"/>
              </a:xfrm>
              <a:custGeom>
                <a:avLst/>
                <a:gdLst/>
                <a:ahLst/>
                <a:cxnLst/>
                <a:rect r="r" b="b" t="t" l="l"/>
                <a:pathLst>
                  <a:path h="206735" w="784779">
                    <a:moveTo>
                      <a:pt x="103367" y="0"/>
                    </a:moveTo>
                    <a:lnTo>
                      <a:pt x="681412" y="0"/>
                    </a:lnTo>
                    <a:cubicBezTo>
                      <a:pt x="708827" y="0"/>
                      <a:pt x="735119" y="10890"/>
                      <a:pt x="754504" y="30276"/>
                    </a:cubicBezTo>
                    <a:cubicBezTo>
                      <a:pt x="773889" y="49661"/>
                      <a:pt x="784779" y="75953"/>
                      <a:pt x="784779" y="103367"/>
                    </a:cubicBezTo>
                    <a:lnTo>
                      <a:pt x="784779" y="103367"/>
                    </a:lnTo>
                    <a:cubicBezTo>
                      <a:pt x="784779" y="130782"/>
                      <a:pt x="773889" y="157074"/>
                      <a:pt x="754504" y="176459"/>
                    </a:cubicBezTo>
                    <a:cubicBezTo>
                      <a:pt x="735119" y="195844"/>
                      <a:pt x="708827" y="206735"/>
                      <a:pt x="68141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7" id="17"/>
              <p:cNvSpPr txBox="true"/>
              <p:nvPr/>
            </p:nvSpPr>
            <p:spPr>
              <a:xfrm>
                <a:off x="0" y="-38100"/>
                <a:ext cx="784779" cy="244835"/>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0" y="216380"/>
              <a:ext cx="3893996" cy="556683"/>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Core Services</a:t>
              </a:r>
            </a:p>
          </p:txBody>
        </p:sp>
        <p:grpSp>
          <p:nvGrpSpPr>
            <p:cNvPr name="Group 19" id="19"/>
            <p:cNvGrpSpPr/>
            <p:nvPr/>
          </p:nvGrpSpPr>
          <p:grpSpPr>
            <a:xfrm rot="0">
              <a:off x="807825" y="362723"/>
              <a:ext cx="321148" cy="32114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5850" y="6632160"/>
            <a:ext cx="1894864" cy="742787"/>
          </a:xfrm>
          <a:custGeom>
            <a:avLst/>
            <a:gdLst/>
            <a:ahLst/>
            <a:cxnLst/>
            <a:rect r="r" b="b" t="t" l="l"/>
            <a:pathLst>
              <a:path h="742787" w="1894864">
                <a:moveTo>
                  <a:pt x="0" y="0"/>
                </a:moveTo>
                <a:lnTo>
                  <a:pt x="1894864" y="0"/>
                </a:lnTo>
                <a:lnTo>
                  <a:pt x="1894864" y="742787"/>
                </a:lnTo>
                <a:lnTo>
                  <a:pt x="0" y="742787"/>
                </a:lnTo>
                <a:lnTo>
                  <a:pt x="0" y="0"/>
                </a:lnTo>
                <a:close/>
              </a:path>
            </a:pathLst>
          </a:custGeom>
          <a:blipFill>
            <a:blip r:embed="rId2"/>
            <a:stretch>
              <a:fillRect l="0" t="0" r="0" b="0"/>
            </a:stretch>
          </a:blipFill>
        </p:spPr>
      </p:sp>
      <p:sp>
        <p:nvSpPr>
          <p:cNvPr name="Freeform 3" id="3"/>
          <p:cNvSpPr/>
          <p:nvPr/>
        </p:nvSpPr>
        <p:spPr>
          <a:xfrm flipH="false" flipV="false" rot="0">
            <a:off x="1264378" y="5284107"/>
            <a:ext cx="1032393" cy="744350"/>
          </a:xfrm>
          <a:custGeom>
            <a:avLst/>
            <a:gdLst/>
            <a:ahLst/>
            <a:cxnLst/>
            <a:rect r="r" b="b" t="t" l="l"/>
            <a:pathLst>
              <a:path h="744350" w="1032393">
                <a:moveTo>
                  <a:pt x="0" y="0"/>
                </a:moveTo>
                <a:lnTo>
                  <a:pt x="1032393" y="0"/>
                </a:lnTo>
                <a:lnTo>
                  <a:pt x="1032393" y="744349"/>
                </a:lnTo>
                <a:lnTo>
                  <a:pt x="0" y="744349"/>
                </a:lnTo>
                <a:lnTo>
                  <a:pt x="0" y="0"/>
                </a:lnTo>
                <a:close/>
              </a:path>
            </a:pathLst>
          </a:custGeom>
          <a:blipFill>
            <a:blip r:embed="rId3"/>
            <a:stretch>
              <a:fillRect l="0" t="0" r="0" b="0"/>
            </a:stretch>
          </a:blipFill>
        </p:spPr>
      </p:sp>
      <p:sp>
        <p:nvSpPr>
          <p:cNvPr name="Freeform 4" id="4"/>
          <p:cNvSpPr/>
          <p:nvPr/>
        </p:nvSpPr>
        <p:spPr>
          <a:xfrm flipH="false" flipV="false" rot="0">
            <a:off x="3075454" y="5433815"/>
            <a:ext cx="2332225" cy="444932"/>
          </a:xfrm>
          <a:custGeom>
            <a:avLst/>
            <a:gdLst/>
            <a:ahLst/>
            <a:cxnLst/>
            <a:rect r="r" b="b" t="t" l="l"/>
            <a:pathLst>
              <a:path h="444932" w="2332225">
                <a:moveTo>
                  <a:pt x="0" y="0"/>
                </a:moveTo>
                <a:lnTo>
                  <a:pt x="2332225" y="0"/>
                </a:lnTo>
                <a:lnTo>
                  <a:pt x="2332225" y="444932"/>
                </a:lnTo>
                <a:lnTo>
                  <a:pt x="0" y="444932"/>
                </a:lnTo>
                <a:lnTo>
                  <a:pt x="0" y="0"/>
                </a:lnTo>
                <a:close/>
              </a:path>
            </a:pathLst>
          </a:custGeom>
          <a:blipFill>
            <a:blip r:embed="rId4"/>
            <a:stretch>
              <a:fillRect l="0" t="0" r="0" b="0"/>
            </a:stretch>
          </a:blipFill>
        </p:spPr>
      </p:sp>
      <p:sp>
        <p:nvSpPr>
          <p:cNvPr name="Freeform 5" id="5"/>
          <p:cNvSpPr/>
          <p:nvPr/>
        </p:nvSpPr>
        <p:spPr>
          <a:xfrm flipH="false" flipV="false" rot="0">
            <a:off x="12019022" y="5209580"/>
            <a:ext cx="2122317" cy="893402"/>
          </a:xfrm>
          <a:custGeom>
            <a:avLst/>
            <a:gdLst/>
            <a:ahLst/>
            <a:cxnLst/>
            <a:rect r="r" b="b" t="t" l="l"/>
            <a:pathLst>
              <a:path h="893402" w="2122317">
                <a:moveTo>
                  <a:pt x="0" y="0"/>
                </a:moveTo>
                <a:lnTo>
                  <a:pt x="2122317" y="0"/>
                </a:lnTo>
                <a:lnTo>
                  <a:pt x="2122317" y="893402"/>
                </a:lnTo>
                <a:lnTo>
                  <a:pt x="0" y="893402"/>
                </a:lnTo>
                <a:lnTo>
                  <a:pt x="0" y="0"/>
                </a:lnTo>
                <a:close/>
              </a:path>
            </a:pathLst>
          </a:custGeom>
          <a:blipFill>
            <a:blip r:embed="rId5"/>
            <a:stretch>
              <a:fillRect l="0" t="0" r="0" b="0"/>
            </a:stretch>
          </a:blipFill>
        </p:spPr>
      </p:sp>
      <p:sp>
        <p:nvSpPr>
          <p:cNvPr name="Freeform 6" id="6"/>
          <p:cNvSpPr/>
          <p:nvPr/>
        </p:nvSpPr>
        <p:spPr>
          <a:xfrm flipH="false" flipV="false" rot="0">
            <a:off x="9051580" y="5258513"/>
            <a:ext cx="2188759" cy="795538"/>
          </a:xfrm>
          <a:custGeom>
            <a:avLst/>
            <a:gdLst/>
            <a:ahLst/>
            <a:cxnLst/>
            <a:rect r="r" b="b" t="t" l="l"/>
            <a:pathLst>
              <a:path h="795538" w="2188759">
                <a:moveTo>
                  <a:pt x="0" y="0"/>
                </a:moveTo>
                <a:lnTo>
                  <a:pt x="2188759" y="0"/>
                </a:lnTo>
                <a:lnTo>
                  <a:pt x="2188759" y="795537"/>
                </a:lnTo>
                <a:lnTo>
                  <a:pt x="0" y="795537"/>
                </a:lnTo>
                <a:lnTo>
                  <a:pt x="0" y="0"/>
                </a:lnTo>
                <a:close/>
              </a:path>
            </a:pathLst>
          </a:custGeom>
          <a:blipFill>
            <a:blip r:embed="rId6"/>
            <a:stretch>
              <a:fillRect l="0" t="0" r="0" b="0"/>
            </a:stretch>
          </a:blipFill>
        </p:spPr>
      </p:sp>
      <p:sp>
        <p:nvSpPr>
          <p:cNvPr name="Freeform 7" id="7"/>
          <p:cNvSpPr/>
          <p:nvPr/>
        </p:nvSpPr>
        <p:spPr>
          <a:xfrm flipH="false" flipV="false" rot="0">
            <a:off x="6310990" y="7904020"/>
            <a:ext cx="1710629" cy="790429"/>
          </a:xfrm>
          <a:custGeom>
            <a:avLst/>
            <a:gdLst/>
            <a:ahLst/>
            <a:cxnLst/>
            <a:rect r="r" b="b" t="t" l="l"/>
            <a:pathLst>
              <a:path h="790429" w="1710629">
                <a:moveTo>
                  <a:pt x="0" y="0"/>
                </a:moveTo>
                <a:lnTo>
                  <a:pt x="1710629" y="0"/>
                </a:lnTo>
                <a:lnTo>
                  <a:pt x="1710629" y="790429"/>
                </a:lnTo>
                <a:lnTo>
                  <a:pt x="0" y="790429"/>
                </a:lnTo>
                <a:lnTo>
                  <a:pt x="0" y="0"/>
                </a:lnTo>
                <a:close/>
              </a:path>
            </a:pathLst>
          </a:custGeom>
          <a:blipFill>
            <a:blip r:embed="rId7"/>
            <a:stretch>
              <a:fillRect l="0" t="0" r="0" b="0"/>
            </a:stretch>
          </a:blipFill>
        </p:spPr>
      </p:sp>
      <p:sp>
        <p:nvSpPr>
          <p:cNvPr name="Freeform 8" id="8"/>
          <p:cNvSpPr/>
          <p:nvPr/>
        </p:nvSpPr>
        <p:spPr>
          <a:xfrm flipH="false" flipV="false" rot="0">
            <a:off x="14920022" y="5358392"/>
            <a:ext cx="1550915" cy="595778"/>
          </a:xfrm>
          <a:custGeom>
            <a:avLst/>
            <a:gdLst/>
            <a:ahLst/>
            <a:cxnLst/>
            <a:rect r="r" b="b" t="t" l="l"/>
            <a:pathLst>
              <a:path h="595778" w="1550915">
                <a:moveTo>
                  <a:pt x="0" y="0"/>
                </a:moveTo>
                <a:lnTo>
                  <a:pt x="1550915" y="0"/>
                </a:lnTo>
                <a:lnTo>
                  <a:pt x="1550915" y="595779"/>
                </a:lnTo>
                <a:lnTo>
                  <a:pt x="0" y="595779"/>
                </a:lnTo>
                <a:lnTo>
                  <a:pt x="0" y="0"/>
                </a:lnTo>
                <a:close/>
              </a:path>
            </a:pathLst>
          </a:custGeom>
          <a:blipFill>
            <a:blip r:embed="rId8"/>
            <a:stretch>
              <a:fillRect l="0" t="0" r="0" b="0"/>
            </a:stretch>
          </a:blipFill>
        </p:spPr>
      </p:sp>
      <p:sp>
        <p:nvSpPr>
          <p:cNvPr name="Freeform 9" id="9"/>
          <p:cNvSpPr/>
          <p:nvPr/>
        </p:nvSpPr>
        <p:spPr>
          <a:xfrm flipH="false" flipV="false" rot="0">
            <a:off x="6524718" y="6822798"/>
            <a:ext cx="2387879" cy="361512"/>
          </a:xfrm>
          <a:custGeom>
            <a:avLst/>
            <a:gdLst/>
            <a:ahLst/>
            <a:cxnLst/>
            <a:rect r="r" b="b" t="t" l="l"/>
            <a:pathLst>
              <a:path h="361512" w="2387879">
                <a:moveTo>
                  <a:pt x="0" y="0"/>
                </a:moveTo>
                <a:lnTo>
                  <a:pt x="2387880" y="0"/>
                </a:lnTo>
                <a:lnTo>
                  <a:pt x="2387880" y="361511"/>
                </a:lnTo>
                <a:lnTo>
                  <a:pt x="0" y="361511"/>
                </a:lnTo>
                <a:lnTo>
                  <a:pt x="0" y="0"/>
                </a:lnTo>
                <a:close/>
              </a:path>
            </a:pathLst>
          </a:custGeom>
          <a:blipFill>
            <a:blip r:embed="rId9"/>
            <a:stretch>
              <a:fillRect l="0" t="0" r="0" b="0"/>
            </a:stretch>
          </a:blipFill>
        </p:spPr>
      </p:sp>
      <p:sp>
        <p:nvSpPr>
          <p:cNvPr name="Freeform 10" id="10"/>
          <p:cNvSpPr/>
          <p:nvPr/>
        </p:nvSpPr>
        <p:spPr>
          <a:xfrm flipH="false" flipV="false" rot="0">
            <a:off x="6186362" y="5364076"/>
            <a:ext cx="2086535" cy="584410"/>
          </a:xfrm>
          <a:custGeom>
            <a:avLst/>
            <a:gdLst/>
            <a:ahLst/>
            <a:cxnLst/>
            <a:rect r="r" b="b" t="t" l="l"/>
            <a:pathLst>
              <a:path h="584410" w="2086535">
                <a:moveTo>
                  <a:pt x="0" y="0"/>
                </a:moveTo>
                <a:lnTo>
                  <a:pt x="2086535" y="0"/>
                </a:lnTo>
                <a:lnTo>
                  <a:pt x="2086535" y="584410"/>
                </a:lnTo>
                <a:lnTo>
                  <a:pt x="0" y="584410"/>
                </a:lnTo>
                <a:lnTo>
                  <a:pt x="0" y="0"/>
                </a:lnTo>
                <a:close/>
              </a:path>
            </a:pathLst>
          </a:custGeom>
          <a:blipFill>
            <a:blip r:embed="rId10"/>
            <a:stretch>
              <a:fillRect l="0" t="-14128" r="0" b="-6756"/>
            </a:stretch>
          </a:blipFill>
        </p:spPr>
      </p:sp>
      <p:sp>
        <p:nvSpPr>
          <p:cNvPr name="Freeform 11" id="11"/>
          <p:cNvSpPr/>
          <p:nvPr/>
        </p:nvSpPr>
        <p:spPr>
          <a:xfrm flipH="false" flipV="false" rot="0">
            <a:off x="3611029" y="6524388"/>
            <a:ext cx="2283373" cy="958332"/>
          </a:xfrm>
          <a:custGeom>
            <a:avLst/>
            <a:gdLst/>
            <a:ahLst/>
            <a:cxnLst/>
            <a:rect r="r" b="b" t="t" l="l"/>
            <a:pathLst>
              <a:path h="958332" w="2283373">
                <a:moveTo>
                  <a:pt x="0" y="0"/>
                </a:moveTo>
                <a:lnTo>
                  <a:pt x="2283374" y="0"/>
                </a:lnTo>
                <a:lnTo>
                  <a:pt x="2283374" y="958332"/>
                </a:lnTo>
                <a:lnTo>
                  <a:pt x="0" y="958332"/>
                </a:lnTo>
                <a:lnTo>
                  <a:pt x="0" y="0"/>
                </a:lnTo>
                <a:close/>
              </a:path>
            </a:pathLst>
          </a:custGeom>
          <a:blipFill>
            <a:blip r:embed="rId11"/>
            <a:stretch>
              <a:fillRect l="0" t="0" r="0" b="0"/>
            </a:stretch>
          </a:blipFill>
        </p:spPr>
      </p:sp>
      <p:sp>
        <p:nvSpPr>
          <p:cNvPr name="Freeform 12" id="12"/>
          <p:cNvSpPr/>
          <p:nvPr/>
        </p:nvSpPr>
        <p:spPr>
          <a:xfrm flipH="false" flipV="false" rot="0">
            <a:off x="11178798" y="6668243"/>
            <a:ext cx="2332225" cy="670622"/>
          </a:xfrm>
          <a:custGeom>
            <a:avLst/>
            <a:gdLst/>
            <a:ahLst/>
            <a:cxnLst/>
            <a:rect r="r" b="b" t="t" l="l"/>
            <a:pathLst>
              <a:path h="670622" w="2332225">
                <a:moveTo>
                  <a:pt x="0" y="0"/>
                </a:moveTo>
                <a:lnTo>
                  <a:pt x="2332225" y="0"/>
                </a:lnTo>
                <a:lnTo>
                  <a:pt x="2332225" y="670621"/>
                </a:lnTo>
                <a:lnTo>
                  <a:pt x="0" y="670621"/>
                </a:lnTo>
                <a:lnTo>
                  <a:pt x="0" y="0"/>
                </a:lnTo>
                <a:close/>
              </a:path>
            </a:pathLst>
          </a:custGeom>
          <a:blipFill>
            <a:blip r:embed="rId12"/>
            <a:stretch>
              <a:fillRect l="0" t="0" r="0" b="0"/>
            </a:stretch>
          </a:blipFill>
        </p:spPr>
      </p:sp>
      <p:sp>
        <p:nvSpPr>
          <p:cNvPr name="Freeform 13" id="13"/>
          <p:cNvSpPr/>
          <p:nvPr/>
        </p:nvSpPr>
        <p:spPr>
          <a:xfrm flipH="false" flipV="false" rot="0">
            <a:off x="9542913" y="6510589"/>
            <a:ext cx="1005569" cy="985929"/>
          </a:xfrm>
          <a:custGeom>
            <a:avLst/>
            <a:gdLst/>
            <a:ahLst/>
            <a:cxnLst/>
            <a:rect r="r" b="b" t="t" l="l"/>
            <a:pathLst>
              <a:path h="985929" w="1005569">
                <a:moveTo>
                  <a:pt x="0" y="0"/>
                </a:moveTo>
                <a:lnTo>
                  <a:pt x="1005569" y="0"/>
                </a:lnTo>
                <a:lnTo>
                  <a:pt x="1005569" y="985929"/>
                </a:lnTo>
                <a:lnTo>
                  <a:pt x="0" y="985929"/>
                </a:lnTo>
                <a:lnTo>
                  <a:pt x="0" y="0"/>
                </a:lnTo>
                <a:close/>
              </a:path>
            </a:pathLst>
          </a:custGeom>
          <a:blipFill>
            <a:blip r:embed="rId13"/>
            <a:stretch>
              <a:fillRect l="0" t="0" r="0" b="0"/>
            </a:stretch>
          </a:blipFill>
        </p:spPr>
      </p:sp>
      <p:sp>
        <p:nvSpPr>
          <p:cNvPr name="Freeform 14" id="14"/>
          <p:cNvSpPr/>
          <p:nvPr/>
        </p:nvSpPr>
        <p:spPr>
          <a:xfrm flipH="false" flipV="false" rot="0">
            <a:off x="8724641" y="7983797"/>
            <a:ext cx="1314322" cy="630874"/>
          </a:xfrm>
          <a:custGeom>
            <a:avLst/>
            <a:gdLst/>
            <a:ahLst/>
            <a:cxnLst/>
            <a:rect r="r" b="b" t="t" l="l"/>
            <a:pathLst>
              <a:path h="630874" w="1314322">
                <a:moveTo>
                  <a:pt x="0" y="0"/>
                </a:moveTo>
                <a:lnTo>
                  <a:pt x="1314322" y="0"/>
                </a:lnTo>
                <a:lnTo>
                  <a:pt x="1314322" y="630875"/>
                </a:lnTo>
                <a:lnTo>
                  <a:pt x="0" y="630875"/>
                </a:lnTo>
                <a:lnTo>
                  <a:pt x="0" y="0"/>
                </a:lnTo>
                <a:close/>
              </a:path>
            </a:pathLst>
          </a:custGeom>
          <a:blipFill>
            <a:blip r:embed="rId14"/>
            <a:stretch>
              <a:fillRect l="0" t="0" r="0" b="0"/>
            </a:stretch>
          </a:blipFill>
        </p:spPr>
      </p:sp>
      <p:sp>
        <p:nvSpPr>
          <p:cNvPr name="Freeform 15" id="15"/>
          <p:cNvSpPr/>
          <p:nvPr/>
        </p:nvSpPr>
        <p:spPr>
          <a:xfrm flipH="false" flipV="false" rot="0">
            <a:off x="10741985" y="7949265"/>
            <a:ext cx="2868045" cy="699940"/>
          </a:xfrm>
          <a:custGeom>
            <a:avLst/>
            <a:gdLst/>
            <a:ahLst/>
            <a:cxnLst/>
            <a:rect r="r" b="b" t="t" l="l"/>
            <a:pathLst>
              <a:path h="699940" w="2868045">
                <a:moveTo>
                  <a:pt x="0" y="0"/>
                </a:moveTo>
                <a:lnTo>
                  <a:pt x="2868045" y="0"/>
                </a:lnTo>
                <a:lnTo>
                  <a:pt x="2868045" y="699939"/>
                </a:lnTo>
                <a:lnTo>
                  <a:pt x="0" y="699939"/>
                </a:lnTo>
                <a:lnTo>
                  <a:pt x="0" y="0"/>
                </a:lnTo>
                <a:close/>
              </a:path>
            </a:pathLst>
          </a:custGeom>
          <a:blipFill>
            <a:blip r:embed="rId15"/>
            <a:stretch>
              <a:fillRect l="0" t="0" r="0" b="0"/>
            </a:stretch>
          </a:blipFill>
        </p:spPr>
      </p:sp>
      <p:sp>
        <p:nvSpPr>
          <p:cNvPr name="Freeform 16" id="16"/>
          <p:cNvSpPr/>
          <p:nvPr/>
        </p:nvSpPr>
        <p:spPr>
          <a:xfrm flipH="false" flipV="false" rot="0">
            <a:off x="14141339" y="6494548"/>
            <a:ext cx="998127" cy="1018010"/>
          </a:xfrm>
          <a:custGeom>
            <a:avLst/>
            <a:gdLst/>
            <a:ahLst/>
            <a:cxnLst/>
            <a:rect r="r" b="b" t="t" l="l"/>
            <a:pathLst>
              <a:path h="1018010" w="998127">
                <a:moveTo>
                  <a:pt x="0" y="0"/>
                </a:moveTo>
                <a:lnTo>
                  <a:pt x="998127" y="0"/>
                </a:lnTo>
                <a:lnTo>
                  <a:pt x="998127" y="1018011"/>
                </a:lnTo>
                <a:lnTo>
                  <a:pt x="0" y="1018011"/>
                </a:lnTo>
                <a:lnTo>
                  <a:pt x="0" y="0"/>
                </a:lnTo>
                <a:close/>
              </a:path>
            </a:pathLst>
          </a:custGeom>
          <a:blipFill>
            <a:blip r:embed="rId16"/>
            <a:stretch>
              <a:fillRect l="0" t="0" r="0" b="0"/>
            </a:stretch>
          </a:blipFill>
        </p:spPr>
      </p:sp>
      <p:sp>
        <p:nvSpPr>
          <p:cNvPr name="Freeform 17" id="17"/>
          <p:cNvSpPr/>
          <p:nvPr/>
        </p:nvSpPr>
        <p:spPr>
          <a:xfrm flipH="false" flipV="false" rot="0">
            <a:off x="1085850" y="7846975"/>
            <a:ext cx="1222514" cy="904519"/>
          </a:xfrm>
          <a:custGeom>
            <a:avLst/>
            <a:gdLst/>
            <a:ahLst/>
            <a:cxnLst/>
            <a:rect r="r" b="b" t="t" l="l"/>
            <a:pathLst>
              <a:path h="904519" w="1222514">
                <a:moveTo>
                  <a:pt x="0" y="0"/>
                </a:moveTo>
                <a:lnTo>
                  <a:pt x="1222514" y="0"/>
                </a:lnTo>
                <a:lnTo>
                  <a:pt x="1222514" y="904519"/>
                </a:lnTo>
                <a:lnTo>
                  <a:pt x="0" y="904519"/>
                </a:lnTo>
                <a:lnTo>
                  <a:pt x="0" y="0"/>
                </a:lnTo>
                <a:close/>
              </a:path>
            </a:pathLst>
          </a:custGeom>
          <a:blipFill>
            <a:blip r:embed="rId17"/>
            <a:stretch>
              <a:fillRect l="0" t="0" r="0" b="0"/>
            </a:stretch>
          </a:blipFill>
        </p:spPr>
      </p:sp>
      <p:sp>
        <p:nvSpPr>
          <p:cNvPr name="Freeform 18" id="18"/>
          <p:cNvSpPr/>
          <p:nvPr/>
        </p:nvSpPr>
        <p:spPr>
          <a:xfrm flipH="false" flipV="false" rot="0">
            <a:off x="3011386" y="7970295"/>
            <a:ext cx="2596582" cy="657878"/>
          </a:xfrm>
          <a:custGeom>
            <a:avLst/>
            <a:gdLst/>
            <a:ahLst/>
            <a:cxnLst/>
            <a:rect r="r" b="b" t="t" l="l"/>
            <a:pathLst>
              <a:path h="657878" w="2596582">
                <a:moveTo>
                  <a:pt x="0" y="0"/>
                </a:moveTo>
                <a:lnTo>
                  <a:pt x="2596582" y="0"/>
                </a:lnTo>
                <a:lnTo>
                  <a:pt x="2596582" y="657879"/>
                </a:lnTo>
                <a:lnTo>
                  <a:pt x="0" y="657879"/>
                </a:lnTo>
                <a:lnTo>
                  <a:pt x="0" y="0"/>
                </a:lnTo>
                <a:close/>
              </a:path>
            </a:pathLst>
          </a:custGeom>
          <a:blipFill>
            <a:blip r:embed="rId18"/>
            <a:stretch>
              <a:fillRect l="0" t="0" r="0" b="0"/>
            </a:stretch>
          </a:blipFill>
        </p:spPr>
      </p:sp>
      <p:sp>
        <p:nvSpPr>
          <p:cNvPr name="Freeform 19" id="19"/>
          <p:cNvSpPr/>
          <p:nvPr/>
        </p:nvSpPr>
        <p:spPr>
          <a:xfrm flipH="false" flipV="false" rot="0">
            <a:off x="14313052" y="8020943"/>
            <a:ext cx="2645440" cy="556582"/>
          </a:xfrm>
          <a:custGeom>
            <a:avLst/>
            <a:gdLst/>
            <a:ahLst/>
            <a:cxnLst/>
            <a:rect r="r" b="b" t="t" l="l"/>
            <a:pathLst>
              <a:path h="556582" w="2645440">
                <a:moveTo>
                  <a:pt x="0" y="0"/>
                </a:moveTo>
                <a:lnTo>
                  <a:pt x="2645440" y="0"/>
                </a:lnTo>
                <a:lnTo>
                  <a:pt x="2645440" y="556582"/>
                </a:lnTo>
                <a:lnTo>
                  <a:pt x="0" y="556582"/>
                </a:lnTo>
                <a:lnTo>
                  <a:pt x="0" y="0"/>
                </a:lnTo>
                <a:close/>
              </a:path>
            </a:pathLst>
          </a:custGeom>
          <a:blipFill>
            <a:blip r:embed="rId19"/>
            <a:stretch>
              <a:fillRect l="-6955" t="-30470" r="-2229" b="-30406"/>
            </a:stretch>
          </a:blipFill>
        </p:spPr>
      </p:sp>
      <p:sp>
        <p:nvSpPr>
          <p:cNvPr name="TextBox 20" id="20"/>
          <p:cNvSpPr txBox="true"/>
          <p:nvPr/>
        </p:nvSpPr>
        <p:spPr>
          <a:xfrm rot="0">
            <a:off x="1028700" y="2591289"/>
            <a:ext cx="13681621"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Embedded talent within</a:t>
            </a:r>
          </a:p>
          <a:p>
            <a:pPr algn="l">
              <a:lnSpc>
                <a:spcPts val="6999"/>
              </a:lnSpc>
            </a:pPr>
            <a:r>
              <a:rPr lang="en-US" sz="6999">
                <a:solidFill>
                  <a:srgbClr val="0D0D0D"/>
                </a:solidFill>
                <a:latin typeface="Poppins Light"/>
                <a:ea typeface="Poppins Light"/>
                <a:cs typeface="Poppins Light"/>
                <a:sym typeface="Poppins Light"/>
              </a:rPr>
              <a:t>client teams</a:t>
            </a:r>
          </a:p>
        </p:txBody>
      </p:sp>
      <p:sp>
        <p:nvSpPr>
          <p:cNvPr name="TextBox 21" id="21"/>
          <p:cNvSpPr txBox="true"/>
          <p:nvPr/>
        </p:nvSpPr>
        <p:spPr>
          <a:xfrm rot="0">
            <a:off x="1084965" y="1849559"/>
            <a:ext cx="4464761" cy="5200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Staff Augmentation</a:t>
            </a:r>
          </a:p>
        </p:txBody>
      </p:sp>
      <p:sp>
        <p:nvSpPr>
          <p:cNvPr name="Freeform 22" id="2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82825" y="1072430"/>
            <a:ext cx="2276475" cy="784945"/>
            <a:chOff x="0" y="0"/>
            <a:chExt cx="599565" cy="206735"/>
          </a:xfrm>
        </p:grpSpPr>
        <p:sp>
          <p:nvSpPr>
            <p:cNvPr name="Freeform 3" id="3"/>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 id="4"/>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5" id="5"/>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6" id="6"/>
          <p:cNvGrpSpPr/>
          <p:nvPr/>
        </p:nvGrpSpPr>
        <p:grpSpPr>
          <a:xfrm rot="0">
            <a:off x="15319698"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280744" y="3509412"/>
            <a:ext cx="6159385" cy="784945"/>
            <a:chOff x="0" y="0"/>
            <a:chExt cx="8212513" cy="1046593"/>
          </a:xfrm>
        </p:grpSpPr>
        <p:grpSp>
          <p:nvGrpSpPr>
            <p:cNvPr name="Group 11" id="11"/>
            <p:cNvGrpSpPr/>
            <p:nvPr/>
          </p:nvGrpSpPr>
          <p:grpSpPr>
            <a:xfrm rot="0">
              <a:off x="0" y="0"/>
              <a:ext cx="8212513" cy="1046593"/>
              <a:chOff x="0" y="0"/>
              <a:chExt cx="1622225" cy="206735"/>
            </a:xfrm>
          </p:grpSpPr>
          <p:sp>
            <p:nvSpPr>
              <p:cNvPr name="Freeform 12" id="1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Secure Environment</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4447307"/>
            <a:ext cx="6159385" cy="784945"/>
            <a:chOff x="0" y="0"/>
            <a:chExt cx="8212513" cy="1046593"/>
          </a:xfrm>
        </p:grpSpPr>
        <p:grpSp>
          <p:nvGrpSpPr>
            <p:cNvPr name="Group 19" id="19"/>
            <p:cNvGrpSpPr/>
            <p:nvPr/>
          </p:nvGrpSpPr>
          <p:grpSpPr>
            <a:xfrm rot="0">
              <a:off x="0" y="0"/>
              <a:ext cx="8212513" cy="1046593"/>
              <a:chOff x="0" y="0"/>
              <a:chExt cx="1622225" cy="206735"/>
            </a:xfrm>
          </p:grpSpPr>
          <p:sp>
            <p:nvSpPr>
              <p:cNvPr name="Freeform 20" id="20"/>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Isolated and auditable</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5384652"/>
            <a:ext cx="6159385" cy="784945"/>
            <a:chOff x="0" y="0"/>
            <a:chExt cx="8212513" cy="1046593"/>
          </a:xfrm>
        </p:grpSpPr>
        <p:grpSp>
          <p:nvGrpSpPr>
            <p:cNvPr name="Group 27" id="27"/>
            <p:cNvGrpSpPr/>
            <p:nvPr/>
          </p:nvGrpSpPr>
          <p:grpSpPr>
            <a:xfrm rot="0">
              <a:off x="0" y="0"/>
              <a:ext cx="8212513" cy="1046593"/>
              <a:chOff x="0" y="0"/>
              <a:chExt cx="1622225" cy="206735"/>
            </a:xfrm>
          </p:grpSpPr>
          <p:sp>
            <p:nvSpPr>
              <p:cNvPr name="Freeform 28" id="28"/>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Secure handling of secrets</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6370065"/>
            <a:ext cx="6159385" cy="784945"/>
            <a:chOff x="0" y="0"/>
            <a:chExt cx="8212513" cy="1046593"/>
          </a:xfrm>
        </p:grpSpPr>
        <p:grpSp>
          <p:nvGrpSpPr>
            <p:cNvPr name="Group 35" id="35"/>
            <p:cNvGrpSpPr/>
            <p:nvPr/>
          </p:nvGrpSpPr>
          <p:grpSpPr>
            <a:xfrm rot="0">
              <a:off x="0" y="0"/>
              <a:ext cx="8212513" cy="1046593"/>
              <a:chOff x="0" y="0"/>
              <a:chExt cx="1622225" cy="206735"/>
            </a:xfrm>
          </p:grpSpPr>
          <p:sp>
            <p:nvSpPr>
              <p:cNvPr name="Freeform 36" id="36"/>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Data Protection Controls</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2" id="42"/>
          <p:cNvGrpSpPr/>
          <p:nvPr/>
        </p:nvGrpSpPr>
        <p:grpSpPr>
          <a:xfrm rot="0">
            <a:off x="9280744" y="7355035"/>
            <a:ext cx="6159385" cy="784945"/>
            <a:chOff x="0" y="0"/>
            <a:chExt cx="8212513" cy="1046593"/>
          </a:xfrm>
        </p:grpSpPr>
        <p:grpSp>
          <p:nvGrpSpPr>
            <p:cNvPr name="Group 43" id="43"/>
            <p:cNvGrpSpPr/>
            <p:nvPr/>
          </p:nvGrpSpPr>
          <p:grpSpPr>
            <a:xfrm rot="0">
              <a:off x="0" y="0"/>
              <a:ext cx="8212513" cy="1046593"/>
              <a:chOff x="0" y="0"/>
              <a:chExt cx="1622225" cy="206735"/>
            </a:xfrm>
          </p:grpSpPr>
          <p:sp>
            <p:nvSpPr>
              <p:cNvPr name="Freeform 44" id="44"/>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5" id="45"/>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46" id="46"/>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Code Reviews and Testing</a:t>
              </a:r>
            </a:p>
          </p:txBody>
        </p:sp>
        <p:grpSp>
          <p:nvGrpSpPr>
            <p:cNvPr name="Group 47" id="47"/>
            <p:cNvGrpSpPr/>
            <p:nvPr/>
          </p:nvGrpSpPr>
          <p:grpSpPr>
            <a:xfrm rot="0">
              <a:off x="376982" y="362723"/>
              <a:ext cx="321148" cy="32114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0" id="50"/>
          <p:cNvGrpSpPr/>
          <p:nvPr/>
        </p:nvGrpSpPr>
        <p:grpSpPr>
          <a:xfrm rot="0">
            <a:off x="9280744" y="8292380"/>
            <a:ext cx="6159385" cy="784945"/>
            <a:chOff x="0" y="0"/>
            <a:chExt cx="8212513" cy="1046593"/>
          </a:xfrm>
        </p:grpSpPr>
        <p:grpSp>
          <p:nvGrpSpPr>
            <p:cNvPr name="Group 51" id="51"/>
            <p:cNvGrpSpPr/>
            <p:nvPr/>
          </p:nvGrpSpPr>
          <p:grpSpPr>
            <a:xfrm rot="0">
              <a:off x="0" y="0"/>
              <a:ext cx="8212513" cy="1046593"/>
              <a:chOff x="0" y="0"/>
              <a:chExt cx="1622225" cy="206735"/>
            </a:xfrm>
          </p:grpSpPr>
          <p:sp>
            <p:nvSpPr>
              <p:cNvPr name="Freeform 52" id="5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3" id="5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54" id="54"/>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Continous Monitoring</a:t>
              </a:r>
            </a:p>
          </p:txBody>
        </p:sp>
        <p:grpSp>
          <p:nvGrpSpPr>
            <p:cNvPr name="Group 55" id="55"/>
            <p:cNvGrpSpPr/>
            <p:nvPr/>
          </p:nvGrpSpPr>
          <p:grpSpPr>
            <a:xfrm rot="0">
              <a:off x="376982" y="362723"/>
              <a:ext cx="321148" cy="32114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58" id="58"/>
          <p:cNvSpPr/>
          <p:nvPr/>
        </p:nvSpPr>
        <p:spPr>
          <a:xfrm flipH="false" flipV="false" rot="0">
            <a:off x="1034935" y="5539698"/>
            <a:ext cx="1737361" cy="2046965"/>
          </a:xfrm>
          <a:custGeom>
            <a:avLst/>
            <a:gdLst/>
            <a:ahLst/>
            <a:cxnLst/>
            <a:rect r="r" b="b" t="t" l="l"/>
            <a:pathLst>
              <a:path h="2046965" w="1737361">
                <a:moveTo>
                  <a:pt x="0" y="0"/>
                </a:moveTo>
                <a:lnTo>
                  <a:pt x="1737361" y="0"/>
                </a:lnTo>
                <a:lnTo>
                  <a:pt x="1737361" y="2046964"/>
                </a:lnTo>
                <a:lnTo>
                  <a:pt x="0" y="20469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9" id="59"/>
          <p:cNvSpPr txBox="true"/>
          <p:nvPr/>
        </p:nvSpPr>
        <p:spPr>
          <a:xfrm rot="0">
            <a:off x="9280744" y="2826279"/>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Security First</a:t>
            </a:r>
          </a:p>
        </p:txBody>
      </p:sp>
      <p:sp>
        <p:nvSpPr>
          <p:cNvPr name="TextBox 60" id="60"/>
          <p:cNvSpPr txBox="true"/>
          <p:nvPr/>
        </p:nvSpPr>
        <p:spPr>
          <a:xfrm rot="0">
            <a:off x="971550" y="2430363"/>
            <a:ext cx="6519862" cy="2759075"/>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Secure Development Practices</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82825" y="1072430"/>
            <a:ext cx="2276475" cy="784945"/>
            <a:chOff x="0" y="0"/>
            <a:chExt cx="599565" cy="206735"/>
          </a:xfrm>
        </p:grpSpPr>
        <p:sp>
          <p:nvSpPr>
            <p:cNvPr name="Freeform 3" id="3"/>
            <p:cNvSpPr/>
            <p:nvPr/>
          </p:nvSpPr>
          <p:spPr>
            <a:xfrm flipH="false" flipV="false" rot="0">
              <a:off x="0" y="0"/>
              <a:ext cx="599565" cy="206735"/>
            </a:xfrm>
            <a:custGeom>
              <a:avLst/>
              <a:gdLst/>
              <a:ahLst/>
              <a:cxnLst/>
              <a:rect r="r" b="b" t="t" l="l"/>
              <a:pathLst>
                <a:path h="206735" w="599565">
                  <a:moveTo>
                    <a:pt x="103367" y="0"/>
                  </a:moveTo>
                  <a:lnTo>
                    <a:pt x="496198" y="0"/>
                  </a:lnTo>
                  <a:cubicBezTo>
                    <a:pt x="523613" y="0"/>
                    <a:pt x="549905" y="10890"/>
                    <a:pt x="569290" y="30276"/>
                  </a:cubicBezTo>
                  <a:cubicBezTo>
                    <a:pt x="588675" y="49661"/>
                    <a:pt x="599565" y="75953"/>
                    <a:pt x="599565" y="103367"/>
                  </a:cubicBezTo>
                  <a:lnTo>
                    <a:pt x="599565" y="103367"/>
                  </a:lnTo>
                  <a:cubicBezTo>
                    <a:pt x="599565" y="130782"/>
                    <a:pt x="588675" y="157074"/>
                    <a:pt x="569290" y="176459"/>
                  </a:cubicBezTo>
                  <a:cubicBezTo>
                    <a:pt x="549905" y="195844"/>
                    <a:pt x="523613" y="206735"/>
                    <a:pt x="496198"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4" id="4"/>
            <p:cNvSpPr txBox="true"/>
            <p:nvPr/>
          </p:nvSpPr>
          <p:spPr>
            <a:xfrm>
              <a:off x="0" y="-38100"/>
              <a:ext cx="599565" cy="244835"/>
            </a:xfrm>
            <a:prstGeom prst="rect">
              <a:avLst/>
            </a:prstGeom>
          </p:spPr>
          <p:txBody>
            <a:bodyPr anchor="ctr" rtlCol="false" tIns="50800" lIns="50800" bIns="50800" rIns="50800"/>
            <a:lstStyle/>
            <a:p>
              <a:pPr algn="ctr">
                <a:lnSpc>
                  <a:spcPts val="2520"/>
                </a:lnSpc>
              </a:pPr>
            </a:p>
          </p:txBody>
        </p:sp>
      </p:grpSp>
      <p:sp>
        <p:nvSpPr>
          <p:cNvPr name="TextBox 5" id="5"/>
          <p:cNvSpPr txBox="true"/>
          <p:nvPr/>
        </p:nvSpPr>
        <p:spPr>
          <a:xfrm rot="0">
            <a:off x="15224448" y="1220428"/>
            <a:ext cx="1663377" cy="431800"/>
          </a:xfrm>
          <a:prstGeom prst="rect">
            <a:avLst/>
          </a:prstGeom>
        </p:spPr>
        <p:txBody>
          <a:bodyPr anchor="t" rtlCol="false" tIns="0" lIns="0" bIns="0" rIns="0">
            <a:spAutoFit/>
          </a:bodyPr>
          <a:lstStyle/>
          <a:p>
            <a:pPr algn="r" marL="0" indent="0" lvl="0">
              <a:lnSpc>
                <a:spcPts val="3500"/>
              </a:lnSpc>
              <a:spcBef>
                <a:spcPct val="0"/>
              </a:spcBef>
            </a:pPr>
            <a:r>
              <a:rPr lang="en-US" sz="2500">
                <a:solidFill>
                  <a:srgbClr val="FFFFFF"/>
                </a:solidFill>
                <a:latin typeface="Neue Montreal"/>
                <a:ea typeface="Neue Montreal"/>
                <a:cs typeface="Neue Montreal"/>
                <a:sym typeface="Neue Montreal"/>
              </a:rPr>
              <a:t>Services</a:t>
            </a:r>
          </a:p>
        </p:txBody>
      </p:sp>
      <p:grpSp>
        <p:nvGrpSpPr>
          <p:cNvPr name="Group 6" id="6"/>
          <p:cNvGrpSpPr/>
          <p:nvPr/>
        </p:nvGrpSpPr>
        <p:grpSpPr>
          <a:xfrm rot="0">
            <a:off x="15319698" y="1344472"/>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280744" y="2943394"/>
            <a:ext cx="6159385" cy="784945"/>
            <a:chOff x="0" y="0"/>
            <a:chExt cx="8212513" cy="1046593"/>
          </a:xfrm>
        </p:grpSpPr>
        <p:grpSp>
          <p:nvGrpSpPr>
            <p:cNvPr name="Group 11" id="11"/>
            <p:cNvGrpSpPr/>
            <p:nvPr/>
          </p:nvGrpSpPr>
          <p:grpSpPr>
            <a:xfrm rot="0">
              <a:off x="0" y="0"/>
              <a:ext cx="8212513" cy="1046593"/>
              <a:chOff x="0" y="0"/>
              <a:chExt cx="1622225" cy="206735"/>
            </a:xfrm>
          </p:grpSpPr>
          <p:sp>
            <p:nvSpPr>
              <p:cNvPr name="Freeform 12" id="12"/>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13" id="13"/>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980011" y="197330"/>
              <a:ext cx="6425605"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Work-for-hire</a:t>
              </a:r>
            </a:p>
          </p:txBody>
        </p:sp>
        <p:grpSp>
          <p:nvGrpSpPr>
            <p:cNvPr name="Group 15" id="15"/>
            <p:cNvGrpSpPr/>
            <p:nvPr/>
          </p:nvGrpSpPr>
          <p:grpSpPr>
            <a:xfrm rot="0">
              <a:off x="376982" y="362723"/>
              <a:ext cx="321148" cy="32114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18" id="18"/>
          <p:cNvGrpSpPr/>
          <p:nvPr/>
        </p:nvGrpSpPr>
        <p:grpSpPr>
          <a:xfrm rot="0">
            <a:off x="9280744" y="5757080"/>
            <a:ext cx="2586938" cy="784945"/>
            <a:chOff x="0" y="0"/>
            <a:chExt cx="3449250" cy="1046593"/>
          </a:xfrm>
        </p:grpSpPr>
        <p:grpSp>
          <p:nvGrpSpPr>
            <p:cNvPr name="Group 19" id="19"/>
            <p:cNvGrpSpPr/>
            <p:nvPr/>
          </p:nvGrpSpPr>
          <p:grpSpPr>
            <a:xfrm rot="0">
              <a:off x="0" y="0"/>
              <a:ext cx="3449250" cy="1046593"/>
              <a:chOff x="0" y="0"/>
              <a:chExt cx="681333" cy="206735"/>
            </a:xfrm>
          </p:grpSpPr>
          <p:sp>
            <p:nvSpPr>
              <p:cNvPr name="Freeform 20" id="20"/>
              <p:cNvSpPr/>
              <p:nvPr/>
            </p:nvSpPr>
            <p:spPr>
              <a:xfrm flipH="false" flipV="false" rot="0">
                <a:off x="0" y="0"/>
                <a:ext cx="681333" cy="206735"/>
              </a:xfrm>
              <a:custGeom>
                <a:avLst/>
                <a:gdLst/>
                <a:ahLst/>
                <a:cxnLst/>
                <a:rect r="r" b="b" t="t" l="l"/>
                <a:pathLst>
                  <a:path h="206735" w="681333">
                    <a:moveTo>
                      <a:pt x="103367" y="0"/>
                    </a:moveTo>
                    <a:lnTo>
                      <a:pt x="577966" y="0"/>
                    </a:lnTo>
                    <a:cubicBezTo>
                      <a:pt x="605381" y="0"/>
                      <a:pt x="631673" y="10890"/>
                      <a:pt x="651058" y="30276"/>
                    </a:cubicBezTo>
                    <a:cubicBezTo>
                      <a:pt x="670443" y="49661"/>
                      <a:pt x="681333" y="75953"/>
                      <a:pt x="681333" y="103367"/>
                    </a:cubicBezTo>
                    <a:lnTo>
                      <a:pt x="681333" y="103367"/>
                    </a:lnTo>
                    <a:cubicBezTo>
                      <a:pt x="681333" y="130782"/>
                      <a:pt x="670443" y="157074"/>
                      <a:pt x="651058" y="176459"/>
                    </a:cubicBezTo>
                    <a:cubicBezTo>
                      <a:pt x="631673" y="195844"/>
                      <a:pt x="605381" y="206735"/>
                      <a:pt x="577966"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1" id="21"/>
              <p:cNvSpPr txBox="true"/>
              <p:nvPr/>
            </p:nvSpPr>
            <p:spPr>
              <a:xfrm>
                <a:off x="0" y="-38100"/>
                <a:ext cx="681333" cy="244835"/>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980011" y="197330"/>
              <a:ext cx="1709772"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Reseller</a:t>
              </a:r>
            </a:p>
          </p:txBody>
        </p:sp>
        <p:grpSp>
          <p:nvGrpSpPr>
            <p:cNvPr name="Group 23" id="23"/>
            <p:cNvGrpSpPr/>
            <p:nvPr/>
          </p:nvGrpSpPr>
          <p:grpSpPr>
            <a:xfrm rot="0">
              <a:off x="376982" y="362723"/>
              <a:ext cx="321148" cy="32114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26" id="26"/>
          <p:cNvGrpSpPr/>
          <p:nvPr/>
        </p:nvGrpSpPr>
        <p:grpSpPr>
          <a:xfrm rot="0">
            <a:off x="9280744" y="3881290"/>
            <a:ext cx="6159385" cy="784945"/>
            <a:chOff x="0" y="0"/>
            <a:chExt cx="8212513" cy="1046593"/>
          </a:xfrm>
        </p:grpSpPr>
        <p:grpSp>
          <p:nvGrpSpPr>
            <p:cNvPr name="Group 27" id="27"/>
            <p:cNvGrpSpPr/>
            <p:nvPr/>
          </p:nvGrpSpPr>
          <p:grpSpPr>
            <a:xfrm rot="0">
              <a:off x="0" y="0"/>
              <a:ext cx="8212513" cy="1046593"/>
              <a:chOff x="0" y="0"/>
              <a:chExt cx="1622225" cy="206735"/>
            </a:xfrm>
          </p:grpSpPr>
          <p:sp>
            <p:nvSpPr>
              <p:cNvPr name="Freeform 28" id="28"/>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29" id="29"/>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30" id="30"/>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Open Source</a:t>
              </a:r>
            </a:p>
          </p:txBody>
        </p:sp>
        <p:grpSp>
          <p:nvGrpSpPr>
            <p:cNvPr name="Group 31" id="31"/>
            <p:cNvGrpSpPr/>
            <p:nvPr/>
          </p:nvGrpSpPr>
          <p:grpSpPr>
            <a:xfrm rot="0">
              <a:off x="376982" y="362723"/>
              <a:ext cx="321148" cy="3211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34" id="34"/>
          <p:cNvGrpSpPr/>
          <p:nvPr/>
        </p:nvGrpSpPr>
        <p:grpSpPr>
          <a:xfrm rot="0">
            <a:off x="9280744" y="6694976"/>
            <a:ext cx="2565083" cy="784945"/>
            <a:chOff x="0" y="0"/>
            <a:chExt cx="3420111" cy="1046593"/>
          </a:xfrm>
        </p:grpSpPr>
        <p:grpSp>
          <p:nvGrpSpPr>
            <p:cNvPr name="Group 35" id="35"/>
            <p:cNvGrpSpPr/>
            <p:nvPr/>
          </p:nvGrpSpPr>
          <p:grpSpPr>
            <a:xfrm rot="0">
              <a:off x="0" y="0"/>
              <a:ext cx="3420111" cy="1046593"/>
              <a:chOff x="0" y="0"/>
              <a:chExt cx="675577" cy="206735"/>
            </a:xfrm>
          </p:grpSpPr>
          <p:sp>
            <p:nvSpPr>
              <p:cNvPr name="Freeform 36" id="36"/>
              <p:cNvSpPr/>
              <p:nvPr/>
            </p:nvSpPr>
            <p:spPr>
              <a:xfrm flipH="false" flipV="false" rot="0">
                <a:off x="0" y="0"/>
                <a:ext cx="675577" cy="206735"/>
              </a:xfrm>
              <a:custGeom>
                <a:avLst/>
                <a:gdLst/>
                <a:ahLst/>
                <a:cxnLst/>
                <a:rect r="r" b="b" t="t" l="l"/>
                <a:pathLst>
                  <a:path h="206735" w="675577">
                    <a:moveTo>
                      <a:pt x="103367" y="0"/>
                    </a:moveTo>
                    <a:lnTo>
                      <a:pt x="572210" y="0"/>
                    </a:lnTo>
                    <a:cubicBezTo>
                      <a:pt x="599625" y="0"/>
                      <a:pt x="625917" y="10890"/>
                      <a:pt x="645302" y="30276"/>
                    </a:cubicBezTo>
                    <a:cubicBezTo>
                      <a:pt x="664687" y="49661"/>
                      <a:pt x="675577" y="75953"/>
                      <a:pt x="675577" y="103367"/>
                    </a:cubicBezTo>
                    <a:lnTo>
                      <a:pt x="675577" y="103367"/>
                    </a:lnTo>
                    <a:cubicBezTo>
                      <a:pt x="675577" y="130782"/>
                      <a:pt x="664687" y="157074"/>
                      <a:pt x="645302" y="176459"/>
                    </a:cubicBezTo>
                    <a:cubicBezTo>
                      <a:pt x="625917" y="195844"/>
                      <a:pt x="599625" y="206735"/>
                      <a:pt x="572210"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37" id="37"/>
              <p:cNvSpPr txBox="true"/>
              <p:nvPr/>
            </p:nvSpPr>
            <p:spPr>
              <a:xfrm>
                <a:off x="0" y="-38100"/>
                <a:ext cx="675577" cy="244835"/>
              </a:xfrm>
              <a:prstGeom prst="rect">
                <a:avLst/>
              </a:prstGeom>
            </p:spPr>
            <p:txBody>
              <a:bodyPr anchor="ctr" rtlCol="false" tIns="50800" lIns="50800" bIns="50800" rIns="50800"/>
              <a:lstStyle/>
              <a:p>
                <a:pPr algn="ctr">
                  <a:lnSpc>
                    <a:spcPts val="2520"/>
                  </a:lnSpc>
                </a:pPr>
              </a:p>
            </p:txBody>
          </p:sp>
        </p:grpSp>
        <p:sp>
          <p:nvSpPr>
            <p:cNvPr name="TextBox 38" id="38"/>
            <p:cNvSpPr txBox="true"/>
            <p:nvPr/>
          </p:nvSpPr>
          <p:spPr>
            <a:xfrm rot="0">
              <a:off x="980011" y="197330"/>
              <a:ext cx="1855283"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BYOL</a:t>
              </a:r>
            </a:p>
          </p:txBody>
        </p:sp>
        <p:grpSp>
          <p:nvGrpSpPr>
            <p:cNvPr name="Group 39" id="39"/>
            <p:cNvGrpSpPr/>
            <p:nvPr/>
          </p:nvGrpSpPr>
          <p:grpSpPr>
            <a:xfrm rot="0">
              <a:off x="376982" y="362723"/>
              <a:ext cx="321148" cy="3211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42" id="42"/>
          <p:cNvGrpSpPr/>
          <p:nvPr/>
        </p:nvGrpSpPr>
        <p:grpSpPr>
          <a:xfrm rot="0">
            <a:off x="9280744" y="4818635"/>
            <a:ext cx="6159385" cy="784945"/>
            <a:chOff x="0" y="0"/>
            <a:chExt cx="8212513" cy="1046593"/>
          </a:xfrm>
        </p:grpSpPr>
        <p:grpSp>
          <p:nvGrpSpPr>
            <p:cNvPr name="Group 43" id="43"/>
            <p:cNvGrpSpPr/>
            <p:nvPr/>
          </p:nvGrpSpPr>
          <p:grpSpPr>
            <a:xfrm rot="0">
              <a:off x="0" y="0"/>
              <a:ext cx="8212513" cy="1046593"/>
              <a:chOff x="0" y="0"/>
              <a:chExt cx="1622225" cy="206735"/>
            </a:xfrm>
          </p:grpSpPr>
          <p:sp>
            <p:nvSpPr>
              <p:cNvPr name="Freeform 44" id="44"/>
              <p:cNvSpPr/>
              <p:nvPr/>
            </p:nvSpPr>
            <p:spPr>
              <a:xfrm flipH="false" flipV="false" rot="0">
                <a:off x="0" y="0"/>
                <a:ext cx="1622225" cy="206735"/>
              </a:xfrm>
              <a:custGeom>
                <a:avLst/>
                <a:gdLst/>
                <a:ahLst/>
                <a:cxnLst/>
                <a:rect r="r" b="b" t="t" l="l"/>
                <a:pathLst>
                  <a:path h="206735" w="1622225">
                    <a:moveTo>
                      <a:pt x="103367" y="0"/>
                    </a:moveTo>
                    <a:lnTo>
                      <a:pt x="1518857" y="0"/>
                    </a:lnTo>
                    <a:cubicBezTo>
                      <a:pt x="1546272" y="0"/>
                      <a:pt x="1572564" y="10890"/>
                      <a:pt x="1591949" y="30276"/>
                    </a:cubicBezTo>
                    <a:cubicBezTo>
                      <a:pt x="1611334" y="49661"/>
                      <a:pt x="1622225" y="75953"/>
                      <a:pt x="1622225" y="103367"/>
                    </a:cubicBezTo>
                    <a:lnTo>
                      <a:pt x="1622225" y="103367"/>
                    </a:lnTo>
                    <a:cubicBezTo>
                      <a:pt x="1622225" y="130782"/>
                      <a:pt x="1611334" y="157074"/>
                      <a:pt x="1591949" y="176459"/>
                    </a:cubicBezTo>
                    <a:cubicBezTo>
                      <a:pt x="1572564" y="195844"/>
                      <a:pt x="1546272" y="206735"/>
                      <a:pt x="1518857"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45" id="45"/>
              <p:cNvSpPr txBox="true"/>
              <p:nvPr/>
            </p:nvSpPr>
            <p:spPr>
              <a:xfrm>
                <a:off x="0" y="-38100"/>
                <a:ext cx="1622225" cy="244835"/>
              </a:xfrm>
              <a:prstGeom prst="rect">
                <a:avLst/>
              </a:prstGeom>
            </p:spPr>
            <p:txBody>
              <a:bodyPr anchor="ctr" rtlCol="false" tIns="50800" lIns="50800" bIns="50800" rIns="50800"/>
              <a:lstStyle/>
              <a:p>
                <a:pPr algn="ctr">
                  <a:lnSpc>
                    <a:spcPts val="2520"/>
                  </a:lnSpc>
                </a:pPr>
              </a:p>
            </p:txBody>
          </p:sp>
        </p:grpSp>
        <p:sp>
          <p:nvSpPr>
            <p:cNvPr name="TextBox 46" id="46"/>
            <p:cNvSpPr txBox="true"/>
            <p:nvPr/>
          </p:nvSpPr>
          <p:spPr>
            <a:xfrm rot="0">
              <a:off x="980011" y="197330"/>
              <a:ext cx="6492081"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Ortus Licensed Software</a:t>
              </a:r>
            </a:p>
          </p:txBody>
        </p:sp>
        <p:grpSp>
          <p:nvGrpSpPr>
            <p:cNvPr name="Group 47" id="47"/>
            <p:cNvGrpSpPr/>
            <p:nvPr/>
          </p:nvGrpSpPr>
          <p:grpSpPr>
            <a:xfrm rot="0">
              <a:off x="376982" y="362723"/>
              <a:ext cx="321148" cy="32114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0" id="50"/>
          <p:cNvGrpSpPr/>
          <p:nvPr/>
        </p:nvGrpSpPr>
        <p:grpSpPr>
          <a:xfrm rot="0">
            <a:off x="9302599" y="7632321"/>
            <a:ext cx="2565083" cy="784945"/>
            <a:chOff x="0" y="0"/>
            <a:chExt cx="3420111" cy="1046593"/>
          </a:xfrm>
        </p:grpSpPr>
        <p:grpSp>
          <p:nvGrpSpPr>
            <p:cNvPr name="Group 51" id="51"/>
            <p:cNvGrpSpPr/>
            <p:nvPr/>
          </p:nvGrpSpPr>
          <p:grpSpPr>
            <a:xfrm rot="0">
              <a:off x="0" y="0"/>
              <a:ext cx="3420111" cy="1046593"/>
              <a:chOff x="0" y="0"/>
              <a:chExt cx="675577" cy="206735"/>
            </a:xfrm>
          </p:grpSpPr>
          <p:sp>
            <p:nvSpPr>
              <p:cNvPr name="Freeform 52" id="52"/>
              <p:cNvSpPr/>
              <p:nvPr/>
            </p:nvSpPr>
            <p:spPr>
              <a:xfrm flipH="false" flipV="false" rot="0">
                <a:off x="0" y="0"/>
                <a:ext cx="675577" cy="206735"/>
              </a:xfrm>
              <a:custGeom>
                <a:avLst/>
                <a:gdLst/>
                <a:ahLst/>
                <a:cxnLst/>
                <a:rect r="r" b="b" t="t" l="l"/>
                <a:pathLst>
                  <a:path h="206735" w="675577">
                    <a:moveTo>
                      <a:pt x="103367" y="0"/>
                    </a:moveTo>
                    <a:lnTo>
                      <a:pt x="572210" y="0"/>
                    </a:lnTo>
                    <a:cubicBezTo>
                      <a:pt x="599625" y="0"/>
                      <a:pt x="625917" y="10890"/>
                      <a:pt x="645302" y="30276"/>
                    </a:cubicBezTo>
                    <a:cubicBezTo>
                      <a:pt x="664687" y="49661"/>
                      <a:pt x="675577" y="75953"/>
                      <a:pt x="675577" y="103367"/>
                    </a:cubicBezTo>
                    <a:lnTo>
                      <a:pt x="675577" y="103367"/>
                    </a:lnTo>
                    <a:cubicBezTo>
                      <a:pt x="675577" y="130782"/>
                      <a:pt x="664687" y="157074"/>
                      <a:pt x="645302" y="176459"/>
                    </a:cubicBezTo>
                    <a:cubicBezTo>
                      <a:pt x="625917" y="195844"/>
                      <a:pt x="599625" y="206735"/>
                      <a:pt x="572210"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53" id="53"/>
              <p:cNvSpPr txBox="true"/>
              <p:nvPr/>
            </p:nvSpPr>
            <p:spPr>
              <a:xfrm>
                <a:off x="0" y="-38100"/>
                <a:ext cx="675577" cy="244835"/>
              </a:xfrm>
              <a:prstGeom prst="rect">
                <a:avLst/>
              </a:prstGeom>
            </p:spPr>
            <p:txBody>
              <a:bodyPr anchor="ctr" rtlCol="false" tIns="50800" lIns="50800" bIns="50800" rIns="50800"/>
              <a:lstStyle/>
              <a:p>
                <a:pPr algn="ctr">
                  <a:lnSpc>
                    <a:spcPts val="2520"/>
                  </a:lnSpc>
                </a:pPr>
              </a:p>
            </p:txBody>
          </p:sp>
        </p:grpSp>
        <p:sp>
          <p:nvSpPr>
            <p:cNvPr name="TextBox 54" id="54"/>
            <p:cNvSpPr txBox="true"/>
            <p:nvPr/>
          </p:nvSpPr>
          <p:spPr>
            <a:xfrm rot="0">
              <a:off x="980011" y="197330"/>
              <a:ext cx="2075242"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MCA+TOs</a:t>
              </a:r>
            </a:p>
          </p:txBody>
        </p:sp>
        <p:grpSp>
          <p:nvGrpSpPr>
            <p:cNvPr name="Group 55" id="55"/>
            <p:cNvGrpSpPr/>
            <p:nvPr/>
          </p:nvGrpSpPr>
          <p:grpSpPr>
            <a:xfrm rot="0">
              <a:off x="376982" y="362723"/>
              <a:ext cx="321148" cy="32114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grpSp>
        <p:nvGrpSpPr>
          <p:cNvPr name="Group 58" id="58"/>
          <p:cNvGrpSpPr/>
          <p:nvPr/>
        </p:nvGrpSpPr>
        <p:grpSpPr>
          <a:xfrm rot="0">
            <a:off x="9302599" y="8569666"/>
            <a:ext cx="2565083" cy="784945"/>
            <a:chOff x="0" y="0"/>
            <a:chExt cx="3420111" cy="1046593"/>
          </a:xfrm>
        </p:grpSpPr>
        <p:grpSp>
          <p:nvGrpSpPr>
            <p:cNvPr name="Group 59" id="59"/>
            <p:cNvGrpSpPr/>
            <p:nvPr/>
          </p:nvGrpSpPr>
          <p:grpSpPr>
            <a:xfrm rot="0">
              <a:off x="0" y="0"/>
              <a:ext cx="3420111" cy="1046593"/>
              <a:chOff x="0" y="0"/>
              <a:chExt cx="675577" cy="206735"/>
            </a:xfrm>
          </p:grpSpPr>
          <p:sp>
            <p:nvSpPr>
              <p:cNvPr name="Freeform 60" id="60"/>
              <p:cNvSpPr/>
              <p:nvPr/>
            </p:nvSpPr>
            <p:spPr>
              <a:xfrm flipH="false" flipV="false" rot="0">
                <a:off x="0" y="0"/>
                <a:ext cx="675577" cy="206735"/>
              </a:xfrm>
              <a:custGeom>
                <a:avLst/>
                <a:gdLst/>
                <a:ahLst/>
                <a:cxnLst/>
                <a:rect r="r" b="b" t="t" l="l"/>
                <a:pathLst>
                  <a:path h="206735" w="675577">
                    <a:moveTo>
                      <a:pt x="103367" y="0"/>
                    </a:moveTo>
                    <a:lnTo>
                      <a:pt x="572210" y="0"/>
                    </a:lnTo>
                    <a:cubicBezTo>
                      <a:pt x="599625" y="0"/>
                      <a:pt x="625917" y="10890"/>
                      <a:pt x="645302" y="30276"/>
                    </a:cubicBezTo>
                    <a:cubicBezTo>
                      <a:pt x="664687" y="49661"/>
                      <a:pt x="675577" y="75953"/>
                      <a:pt x="675577" y="103367"/>
                    </a:cubicBezTo>
                    <a:lnTo>
                      <a:pt x="675577" y="103367"/>
                    </a:lnTo>
                    <a:cubicBezTo>
                      <a:pt x="675577" y="130782"/>
                      <a:pt x="664687" y="157074"/>
                      <a:pt x="645302" y="176459"/>
                    </a:cubicBezTo>
                    <a:cubicBezTo>
                      <a:pt x="625917" y="195844"/>
                      <a:pt x="599625" y="206735"/>
                      <a:pt x="572210"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61" id="61"/>
              <p:cNvSpPr txBox="true"/>
              <p:nvPr/>
            </p:nvSpPr>
            <p:spPr>
              <a:xfrm>
                <a:off x="0" y="-38100"/>
                <a:ext cx="675577" cy="244835"/>
              </a:xfrm>
              <a:prstGeom prst="rect">
                <a:avLst/>
              </a:prstGeom>
            </p:spPr>
            <p:txBody>
              <a:bodyPr anchor="ctr" rtlCol="false" tIns="50800" lIns="50800" bIns="50800" rIns="50800"/>
              <a:lstStyle/>
              <a:p>
                <a:pPr algn="ctr">
                  <a:lnSpc>
                    <a:spcPts val="2520"/>
                  </a:lnSpc>
                </a:pPr>
              </a:p>
            </p:txBody>
          </p:sp>
        </p:grpSp>
        <p:sp>
          <p:nvSpPr>
            <p:cNvPr name="TextBox 62" id="62"/>
            <p:cNvSpPr txBox="true"/>
            <p:nvPr/>
          </p:nvSpPr>
          <p:spPr>
            <a:xfrm rot="0">
              <a:off x="980011" y="197330"/>
              <a:ext cx="1855283" cy="575733"/>
            </a:xfrm>
            <a:prstGeom prst="rect">
              <a:avLst/>
            </a:prstGeom>
          </p:spPr>
          <p:txBody>
            <a:bodyPr anchor="t" rtlCol="false" tIns="0" lIns="0" bIns="0" rIns="0">
              <a:spAutoFit/>
            </a:bodyPr>
            <a:lstStyle/>
            <a:p>
              <a:pPr algn="l" marL="0" indent="0" lvl="0">
                <a:lnSpc>
                  <a:spcPts val="3500"/>
                </a:lnSpc>
                <a:spcBef>
                  <a:spcPct val="0"/>
                </a:spcBef>
              </a:pPr>
              <a:r>
                <a:rPr lang="en-US" sz="2500">
                  <a:solidFill>
                    <a:srgbClr val="0D0D0D"/>
                  </a:solidFill>
                  <a:latin typeface="Poppins"/>
                  <a:ea typeface="Poppins"/>
                  <a:cs typeface="Poppins"/>
                  <a:sym typeface="Poppins"/>
                </a:rPr>
                <a:t>MNDA</a:t>
              </a:r>
            </a:p>
          </p:txBody>
        </p:sp>
        <p:grpSp>
          <p:nvGrpSpPr>
            <p:cNvPr name="Group 63" id="63"/>
            <p:cNvGrpSpPr/>
            <p:nvPr/>
          </p:nvGrpSpPr>
          <p:grpSpPr>
            <a:xfrm rot="0">
              <a:off x="376982" y="362723"/>
              <a:ext cx="321148" cy="321148"/>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5" id="6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sp>
        <p:nvSpPr>
          <p:cNvPr name="Freeform 66" id="66"/>
          <p:cNvSpPr/>
          <p:nvPr/>
        </p:nvSpPr>
        <p:spPr>
          <a:xfrm flipH="false" flipV="false" rot="0">
            <a:off x="971550" y="5143500"/>
            <a:ext cx="2655640" cy="1971813"/>
          </a:xfrm>
          <a:custGeom>
            <a:avLst/>
            <a:gdLst/>
            <a:ahLst/>
            <a:cxnLst/>
            <a:rect r="r" b="b" t="t" l="l"/>
            <a:pathLst>
              <a:path h="1971813" w="2655640">
                <a:moveTo>
                  <a:pt x="0" y="0"/>
                </a:moveTo>
                <a:lnTo>
                  <a:pt x="2655640" y="0"/>
                </a:lnTo>
                <a:lnTo>
                  <a:pt x="2655640" y="1971813"/>
                </a:lnTo>
                <a:lnTo>
                  <a:pt x="0" y="19718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7" id="67"/>
          <p:cNvSpPr txBox="true"/>
          <p:nvPr/>
        </p:nvSpPr>
        <p:spPr>
          <a:xfrm rot="0">
            <a:off x="9280744" y="2260261"/>
            <a:ext cx="4443412" cy="425958"/>
          </a:xfrm>
          <a:prstGeom prst="rect">
            <a:avLst/>
          </a:prstGeom>
        </p:spPr>
        <p:txBody>
          <a:bodyPr anchor="t" rtlCol="false" tIns="0" lIns="0" bIns="0" rIns="0">
            <a:spAutoFit/>
          </a:bodyPr>
          <a:lstStyle/>
          <a:p>
            <a:pPr algn="l">
              <a:lnSpc>
                <a:spcPts val="3185"/>
              </a:lnSpc>
            </a:pPr>
            <a:r>
              <a:rPr lang="en-US" sz="2699">
                <a:solidFill>
                  <a:srgbClr val="0D0D0D"/>
                </a:solidFill>
                <a:latin typeface="Poppins"/>
                <a:ea typeface="Poppins"/>
                <a:cs typeface="Poppins"/>
                <a:sym typeface="Poppins"/>
              </a:rPr>
              <a:t>Your IP is your IP</a:t>
            </a:r>
          </a:p>
        </p:txBody>
      </p:sp>
      <p:sp>
        <p:nvSpPr>
          <p:cNvPr name="TextBox 68" id="68"/>
          <p:cNvSpPr txBox="true"/>
          <p:nvPr/>
        </p:nvSpPr>
        <p:spPr>
          <a:xfrm rot="0">
            <a:off x="971550" y="3013075"/>
            <a:ext cx="6519862" cy="1873250"/>
          </a:xfrm>
          <a:prstGeom prst="rect">
            <a:avLst/>
          </a:prstGeom>
        </p:spPr>
        <p:txBody>
          <a:bodyPr anchor="t" rtlCol="false" tIns="0" lIns="0" bIns="0" rIns="0">
            <a:spAutoFit/>
          </a:bodyPr>
          <a:lstStyle/>
          <a:p>
            <a:pPr algn="l">
              <a:lnSpc>
                <a:spcPts val="6999"/>
              </a:lnSpc>
            </a:pPr>
            <a:r>
              <a:rPr lang="en-US" sz="6999">
                <a:solidFill>
                  <a:srgbClr val="0D0D0D"/>
                </a:solidFill>
                <a:latin typeface="Poppins Light"/>
                <a:ea typeface="Poppins Light"/>
                <a:cs typeface="Poppins Light"/>
                <a:sym typeface="Poppins Light"/>
              </a:rPr>
              <a:t>IP Ownership &amp; Confidentiality</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6724720">
            <a:off x="1917779" y="1439748"/>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71591"/>
            <a:ext cx="7677150"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Tech</a:t>
            </a:r>
          </a:p>
          <a:p>
            <a:pPr algn="l">
              <a:lnSpc>
                <a:spcPts val="10400"/>
              </a:lnSpc>
            </a:pPr>
            <a:r>
              <a:rPr lang="en-US" sz="10400">
                <a:solidFill>
                  <a:srgbClr val="0D0D0D"/>
                </a:solidFill>
                <a:latin typeface="Poppins Light"/>
                <a:ea typeface="Poppins Light"/>
                <a:cs typeface="Poppins Light"/>
                <a:sym typeface="Poppins Light"/>
              </a:rPr>
              <a:t>Ecosystem</a:t>
            </a:r>
          </a:p>
        </p:txBody>
      </p:sp>
      <p:sp>
        <p:nvSpPr>
          <p:cNvPr name="TextBox 4" id="4"/>
          <p:cNvSpPr txBox="true"/>
          <p:nvPr/>
        </p:nvSpPr>
        <p:spPr>
          <a:xfrm rot="0">
            <a:off x="1028700" y="6977627"/>
            <a:ext cx="7034212" cy="1609091"/>
          </a:xfrm>
          <a:prstGeom prst="rect">
            <a:avLst/>
          </a:prstGeom>
        </p:spPr>
        <p:txBody>
          <a:bodyPr anchor="t" rtlCol="false" tIns="0" lIns="0" bIns="0" rIns="0">
            <a:spAutoFit/>
          </a:bodyPr>
          <a:lstStyle/>
          <a:p>
            <a:pPr algn="l">
              <a:lnSpc>
                <a:spcPts val="4100"/>
              </a:lnSpc>
            </a:pPr>
            <a:r>
              <a:rPr lang="en-US" sz="4100">
                <a:solidFill>
                  <a:srgbClr val="0D0D0D"/>
                </a:solidFill>
                <a:latin typeface="Poppins Light"/>
                <a:ea typeface="Poppins Light"/>
                <a:cs typeface="Poppins Light"/>
                <a:sym typeface="Poppins Light"/>
              </a:rPr>
              <a:t>We believe in the power of great tools to deliver great solutions.</a:t>
            </a:r>
          </a:p>
        </p:txBody>
      </p:sp>
      <p:sp>
        <p:nvSpPr>
          <p:cNvPr name="Freeform 5" id="5"/>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951486" y="2700338"/>
            <a:ext cx="8936339" cy="3815079"/>
          </a:xfrm>
          <a:custGeom>
            <a:avLst/>
            <a:gdLst/>
            <a:ahLst/>
            <a:cxnLst/>
            <a:rect r="r" b="b" t="t" l="l"/>
            <a:pathLst>
              <a:path h="3815079" w="8936339">
                <a:moveTo>
                  <a:pt x="0" y="0"/>
                </a:moveTo>
                <a:lnTo>
                  <a:pt x="8936339" y="0"/>
                </a:lnTo>
                <a:lnTo>
                  <a:pt x="8936339" y="3815079"/>
                </a:lnTo>
                <a:lnTo>
                  <a:pt x="0" y="3815079"/>
                </a:lnTo>
                <a:lnTo>
                  <a:pt x="0" y="0"/>
                </a:lnTo>
                <a:close/>
              </a:path>
            </a:pathLst>
          </a:custGeom>
          <a:blipFill>
            <a:blip r:embed="rId2"/>
            <a:stretch>
              <a:fillRect l="0" t="0" r="0" b="0"/>
            </a:stretch>
          </a:blipFill>
        </p:spPr>
      </p:sp>
      <p:grpSp>
        <p:nvGrpSpPr>
          <p:cNvPr name="Group 3" id="3"/>
          <p:cNvGrpSpPr/>
          <p:nvPr/>
        </p:nvGrpSpPr>
        <p:grpSpPr>
          <a:xfrm rot="0">
            <a:off x="14916248" y="1072430"/>
            <a:ext cx="2343052" cy="784945"/>
            <a:chOff x="0" y="0"/>
            <a:chExt cx="617100" cy="206735"/>
          </a:xfrm>
        </p:grpSpPr>
        <p:sp>
          <p:nvSpPr>
            <p:cNvPr name="Freeform 4" id="4"/>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5" id="5"/>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0">
            <a:off x="15237853" y="1353997"/>
            <a:ext cx="240861" cy="2408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9" id="9"/>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042988" y="2992755"/>
            <a:ext cx="5312092" cy="1047750"/>
          </a:xfrm>
          <a:custGeom>
            <a:avLst/>
            <a:gdLst/>
            <a:ahLst/>
            <a:cxnLst/>
            <a:rect r="r" b="b" t="t" l="l"/>
            <a:pathLst>
              <a:path h="1047750" w="5312092">
                <a:moveTo>
                  <a:pt x="0" y="0"/>
                </a:moveTo>
                <a:lnTo>
                  <a:pt x="5312092" y="0"/>
                </a:lnTo>
                <a:lnTo>
                  <a:pt x="5312092" y="1047750"/>
                </a:lnTo>
                <a:lnTo>
                  <a:pt x="0" y="10477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042988" y="7842568"/>
            <a:ext cx="14892146" cy="1249680"/>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ColdBox is a conventions-based MVC Framework. It provides a set of reusable code and tools that can be used to increase your development productivity, as well as a development standard for working in team environments. ColdBox is comprehensive and modular, which helps address most infrastructure concerns of typical CFML applications. It is composed of several standalone libraries that in turn compose the ColdBox Platform.</a:t>
            </a:r>
          </a:p>
        </p:txBody>
      </p:sp>
      <p:sp>
        <p:nvSpPr>
          <p:cNvPr name="TextBox 12" id="12"/>
          <p:cNvSpPr txBox="true"/>
          <p:nvPr/>
        </p:nvSpPr>
        <p:spPr>
          <a:xfrm rot="0">
            <a:off x="1050131" y="4324033"/>
            <a:ext cx="4236052" cy="1643379"/>
          </a:xfrm>
          <a:prstGeom prst="rect">
            <a:avLst/>
          </a:prstGeom>
        </p:spPr>
        <p:txBody>
          <a:bodyPr anchor="t" rtlCol="false" tIns="0" lIns="0" bIns="0" rIns="0">
            <a:spAutoFit/>
          </a:bodyPr>
          <a:lstStyle/>
          <a:p>
            <a:pPr algn="l">
              <a:lnSpc>
                <a:spcPts val="3199"/>
              </a:lnSpc>
            </a:pPr>
            <a:r>
              <a:rPr lang="en-US" sz="3199">
                <a:solidFill>
                  <a:srgbClr val="0D0D0D"/>
                </a:solidFill>
                <a:latin typeface="Poppins"/>
                <a:ea typeface="Poppins"/>
                <a:cs typeface="Poppins"/>
                <a:sym typeface="Poppins"/>
              </a:rPr>
              <a:t>ColdBox powers scalable apps since 2005 with support and training.</a:t>
            </a:r>
          </a:p>
        </p:txBody>
      </p:sp>
      <p:sp>
        <p:nvSpPr>
          <p:cNvPr name="TextBox 13" id="13"/>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
        <p:nvSpPr>
          <p:cNvPr name="TextBox 14" id="14"/>
          <p:cNvSpPr txBox="true"/>
          <p:nvPr/>
        </p:nvSpPr>
        <p:spPr>
          <a:xfrm rot="0">
            <a:off x="1042988" y="6234112"/>
            <a:ext cx="7170705" cy="313055"/>
          </a:xfrm>
          <a:prstGeom prst="rect">
            <a:avLst/>
          </a:prstGeom>
        </p:spPr>
        <p:txBody>
          <a:bodyPr anchor="t" rtlCol="false" tIns="0" lIns="0" bIns="0" rIns="0">
            <a:spAutoFit/>
          </a:bodyPr>
          <a:lstStyle/>
          <a:p>
            <a:pPr algn="l">
              <a:lnSpc>
                <a:spcPts val="2200"/>
              </a:lnSpc>
            </a:pPr>
            <a:r>
              <a:rPr lang="en-US" sz="2200">
                <a:solidFill>
                  <a:srgbClr val="0D0D0D"/>
                </a:solidFill>
                <a:latin typeface="Poppins Light"/>
                <a:ea typeface="Poppins Light"/>
                <a:cs typeface="Poppins Light"/>
                <a:sym typeface="Poppins Light"/>
              </a:rPr>
              <a:t>www.coldbox.org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37214"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42988" y="2993109"/>
            <a:ext cx="7843838" cy="1051453"/>
          </a:xfrm>
          <a:custGeom>
            <a:avLst/>
            <a:gdLst/>
            <a:ahLst/>
            <a:cxnLst/>
            <a:rect r="r" b="b" t="t" l="l"/>
            <a:pathLst>
              <a:path h="1051453" w="7843838">
                <a:moveTo>
                  <a:pt x="0" y="0"/>
                </a:moveTo>
                <a:lnTo>
                  <a:pt x="7843837" y="0"/>
                </a:lnTo>
                <a:lnTo>
                  <a:pt x="7843837" y="1051453"/>
                </a:lnTo>
                <a:lnTo>
                  <a:pt x="0" y="105145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9" id="9"/>
          <p:cNvSpPr txBox="true"/>
          <p:nvPr/>
        </p:nvSpPr>
        <p:spPr>
          <a:xfrm rot="0">
            <a:off x="1042988" y="4483633"/>
            <a:ext cx="8235004"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standalone, native tool for Windows, Mac, and Linux </a:t>
            </a:r>
          </a:p>
        </p:txBody>
      </p:sp>
      <p:sp>
        <p:nvSpPr>
          <p:cNvPr name="TextBox 10" id="10"/>
          <p:cNvSpPr txBox="true"/>
          <p:nvPr/>
        </p:nvSpPr>
        <p:spPr>
          <a:xfrm rot="0">
            <a:off x="1042988" y="5634418"/>
            <a:ext cx="11405907" cy="1085469"/>
          </a:xfrm>
          <a:prstGeom prst="rect">
            <a:avLst/>
          </a:prstGeom>
        </p:spPr>
        <p:txBody>
          <a:bodyPr anchor="t" rtlCol="false" tIns="0" lIns="0" bIns="0" rIns="0">
            <a:spAutoFit/>
          </a:bodyPr>
          <a:lstStyle/>
          <a:p>
            <a:pPr algn="l">
              <a:lnSpc>
                <a:spcPts val="2808"/>
              </a:lnSpc>
            </a:pPr>
            <a:r>
              <a:rPr lang="en-US" sz="2400">
                <a:solidFill>
                  <a:srgbClr val="0D0D0D"/>
                </a:solidFill>
                <a:latin typeface="Poppins Light"/>
                <a:ea typeface="Poppins Light"/>
                <a:cs typeface="Poppins Light"/>
                <a:sym typeface="Poppins Light"/>
              </a:rPr>
              <a:t>CommandBox will provide you with a Command Line Interface (CLI) for developer productivity, tool interaction, package management, embedded CFML server, application scaffolding, and some sweet ASCII art. </a:t>
            </a:r>
          </a:p>
        </p:txBody>
      </p:sp>
      <p:grpSp>
        <p:nvGrpSpPr>
          <p:cNvPr name="Group 11" id="11"/>
          <p:cNvGrpSpPr/>
          <p:nvPr/>
        </p:nvGrpSpPr>
        <p:grpSpPr>
          <a:xfrm rot="0">
            <a:off x="14837214" y="1344472"/>
            <a:ext cx="240861" cy="24086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grpSp>
        <p:nvGrpSpPr>
          <p:cNvPr name="Group 15" id="15"/>
          <p:cNvGrpSpPr/>
          <p:nvPr/>
        </p:nvGrpSpPr>
        <p:grpSpPr>
          <a:xfrm rot="0">
            <a:off x="14916248" y="1072430"/>
            <a:ext cx="2343052" cy="784945"/>
            <a:chOff x="0" y="0"/>
            <a:chExt cx="617100" cy="206735"/>
          </a:xfrm>
        </p:grpSpPr>
        <p:sp>
          <p:nvSpPr>
            <p:cNvPr name="Freeform 16" id="16"/>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7" id="17"/>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0">
            <a:off x="15237853" y="1353997"/>
            <a:ext cx="240861" cy="24086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647213">
            <a:off x="4536405" y="-865982"/>
            <a:ext cx="20219053" cy="10370689"/>
          </a:xfrm>
          <a:custGeom>
            <a:avLst/>
            <a:gdLst/>
            <a:ahLst/>
            <a:cxnLst/>
            <a:rect r="r" b="b" t="t" l="l"/>
            <a:pathLst>
              <a:path h="10370689" w="20219053">
                <a:moveTo>
                  <a:pt x="0" y="0"/>
                </a:moveTo>
                <a:lnTo>
                  <a:pt x="20219053" y="0"/>
                </a:lnTo>
                <a:lnTo>
                  <a:pt x="20219053" y="10370689"/>
                </a:lnTo>
                <a:lnTo>
                  <a:pt x="0" y="10370689"/>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37214"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3086100"/>
            <a:ext cx="4351401" cy="4114800"/>
          </a:xfrm>
          <a:custGeom>
            <a:avLst/>
            <a:gdLst/>
            <a:ahLst/>
            <a:cxnLst/>
            <a:rect r="r" b="b" t="t" l="l"/>
            <a:pathLst>
              <a:path h="4114800" w="4351401">
                <a:moveTo>
                  <a:pt x="0" y="0"/>
                </a:moveTo>
                <a:lnTo>
                  <a:pt x="4351401" y="0"/>
                </a:lnTo>
                <a:lnTo>
                  <a:pt x="4351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TextBox 9" id="9"/>
          <p:cNvSpPr txBox="true"/>
          <p:nvPr/>
        </p:nvSpPr>
        <p:spPr>
          <a:xfrm rot="0">
            <a:off x="6439579" y="4076754"/>
            <a:ext cx="6800057"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THE </a:t>
            </a:r>
          </a:p>
          <a:p>
            <a:pPr algn="l">
              <a:lnSpc>
                <a:spcPts val="3600"/>
              </a:lnSpc>
            </a:pPr>
            <a:r>
              <a:rPr lang="en-US" sz="3600">
                <a:solidFill>
                  <a:srgbClr val="0D0D0D"/>
                </a:solidFill>
                <a:latin typeface="Poppins Light"/>
                <a:ea typeface="Poppins Light"/>
                <a:cs typeface="Poppins Light"/>
                <a:sym typeface="Poppins Light"/>
              </a:rPr>
              <a:t>cloud package repository.</a:t>
            </a:r>
          </a:p>
        </p:txBody>
      </p:sp>
      <p:sp>
        <p:nvSpPr>
          <p:cNvPr name="TextBox 10" id="10"/>
          <p:cNvSpPr txBox="true"/>
          <p:nvPr/>
        </p:nvSpPr>
        <p:spPr>
          <a:xfrm rot="0">
            <a:off x="6439579" y="5153352"/>
            <a:ext cx="7757719" cy="1085469"/>
          </a:xfrm>
          <a:prstGeom prst="rect">
            <a:avLst/>
          </a:prstGeom>
        </p:spPr>
        <p:txBody>
          <a:bodyPr anchor="t" rtlCol="false" tIns="0" lIns="0" bIns="0" rIns="0">
            <a:spAutoFit/>
          </a:bodyPr>
          <a:lstStyle/>
          <a:p>
            <a:pPr algn="l">
              <a:lnSpc>
                <a:spcPts val="2808"/>
              </a:lnSpc>
            </a:pPr>
            <a:r>
              <a:rPr lang="en-US" sz="2400">
                <a:solidFill>
                  <a:srgbClr val="0D0D0D"/>
                </a:solidFill>
                <a:latin typeface="Poppins Light"/>
                <a:ea typeface="Poppins Light"/>
                <a:cs typeface="Poppins Light"/>
                <a:sym typeface="Poppins Light"/>
              </a:rPr>
              <a:t>Designed to discover, share, and manage reusable code with collaboration, scalability, and modern development workflows in mind.</a:t>
            </a:r>
          </a:p>
        </p:txBody>
      </p:sp>
      <p:grpSp>
        <p:nvGrpSpPr>
          <p:cNvPr name="Group 11" id="11"/>
          <p:cNvGrpSpPr/>
          <p:nvPr/>
        </p:nvGrpSpPr>
        <p:grpSpPr>
          <a:xfrm rot="0">
            <a:off x="14837214" y="1344472"/>
            <a:ext cx="240861" cy="24086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4" id="14"/>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grpSp>
        <p:nvGrpSpPr>
          <p:cNvPr name="Group 15" id="15"/>
          <p:cNvGrpSpPr/>
          <p:nvPr/>
        </p:nvGrpSpPr>
        <p:grpSpPr>
          <a:xfrm rot="0">
            <a:off x="14916248" y="1072430"/>
            <a:ext cx="2343052" cy="784945"/>
            <a:chOff x="0" y="0"/>
            <a:chExt cx="617100" cy="206735"/>
          </a:xfrm>
        </p:grpSpPr>
        <p:sp>
          <p:nvSpPr>
            <p:cNvPr name="Freeform 16" id="16"/>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7" id="17"/>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8" id="18"/>
          <p:cNvGrpSpPr/>
          <p:nvPr/>
        </p:nvGrpSpPr>
        <p:grpSpPr>
          <a:xfrm rot="0">
            <a:off x="15237853" y="1353997"/>
            <a:ext cx="240861" cy="24086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21" id="21"/>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647213">
            <a:off x="4536405" y="-865982"/>
            <a:ext cx="20219053" cy="10370689"/>
          </a:xfrm>
          <a:custGeom>
            <a:avLst/>
            <a:gdLst/>
            <a:ahLst/>
            <a:cxnLst/>
            <a:rect r="r" b="b" t="t" l="l"/>
            <a:pathLst>
              <a:path h="10370689" w="20219053">
                <a:moveTo>
                  <a:pt x="0" y="0"/>
                </a:moveTo>
                <a:lnTo>
                  <a:pt x="20219053" y="0"/>
                </a:lnTo>
                <a:lnTo>
                  <a:pt x="20219053" y="10370689"/>
                </a:lnTo>
                <a:lnTo>
                  <a:pt x="0" y="10370689"/>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37214"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3171788"/>
            <a:ext cx="5067300" cy="3943424"/>
          </a:xfrm>
          <a:custGeom>
            <a:avLst/>
            <a:gdLst/>
            <a:ahLst/>
            <a:cxnLst/>
            <a:rect r="r" b="b" t="t" l="l"/>
            <a:pathLst>
              <a:path h="3943424" w="5067300">
                <a:moveTo>
                  <a:pt x="0" y="0"/>
                </a:moveTo>
                <a:lnTo>
                  <a:pt x="5067300" y="0"/>
                </a:lnTo>
                <a:lnTo>
                  <a:pt x="5067300" y="3943424"/>
                </a:lnTo>
                <a:lnTo>
                  <a:pt x="0" y="39434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
        <p:nvSpPr>
          <p:cNvPr name="TextBox 9" id="9"/>
          <p:cNvSpPr txBox="true"/>
          <p:nvPr/>
        </p:nvSpPr>
        <p:spPr>
          <a:xfrm rot="0">
            <a:off x="6439579" y="4347938"/>
            <a:ext cx="6800057"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powerful professional open-source headless CMS. </a:t>
            </a:r>
          </a:p>
        </p:txBody>
      </p:sp>
      <p:sp>
        <p:nvSpPr>
          <p:cNvPr name="TextBox 10" id="10"/>
          <p:cNvSpPr txBox="true"/>
          <p:nvPr/>
        </p:nvSpPr>
        <p:spPr>
          <a:xfrm rot="0">
            <a:off x="6439579" y="5424536"/>
            <a:ext cx="7757719" cy="733044"/>
          </a:xfrm>
          <a:prstGeom prst="rect">
            <a:avLst/>
          </a:prstGeom>
        </p:spPr>
        <p:txBody>
          <a:bodyPr anchor="t" rtlCol="false" tIns="0" lIns="0" bIns="0" rIns="0">
            <a:spAutoFit/>
          </a:bodyPr>
          <a:lstStyle/>
          <a:p>
            <a:pPr algn="l">
              <a:lnSpc>
                <a:spcPts val="2808"/>
              </a:lnSpc>
            </a:pPr>
            <a:r>
              <a:rPr lang="en-US" sz="2400">
                <a:solidFill>
                  <a:srgbClr val="0D0D0D"/>
                </a:solidFill>
                <a:latin typeface="Poppins Light"/>
                <a:ea typeface="Poppins Light"/>
                <a:cs typeface="Poppins Light"/>
                <a:sym typeface="Poppins Light"/>
              </a:rPr>
              <a:t>Designed to scale, perform with security in mind, and multi-site ready.</a:t>
            </a:r>
          </a:p>
        </p:txBody>
      </p:sp>
      <p:grpSp>
        <p:nvGrpSpPr>
          <p:cNvPr name="Group 11" id="11"/>
          <p:cNvGrpSpPr/>
          <p:nvPr/>
        </p:nvGrpSpPr>
        <p:grpSpPr>
          <a:xfrm rot="0">
            <a:off x="14916248" y="1072430"/>
            <a:ext cx="2343052" cy="784945"/>
            <a:chOff x="0" y="0"/>
            <a:chExt cx="617100" cy="206735"/>
          </a:xfrm>
        </p:grpSpPr>
        <p:sp>
          <p:nvSpPr>
            <p:cNvPr name="Freeform 12" id="12"/>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3" id="13"/>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4" id="14"/>
          <p:cNvGrpSpPr/>
          <p:nvPr/>
        </p:nvGrpSpPr>
        <p:grpSpPr>
          <a:xfrm rot="0">
            <a:off x="15237853" y="1353997"/>
            <a:ext cx="240861" cy="24086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7" id="17"/>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647213">
            <a:off x="4466835" y="-994875"/>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37214"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1042987" y="3605453"/>
            <a:ext cx="8101013" cy="1178000"/>
          </a:xfrm>
          <a:custGeom>
            <a:avLst/>
            <a:gdLst/>
            <a:ahLst/>
            <a:cxnLst/>
            <a:rect r="r" b="b" t="t" l="l"/>
            <a:pathLst>
              <a:path h="1178000" w="8101013">
                <a:moveTo>
                  <a:pt x="0" y="0"/>
                </a:moveTo>
                <a:lnTo>
                  <a:pt x="8101013" y="0"/>
                </a:lnTo>
                <a:lnTo>
                  <a:pt x="8101013" y="1177999"/>
                </a:lnTo>
                <a:lnTo>
                  <a:pt x="0" y="11779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
        <p:nvSpPr>
          <p:cNvPr name="TextBox 8" id="8"/>
          <p:cNvSpPr txBox="true"/>
          <p:nvPr/>
        </p:nvSpPr>
        <p:spPr>
          <a:xfrm rot="0">
            <a:off x="1042988" y="5890832"/>
            <a:ext cx="10276267" cy="977265"/>
          </a:xfrm>
          <a:prstGeom prst="rect">
            <a:avLst/>
          </a:prstGeom>
        </p:spPr>
        <p:txBody>
          <a:bodyPr anchor="t" rtlCol="false" tIns="0" lIns="0" bIns="0" rIns="0">
            <a:spAutoFit/>
          </a:bodyPr>
          <a:lstStyle/>
          <a:p>
            <a:pPr algn="l">
              <a:lnSpc>
                <a:spcPts val="3600"/>
              </a:lnSpc>
            </a:pPr>
            <a:r>
              <a:rPr lang="en-US" sz="3600">
                <a:solidFill>
                  <a:srgbClr val="0D0D0D"/>
                </a:solidFill>
                <a:latin typeface="Poppins Light"/>
                <a:ea typeface="Poppins Light"/>
                <a:cs typeface="Poppins Light"/>
                <a:sym typeface="Poppins Light"/>
              </a:rPr>
              <a:t>A modern, dynamically and loosely typed scripting language for multiple runtimes.</a:t>
            </a:r>
          </a:p>
        </p:txBody>
      </p:sp>
      <p:sp>
        <p:nvSpPr>
          <p:cNvPr name="TextBox 9" id="9"/>
          <p:cNvSpPr txBox="true"/>
          <p:nvPr/>
        </p:nvSpPr>
        <p:spPr>
          <a:xfrm rot="0">
            <a:off x="1042988" y="6944297"/>
            <a:ext cx="11294562" cy="642366"/>
          </a:xfrm>
          <a:prstGeom prst="rect">
            <a:avLst/>
          </a:prstGeom>
        </p:spPr>
        <p:txBody>
          <a:bodyPr anchor="t" rtlCol="false" tIns="0" lIns="0" bIns="0" rIns="0">
            <a:spAutoFit/>
          </a:bodyPr>
          <a:lstStyle/>
          <a:p>
            <a:pPr algn="l">
              <a:lnSpc>
                <a:spcPts val="2502"/>
              </a:lnSpc>
            </a:pPr>
            <a:r>
              <a:rPr lang="en-US" sz="1800">
                <a:solidFill>
                  <a:srgbClr val="0D0D0D"/>
                </a:solidFill>
                <a:latin typeface="Poppins Light"/>
                <a:ea typeface="Poppins Light"/>
                <a:cs typeface="Poppins Light"/>
                <a:sym typeface="Poppins Light"/>
              </a:rPr>
              <a:t>For the Java Virtual Machine (JVM) giving you tons of Object-Oriented (OO), Functional Programming (FP) Constructs, and dynamic Metadata Programming (MP)</a:t>
            </a:r>
          </a:p>
        </p:txBody>
      </p:sp>
      <p:sp>
        <p:nvSpPr>
          <p:cNvPr name="TextBox 10" id="10"/>
          <p:cNvSpPr txBox="true"/>
          <p:nvPr/>
        </p:nvSpPr>
        <p:spPr>
          <a:xfrm rot="0">
            <a:off x="1028700" y="4836623"/>
            <a:ext cx="5713661" cy="516891"/>
          </a:xfrm>
          <a:prstGeom prst="rect">
            <a:avLst/>
          </a:prstGeom>
        </p:spPr>
        <p:txBody>
          <a:bodyPr anchor="t" rtlCol="false" tIns="0" lIns="0" bIns="0" rIns="0">
            <a:spAutoFit/>
          </a:bodyPr>
          <a:lstStyle/>
          <a:p>
            <a:pPr algn="l">
              <a:lnSpc>
                <a:spcPts val="4059"/>
              </a:lnSpc>
              <a:spcBef>
                <a:spcPct val="0"/>
              </a:spcBef>
            </a:pPr>
            <a:r>
              <a:rPr lang="en-US" sz="2899">
                <a:solidFill>
                  <a:srgbClr val="303446"/>
                </a:solidFill>
                <a:latin typeface="Poppins"/>
                <a:ea typeface="Poppins"/>
                <a:cs typeface="Poppins"/>
                <a:sym typeface="Poppins"/>
              </a:rPr>
              <a:t>Dynamic : Modular : Productive</a:t>
            </a:r>
          </a:p>
        </p:txBody>
      </p:sp>
      <p:sp>
        <p:nvSpPr>
          <p:cNvPr name="Freeform 11" id="11"/>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4916248" y="1072430"/>
            <a:ext cx="2343052" cy="784945"/>
            <a:chOff x="0" y="0"/>
            <a:chExt cx="617100" cy="206735"/>
          </a:xfrm>
        </p:grpSpPr>
        <p:sp>
          <p:nvSpPr>
            <p:cNvPr name="Freeform 13" id="13"/>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4" id="14"/>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5" id="15"/>
          <p:cNvGrpSpPr/>
          <p:nvPr/>
        </p:nvGrpSpPr>
        <p:grpSpPr>
          <a:xfrm rot="0">
            <a:off x="15237853" y="1353997"/>
            <a:ext cx="240861" cy="24086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8" id="18"/>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623026" y="1344472"/>
            <a:ext cx="240861" cy="24086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5" id="5"/>
          <p:cNvSpPr/>
          <p:nvPr/>
        </p:nvSpPr>
        <p:spPr>
          <a:xfrm flipH="false" flipV="false" rot="0">
            <a:off x="13023717" y="5238788"/>
            <a:ext cx="3918217" cy="523020"/>
          </a:xfrm>
          <a:custGeom>
            <a:avLst/>
            <a:gdLst/>
            <a:ahLst/>
            <a:cxnLst/>
            <a:rect r="r" b="b" t="t" l="l"/>
            <a:pathLst>
              <a:path h="523020" w="3918217">
                <a:moveTo>
                  <a:pt x="0" y="0"/>
                </a:moveTo>
                <a:lnTo>
                  <a:pt x="3918216" y="0"/>
                </a:lnTo>
                <a:lnTo>
                  <a:pt x="3918216" y="523020"/>
                </a:lnTo>
                <a:lnTo>
                  <a:pt x="0" y="523020"/>
                </a:lnTo>
                <a:lnTo>
                  <a:pt x="0" y="0"/>
                </a:lnTo>
                <a:close/>
              </a:path>
            </a:pathLst>
          </a:custGeom>
          <a:blipFill>
            <a:blip r:embed="rId2"/>
            <a:stretch>
              <a:fillRect l="0" t="0" r="0" b="0"/>
            </a:stretch>
          </a:blipFill>
        </p:spPr>
      </p:sp>
      <p:sp>
        <p:nvSpPr>
          <p:cNvPr name="TextBox 6" id="6"/>
          <p:cNvSpPr txBox="true"/>
          <p:nvPr/>
        </p:nvSpPr>
        <p:spPr>
          <a:xfrm rot="0">
            <a:off x="1028700" y="2786063"/>
            <a:ext cx="9493362" cy="1435113"/>
          </a:xfrm>
          <a:prstGeom prst="rect">
            <a:avLst/>
          </a:prstGeom>
        </p:spPr>
        <p:txBody>
          <a:bodyPr anchor="t" rtlCol="false" tIns="0" lIns="0" bIns="0" rIns="0">
            <a:spAutoFit/>
          </a:bodyPr>
          <a:lstStyle/>
          <a:p>
            <a:pPr algn="l">
              <a:lnSpc>
                <a:spcPts val="10000"/>
              </a:lnSpc>
            </a:pPr>
            <a:r>
              <a:rPr lang="en-US" sz="10000">
                <a:solidFill>
                  <a:srgbClr val="0D0D0D"/>
                </a:solidFill>
                <a:latin typeface="Poppins Light"/>
                <a:ea typeface="Poppins Light"/>
                <a:cs typeface="Poppins Light"/>
                <a:sym typeface="Poppins Light"/>
              </a:rPr>
              <a:t>Cloud Servers</a:t>
            </a:r>
          </a:p>
        </p:txBody>
      </p:sp>
      <p:sp>
        <p:nvSpPr>
          <p:cNvPr name="TextBox 7" id="7"/>
          <p:cNvSpPr txBox="true"/>
          <p:nvPr/>
        </p:nvSpPr>
        <p:spPr>
          <a:xfrm rot="0">
            <a:off x="11149398" y="3586246"/>
            <a:ext cx="6109902" cy="1343025"/>
          </a:xfrm>
          <a:prstGeom prst="rect">
            <a:avLst/>
          </a:prstGeom>
        </p:spPr>
        <p:txBody>
          <a:bodyPr anchor="t" rtlCol="false" tIns="0" lIns="0" bIns="0" rIns="0">
            <a:spAutoFit/>
          </a:bodyPr>
          <a:lstStyle/>
          <a:p>
            <a:pPr algn="r">
              <a:lnSpc>
                <a:spcPts val="2100"/>
              </a:lnSpc>
              <a:spcBef>
                <a:spcPct val="0"/>
              </a:spcBef>
            </a:pPr>
            <a:r>
              <a:rPr lang="en-US" sz="1500">
                <a:solidFill>
                  <a:srgbClr val="0D0D0D"/>
                </a:solidFill>
                <a:latin typeface="Poppins"/>
                <a:ea typeface="Poppins"/>
                <a:cs typeface="Poppins"/>
                <a:sym typeface="Poppins"/>
              </a:rPr>
              <a:t>Offers a seamless and high-performance </a:t>
            </a:r>
            <a:r>
              <a:rPr lang="en-US" b="true" sz="1500">
                <a:solidFill>
                  <a:srgbClr val="0D0D0D"/>
                </a:solidFill>
                <a:latin typeface="Poppins Bold"/>
                <a:ea typeface="Poppins Bold"/>
                <a:cs typeface="Poppins Bold"/>
                <a:sym typeface="Poppins Bold"/>
              </a:rPr>
              <a:t>Ubuntu and Windows-based </a:t>
            </a:r>
            <a:r>
              <a:rPr lang="en-US" sz="1500">
                <a:solidFill>
                  <a:srgbClr val="0D0D0D"/>
                </a:solidFill>
                <a:latin typeface="Poppins"/>
                <a:ea typeface="Poppins"/>
                <a:cs typeface="Poppins"/>
                <a:sym typeface="Poppins"/>
              </a:rPr>
              <a:t>environment to deploy and manage </a:t>
            </a:r>
            <a:r>
              <a:rPr lang="en-US" b="true" sz="1500">
                <a:solidFill>
                  <a:srgbClr val="0D0D0D"/>
                </a:solidFill>
                <a:latin typeface="Poppins Bold"/>
                <a:ea typeface="Poppins Bold"/>
                <a:cs typeface="Poppins Bold"/>
                <a:sym typeface="Poppins Bold"/>
              </a:rPr>
              <a:t>BoxLang applications</a:t>
            </a:r>
            <a:r>
              <a:rPr lang="en-US" sz="1500">
                <a:solidFill>
                  <a:srgbClr val="0D0D0D"/>
                </a:solidFill>
                <a:latin typeface="Poppins"/>
                <a:ea typeface="Poppins"/>
                <a:cs typeface="Poppins"/>
                <a:sym typeface="Poppins"/>
              </a:rPr>
              <a:t> on </a:t>
            </a:r>
            <a:r>
              <a:rPr lang="en-US" b="true" sz="1500">
                <a:solidFill>
                  <a:srgbClr val="0D0D0D"/>
                </a:solidFill>
                <a:latin typeface="Poppins Bold"/>
                <a:ea typeface="Poppins Bold"/>
                <a:cs typeface="Poppins Bold"/>
                <a:sym typeface="Poppins Bold"/>
              </a:rPr>
              <a:t>Microsoft Azure and AWS</a:t>
            </a:r>
            <a:r>
              <a:rPr lang="en-US" sz="1500">
                <a:solidFill>
                  <a:srgbClr val="0D0D0D"/>
                </a:solidFill>
                <a:latin typeface="Poppins"/>
                <a:ea typeface="Poppins"/>
                <a:cs typeface="Poppins"/>
                <a:sym typeface="Poppins"/>
              </a:rPr>
              <a:t>. This virtual machine is pre-configured with everything you need to start coding, deploying, and scaling your applications with ease.</a:t>
            </a:r>
          </a:p>
        </p:txBody>
      </p:sp>
      <p:sp>
        <p:nvSpPr>
          <p:cNvPr name="TextBox 8" id="8"/>
          <p:cNvSpPr txBox="true"/>
          <p:nvPr/>
        </p:nvSpPr>
        <p:spPr>
          <a:xfrm rot="0">
            <a:off x="1028700" y="4377165"/>
            <a:ext cx="7520194" cy="698500"/>
          </a:xfrm>
          <a:prstGeom prst="rect">
            <a:avLst/>
          </a:prstGeom>
        </p:spPr>
        <p:txBody>
          <a:bodyPr anchor="t" rtlCol="false" tIns="0" lIns="0" bIns="0" rIns="0">
            <a:spAutoFit/>
          </a:bodyPr>
          <a:lstStyle/>
          <a:p>
            <a:pPr algn="l">
              <a:lnSpc>
                <a:spcPts val="4999"/>
              </a:lnSpc>
            </a:pPr>
            <a:r>
              <a:rPr lang="en-US" sz="4999">
                <a:solidFill>
                  <a:srgbClr val="0D0D0D"/>
                </a:solidFill>
                <a:latin typeface="Poppins Light"/>
                <a:ea typeface="Poppins Light"/>
                <a:cs typeface="Poppins Light"/>
                <a:sym typeface="Poppins Light"/>
              </a:rPr>
              <a:t>a new way to the cloud</a:t>
            </a:r>
          </a:p>
        </p:txBody>
      </p:sp>
      <p:sp>
        <p:nvSpPr>
          <p:cNvPr name="TextBox 9" id="9"/>
          <p:cNvSpPr txBox="true"/>
          <p:nvPr/>
        </p:nvSpPr>
        <p:spPr>
          <a:xfrm rot="0">
            <a:off x="3022933" y="6714210"/>
            <a:ext cx="10961025" cy="809625"/>
          </a:xfrm>
          <a:prstGeom prst="rect">
            <a:avLst/>
          </a:prstGeom>
        </p:spPr>
        <p:txBody>
          <a:bodyPr anchor="t" rtlCol="false" tIns="0" lIns="0" bIns="0" rIns="0">
            <a:spAutoFit/>
          </a:bodyPr>
          <a:lstStyle/>
          <a:p>
            <a:pPr algn="l">
              <a:lnSpc>
                <a:spcPts val="2100"/>
              </a:lnSpc>
              <a:spcBef>
                <a:spcPct val="0"/>
              </a:spcBef>
            </a:pPr>
            <a:r>
              <a:rPr lang="en-US" sz="1500">
                <a:solidFill>
                  <a:srgbClr val="0D0D0D"/>
                </a:solidFill>
                <a:latin typeface="Poppins"/>
                <a:ea typeface="Poppins"/>
                <a:cs typeface="Poppins"/>
                <a:sym typeface="Poppins"/>
              </a:rPr>
              <a:t>Set up a fast, secure, and performance-driven BoxLang environment on AWS with our </a:t>
            </a:r>
            <a:r>
              <a:rPr lang="en-US" b="true" sz="1500">
                <a:solidFill>
                  <a:srgbClr val="0D0D0D"/>
                </a:solidFill>
                <a:latin typeface="Poppins Bold"/>
                <a:ea typeface="Poppins Bold"/>
                <a:cs typeface="Poppins Bold"/>
                <a:sym typeface="Poppins Bold"/>
              </a:rPr>
              <a:t>Ubuntu and Windows-based</a:t>
            </a:r>
            <a:r>
              <a:rPr lang="en-US" sz="1500">
                <a:solidFill>
                  <a:srgbClr val="0D0D0D"/>
                </a:solidFill>
                <a:latin typeface="Poppins"/>
                <a:ea typeface="Poppins"/>
                <a:cs typeface="Poppins"/>
                <a:sym typeface="Poppins"/>
              </a:rPr>
              <a:t> virtual machines. This pre-configured AMI streamlines development, offering seamless scalability and effortless cloud deployment for both developers and enterprises.</a:t>
            </a:r>
          </a:p>
        </p:txBody>
      </p:sp>
      <p:sp>
        <p:nvSpPr>
          <p:cNvPr name="TextBox 10" id="10"/>
          <p:cNvSpPr txBox="true"/>
          <p:nvPr/>
        </p:nvSpPr>
        <p:spPr>
          <a:xfrm rot="0">
            <a:off x="3042308" y="6327172"/>
            <a:ext cx="6977062" cy="358775"/>
          </a:xfrm>
          <a:prstGeom prst="rect">
            <a:avLst/>
          </a:prstGeom>
        </p:spPr>
        <p:txBody>
          <a:bodyPr anchor="t" rtlCol="false" tIns="0" lIns="0" bIns="0" rIns="0">
            <a:spAutoFit/>
          </a:bodyPr>
          <a:lstStyle/>
          <a:p>
            <a:pPr algn="l">
              <a:lnSpc>
                <a:spcPts val="2500"/>
              </a:lnSpc>
            </a:pPr>
            <a:r>
              <a:rPr lang="en-US" sz="2500" b="true">
                <a:solidFill>
                  <a:srgbClr val="0D0D0D"/>
                </a:solidFill>
                <a:latin typeface="Poppins Bold"/>
                <a:ea typeface="Poppins Bold"/>
                <a:cs typeface="Poppins Bold"/>
                <a:sym typeface="Poppins Bold"/>
              </a:rPr>
              <a:t>Amazon Web Services</a:t>
            </a:r>
          </a:p>
        </p:txBody>
      </p:sp>
      <p:sp>
        <p:nvSpPr>
          <p:cNvPr name="Freeform 11" id="11"/>
          <p:cNvSpPr/>
          <p:nvPr/>
        </p:nvSpPr>
        <p:spPr>
          <a:xfrm flipH="false" flipV="false" rot="0">
            <a:off x="11552532" y="8271570"/>
            <a:ext cx="1440969" cy="737504"/>
          </a:xfrm>
          <a:custGeom>
            <a:avLst/>
            <a:gdLst/>
            <a:ahLst/>
            <a:cxnLst/>
            <a:rect r="r" b="b" t="t" l="l"/>
            <a:pathLst>
              <a:path h="737504" w="1440969">
                <a:moveTo>
                  <a:pt x="0" y="0"/>
                </a:moveTo>
                <a:lnTo>
                  <a:pt x="1440970" y="0"/>
                </a:lnTo>
                <a:lnTo>
                  <a:pt x="1440970" y="737504"/>
                </a:lnTo>
                <a:lnTo>
                  <a:pt x="0" y="737504"/>
                </a:lnTo>
                <a:lnTo>
                  <a:pt x="0" y="0"/>
                </a:lnTo>
                <a:close/>
              </a:path>
            </a:pathLst>
          </a:custGeom>
          <a:blipFill>
            <a:blip r:embed="rId3"/>
            <a:stretch>
              <a:fillRect l="0" t="0" r="0" b="0"/>
            </a:stretch>
          </a:blipFill>
        </p:spPr>
      </p:sp>
      <p:sp>
        <p:nvSpPr>
          <p:cNvPr name="TextBox 12" id="12"/>
          <p:cNvSpPr txBox="true"/>
          <p:nvPr/>
        </p:nvSpPr>
        <p:spPr>
          <a:xfrm rot="0">
            <a:off x="5294498" y="8419976"/>
            <a:ext cx="1326965" cy="440691"/>
          </a:xfrm>
          <a:prstGeom prst="rect">
            <a:avLst/>
          </a:prstGeom>
        </p:spPr>
        <p:txBody>
          <a:bodyPr anchor="t" rtlCol="false" tIns="0" lIns="0" bIns="0" rIns="0">
            <a:spAutoFit/>
          </a:bodyPr>
          <a:lstStyle/>
          <a:p>
            <a:pPr algn="l">
              <a:lnSpc>
                <a:spcPts val="1700"/>
              </a:lnSpc>
            </a:pPr>
            <a:r>
              <a:rPr lang="en-US" sz="1700" b="true">
                <a:solidFill>
                  <a:srgbClr val="0D0D0D"/>
                </a:solidFill>
                <a:latin typeface="Poppins Bold"/>
                <a:ea typeface="Poppins Bold"/>
                <a:cs typeface="Poppins Bold"/>
                <a:sym typeface="Poppins Bold"/>
              </a:rPr>
              <a:t>BOXLANG</a:t>
            </a:r>
          </a:p>
          <a:p>
            <a:pPr algn="l">
              <a:lnSpc>
                <a:spcPts val="1500"/>
              </a:lnSpc>
            </a:pPr>
            <a:r>
              <a:rPr lang="en-US" sz="1500">
                <a:solidFill>
                  <a:srgbClr val="0D0D0D"/>
                </a:solidFill>
                <a:latin typeface="Poppins Light"/>
                <a:ea typeface="Poppins Light"/>
                <a:cs typeface="Poppins Light"/>
                <a:sym typeface="Poppins Light"/>
              </a:rPr>
              <a:t>Miniserver</a:t>
            </a:r>
          </a:p>
        </p:txBody>
      </p:sp>
      <p:sp>
        <p:nvSpPr>
          <p:cNvPr name="TextBox 13" id="13"/>
          <p:cNvSpPr txBox="true"/>
          <p:nvPr/>
        </p:nvSpPr>
        <p:spPr>
          <a:xfrm rot="0">
            <a:off x="9604402" y="8419976"/>
            <a:ext cx="1948130" cy="440691"/>
          </a:xfrm>
          <a:prstGeom prst="rect">
            <a:avLst/>
          </a:prstGeom>
        </p:spPr>
        <p:txBody>
          <a:bodyPr anchor="t" rtlCol="false" tIns="0" lIns="0" bIns="0" rIns="0">
            <a:spAutoFit/>
          </a:bodyPr>
          <a:lstStyle/>
          <a:p>
            <a:pPr algn="l">
              <a:lnSpc>
                <a:spcPts val="1700"/>
              </a:lnSpc>
            </a:pPr>
            <a:r>
              <a:rPr lang="en-US" sz="1700" b="true">
                <a:solidFill>
                  <a:srgbClr val="0D0D0D"/>
                </a:solidFill>
                <a:latin typeface="Poppins Bold"/>
                <a:ea typeface="Poppins Bold"/>
                <a:cs typeface="Poppins Bold"/>
                <a:sym typeface="Poppins Bold"/>
              </a:rPr>
              <a:t>BOXLANG</a:t>
            </a:r>
          </a:p>
          <a:p>
            <a:pPr algn="l">
              <a:lnSpc>
                <a:spcPts val="1500"/>
              </a:lnSpc>
            </a:pPr>
            <a:r>
              <a:rPr lang="en-US" sz="1500">
                <a:solidFill>
                  <a:srgbClr val="0D0D0D"/>
                </a:solidFill>
                <a:latin typeface="Poppins Light"/>
                <a:ea typeface="Poppins Light"/>
                <a:cs typeface="Poppins Light"/>
                <a:sym typeface="Poppins Light"/>
              </a:rPr>
              <a:t>W</a:t>
            </a:r>
            <a:r>
              <a:rPr lang="en-US" sz="1500">
                <a:solidFill>
                  <a:srgbClr val="0D0D0D"/>
                </a:solidFill>
                <a:latin typeface="Poppins Light"/>
                <a:ea typeface="Poppins Light"/>
                <a:cs typeface="Poppins Light"/>
                <a:sym typeface="Poppins Light"/>
              </a:rPr>
              <a:t>ith CommandBox</a:t>
            </a:r>
          </a:p>
        </p:txBody>
      </p:sp>
      <p:grpSp>
        <p:nvGrpSpPr>
          <p:cNvPr name="Group 14" id="14"/>
          <p:cNvGrpSpPr/>
          <p:nvPr/>
        </p:nvGrpSpPr>
        <p:grpSpPr>
          <a:xfrm rot="0">
            <a:off x="15319698" y="1344472"/>
            <a:ext cx="240861" cy="24086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7" id="17"/>
          <p:cNvSpPr/>
          <p:nvPr/>
        </p:nvSpPr>
        <p:spPr>
          <a:xfrm flipH="false" flipV="false" rot="0">
            <a:off x="1028700" y="5898310"/>
            <a:ext cx="1846514" cy="2131884"/>
          </a:xfrm>
          <a:custGeom>
            <a:avLst/>
            <a:gdLst/>
            <a:ahLst/>
            <a:cxnLst/>
            <a:rect r="r" b="b" t="t" l="l"/>
            <a:pathLst>
              <a:path h="2131884" w="1846514">
                <a:moveTo>
                  <a:pt x="0" y="0"/>
                </a:moveTo>
                <a:lnTo>
                  <a:pt x="1846514" y="0"/>
                </a:lnTo>
                <a:lnTo>
                  <a:pt x="1846514" y="2131884"/>
                </a:lnTo>
                <a:lnTo>
                  <a:pt x="0" y="2131884"/>
                </a:lnTo>
                <a:lnTo>
                  <a:pt x="0" y="0"/>
                </a:lnTo>
                <a:close/>
              </a:path>
            </a:pathLst>
          </a:custGeom>
          <a:blipFill>
            <a:blip r:embed="rId4"/>
            <a:stretch>
              <a:fillRect l="-7486" t="-8190" r="-218341" b="-20203"/>
            </a:stretch>
          </a:blipFill>
        </p:spPr>
      </p:sp>
      <p:sp>
        <p:nvSpPr>
          <p:cNvPr name="Freeform 18" id="18"/>
          <p:cNvSpPr/>
          <p:nvPr/>
        </p:nvSpPr>
        <p:spPr>
          <a:xfrm flipH="false" flipV="false" rot="0">
            <a:off x="6580135" y="8242995"/>
            <a:ext cx="2140560" cy="737504"/>
          </a:xfrm>
          <a:custGeom>
            <a:avLst/>
            <a:gdLst/>
            <a:ahLst/>
            <a:cxnLst/>
            <a:rect r="r" b="b" t="t" l="l"/>
            <a:pathLst>
              <a:path h="737504" w="2140560">
                <a:moveTo>
                  <a:pt x="0" y="0"/>
                </a:moveTo>
                <a:lnTo>
                  <a:pt x="2140560" y="0"/>
                </a:lnTo>
                <a:lnTo>
                  <a:pt x="2140560" y="737504"/>
                </a:lnTo>
                <a:lnTo>
                  <a:pt x="0" y="737504"/>
                </a:lnTo>
                <a:lnTo>
                  <a:pt x="0" y="0"/>
                </a:lnTo>
                <a:close/>
              </a:path>
            </a:pathLst>
          </a:custGeom>
          <a:blipFill>
            <a:blip r:embed="rId4"/>
            <a:stretch>
              <a:fillRect l="-163314" t="-272947" r="-37871" b="-24761"/>
            </a:stretch>
          </a:blipFill>
        </p:spPr>
      </p:sp>
      <p:sp>
        <p:nvSpPr>
          <p:cNvPr name="Freeform 19" id="19"/>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0" id="20"/>
          <p:cNvGrpSpPr/>
          <p:nvPr/>
        </p:nvGrpSpPr>
        <p:grpSpPr>
          <a:xfrm rot="0">
            <a:off x="14916248" y="1072430"/>
            <a:ext cx="2343052" cy="784945"/>
            <a:chOff x="0" y="0"/>
            <a:chExt cx="617100" cy="206735"/>
          </a:xfrm>
        </p:grpSpPr>
        <p:sp>
          <p:nvSpPr>
            <p:cNvPr name="Freeform 21" id="21"/>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22" id="22"/>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23" id="23"/>
          <p:cNvGrpSpPr/>
          <p:nvPr/>
        </p:nvGrpSpPr>
        <p:grpSpPr>
          <a:xfrm rot="0">
            <a:off x="15237853" y="1353997"/>
            <a:ext cx="240861" cy="240861"/>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26" id="26"/>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wipe dir="u"/>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831681"/>
            <a:ext cx="404812" cy="404812"/>
          </a:xfrm>
          <a:custGeom>
            <a:avLst/>
            <a:gdLst/>
            <a:ahLst/>
            <a:cxnLst/>
            <a:rect r="r" b="b" t="t" l="l"/>
            <a:pathLst>
              <a:path h="404812" w="404812">
                <a:moveTo>
                  <a:pt x="0" y="0"/>
                </a:moveTo>
                <a:lnTo>
                  <a:pt x="404812" y="0"/>
                </a:lnTo>
                <a:lnTo>
                  <a:pt x="404812" y="404813"/>
                </a:lnTo>
                <a:lnTo>
                  <a:pt x="0" y="4048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37214" y="1344472"/>
            <a:ext cx="240861" cy="2408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6" id="6"/>
          <p:cNvSpPr/>
          <p:nvPr/>
        </p:nvSpPr>
        <p:spPr>
          <a:xfrm flipH="false" flipV="false" rot="0">
            <a:off x="7959424" y="2714313"/>
            <a:ext cx="2335843" cy="1502676"/>
          </a:xfrm>
          <a:custGeom>
            <a:avLst/>
            <a:gdLst/>
            <a:ahLst/>
            <a:cxnLst/>
            <a:rect r="r" b="b" t="t" l="l"/>
            <a:pathLst>
              <a:path h="1502676" w="2335843">
                <a:moveTo>
                  <a:pt x="0" y="0"/>
                </a:moveTo>
                <a:lnTo>
                  <a:pt x="2335843" y="0"/>
                </a:lnTo>
                <a:lnTo>
                  <a:pt x="2335843" y="1502675"/>
                </a:lnTo>
                <a:lnTo>
                  <a:pt x="0" y="1502675"/>
                </a:lnTo>
                <a:lnTo>
                  <a:pt x="0" y="0"/>
                </a:lnTo>
                <a:close/>
              </a:path>
            </a:pathLst>
          </a:custGeom>
          <a:blipFill>
            <a:blip r:embed="rId4"/>
            <a:stretch>
              <a:fillRect l="0" t="0" r="0" b="0"/>
            </a:stretch>
          </a:blipFill>
        </p:spPr>
      </p:sp>
      <p:sp>
        <p:nvSpPr>
          <p:cNvPr name="Freeform 7" id="7"/>
          <p:cNvSpPr/>
          <p:nvPr/>
        </p:nvSpPr>
        <p:spPr>
          <a:xfrm flipH="false" flipV="false" rot="0">
            <a:off x="11694490" y="2700338"/>
            <a:ext cx="1637770" cy="1530626"/>
          </a:xfrm>
          <a:custGeom>
            <a:avLst/>
            <a:gdLst/>
            <a:ahLst/>
            <a:cxnLst/>
            <a:rect r="r" b="b" t="t" l="l"/>
            <a:pathLst>
              <a:path h="1530626" w="1637770">
                <a:moveTo>
                  <a:pt x="0" y="0"/>
                </a:moveTo>
                <a:lnTo>
                  <a:pt x="1637770" y="0"/>
                </a:lnTo>
                <a:lnTo>
                  <a:pt x="1637770" y="1530626"/>
                </a:lnTo>
                <a:lnTo>
                  <a:pt x="0" y="1530626"/>
                </a:lnTo>
                <a:lnTo>
                  <a:pt x="0" y="0"/>
                </a:lnTo>
                <a:close/>
              </a:path>
            </a:pathLst>
          </a:custGeom>
          <a:blipFill>
            <a:blip r:embed="rId5"/>
            <a:stretch>
              <a:fillRect l="0" t="0" r="0" b="0"/>
            </a:stretch>
          </a:blipFill>
        </p:spPr>
      </p:sp>
      <p:sp>
        <p:nvSpPr>
          <p:cNvPr name="Freeform 8" id="8"/>
          <p:cNvSpPr/>
          <p:nvPr/>
        </p:nvSpPr>
        <p:spPr>
          <a:xfrm flipH="false" flipV="false" rot="0">
            <a:off x="14731483" y="2714311"/>
            <a:ext cx="2097801" cy="1502680"/>
          </a:xfrm>
          <a:custGeom>
            <a:avLst/>
            <a:gdLst/>
            <a:ahLst/>
            <a:cxnLst/>
            <a:rect r="r" b="b" t="t" l="l"/>
            <a:pathLst>
              <a:path h="1502680" w="2097801">
                <a:moveTo>
                  <a:pt x="0" y="0"/>
                </a:moveTo>
                <a:lnTo>
                  <a:pt x="2097801" y="0"/>
                </a:lnTo>
                <a:lnTo>
                  <a:pt x="2097801" y="1502679"/>
                </a:lnTo>
                <a:lnTo>
                  <a:pt x="0" y="1502679"/>
                </a:lnTo>
                <a:lnTo>
                  <a:pt x="0" y="0"/>
                </a:lnTo>
                <a:close/>
              </a:path>
            </a:pathLst>
          </a:custGeom>
          <a:blipFill>
            <a:blip r:embed="rId6"/>
            <a:stretch>
              <a:fillRect l="0" t="0" r="0" b="0"/>
            </a:stretch>
          </a:blipFill>
        </p:spPr>
      </p:sp>
      <p:sp>
        <p:nvSpPr>
          <p:cNvPr name="Freeform 9" id="9"/>
          <p:cNvSpPr/>
          <p:nvPr/>
        </p:nvSpPr>
        <p:spPr>
          <a:xfrm flipH="false" flipV="false" rot="0">
            <a:off x="7976079" y="5096978"/>
            <a:ext cx="2302533" cy="1419172"/>
          </a:xfrm>
          <a:custGeom>
            <a:avLst/>
            <a:gdLst/>
            <a:ahLst/>
            <a:cxnLst/>
            <a:rect r="r" b="b" t="t" l="l"/>
            <a:pathLst>
              <a:path h="1419172" w="2302533">
                <a:moveTo>
                  <a:pt x="0" y="0"/>
                </a:moveTo>
                <a:lnTo>
                  <a:pt x="2302533" y="0"/>
                </a:lnTo>
                <a:lnTo>
                  <a:pt x="2302533" y="1419172"/>
                </a:lnTo>
                <a:lnTo>
                  <a:pt x="0" y="1419172"/>
                </a:lnTo>
                <a:lnTo>
                  <a:pt x="0" y="0"/>
                </a:lnTo>
                <a:close/>
              </a:path>
            </a:pathLst>
          </a:custGeom>
          <a:blipFill>
            <a:blip r:embed="rId7"/>
            <a:stretch>
              <a:fillRect l="0" t="0" r="0" b="0"/>
            </a:stretch>
          </a:blipFill>
        </p:spPr>
      </p:sp>
      <p:sp>
        <p:nvSpPr>
          <p:cNvPr name="Freeform 10" id="10"/>
          <p:cNvSpPr/>
          <p:nvPr/>
        </p:nvSpPr>
        <p:spPr>
          <a:xfrm flipH="false" flipV="false" rot="0">
            <a:off x="11472834" y="5030040"/>
            <a:ext cx="2081083" cy="1553047"/>
          </a:xfrm>
          <a:custGeom>
            <a:avLst/>
            <a:gdLst/>
            <a:ahLst/>
            <a:cxnLst/>
            <a:rect r="r" b="b" t="t" l="l"/>
            <a:pathLst>
              <a:path h="1553047" w="2081083">
                <a:moveTo>
                  <a:pt x="0" y="0"/>
                </a:moveTo>
                <a:lnTo>
                  <a:pt x="2081082" y="0"/>
                </a:lnTo>
                <a:lnTo>
                  <a:pt x="2081082" y="1553047"/>
                </a:lnTo>
                <a:lnTo>
                  <a:pt x="0" y="1553047"/>
                </a:lnTo>
                <a:lnTo>
                  <a:pt x="0" y="0"/>
                </a:lnTo>
                <a:close/>
              </a:path>
            </a:pathLst>
          </a:custGeom>
          <a:blipFill>
            <a:blip r:embed="rId8"/>
            <a:stretch>
              <a:fillRect l="0" t="0" r="0" b="0"/>
            </a:stretch>
          </a:blipFill>
        </p:spPr>
      </p:sp>
      <p:sp>
        <p:nvSpPr>
          <p:cNvPr name="Freeform 11" id="11"/>
          <p:cNvSpPr/>
          <p:nvPr/>
        </p:nvSpPr>
        <p:spPr>
          <a:xfrm flipH="false" flipV="false" rot="0">
            <a:off x="11335861" y="7250023"/>
            <a:ext cx="2355027" cy="934535"/>
          </a:xfrm>
          <a:custGeom>
            <a:avLst/>
            <a:gdLst/>
            <a:ahLst/>
            <a:cxnLst/>
            <a:rect r="r" b="b" t="t" l="l"/>
            <a:pathLst>
              <a:path h="934535" w="2355027">
                <a:moveTo>
                  <a:pt x="0" y="0"/>
                </a:moveTo>
                <a:lnTo>
                  <a:pt x="2355028" y="0"/>
                </a:lnTo>
                <a:lnTo>
                  <a:pt x="2355028" y="934534"/>
                </a:lnTo>
                <a:lnTo>
                  <a:pt x="0" y="934534"/>
                </a:lnTo>
                <a:lnTo>
                  <a:pt x="0" y="0"/>
                </a:lnTo>
                <a:close/>
              </a:path>
            </a:pathLst>
          </a:custGeom>
          <a:blipFill>
            <a:blip r:embed="rId9"/>
            <a:stretch>
              <a:fillRect l="0" t="0" r="0" b="0"/>
            </a:stretch>
          </a:blipFill>
        </p:spPr>
      </p:sp>
      <p:sp>
        <p:nvSpPr>
          <p:cNvPr name="Freeform 12" id="12"/>
          <p:cNvSpPr/>
          <p:nvPr/>
        </p:nvSpPr>
        <p:spPr>
          <a:xfrm flipH="false" flipV="false" rot="0">
            <a:off x="14937112" y="4897714"/>
            <a:ext cx="1686543" cy="1817701"/>
          </a:xfrm>
          <a:custGeom>
            <a:avLst/>
            <a:gdLst/>
            <a:ahLst/>
            <a:cxnLst/>
            <a:rect r="r" b="b" t="t" l="l"/>
            <a:pathLst>
              <a:path h="1817701" w="1686543">
                <a:moveTo>
                  <a:pt x="0" y="0"/>
                </a:moveTo>
                <a:lnTo>
                  <a:pt x="1686543" y="0"/>
                </a:lnTo>
                <a:lnTo>
                  <a:pt x="1686543" y="1817700"/>
                </a:lnTo>
                <a:lnTo>
                  <a:pt x="0" y="1817700"/>
                </a:lnTo>
                <a:lnTo>
                  <a:pt x="0" y="0"/>
                </a:lnTo>
                <a:close/>
              </a:path>
            </a:pathLst>
          </a:custGeom>
          <a:blipFill>
            <a:blip r:embed="rId10"/>
            <a:stretch>
              <a:fillRect l="-63461" t="-9484" r="-70275" b="-7113"/>
            </a:stretch>
          </a:blipFill>
        </p:spPr>
      </p:sp>
      <p:sp>
        <p:nvSpPr>
          <p:cNvPr name="TextBox 13" id="13"/>
          <p:cNvSpPr txBox="true"/>
          <p:nvPr/>
        </p:nvSpPr>
        <p:spPr>
          <a:xfrm rot="0">
            <a:off x="971550" y="2474955"/>
            <a:ext cx="6462712" cy="14833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Resellers</a:t>
            </a:r>
          </a:p>
        </p:txBody>
      </p:sp>
      <p:sp>
        <p:nvSpPr>
          <p:cNvPr name="TextBox 14" id="14"/>
          <p:cNvSpPr txBox="true"/>
          <p:nvPr/>
        </p:nvSpPr>
        <p:spPr>
          <a:xfrm rot="0">
            <a:off x="15288667" y="1258210"/>
            <a:ext cx="1599158"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Core Products</a:t>
            </a:r>
          </a:p>
        </p:txBody>
      </p:sp>
      <p:sp>
        <p:nvSpPr>
          <p:cNvPr name="Freeform 15" id="15"/>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6" id="16"/>
          <p:cNvGrpSpPr/>
          <p:nvPr/>
        </p:nvGrpSpPr>
        <p:grpSpPr>
          <a:xfrm rot="0">
            <a:off x="14916248" y="1072430"/>
            <a:ext cx="2343052" cy="784945"/>
            <a:chOff x="0" y="0"/>
            <a:chExt cx="617100" cy="206735"/>
          </a:xfrm>
        </p:grpSpPr>
        <p:sp>
          <p:nvSpPr>
            <p:cNvPr name="Freeform 17" id="17"/>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8" id="18"/>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9" id="19"/>
          <p:cNvGrpSpPr/>
          <p:nvPr/>
        </p:nvGrpSpPr>
        <p:grpSpPr>
          <a:xfrm rot="0">
            <a:off x="15237853" y="1353997"/>
            <a:ext cx="240861" cy="24086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22" id="22"/>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wipe dir="u"/>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4790954">
            <a:off x="4193512" y="2904912"/>
            <a:ext cx="20219053" cy="10370689"/>
          </a:xfrm>
          <a:custGeom>
            <a:avLst/>
            <a:gdLst/>
            <a:ahLst/>
            <a:cxnLst/>
            <a:rect r="r" b="b" t="t" l="l"/>
            <a:pathLst>
              <a:path h="10370689" w="20219053">
                <a:moveTo>
                  <a:pt x="20219054" y="0"/>
                </a:moveTo>
                <a:lnTo>
                  <a:pt x="0" y="0"/>
                </a:lnTo>
                <a:lnTo>
                  <a:pt x="0" y="10370689"/>
                </a:lnTo>
                <a:lnTo>
                  <a:pt x="20219054" y="10370689"/>
                </a:lnTo>
                <a:lnTo>
                  <a:pt x="20219054"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913085" y="1325153"/>
            <a:ext cx="240861" cy="279498"/>
            <a:chOff x="0" y="0"/>
            <a:chExt cx="812800" cy="943182"/>
          </a:xfrm>
        </p:grpSpPr>
        <p:sp>
          <p:nvSpPr>
            <p:cNvPr name="Freeform 4" id="4"/>
            <p:cNvSpPr/>
            <p:nvPr/>
          </p:nvSpPr>
          <p:spPr>
            <a:xfrm flipH="false" flipV="false" rot="0">
              <a:off x="0" y="0"/>
              <a:ext cx="812800" cy="943182"/>
            </a:xfrm>
            <a:custGeom>
              <a:avLst/>
              <a:gdLst/>
              <a:ahLst/>
              <a:cxnLst/>
              <a:rect r="r" b="b" t="t" l="l"/>
              <a:pathLst>
                <a:path h="943182" w="812800">
                  <a:moveTo>
                    <a:pt x="406400" y="0"/>
                  </a:moveTo>
                  <a:cubicBezTo>
                    <a:pt x="181951" y="0"/>
                    <a:pt x="0" y="211138"/>
                    <a:pt x="0" y="471591"/>
                  </a:cubicBezTo>
                  <a:cubicBezTo>
                    <a:pt x="0" y="732043"/>
                    <a:pt x="181951" y="943182"/>
                    <a:pt x="406400" y="943182"/>
                  </a:cubicBezTo>
                  <a:cubicBezTo>
                    <a:pt x="630849" y="943182"/>
                    <a:pt x="812800" y="732043"/>
                    <a:pt x="812800" y="471591"/>
                  </a:cubicBezTo>
                  <a:cubicBezTo>
                    <a:pt x="812800" y="211138"/>
                    <a:pt x="630849" y="0"/>
                    <a:pt x="406400" y="0"/>
                  </a:cubicBezTo>
                  <a:close/>
                </a:path>
              </a:pathLst>
            </a:custGeom>
            <a:solidFill>
              <a:srgbClr val="FFFFFF"/>
            </a:solidFill>
          </p:spPr>
        </p:sp>
        <p:sp>
          <p:nvSpPr>
            <p:cNvPr name="TextBox 5" id="5"/>
            <p:cNvSpPr txBox="true"/>
            <p:nvPr/>
          </p:nvSpPr>
          <p:spPr>
            <a:xfrm>
              <a:off x="76200" y="50323"/>
              <a:ext cx="660400" cy="804435"/>
            </a:xfrm>
            <a:prstGeom prst="rect">
              <a:avLst/>
            </a:prstGeom>
          </p:spPr>
          <p:txBody>
            <a:bodyPr anchor="ctr" rtlCol="false" tIns="50800" lIns="50800" bIns="50800" rIns="50800"/>
            <a:lstStyle/>
            <a:p>
              <a:pPr algn="ctr">
                <a:lnSpc>
                  <a:spcPts val="2520"/>
                </a:lnSpc>
              </a:pPr>
            </a:p>
          </p:txBody>
        </p:sp>
      </p:grpSp>
      <p:sp>
        <p:nvSpPr>
          <p:cNvPr name="TextBox 6" id="6"/>
          <p:cNvSpPr txBox="true"/>
          <p:nvPr/>
        </p:nvSpPr>
        <p:spPr>
          <a:xfrm rot="0">
            <a:off x="15798583"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
        <p:nvSpPr>
          <p:cNvPr name="Freeform 7" id="7"/>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4916248" y="1072430"/>
            <a:ext cx="2343052" cy="784945"/>
            <a:chOff x="0" y="0"/>
            <a:chExt cx="617100" cy="206735"/>
          </a:xfrm>
        </p:grpSpPr>
        <p:sp>
          <p:nvSpPr>
            <p:cNvPr name="Freeform 9" id="9"/>
            <p:cNvSpPr/>
            <p:nvPr/>
          </p:nvSpPr>
          <p:spPr>
            <a:xfrm flipH="false" flipV="false" rot="0">
              <a:off x="0" y="0"/>
              <a:ext cx="617100" cy="206735"/>
            </a:xfrm>
            <a:custGeom>
              <a:avLst/>
              <a:gdLst/>
              <a:ahLst/>
              <a:cxnLst/>
              <a:rect r="r" b="b" t="t" l="l"/>
              <a:pathLst>
                <a:path h="206735" w="617100">
                  <a:moveTo>
                    <a:pt x="103367" y="0"/>
                  </a:moveTo>
                  <a:lnTo>
                    <a:pt x="513733" y="0"/>
                  </a:lnTo>
                  <a:cubicBezTo>
                    <a:pt x="541148" y="0"/>
                    <a:pt x="567439" y="10890"/>
                    <a:pt x="586825" y="30276"/>
                  </a:cubicBezTo>
                  <a:cubicBezTo>
                    <a:pt x="606210" y="49661"/>
                    <a:pt x="617100" y="75953"/>
                    <a:pt x="617100" y="103367"/>
                  </a:cubicBezTo>
                  <a:lnTo>
                    <a:pt x="617100" y="103367"/>
                  </a:lnTo>
                  <a:cubicBezTo>
                    <a:pt x="617100" y="130782"/>
                    <a:pt x="606210" y="157074"/>
                    <a:pt x="586825" y="176459"/>
                  </a:cubicBezTo>
                  <a:cubicBezTo>
                    <a:pt x="567439" y="195844"/>
                    <a:pt x="541148" y="206735"/>
                    <a:pt x="513733"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0D0D0D"/>
            </a:solidFill>
          </p:spPr>
        </p:sp>
        <p:sp>
          <p:nvSpPr>
            <p:cNvPr name="TextBox 10" id="10"/>
            <p:cNvSpPr txBox="true"/>
            <p:nvPr/>
          </p:nvSpPr>
          <p:spPr>
            <a:xfrm>
              <a:off x="0" y="-38100"/>
              <a:ext cx="617100" cy="244835"/>
            </a:xfrm>
            <a:prstGeom prst="rect">
              <a:avLst/>
            </a:prstGeom>
          </p:spPr>
          <p:txBody>
            <a:bodyPr anchor="ctr" rtlCol="false" tIns="50800" lIns="50800" bIns="50800" rIns="50800"/>
            <a:lstStyle/>
            <a:p>
              <a:pPr algn="ctr">
                <a:lnSpc>
                  <a:spcPts val="2520"/>
                </a:lnSpc>
              </a:pPr>
            </a:p>
          </p:txBody>
        </p:sp>
      </p:grpSp>
      <p:grpSp>
        <p:nvGrpSpPr>
          <p:cNvPr name="Group 11" id="11"/>
          <p:cNvGrpSpPr/>
          <p:nvPr/>
        </p:nvGrpSpPr>
        <p:grpSpPr>
          <a:xfrm rot="0">
            <a:off x="15237853" y="1353997"/>
            <a:ext cx="240861" cy="24086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Freeform 14" id="14"/>
          <p:cNvSpPr/>
          <p:nvPr/>
        </p:nvSpPr>
        <p:spPr>
          <a:xfrm flipH="false" flipV="false" rot="0">
            <a:off x="1028700" y="2700338"/>
            <a:ext cx="762000" cy="457200"/>
          </a:xfrm>
          <a:custGeom>
            <a:avLst/>
            <a:gdLst/>
            <a:ahLst/>
            <a:cxnLst/>
            <a:rect r="r" b="b" t="t" l="l"/>
            <a:pathLst>
              <a:path h="457200" w="762000">
                <a:moveTo>
                  <a:pt x="0" y="0"/>
                </a:moveTo>
                <a:lnTo>
                  <a:pt x="762000" y="0"/>
                </a:lnTo>
                <a:lnTo>
                  <a:pt x="762000" y="457200"/>
                </a:lnTo>
                <a:lnTo>
                  <a:pt x="0" y="4572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5558105" y="2700338"/>
            <a:ext cx="762000" cy="580505"/>
          </a:xfrm>
          <a:custGeom>
            <a:avLst/>
            <a:gdLst/>
            <a:ahLst/>
            <a:cxnLst/>
            <a:rect r="r" b="b" t="t" l="l"/>
            <a:pathLst>
              <a:path h="580505" w="762000">
                <a:moveTo>
                  <a:pt x="0" y="0"/>
                </a:moveTo>
                <a:lnTo>
                  <a:pt x="762000" y="0"/>
                </a:lnTo>
                <a:lnTo>
                  <a:pt x="762000" y="580505"/>
                </a:lnTo>
                <a:lnTo>
                  <a:pt x="0" y="5805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0172340" y="2700338"/>
            <a:ext cx="790373" cy="790373"/>
          </a:xfrm>
          <a:custGeom>
            <a:avLst/>
            <a:gdLst/>
            <a:ahLst/>
            <a:cxnLst/>
            <a:rect r="r" b="b" t="t" l="l"/>
            <a:pathLst>
              <a:path h="790373" w="790373">
                <a:moveTo>
                  <a:pt x="0" y="0"/>
                </a:moveTo>
                <a:lnTo>
                  <a:pt x="790374" y="0"/>
                </a:lnTo>
                <a:lnTo>
                  <a:pt x="790374" y="790373"/>
                </a:lnTo>
                <a:lnTo>
                  <a:pt x="0" y="7903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1983401" y="2643188"/>
            <a:ext cx="2684859" cy="309245"/>
          </a:xfrm>
          <a:prstGeom prst="rect">
            <a:avLst/>
          </a:prstGeom>
        </p:spPr>
        <p:txBody>
          <a:bodyPr anchor="t" rtlCol="false" tIns="0" lIns="0" bIns="0" rIns="0">
            <a:spAutoFit/>
          </a:bodyPr>
          <a:lstStyle/>
          <a:p>
            <a:pPr algn="just">
              <a:lnSpc>
                <a:spcPts val="2380"/>
              </a:lnSpc>
            </a:pPr>
            <a:r>
              <a:rPr lang="en-US" b="true" sz="1700">
                <a:solidFill>
                  <a:srgbClr val="000000"/>
                </a:solidFill>
                <a:latin typeface="Poppins Bold"/>
                <a:ea typeface="Poppins Bold"/>
                <a:cs typeface="Poppins Bold"/>
                <a:sym typeface="Poppins Bold"/>
              </a:rPr>
              <a:t> Web / API Development</a:t>
            </a:r>
          </a:p>
        </p:txBody>
      </p:sp>
      <p:sp>
        <p:nvSpPr>
          <p:cNvPr name="TextBox 18" id="18"/>
          <p:cNvSpPr txBox="true"/>
          <p:nvPr/>
        </p:nvSpPr>
        <p:spPr>
          <a:xfrm rot="0">
            <a:off x="1983401" y="3007302"/>
            <a:ext cx="2126010" cy="8096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ColFudsion</a:t>
            </a:r>
            <a:r>
              <a:rPr lang="en-US" b="true" sz="1500">
                <a:solidFill>
                  <a:srgbClr val="000000"/>
                </a:solidFill>
                <a:latin typeface="Poppins Medium"/>
                <a:ea typeface="Poppins Medium"/>
                <a:cs typeface="Poppins Medium"/>
                <a:sym typeface="Poppins Medium"/>
              </a:rPr>
              <a:t> (CFML)</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Java </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Node</a:t>
            </a:r>
          </a:p>
        </p:txBody>
      </p:sp>
      <p:sp>
        <p:nvSpPr>
          <p:cNvPr name="TextBox 19" id="19"/>
          <p:cNvSpPr txBox="true"/>
          <p:nvPr/>
        </p:nvSpPr>
        <p:spPr>
          <a:xfrm rot="0">
            <a:off x="6508969" y="2643188"/>
            <a:ext cx="2569108"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Proje</a:t>
            </a:r>
            <a:r>
              <a:rPr lang="en-US" sz="1700" b="true">
                <a:solidFill>
                  <a:srgbClr val="000000"/>
                </a:solidFill>
                <a:latin typeface="Poppins Bold"/>
                <a:ea typeface="Poppins Bold"/>
                <a:cs typeface="Poppins Bold"/>
                <a:sym typeface="Poppins Bold"/>
              </a:rPr>
              <a:t>ct</a:t>
            </a:r>
            <a:r>
              <a:rPr lang="en-US" b="true" sz="1700">
                <a:solidFill>
                  <a:srgbClr val="000000"/>
                </a:solidFill>
                <a:latin typeface="Poppins Bold"/>
                <a:ea typeface="Poppins Bold"/>
                <a:cs typeface="Poppins Bold"/>
                <a:sym typeface="Poppins Bold"/>
              </a:rPr>
              <a:t> Management</a:t>
            </a:r>
          </a:p>
        </p:txBody>
      </p:sp>
      <p:sp>
        <p:nvSpPr>
          <p:cNvPr name="TextBox 20" id="20"/>
          <p:cNvSpPr txBox="true"/>
          <p:nvPr/>
        </p:nvSpPr>
        <p:spPr>
          <a:xfrm rot="0">
            <a:off x="6508969" y="3000048"/>
            <a:ext cx="2695956" cy="8096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Agil</a:t>
            </a:r>
            <a:r>
              <a:rPr lang="en-US" b="true" sz="1500">
                <a:solidFill>
                  <a:srgbClr val="000000"/>
                </a:solidFill>
                <a:latin typeface="Poppins Medium"/>
                <a:ea typeface="Poppins Medium"/>
                <a:cs typeface="Poppins Medium"/>
                <a:sym typeface="Poppins Medium"/>
              </a:rPr>
              <a:t>e / Scrum Certified</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PMP CertifieD</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Jira Specialists</a:t>
            </a:r>
          </a:p>
        </p:txBody>
      </p:sp>
      <p:sp>
        <p:nvSpPr>
          <p:cNvPr name="TextBox 21" id="21"/>
          <p:cNvSpPr txBox="true"/>
          <p:nvPr/>
        </p:nvSpPr>
        <p:spPr>
          <a:xfrm rot="0">
            <a:off x="11153214" y="2643188"/>
            <a:ext cx="2141041"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DBA</a:t>
            </a:r>
          </a:p>
        </p:txBody>
      </p:sp>
      <p:sp>
        <p:nvSpPr>
          <p:cNvPr name="TextBox 22" id="22"/>
          <p:cNvSpPr txBox="true"/>
          <p:nvPr/>
        </p:nvSpPr>
        <p:spPr>
          <a:xfrm rot="0">
            <a:off x="11153214" y="3001962"/>
            <a:ext cx="1643378" cy="10763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MySQL</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PostgreSQL</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Microsoft SQL</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Oracle</a:t>
            </a:r>
          </a:p>
        </p:txBody>
      </p:sp>
      <p:sp>
        <p:nvSpPr>
          <p:cNvPr name="Freeform 23" id="23"/>
          <p:cNvSpPr/>
          <p:nvPr/>
        </p:nvSpPr>
        <p:spPr>
          <a:xfrm flipH="false" flipV="false" rot="0">
            <a:off x="1197292" y="4430712"/>
            <a:ext cx="516775" cy="762000"/>
          </a:xfrm>
          <a:custGeom>
            <a:avLst/>
            <a:gdLst/>
            <a:ahLst/>
            <a:cxnLst/>
            <a:rect r="r" b="b" t="t" l="l"/>
            <a:pathLst>
              <a:path h="762000" w="516775">
                <a:moveTo>
                  <a:pt x="0" y="0"/>
                </a:moveTo>
                <a:lnTo>
                  <a:pt x="516775" y="0"/>
                </a:lnTo>
                <a:lnTo>
                  <a:pt x="516775" y="762000"/>
                </a:lnTo>
                <a:lnTo>
                  <a:pt x="0" y="7620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5558105" y="4430712"/>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0">
            <a:off x="10202460" y="4430712"/>
            <a:ext cx="730135" cy="762000"/>
          </a:xfrm>
          <a:custGeom>
            <a:avLst/>
            <a:gdLst/>
            <a:ahLst/>
            <a:cxnLst/>
            <a:rect r="r" b="b" t="t" l="l"/>
            <a:pathLst>
              <a:path h="762000" w="730135">
                <a:moveTo>
                  <a:pt x="0" y="0"/>
                </a:moveTo>
                <a:lnTo>
                  <a:pt x="730134" y="0"/>
                </a:lnTo>
                <a:lnTo>
                  <a:pt x="730134" y="762000"/>
                </a:lnTo>
                <a:lnTo>
                  <a:pt x="0" y="7620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6" id="26"/>
          <p:cNvSpPr txBox="true"/>
          <p:nvPr/>
        </p:nvSpPr>
        <p:spPr>
          <a:xfrm rot="0">
            <a:off x="1983401" y="4373562"/>
            <a:ext cx="2620417"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Front End Dev</a:t>
            </a:r>
            <a:r>
              <a:rPr lang="en-US" b="true" sz="1700">
                <a:solidFill>
                  <a:srgbClr val="000000"/>
                </a:solidFill>
                <a:latin typeface="Poppins Bold"/>
                <a:ea typeface="Poppins Bold"/>
                <a:cs typeface="Poppins Bold"/>
                <a:sym typeface="Poppins Bold"/>
              </a:rPr>
              <a:t>elopment</a:t>
            </a:r>
          </a:p>
        </p:txBody>
      </p:sp>
      <p:sp>
        <p:nvSpPr>
          <p:cNvPr name="TextBox 27" id="27"/>
          <p:cNvSpPr txBox="true"/>
          <p:nvPr/>
        </p:nvSpPr>
        <p:spPr>
          <a:xfrm rot="0">
            <a:off x="1983401" y="4734242"/>
            <a:ext cx="1125587" cy="13430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Angular</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Vue.js</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Alpine.js</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Nuxt.js</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Quasar</a:t>
            </a:r>
          </a:p>
        </p:txBody>
      </p:sp>
      <p:sp>
        <p:nvSpPr>
          <p:cNvPr name="TextBox 28" id="28"/>
          <p:cNvSpPr txBox="true"/>
          <p:nvPr/>
        </p:nvSpPr>
        <p:spPr>
          <a:xfrm rot="0">
            <a:off x="11153214" y="4373562"/>
            <a:ext cx="2141041" cy="309245"/>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NoSQL + Ca</a:t>
            </a:r>
            <a:r>
              <a:rPr lang="en-US" sz="1700" b="true">
                <a:solidFill>
                  <a:srgbClr val="000000"/>
                </a:solidFill>
                <a:latin typeface="Poppins Bold"/>
                <a:ea typeface="Poppins Bold"/>
                <a:cs typeface="Poppins Bold"/>
                <a:sym typeface="Poppins Bold"/>
              </a:rPr>
              <a:t>c</a:t>
            </a:r>
            <a:r>
              <a:rPr lang="en-US" sz="1700" b="true">
                <a:solidFill>
                  <a:srgbClr val="000000"/>
                </a:solidFill>
                <a:latin typeface="Poppins Bold"/>
                <a:ea typeface="Poppins Bold"/>
                <a:cs typeface="Poppins Bold"/>
                <a:sym typeface="Poppins Bold"/>
              </a:rPr>
              <a:t>hing</a:t>
            </a:r>
          </a:p>
        </p:txBody>
      </p:sp>
      <p:sp>
        <p:nvSpPr>
          <p:cNvPr name="TextBox 29" id="29"/>
          <p:cNvSpPr txBox="true"/>
          <p:nvPr/>
        </p:nvSpPr>
        <p:spPr>
          <a:xfrm rot="0">
            <a:off x="11153214" y="4732337"/>
            <a:ext cx="1518539" cy="809625"/>
          </a:xfrm>
          <a:prstGeom prst="rect">
            <a:avLst/>
          </a:prstGeom>
        </p:spPr>
        <p:txBody>
          <a:bodyPr anchor="t" rtlCol="false" tIns="0" lIns="0" bIns="0" rIns="0">
            <a:spAutoFit/>
          </a:bodyPr>
          <a:lstStyle/>
          <a:p>
            <a:pPr algn="l"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Couch</a:t>
            </a:r>
            <a:r>
              <a:rPr lang="en-US" b="true" sz="1500">
                <a:solidFill>
                  <a:srgbClr val="000000"/>
                </a:solidFill>
                <a:latin typeface="Poppins Medium"/>
                <a:ea typeface="Poppins Medium"/>
                <a:cs typeface="Poppins Medium"/>
                <a:sym typeface="Poppins Medium"/>
              </a:rPr>
              <a:t>base</a:t>
            </a:r>
          </a:p>
          <a:p>
            <a:pPr algn="l"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Redis</a:t>
            </a:r>
          </a:p>
          <a:p>
            <a:pPr algn="l"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Mongo DB</a:t>
            </a:r>
          </a:p>
        </p:txBody>
      </p:sp>
      <p:sp>
        <p:nvSpPr>
          <p:cNvPr name="TextBox 30" id="30"/>
          <p:cNvSpPr txBox="true"/>
          <p:nvPr/>
        </p:nvSpPr>
        <p:spPr>
          <a:xfrm rot="0">
            <a:off x="6508969" y="4373562"/>
            <a:ext cx="2316807"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B</a:t>
            </a:r>
            <a:r>
              <a:rPr lang="en-US" b="true" sz="1700">
                <a:solidFill>
                  <a:srgbClr val="000000"/>
                </a:solidFill>
                <a:latin typeface="Poppins Bold"/>
                <a:ea typeface="Poppins Bold"/>
                <a:cs typeface="Poppins Bold"/>
                <a:sym typeface="Poppins Bold"/>
              </a:rPr>
              <a:t>usiness Inteligence</a:t>
            </a:r>
          </a:p>
        </p:txBody>
      </p:sp>
      <p:sp>
        <p:nvSpPr>
          <p:cNvPr name="TextBox 31" id="31"/>
          <p:cNvSpPr txBox="true"/>
          <p:nvPr/>
        </p:nvSpPr>
        <p:spPr>
          <a:xfrm rot="0">
            <a:off x="6508969" y="4737612"/>
            <a:ext cx="1303139" cy="276225"/>
          </a:xfrm>
          <a:prstGeom prst="rect">
            <a:avLst/>
          </a:prstGeom>
        </p:spPr>
        <p:txBody>
          <a:bodyPr anchor="t" rtlCol="false" tIns="0" lIns="0" bIns="0" rIns="0">
            <a:spAutoFit/>
          </a:bodyPr>
          <a:lstStyle/>
          <a:p>
            <a:pPr algn="just">
              <a:lnSpc>
                <a:spcPts val="2100"/>
              </a:lnSpc>
            </a:pPr>
            <a:r>
              <a:rPr lang="en-US" b="true" sz="1500">
                <a:solidFill>
                  <a:srgbClr val="000000"/>
                </a:solidFill>
                <a:latin typeface="Poppins Medium"/>
                <a:ea typeface="Poppins Medium"/>
                <a:cs typeface="Poppins Medium"/>
                <a:sym typeface="Poppins Medium"/>
              </a:rPr>
              <a:t>With power BI</a:t>
            </a:r>
          </a:p>
        </p:txBody>
      </p:sp>
      <p:sp>
        <p:nvSpPr>
          <p:cNvPr name="Freeform 32" id="32"/>
          <p:cNvSpPr/>
          <p:nvPr/>
        </p:nvSpPr>
        <p:spPr>
          <a:xfrm flipH="false" flipV="false" rot="0">
            <a:off x="1028700" y="6429692"/>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3" id="33"/>
          <p:cNvSpPr/>
          <p:nvPr/>
        </p:nvSpPr>
        <p:spPr>
          <a:xfrm flipH="false" flipV="false" rot="0">
            <a:off x="5558105" y="6429692"/>
            <a:ext cx="762000" cy="543098"/>
          </a:xfrm>
          <a:custGeom>
            <a:avLst/>
            <a:gdLst/>
            <a:ahLst/>
            <a:cxnLst/>
            <a:rect r="r" b="b" t="t" l="l"/>
            <a:pathLst>
              <a:path h="543098" w="762000">
                <a:moveTo>
                  <a:pt x="0" y="0"/>
                </a:moveTo>
                <a:lnTo>
                  <a:pt x="762000" y="0"/>
                </a:lnTo>
                <a:lnTo>
                  <a:pt x="762000" y="543098"/>
                </a:lnTo>
                <a:lnTo>
                  <a:pt x="0" y="543098"/>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4" id="34"/>
          <p:cNvSpPr/>
          <p:nvPr/>
        </p:nvSpPr>
        <p:spPr>
          <a:xfrm flipH="false" flipV="false" rot="0">
            <a:off x="10186527" y="6429692"/>
            <a:ext cx="762000" cy="762000"/>
          </a:xfrm>
          <a:custGeom>
            <a:avLst/>
            <a:gdLst/>
            <a:ahLst/>
            <a:cxnLst/>
            <a:rect r="r" b="b" t="t" l="l"/>
            <a:pathLst>
              <a:path h="762000" w="762000">
                <a:moveTo>
                  <a:pt x="0" y="0"/>
                </a:moveTo>
                <a:lnTo>
                  <a:pt x="762000" y="0"/>
                </a:lnTo>
                <a:lnTo>
                  <a:pt x="762000" y="762000"/>
                </a:lnTo>
                <a:lnTo>
                  <a:pt x="0" y="76200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35" id="35"/>
          <p:cNvSpPr txBox="true"/>
          <p:nvPr/>
        </p:nvSpPr>
        <p:spPr>
          <a:xfrm rot="0">
            <a:off x="1983401" y="6372542"/>
            <a:ext cx="2083445"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Quality Ass</a:t>
            </a:r>
            <a:r>
              <a:rPr lang="en-US" b="true" sz="1700">
                <a:solidFill>
                  <a:srgbClr val="000000"/>
                </a:solidFill>
                <a:latin typeface="Poppins Bold"/>
                <a:ea typeface="Poppins Bold"/>
                <a:cs typeface="Poppins Bold"/>
                <a:sym typeface="Poppins Bold"/>
              </a:rPr>
              <a:t>urance</a:t>
            </a:r>
          </a:p>
        </p:txBody>
      </p:sp>
      <p:sp>
        <p:nvSpPr>
          <p:cNvPr name="TextBox 36" id="36"/>
          <p:cNvSpPr txBox="true"/>
          <p:nvPr/>
        </p:nvSpPr>
        <p:spPr>
          <a:xfrm rot="0">
            <a:off x="1983401" y="6757987"/>
            <a:ext cx="2318593" cy="13430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Automated</a:t>
            </a:r>
            <a:r>
              <a:rPr lang="en-US" b="true" sz="1500">
                <a:solidFill>
                  <a:srgbClr val="000000"/>
                </a:solidFill>
                <a:latin typeface="Poppins Medium"/>
                <a:ea typeface="Poppins Medium"/>
                <a:cs typeface="Poppins Medium"/>
                <a:sym typeface="Poppins Medium"/>
              </a:rPr>
              <a:t> Testing</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Integration Testing</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Unit Testing</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Performance Testing</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UI Testing</a:t>
            </a:r>
          </a:p>
        </p:txBody>
      </p:sp>
      <p:sp>
        <p:nvSpPr>
          <p:cNvPr name="TextBox 37" id="37"/>
          <p:cNvSpPr txBox="true"/>
          <p:nvPr/>
        </p:nvSpPr>
        <p:spPr>
          <a:xfrm rot="0">
            <a:off x="6508969" y="6372542"/>
            <a:ext cx="1588591" cy="309245"/>
          </a:xfrm>
          <a:prstGeom prst="rect">
            <a:avLst/>
          </a:prstGeom>
        </p:spPr>
        <p:txBody>
          <a:bodyPr anchor="t" rtlCol="false" tIns="0" lIns="0" bIns="0" rIns="0">
            <a:spAutoFit/>
          </a:bodyPr>
          <a:lstStyle/>
          <a:p>
            <a:pPr algn="just">
              <a:lnSpc>
                <a:spcPts val="2380"/>
              </a:lnSpc>
            </a:pPr>
            <a:r>
              <a:rPr lang="en-US" sz="1700" b="true">
                <a:solidFill>
                  <a:srgbClr val="000000"/>
                </a:solidFill>
                <a:latin typeface="Poppins Bold"/>
                <a:ea typeface="Poppins Bold"/>
                <a:cs typeface="Poppins Bold"/>
                <a:sym typeface="Poppins Bold"/>
              </a:rPr>
              <a:t>Clo</a:t>
            </a:r>
            <a:r>
              <a:rPr lang="en-US" b="true" sz="1700">
                <a:solidFill>
                  <a:srgbClr val="000000"/>
                </a:solidFill>
                <a:latin typeface="Poppins Bold"/>
                <a:ea typeface="Poppins Bold"/>
                <a:cs typeface="Poppins Bold"/>
                <a:sym typeface="Poppins Bold"/>
              </a:rPr>
              <a:t>ud DevOps</a:t>
            </a:r>
          </a:p>
        </p:txBody>
      </p:sp>
      <p:sp>
        <p:nvSpPr>
          <p:cNvPr name="TextBox 38" id="38"/>
          <p:cNvSpPr txBox="true"/>
          <p:nvPr/>
        </p:nvSpPr>
        <p:spPr>
          <a:xfrm rot="0">
            <a:off x="6508969" y="6732932"/>
            <a:ext cx="1733401" cy="2143125"/>
          </a:xfrm>
          <a:prstGeom prst="rect">
            <a:avLst/>
          </a:prstGeom>
        </p:spPr>
        <p:txBody>
          <a:bodyPr anchor="t" rtlCol="false" tIns="0" lIns="0" bIns="0" rIns="0">
            <a:spAutoFit/>
          </a:bodyPr>
          <a:lstStyle/>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a:t>
            </a:r>
            <a:r>
              <a:rPr lang="en-US" b="true" sz="1500">
                <a:solidFill>
                  <a:srgbClr val="000000"/>
                </a:solidFill>
                <a:latin typeface="Poppins Medium"/>
                <a:ea typeface="Poppins Medium"/>
                <a:cs typeface="Poppins Medium"/>
                <a:sym typeface="Poppins Medium"/>
              </a:rPr>
              <a:t>WS</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Digital Ocean</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Azure</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Terraform</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Gitlab</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Github Actions</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Bitbucket</a:t>
            </a:r>
          </a:p>
          <a:p>
            <a:pPr algn="just" marL="323853" indent="-161927" lvl="1">
              <a:lnSpc>
                <a:spcPts val="2100"/>
              </a:lnSpc>
              <a:buFont typeface="Arial"/>
              <a:buChar char="•"/>
            </a:pPr>
            <a:r>
              <a:rPr lang="en-US" b="true" sz="1500">
                <a:solidFill>
                  <a:srgbClr val="000000"/>
                </a:solidFill>
                <a:latin typeface="Poppins Medium"/>
                <a:ea typeface="Poppins Medium"/>
                <a:cs typeface="Poppins Medium"/>
                <a:sym typeface="Poppins Medium"/>
              </a:rPr>
              <a:t>Containers</a:t>
            </a:r>
          </a:p>
        </p:txBody>
      </p:sp>
      <p:sp>
        <p:nvSpPr>
          <p:cNvPr name="TextBox 39" id="39"/>
          <p:cNvSpPr txBox="true"/>
          <p:nvPr/>
        </p:nvSpPr>
        <p:spPr>
          <a:xfrm rot="0">
            <a:off x="11153214" y="6372542"/>
            <a:ext cx="2910929" cy="309245"/>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Se</a:t>
            </a:r>
            <a:r>
              <a:rPr lang="en-US" sz="1700" b="true">
                <a:solidFill>
                  <a:srgbClr val="000000"/>
                </a:solidFill>
                <a:latin typeface="Poppins Bold"/>
                <a:ea typeface="Poppins Bold"/>
                <a:cs typeface="Poppins Bold"/>
                <a:sym typeface="Poppins Bold"/>
              </a:rPr>
              <a:t>arch &amp; Booking Engines</a:t>
            </a:r>
          </a:p>
        </p:txBody>
      </p:sp>
      <p:sp>
        <p:nvSpPr>
          <p:cNvPr name="TextBox 40" id="40"/>
          <p:cNvSpPr txBox="true"/>
          <p:nvPr/>
        </p:nvSpPr>
        <p:spPr>
          <a:xfrm rot="0">
            <a:off x="11153214" y="6725511"/>
            <a:ext cx="3278237" cy="542925"/>
          </a:xfrm>
          <a:prstGeom prst="rect">
            <a:avLst/>
          </a:prstGeom>
        </p:spPr>
        <p:txBody>
          <a:bodyPr anchor="t" rtlCol="false" tIns="0" lIns="0" bIns="0" rIns="0">
            <a:spAutoFit/>
          </a:bodyPr>
          <a:lstStyle/>
          <a:p>
            <a:pPr algn="l">
              <a:lnSpc>
                <a:spcPts val="2100"/>
              </a:lnSpc>
            </a:pPr>
            <a:r>
              <a:rPr lang="en-US" sz="1500" b="true">
                <a:solidFill>
                  <a:srgbClr val="000000"/>
                </a:solidFill>
                <a:latin typeface="Poppins Medium"/>
                <a:ea typeface="Poppins Medium"/>
                <a:cs typeface="Poppins Medium"/>
                <a:sym typeface="Poppins Medium"/>
              </a:rPr>
              <a:t>Using</a:t>
            </a:r>
            <a:r>
              <a:rPr lang="en-US" sz="1500" b="true">
                <a:solidFill>
                  <a:srgbClr val="000000"/>
                </a:solidFill>
                <a:latin typeface="Poppins Medium"/>
                <a:ea typeface="Poppins Medium"/>
                <a:cs typeface="Poppins Medium"/>
                <a:sym typeface="Poppins Medium"/>
              </a:rPr>
              <a:t> ElasticSearch, OpenSearch </a:t>
            </a:r>
          </a:p>
          <a:p>
            <a:pPr algn="l">
              <a:lnSpc>
                <a:spcPts val="2100"/>
              </a:lnSpc>
            </a:pPr>
            <a:r>
              <a:rPr lang="en-US" sz="1500" b="true">
                <a:solidFill>
                  <a:srgbClr val="000000"/>
                </a:solidFill>
                <a:latin typeface="Poppins Medium"/>
                <a:ea typeface="Poppins Medium"/>
                <a:cs typeface="Poppins Medium"/>
                <a:sym typeface="Poppins Medium"/>
              </a:rPr>
              <a:t>and MeiliSearch</a:t>
            </a:r>
          </a:p>
        </p:txBody>
      </p:sp>
      <p:sp>
        <p:nvSpPr>
          <p:cNvPr name="TextBox 41" id="41"/>
          <p:cNvSpPr txBox="true"/>
          <p:nvPr/>
        </p:nvSpPr>
        <p:spPr>
          <a:xfrm rot="0">
            <a:off x="15658624" y="1258210"/>
            <a:ext cx="1229201" cy="365760"/>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FFFFFF"/>
                </a:solidFill>
                <a:latin typeface="Neue Montreal"/>
                <a:ea typeface="Neue Montreal"/>
                <a:cs typeface="Neue Montreal"/>
                <a:sym typeface="Neue Montreal"/>
              </a:rPr>
              <a:t>Ecosystem</a:t>
            </a:r>
          </a:p>
        </p:txBody>
      </p:sp>
    </p:spTree>
  </p:cSld>
  <p:clrMapOvr>
    <a:masterClrMapping/>
  </p:clrMapOvr>
  <p:transition spd="fast">
    <p:wipe dir="d"/>
  </p:transition>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6724720">
            <a:off x="1917779" y="1439748"/>
            <a:ext cx="20219053" cy="10370689"/>
          </a:xfrm>
          <a:custGeom>
            <a:avLst/>
            <a:gdLst/>
            <a:ahLst/>
            <a:cxnLst/>
            <a:rect r="r" b="b" t="t" l="l"/>
            <a:pathLst>
              <a:path h="10370689" w="20219053">
                <a:moveTo>
                  <a:pt x="0" y="0"/>
                </a:moveTo>
                <a:lnTo>
                  <a:pt x="20219054" y="0"/>
                </a:lnTo>
                <a:lnTo>
                  <a:pt x="20219054" y="10370690"/>
                </a:lnTo>
                <a:lnTo>
                  <a:pt x="0" y="1037069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4071591"/>
            <a:ext cx="7677150" cy="411226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A</a:t>
            </a:r>
          </a:p>
          <a:p>
            <a:pPr algn="l">
              <a:lnSpc>
                <a:spcPts val="10400"/>
              </a:lnSpc>
            </a:pPr>
            <a:r>
              <a:rPr lang="en-US" sz="10400">
                <a:solidFill>
                  <a:srgbClr val="0D0D0D"/>
                </a:solidFill>
                <a:latin typeface="Poppins Light"/>
                <a:ea typeface="Poppins Light"/>
                <a:cs typeface="Poppins Light"/>
                <a:sym typeface="Poppins Light"/>
              </a:rPr>
              <a:t>Distributed Team</a:t>
            </a:r>
          </a:p>
        </p:txBody>
      </p:sp>
      <p:sp>
        <p:nvSpPr>
          <p:cNvPr name="Freeform 4" id="4"/>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d"/>
  </p:transition>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248525" y="1972243"/>
            <a:ext cx="9482727" cy="6854460"/>
          </a:xfrm>
          <a:custGeom>
            <a:avLst/>
            <a:gdLst/>
            <a:ahLst/>
            <a:cxnLst/>
            <a:rect r="r" b="b" t="t" l="l"/>
            <a:pathLst>
              <a:path h="6854460" w="9482727">
                <a:moveTo>
                  <a:pt x="0" y="0"/>
                </a:moveTo>
                <a:lnTo>
                  <a:pt x="9482727" y="0"/>
                </a:lnTo>
                <a:lnTo>
                  <a:pt x="9482727" y="6854461"/>
                </a:lnTo>
                <a:lnTo>
                  <a:pt x="0" y="6854461"/>
                </a:lnTo>
                <a:lnTo>
                  <a:pt x="0" y="0"/>
                </a:lnTo>
                <a:close/>
              </a:path>
            </a:pathLst>
          </a:custGeom>
          <a:blipFill>
            <a:blip r:embed="rId2"/>
            <a:stretch>
              <a:fillRect l="-1649" t="-1965" r="-2232" b="-2526"/>
            </a:stretch>
          </a:blipFill>
        </p:spPr>
      </p:sp>
      <p:sp>
        <p:nvSpPr>
          <p:cNvPr name="TextBox 3" id="3"/>
          <p:cNvSpPr txBox="true"/>
          <p:nvPr/>
        </p:nvSpPr>
        <p:spPr>
          <a:xfrm rot="0">
            <a:off x="1028700" y="2745214"/>
            <a:ext cx="6462712" cy="1264295"/>
          </a:xfrm>
          <a:prstGeom prst="rect">
            <a:avLst/>
          </a:prstGeom>
        </p:spPr>
        <p:txBody>
          <a:bodyPr anchor="t" rtlCol="false" tIns="0" lIns="0" bIns="0" rIns="0">
            <a:spAutoFit/>
          </a:bodyPr>
          <a:lstStyle/>
          <a:p>
            <a:pPr algn="l">
              <a:lnSpc>
                <a:spcPts val="8900"/>
              </a:lnSpc>
            </a:pPr>
            <a:r>
              <a:rPr lang="en-US" sz="8900">
                <a:solidFill>
                  <a:srgbClr val="0D0D0D"/>
                </a:solidFill>
                <a:latin typeface="Poppins Light"/>
                <a:ea typeface="Poppins Light"/>
                <a:cs typeface="Poppins Light"/>
                <a:sym typeface="Poppins Light"/>
              </a:rPr>
              <a:t>USA</a:t>
            </a:r>
          </a:p>
        </p:txBody>
      </p:sp>
      <p:sp>
        <p:nvSpPr>
          <p:cNvPr name="TextBox 4" id="4"/>
          <p:cNvSpPr txBox="true"/>
          <p:nvPr/>
        </p:nvSpPr>
        <p:spPr>
          <a:xfrm rot="0">
            <a:off x="1028700" y="4451033"/>
            <a:ext cx="3109912" cy="3135630"/>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Houston, TX</a:t>
            </a:r>
          </a:p>
          <a:p>
            <a:pPr algn="l">
              <a:lnSpc>
                <a:spcPts val="2520"/>
              </a:lnSpc>
            </a:pPr>
            <a:r>
              <a:rPr lang="en-US" sz="1800">
                <a:solidFill>
                  <a:srgbClr val="0D0D0D"/>
                </a:solidFill>
                <a:latin typeface="Inter"/>
                <a:ea typeface="Inter"/>
                <a:cs typeface="Inter"/>
                <a:sym typeface="Inter"/>
              </a:rPr>
              <a:t>West Bend, WI</a:t>
            </a:r>
          </a:p>
          <a:p>
            <a:pPr algn="l">
              <a:lnSpc>
                <a:spcPts val="2520"/>
              </a:lnSpc>
            </a:pPr>
            <a:r>
              <a:rPr lang="en-US" sz="1800">
                <a:solidFill>
                  <a:srgbClr val="0D0D0D"/>
                </a:solidFill>
                <a:latin typeface="Inter"/>
                <a:ea typeface="Inter"/>
                <a:cs typeface="Inter"/>
                <a:sym typeface="Inter"/>
              </a:rPr>
              <a:t>Reston, VA</a:t>
            </a:r>
          </a:p>
          <a:p>
            <a:pPr algn="l">
              <a:lnSpc>
                <a:spcPts val="2520"/>
              </a:lnSpc>
            </a:pPr>
            <a:r>
              <a:rPr lang="en-US" sz="1800">
                <a:solidFill>
                  <a:srgbClr val="0D0D0D"/>
                </a:solidFill>
                <a:latin typeface="Inter"/>
                <a:ea typeface="Inter"/>
                <a:cs typeface="Inter"/>
                <a:sym typeface="Inter"/>
              </a:rPr>
              <a:t>Bakersfield, CA</a:t>
            </a:r>
          </a:p>
          <a:p>
            <a:pPr algn="l">
              <a:lnSpc>
                <a:spcPts val="2520"/>
              </a:lnSpc>
            </a:pPr>
            <a:r>
              <a:rPr lang="en-US" sz="1800">
                <a:solidFill>
                  <a:srgbClr val="0D0D0D"/>
                </a:solidFill>
                <a:latin typeface="Inter"/>
                <a:ea typeface="Inter"/>
                <a:cs typeface="Inter"/>
                <a:sym typeface="Inter"/>
              </a:rPr>
              <a:t>Grand Rapids, MI</a:t>
            </a:r>
          </a:p>
          <a:p>
            <a:pPr algn="l">
              <a:lnSpc>
                <a:spcPts val="2520"/>
              </a:lnSpc>
            </a:pPr>
            <a:r>
              <a:rPr lang="en-US" sz="1800">
                <a:solidFill>
                  <a:srgbClr val="0D0D0D"/>
                </a:solidFill>
                <a:latin typeface="Inter"/>
                <a:ea typeface="Inter"/>
                <a:cs typeface="Inter"/>
                <a:sym typeface="Inter"/>
              </a:rPr>
              <a:t>Antioch, TN</a:t>
            </a:r>
          </a:p>
          <a:p>
            <a:pPr algn="l">
              <a:lnSpc>
                <a:spcPts val="2520"/>
              </a:lnSpc>
            </a:pPr>
            <a:r>
              <a:rPr lang="en-US" sz="1800">
                <a:solidFill>
                  <a:srgbClr val="0D0D0D"/>
                </a:solidFill>
                <a:latin typeface="Inter"/>
                <a:ea typeface="Inter"/>
                <a:cs typeface="Inter"/>
                <a:sym typeface="Inter"/>
              </a:rPr>
              <a:t>Holland Patent, NY</a:t>
            </a:r>
          </a:p>
          <a:p>
            <a:pPr algn="l">
              <a:lnSpc>
                <a:spcPts val="2520"/>
              </a:lnSpc>
            </a:pPr>
            <a:r>
              <a:rPr lang="en-US" sz="1800">
                <a:solidFill>
                  <a:srgbClr val="0D0D0D"/>
                </a:solidFill>
                <a:latin typeface="Inter"/>
                <a:ea typeface="Inter"/>
                <a:cs typeface="Inter"/>
                <a:sym typeface="Inter"/>
              </a:rPr>
              <a:t>Saratoga Springs, UT</a:t>
            </a:r>
          </a:p>
          <a:p>
            <a:pPr algn="l">
              <a:lnSpc>
                <a:spcPts val="2520"/>
              </a:lnSpc>
            </a:pPr>
            <a:r>
              <a:rPr lang="en-US" sz="1800">
                <a:solidFill>
                  <a:srgbClr val="0D0D0D"/>
                </a:solidFill>
                <a:latin typeface="Inter"/>
                <a:ea typeface="Inter"/>
                <a:cs typeface="Inter"/>
                <a:sym typeface="Inter"/>
              </a:rPr>
              <a:t>Capitan Cook, HI</a:t>
            </a:r>
          </a:p>
          <a:p>
            <a:pPr algn="l">
              <a:lnSpc>
                <a:spcPts val="2520"/>
              </a:lnSpc>
            </a:pPr>
            <a:r>
              <a:rPr lang="en-US" sz="1800">
                <a:solidFill>
                  <a:srgbClr val="0D0D0D"/>
                </a:solidFill>
                <a:latin typeface="Inter"/>
                <a:ea typeface="Inter"/>
                <a:cs typeface="Inter"/>
                <a:sym typeface="Inter"/>
              </a:rPr>
              <a:t>Kansas City, MO</a:t>
            </a:r>
          </a:p>
        </p:txBody>
      </p:sp>
      <p:sp>
        <p:nvSpPr>
          <p:cNvPr name="TextBox 5" id="5"/>
          <p:cNvSpPr txBox="true"/>
          <p:nvPr/>
        </p:nvSpPr>
        <p:spPr>
          <a:xfrm rot="0">
            <a:off x="4138612" y="4451033"/>
            <a:ext cx="3109912" cy="28213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Fairfax, VA</a:t>
            </a:r>
          </a:p>
          <a:p>
            <a:pPr algn="l">
              <a:lnSpc>
                <a:spcPts val="2520"/>
              </a:lnSpc>
            </a:pPr>
            <a:r>
              <a:rPr lang="en-US" sz="1800">
                <a:solidFill>
                  <a:srgbClr val="0D0D0D"/>
                </a:solidFill>
                <a:latin typeface="Inter"/>
                <a:ea typeface="Inter"/>
                <a:cs typeface="Inter"/>
                <a:sym typeface="Inter"/>
              </a:rPr>
              <a:t>Randleman, NC</a:t>
            </a:r>
          </a:p>
          <a:p>
            <a:pPr algn="l">
              <a:lnSpc>
                <a:spcPts val="2520"/>
              </a:lnSpc>
            </a:pPr>
            <a:r>
              <a:rPr lang="en-US" sz="1800">
                <a:solidFill>
                  <a:srgbClr val="0D0D0D"/>
                </a:solidFill>
                <a:latin typeface="Inter"/>
                <a:ea typeface="Inter"/>
                <a:cs typeface="Inter"/>
                <a:sym typeface="Inter"/>
              </a:rPr>
              <a:t>Andover, MA</a:t>
            </a:r>
          </a:p>
          <a:p>
            <a:pPr algn="l">
              <a:lnSpc>
                <a:spcPts val="2520"/>
              </a:lnSpc>
            </a:pPr>
            <a:r>
              <a:rPr lang="en-US" sz="1800">
                <a:solidFill>
                  <a:srgbClr val="0D0D0D"/>
                </a:solidFill>
                <a:latin typeface="Inter"/>
                <a:ea typeface="Inter"/>
                <a:cs typeface="Inter"/>
                <a:sym typeface="Inter"/>
              </a:rPr>
              <a:t>Mckinney, TX</a:t>
            </a:r>
          </a:p>
          <a:p>
            <a:pPr algn="l">
              <a:lnSpc>
                <a:spcPts val="2520"/>
              </a:lnSpc>
            </a:pPr>
            <a:r>
              <a:rPr lang="en-US" sz="1800">
                <a:solidFill>
                  <a:srgbClr val="0D0D0D"/>
                </a:solidFill>
                <a:latin typeface="Inter"/>
                <a:ea typeface="Inter"/>
                <a:cs typeface="Inter"/>
                <a:sym typeface="Inter"/>
              </a:rPr>
              <a:t>Spring, TX</a:t>
            </a:r>
          </a:p>
          <a:p>
            <a:pPr algn="l">
              <a:lnSpc>
                <a:spcPts val="2520"/>
              </a:lnSpc>
            </a:pPr>
            <a:r>
              <a:rPr lang="en-US" sz="1800">
                <a:solidFill>
                  <a:srgbClr val="0D0D0D"/>
                </a:solidFill>
                <a:latin typeface="Inter"/>
                <a:ea typeface="Inter"/>
                <a:cs typeface="Inter"/>
                <a:sym typeface="Inter"/>
              </a:rPr>
              <a:t>Waxahachie, TX</a:t>
            </a:r>
          </a:p>
          <a:p>
            <a:pPr algn="l">
              <a:lnSpc>
                <a:spcPts val="2520"/>
              </a:lnSpc>
            </a:pPr>
            <a:r>
              <a:rPr lang="en-US" sz="1800">
                <a:solidFill>
                  <a:srgbClr val="0D0D0D"/>
                </a:solidFill>
                <a:latin typeface="Inter"/>
                <a:ea typeface="Inter"/>
                <a:cs typeface="Inter"/>
                <a:sym typeface="Inter"/>
              </a:rPr>
              <a:t>Plainfield, IL</a:t>
            </a:r>
          </a:p>
          <a:p>
            <a:pPr algn="l">
              <a:lnSpc>
                <a:spcPts val="2520"/>
              </a:lnSpc>
            </a:pPr>
            <a:r>
              <a:rPr lang="en-US" sz="1800">
                <a:solidFill>
                  <a:srgbClr val="0D0D0D"/>
                </a:solidFill>
                <a:latin typeface="Inter"/>
                <a:ea typeface="Inter"/>
                <a:cs typeface="Inter"/>
                <a:sym typeface="Inter"/>
              </a:rPr>
              <a:t>Martinez, GA</a:t>
            </a:r>
          </a:p>
          <a:p>
            <a:pPr algn="l">
              <a:lnSpc>
                <a:spcPts val="2520"/>
              </a:lnSpc>
            </a:pPr>
            <a:r>
              <a:rPr lang="en-US" sz="1800">
                <a:solidFill>
                  <a:srgbClr val="0D0D0D"/>
                </a:solidFill>
                <a:latin typeface="Inter"/>
                <a:ea typeface="Inter"/>
                <a:cs typeface="Inter"/>
                <a:sym typeface="Inter"/>
              </a:rPr>
              <a:t>Davenport, FL</a:t>
            </a:r>
          </a:p>
        </p:txBody>
      </p:sp>
      <p:sp>
        <p:nvSpPr>
          <p:cNvPr name="Freeform 6" id="6"/>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005763" y="1764645"/>
            <a:ext cx="8554064" cy="6757710"/>
          </a:xfrm>
          <a:custGeom>
            <a:avLst/>
            <a:gdLst/>
            <a:ahLst/>
            <a:cxnLst/>
            <a:rect r="r" b="b" t="t" l="l"/>
            <a:pathLst>
              <a:path h="6757710" w="8554064">
                <a:moveTo>
                  <a:pt x="0" y="0"/>
                </a:moveTo>
                <a:lnTo>
                  <a:pt x="8554063" y="0"/>
                </a:lnTo>
                <a:lnTo>
                  <a:pt x="8554063" y="6757710"/>
                </a:lnTo>
                <a:lnTo>
                  <a:pt x="0" y="6757710"/>
                </a:lnTo>
                <a:lnTo>
                  <a:pt x="0" y="0"/>
                </a:lnTo>
                <a:close/>
              </a:path>
            </a:pathLst>
          </a:custGeom>
          <a:blipFill>
            <a:blip r:embed="rId4"/>
            <a:stretch>
              <a:fillRect l="0" t="0" r="0" b="0"/>
            </a:stretch>
          </a:blipFill>
        </p:spPr>
      </p:sp>
      <p:sp>
        <p:nvSpPr>
          <p:cNvPr name="TextBox 4" id="4"/>
          <p:cNvSpPr txBox="true"/>
          <p:nvPr/>
        </p:nvSpPr>
        <p:spPr>
          <a:xfrm rot="0">
            <a:off x="1028700" y="4213230"/>
            <a:ext cx="6462712" cy="2388245"/>
          </a:xfrm>
          <a:prstGeom prst="rect">
            <a:avLst/>
          </a:prstGeom>
        </p:spPr>
        <p:txBody>
          <a:bodyPr anchor="t" rtlCol="false" tIns="0" lIns="0" bIns="0" rIns="0">
            <a:spAutoFit/>
          </a:bodyPr>
          <a:lstStyle/>
          <a:p>
            <a:pPr algn="l">
              <a:lnSpc>
                <a:spcPts val="8900"/>
              </a:lnSpc>
            </a:pPr>
            <a:r>
              <a:rPr lang="en-US" sz="8900">
                <a:solidFill>
                  <a:srgbClr val="0D0D0D"/>
                </a:solidFill>
                <a:latin typeface="Poppins Light"/>
                <a:ea typeface="Poppins Light"/>
                <a:cs typeface="Poppins Light"/>
                <a:sym typeface="Poppins Light"/>
              </a:rPr>
              <a:t>El</a:t>
            </a:r>
          </a:p>
          <a:p>
            <a:pPr algn="l">
              <a:lnSpc>
                <a:spcPts val="8900"/>
              </a:lnSpc>
            </a:pPr>
            <a:r>
              <a:rPr lang="en-US" sz="8900">
                <a:solidFill>
                  <a:srgbClr val="0D0D0D"/>
                </a:solidFill>
                <a:latin typeface="Poppins Light"/>
                <a:ea typeface="Poppins Light"/>
                <a:cs typeface="Poppins Light"/>
                <a:sym typeface="Poppins Light"/>
              </a:rPr>
              <a:t>SALVADOR</a:t>
            </a:r>
          </a:p>
        </p:txBody>
      </p:sp>
      <p:sp>
        <p:nvSpPr>
          <p:cNvPr name="TextBox 5" id="5"/>
          <p:cNvSpPr txBox="true"/>
          <p:nvPr/>
        </p:nvSpPr>
        <p:spPr>
          <a:xfrm rot="0">
            <a:off x="1028700" y="6563375"/>
            <a:ext cx="3109912" cy="3067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Central America</a:t>
            </a:r>
          </a:p>
        </p:txBody>
      </p:sp>
    </p:spTree>
  </p:cSld>
  <p:clrMapOvr>
    <a:masterClrMapping/>
  </p:clrMapOvr>
  <p:transition spd="fast">
    <p:wipe dir="u"/>
  </p:transition>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35368"/>
            <a:ext cx="3487192" cy="520690"/>
          </a:xfrm>
          <a:custGeom>
            <a:avLst/>
            <a:gdLst/>
            <a:ahLst/>
            <a:cxnLst/>
            <a:rect r="r" b="b" t="t" l="l"/>
            <a:pathLst>
              <a:path h="520690" w="3487192">
                <a:moveTo>
                  <a:pt x="0" y="0"/>
                </a:moveTo>
                <a:lnTo>
                  <a:pt x="3487192" y="0"/>
                </a:lnTo>
                <a:lnTo>
                  <a:pt x="3487192" y="520690"/>
                </a:lnTo>
                <a:lnTo>
                  <a:pt x="0" y="5206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196825" y="1556058"/>
            <a:ext cx="7667062" cy="7667062"/>
          </a:xfrm>
          <a:custGeom>
            <a:avLst/>
            <a:gdLst/>
            <a:ahLst/>
            <a:cxnLst/>
            <a:rect r="r" b="b" t="t" l="l"/>
            <a:pathLst>
              <a:path h="7667062" w="7667062">
                <a:moveTo>
                  <a:pt x="0" y="0"/>
                </a:moveTo>
                <a:lnTo>
                  <a:pt x="7667062" y="0"/>
                </a:lnTo>
                <a:lnTo>
                  <a:pt x="7667062" y="7667062"/>
                </a:lnTo>
                <a:lnTo>
                  <a:pt x="0" y="7667062"/>
                </a:lnTo>
                <a:lnTo>
                  <a:pt x="0" y="0"/>
                </a:lnTo>
                <a:close/>
              </a:path>
            </a:pathLst>
          </a:custGeom>
          <a:blipFill>
            <a:blip r:embed="rId4"/>
            <a:stretch>
              <a:fillRect l="0" t="0" r="0" b="0"/>
            </a:stretch>
          </a:blipFill>
        </p:spPr>
      </p:sp>
      <p:sp>
        <p:nvSpPr>
          <p:cNvPr name="TextBox 4" id="4"/>
          <p:cNvSpPr txBox="true"/>
          <p:nvPr/>
        </p:nvSpPr>
        <p:spPr>
          <a:xfrm rot="0">
            <a:off x="1028700" y="4330084"/>
            <a:ext cx="6462712" cy="1264295"/>
          </a:xfrm>
          <a:prstGeom prst="rect">
            <a:avLst/>
          </a:prstGeom>
        </p:spPr>
        <p:txBody>
          <a:bodyPr anchor="t" rtlCol="false" tIns="0" lIns="0" bIns="0" rIns="0">
            <a:spAutoFit/>
          </a:bodyPr>
          <a:lstStyle/>
          <a:p>
            <a:pPr algn="l">
              <a:lnSpc>
                <a:spcPts val="8900"/>
              </a:lnSpc>
            </a:pPr>
            <a:r>
              <a:rPr lang="en-US" sz="8900">
                <a:solidFill>
                  <a:srgbClr val="0D0D0D"/>
                </a:solidFill>
                <a:latin typeface="Poppins Light"/>
                <a:ea typeface="Poppins Light"/>
                <a:cs typeface="Poppins Light"/>
                <a:sym typeface="Poppins Light"/>
              </a:rPr>
              <a:t>Spain</a:t>
            </a:r>
          </a:p>
        </p:txBody>
      </p:sp>
      <p:sp>
        <p:nvSpPr>
          <p:cNvPr name="TextBox 5" id="5"/>
          <p:cNvSpPr txBox="true"/>
          <p:nvPr/>
        </p:nvSpPr>
        <p:spPr>
          <a:xfrm rot="0">
            <a:off x="1028700" y="5735937"/>
            <a:ext cx="3109912" cy="306705"/>
          </a:xfrm>
          <a:prstGeom prst="rect">
            <a:avLst/>
          </a:prstGeom>
        </p:spPr>
        <p:txBody>
          <a:bodyPr anchor="t" rtlCol="false" tIns="0" lIns="0" bIns="0" rIns="0">
            <a:spAutoFit/>
          </a:bodyPr>
          <a:lstStyle/>
          <a:p>
            <a:pPr algn="l">
              <a:lnSpc>
                <a:spcPts val="2520"/>
              </a:lnSpc>
            </a:pPr>
            <a:r>
              <a:rPr lang="en-US" sz="1800">
                <a:solidFill>
                  <a:srgbClr val="0D0D0D"/>
                </a:solidFill>
                <a:latin typeface="Inter"/>
                <a:ea typeface="Inter"/>
                <a:cs typeface="Inter"/>
                <a:sym typeface="Inter"/>
              </a:rPr>
              <a:t>Madrid &amp; Malaga</a:t>
            </a:r>
          </a:p>
        </p:txBody>
      </p:sp>
    </p:spTree>
  </p:cSld>
  <p:clrMapOvr>
    <a:masterClrMapping/>
  </p:clrMapOvr>
  <p:transition spd="fast">
    <p:wipe dir="u"/>
  </p:transition>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68DE68"/>
        </a:solidFill>
      </p:bgPr>
    </p:bg>
    <p:spTree>
      <p:nvGrpSpPr>
        <p:cNvPr id="1" name=""/>
        <p:cNvGrpSpPr/>
        <p:nvPr/>
      </p:nvGrpSpPr>
      <p:grpSpPr>
        <a:xfrm>
          <a:off x="0" y="0"/>
          <a:ext cx="0" cy="0"/>
          <a:chOff x="0" y="0"/>
          <a:chExt cx="0" cy="0"/>
        </a:xfrm>
      </p:grpSpPr>
      <p:sp>
        <p:nvSpPr>
          <p:cNvPr name="Freeform 2" id="2"/>
          <p:cNvSpPr/>
          <p:nvPr/>
        </p:nvSpPr>
        <p:spPr>
          <a:xfrm flipH="false" flipV="false" rot="2942610">
            <a:off x="1805825" y="-3948151"/>
            <a:ext cx="20062718" cy="10290503"/>
          </a:xfrm>
          <a:custGeom>
            <a:avLst/>
            <a:gdLst/>
            <a:ahLst/>
            <a:cxnLst/>
            <a:rect r="r" b="b" t="t" l="l"/>
            <a:pathLst>
              <a:path h="10290503" w="20062718">
                <a:moveTo>
                  <a:pt x="0" y="0"/>
                </a:moveTo>
                <a:lnTo>
                  <a:pt x="20062718" y="0"/>
                </a:lnTo>
                <a:lnTo>
                  <a:pt x="20062718" y="10290503"/>
                </a:lnTo>
                <a:lnTo>
                  <a:pt x="0" y="10290503"/>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71550" y="2339007"/>
            <a:ext cx="7357349" cy="2797811"/>
          </a:xfrm>
          <a:prstGeom prst="rect">
            <a:avLst/>
          </a:prstGeom>
        </p:spPr>
        <p:txBody>
          <a:bodyPr anchor="t" rtlCol="false" tIns="0" lIns="0" bIns="0" rIns="0">
            <a:spAutoFit/>
          </a:bodyPr>
          <a:lstStyle/>
          <a:p>
            <a:pPr algn="l">
              <a:lnSpc>
                <a:spcPts val="10400"/>
              </a:lnSpc>
            </a:pPr>
            <a:r>
              <a:rPr lang="en-US" sz="10400">
                <a:solidFill>
                  <a:srgbClr val="0D0D0D"/>
                </a:solidFill>
                <a:latin typeface="Poppins Light"/>
                <a:ea typeface="Poppins Light"/>
                <a:cs typeface="Poppins Light"/>
                <a:sym typeface="Poppins Light"/>
              </a:rPr>
              <a:t>Points of Contact</a:t>
            </a:r>
          </a:p>
        </p:txBody>
      </p:sp>
      <p:grpSp>
        <p:nvGrpSpPr>
          <p:cNvPr name="Group 4" id="4"/>
          <p:cNvGrpSpPr/>
          <p:nvPr/>
        </p:nvGrpSpPr>
        <p:grpSpPr>
          <a:xfrm rot="0">
            <a:off x="1028700" y="6688762"/>
            <a:ext cx="2616012" cy="567374"/>
            <a:chOff x="0" y="0"/>
            <a:chExt cx="688991" cy="149432"/>
          </a:xfrm>
        </p:grpSpPr>
        <p:sp>
          <p:nvSpPr>
            <p:cNvPr name="Freeform 5" id="5"/>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6" id="6"/>
            <p:cNvSpPr txBox="true"/>
            <p:nvPr/>
          </p:nvSpPr>
          <p:spPr>
            <a:xfrm>
              <a:off x="0" y="-38100"/>
              <a:ext cx="688991" cy="187532"/>
            </a:xfrm>
            <a:prstGeom prst="rect">
              <a:avLst/>
            </a:prstGeom>
          </p:spPr>
          <p:txBody>
            <a:bodyPr anchor="ctr" rtlCol="false" tIns="50800" lIns="50800" bIns="50800" rIns="50800"/>
            <a:lstStyle/>
            <a:p>
              <a:pPr algn="l">
                <a:lnSpc>
                  <a:spcPts val="2520"/>
                </a:lnSpc>
              </a:pPr>
            </a:p>
          </p:txBody>
        </p:sp>
      </p:grpSp>
      <p:grpSp>
        <p:nvGrpSpPr>
          <p:cNvPr name="Group 7" id="7"/>
          <p:cNvGrpSpPr/>
          <p:nvPr/>
        </p:nvGrpSpPr>
        <p:grpSpPr>
          <a:xfrm rot="0">
            <a:off x="5306781" y="6688762"/>
            <a:ext cx="2616012" cy="567374"/>
            <a:chOff x="0" y="0"/>
            <a:chExt cx="688991" cy="149432"/>
          </a:xfrm>
        </p:grpSpPr>
        <p:sp>
          <p:nvSpPr>
            <p:cNvPr name="Freeform 8" id="8"/>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9" id="9"/>
            <p:cNvSpPr txBox="true"/>
            <p:nvPr/>
          </p:nvSpPr>
          <p:spPr>
            <a:xfrm>
              <a:off x="0" y="-38100"/>
              <a:ext cx="688991" cy="187532"/>
            </a:xfrm>
            <a:prstGeom prst="rect">
              <a:avLst/>
            </a:prstGeom>
          </p:spPr>
          <p:txBody>
            <a:bodyPr anchor="ctr" rtlCol="false" tIns="50800" lIns="50800" bIns="50800" rIns="50800"/>
            <a:lstStyle/>
            <a:p>
              <a:pPr algn="l">
                <a:lnSpc>
                  <a:spcPts val="2520"/>
                </a:lnSpc>
              </a:pPr>
            </a:p>
          </p:txBody>
        </p:sp>
      </p:grpSp>
      <p:grpSp>
        <p:nvGrpSpPr>
          <p:cNvPr name="Group 10" id="10"/>
          <p:cNvGrpSpPr/>
          <p:nvPr/>
        </p:nvGrpSpPr>
        <p:grpSpPr>
          <a:xfrm rot="0">
            <a:off x="9401175" y="6688762"/>
            <a:ext cx="2616012" cy="567374"/>
            <a:chOff x="0" y="0"/>
            <a:chExt cx="688991" cy="149432"/>
          </a:xfrm>
        </p:grpSpPr>
        <p:sp>
          <p:nvSpPr>
            <p:cNvPr name="Freeform 11" id="11"/>
            <p:cNvSpPr/>
            <p:nvPr/>
          </p:nvSpPr>
          <p:spPr>
            <a:xfrm flipH="false" flipV="false" rot="0">
              <a:off x="0" y="0"/>
              <a:ext cx="688991" cy="149432"/>
            </a:xfrm>
            <a:custGeom>
              <a:avLst/>
              <a:gdLst/>
              <a:ahLst/>
              <a:cxnLst/>
              <a:rect r="r" b="b" t="t" l="l"/>
              <a:pathLst>
                <a:path h="149432" w="688991">
                  <a:moveTo>
                    <a:pt x="74716" y="0"/>
                  </a:moveTo>
                  <a:lnTo>
                    <a:pt x="614275" y="0"/>
                  </a:lnTo>
                  <a:cubicBezTo>
                    <a:pt x="634091" y="0"/>
                    <a:pt x="653095" y="7872"/>
                    <a:pt x="667107" y="21884"/>
                  </a:cubicBezTo>
                  <a:cubicBezTo>
                    <a:pt x="681119" y="35896"/>
                    <a:pt x="688991" y="54900"/>
                    <a:pt x="688991" y="74716"/>
                  </a:cubicBezTo>
                  <a:lnTo>
                    <a:pt x="688991" y="74716"/>
                  </a:lnTo>
                  <a:cubicBezTo>
                    <a:pt x="688991" y="94532"/>
                    <a:pt x="681119" y="113536"/>
                    <a:pt x="667107" y="127548"/>
                  </a:cubicBezTo>
                  <a:cubicBezTo>
                    <a:pt x="653095" y="141560"/>
                    <a:pt x="634091" y="149432"/>
                    <a:pt x="614275" y="149432"/>
                  </a:cubicBezTo>
                  <a:lnTo>
                    <a:pt x="74716" y="149432"/>
                  </a:lnTo>
                  <a:cubicBezTo>
                    <a:pt x="54900" y="149432"/>
                    <a:pt x="35896" y="141560"/>
                    <a:pt x="21884" y="127548"/>
                  </a:cubicBezTo>
                  <a:cubicBezTo>
                    <a:pt x="7872" y="113536"/>
                    <a:pt x="0" y="94532"/>
                    <a:pt x="0" y="74716"/>
                  </a:cubicBezTo>
                  <a:lnTo>
                    <a:pt x="0" y="74716"/>
                  </a:lnTo>
                  <a:cubicBezTo>
                    <a:pt x="0" y="54900"/>
                    <a:pt x="7872" y="35896"/>
                    <a:pt x="21884" y="21884"/>
                  </a:cubicBezTo>
                  <a:cubicBezTo>
                    <a:pt x="35896" y="7872"/>
                    <a:pt x="54900" y="0"/>
                    <a:pt x="74716" y="0"/>
                  </a:cubicBezTo>
                  <a:close/>
                </a:path>
              </a:pathLst>
            </a:custGeom>
            <a:solidFill>
              <a:srgbClr val="FFFFFF"/>
            </a:solidFill>
          </p:spPr>
        </p:sp>
        <p:sp>
          <p:nvSpPr>
            <p:cNvPr name="TextBox 12" id="12"/>
            <p:cNvSpPr txBox="true"/>
            <p:nvPr/>
          </p:nvSpPr>
          <p:spPr>
            <a:xfrm>
              <a:off x="0" y="-57150"/>
              <a:ext cx="688991" cy="206582"/>
            </a:xfrm>
            <a:prstGeom prst="rect">
              <a:avLst/>
            </a:prstGeom>
          </p:spPr>
          <p:txBody>
            <a:bodyPr anchor="ctr" rtlCol="false" tIns="50800" lIns="50800" bIns="50800" rIns="50800"/>
            <a:lstStyle/>
            <a:p>
              <a:pPr algn="l">
                <a:lnSpc>
                  <a:spcPts val="2520"/>
                </a:lnSpc>
              </a:pPr>
            </a:p>
          </p:txBody>
        </p:sp>
      </p:grpSp>
      <p:sp>
        <p:nvSpPr>
          <p:cNvPr name="TextBox 13" id="13"/>
          <p:cNvSpPr txBox="true"/>
          <p:nvPr/>
        </p:nvSpPr>
        <p:spPr>
          <a:xfrm rot="0">
            <a:off x="1173590" y="6756231"/>
            <a:ext cx="2326232"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Cristobal Escobar</a:t>
            </a:r>
          </a:p>
        </p:txBody>
      </p:sp>
      <p:sp>
        <p:nvSpPr>
          <p:cNvPr name="TextBox 14" id="14"/>
          <p:cNvSpPr txBox="true"/>
          <p:nvPr/>
        </p:nvSpPr>
        <p:spPr>
          <a:xfrm rot="0">
            <a:off x="5497281" y="6756231"/>
            <a:ext cx="2141314"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Jorge Reyes</a:t>
            </a:r>
          </a:p>
        </p:txBody>
      </p:sp>
      <p:sp>
        <p:nvSpPr>
          <p:cNvPr name="TextBox 15" id="15"/>
          <p:cNvSpPr txBox="true"/>
          <p:nvPr/>
        </p:nvSpPr>
        <p:spPr>
          <a:xfrm rot="0">
            <a:off x="9591675" y="6756231"/>
            <a:ext cx="2141314" cy="37528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0D0D0D"/>
                </a:solidFill>
                <a:latin typeface="Poppins Light"/>
                <a:ea typeface="Poppins Light"/>
                <a:cs typeface="Poppins Light"/>
                <a:sym typeface="Poppins Light"/>
              </a:rPr>
              <a:t>Luis Majano</a:t>
            </a:r>
          </a:p>
        </p:txBody>
      </p:sp>
      <p:sp>
        <p:nvSpPr>
          <p:cNvPr name="TextBox 16" id="16"/>
          <p:cNvSpPr txBox="true"/>
          <p:nvPr/>
        </p:nvSpPr>
        <p:spPr>
          <a:xfrm rot="0">
            <a:off x="1173590"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Business Development</a:t>
            </a:r>
          </a:p>
        </p:txBody>
      </p:sp>
      <p:sp>
        <p:nvSpPr>
          <p:cNvPr name="TextBox 17" id="17"/>
          <p:cNvSpPr txBox="true"/>
          <p:nvPr/>
        </p:nvSpPr>
        <p:spPr>
          <a:xfrm rot="0">
            <a:off x="5497281"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COO</a:t>
            </a:r>
          </a:p>
        </p:txBody>
      </p:sp>
      <p:sp>
        <p:nvSpPr>
          <p:cNvPr name="TextBox 18" id="18"/>
          <p:cNvSpPr txBox="true"/>
          <p:nvPr/>
        </p:nvSpPr>
        <p:spPr>
          <a:xfrm rot="0">
            <a:off x="9591675" y="7341860"/>
            <a:ext cx="309426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CEO</a:t>
            </a:r>
          </a:p>
        </p:txBody>
      </p:sp>
      <p:sp>
        <p:nvSpPr>
          <p:cNvPr name="TextBox 19" id="19"/>
          <p:cNvSpPr txBox="true"/>
          <p:nvPr/>
        </p:nvSpPr>
        <p:spPr>
          <a:xfrm rot="0">
            <a:off x="1173590"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cristobal@ortussolutions.com</a:t>
            </a:r>
          </a:p>
        </p:txBody>
      </p:sp>
      <p:sp>
        <p:nvSpPr>
          <p:cNvPr name="TextBox 20" id="20"/>
          <p:cNvSpPr txBox="true"/>
          <p:nvPr/>
        </p:nvSpPr>
        <p:spPr>
          <a:xfrm rot="0">
            <a:off x="5497281"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jreyes@ortussolutions.com</a:t>
            </a:r>
          </a:p>
        </p:txBody>
      </p:sp>
      <p:sp>
        <p:nvSpPr>
          <p:cNvPr name="TextBox 21" id="21"/>
          <p:cNvSpPr txBox="true"/>
          <p:nvPr/>
        </p:nvSpPr>
        <p:spPr>
          <a:xfrm rot="0">
            <a:off x="9591675" y="7694592"/>
            <a:ext cx="3837219" cy="325755"/>
          </a:xfrm>
          <a:prstGeom prst="rect">
            <a:avLst/>
          </a:prstGeom>
        </p:spPr>
        <p:txBody>
          <a:bodyPr anchor="t" rtlCol="false" tIns="0" lIns="0" bIns="0" rIns="0">
            <a:spAutoFit/>
          </a:bodyPr>
          <a:lstStyle/>
          <a:p>
            <a:pPr algn="l">
              <a:lnSpc>
                <a:spcPts val="2520"/>
              </a:lnSpc>
            </a:pPr>
            <a:r>
              <a:rPr lang="en-US" sz="1800">
                <a:solidFill>
                  <a:srgbClr val="0D0D0D"/>
                </a:solidFill>
                <a:latin typeface="Poppins"/>
                <a:ea typeface="Poppins"/>
                <a:cs typeface="Poppins"/>
                <a:sym typeface="Poppins"/>
              </a:rPr>
              <a:t>lmajano@ortussolutions.com</a:t>
            </a:r>
          </a:p>
        </p:txBody>
      </p:sp>
      <p:sp>
        <p:nvSpPr>
          <p:cNvPr name="Freeform 22" id="22"/>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1519681">
            <a:off x="3188019" y="1673006"/>
            <a:ext cx="18571789" cy="9525780"/>
          </a:xfrm>
          <a:custGeom>
            <a:avLst/>
            <a:gdLst/>
            <a:ahLst/>
            <a:cxnLst/>
            <a:rect r="r" b="b" t="t" l="l"/>
            <a:pathLst>
              <a:path h="9525780" w="18571789">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148">
            <a:off x="-3892166" y="-4762890"/>
            <a:ext cx="18571789" cy="9525780"/>
          </a:xfrm>
          <a:custGeom>
            <a:avLst/>
            <a:gdLst/>
            <a:ahLst/>
            <a:cxnLst/>
            <a:rect r="r" b="b" t="t" l="l"/>
            <a:pathLst>
              <a:path h="9525780" w="18571789">
                <a:moveTo>
                  <a:pt x="0" y="0"/>
                </a:moveTo>
                <a:lnTo>
                  <a:pt x="18571789" y="0"/>
                </a:lnTo>
                <a:lnTo>
                  <a:pt x="18571789" y="9525780"/>
                </a:lnTo>
                <a:lnTo>
                  <a:pt x="0" y="9525780"/>
                </a:lnTo>
                <a:lnTo>
                  <a:pt x="0" y="0"/>
                </a:lnTo>
                <a:close/>
              </a:path>
            </a:pathLst>
          </a:custGeom>
          <a:blipFill>
            <a:blip r:embed="rId2">
              <a:alphaModFix amt="15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4275761" y="8745397"/>
            <a:ext cx="240861" cy="24086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grpSp>
        <p:nvGrpSpPr>
          <p:cNvPr name="Group 7" id="7"/>
          <p:cNvGrpSpPr/>
          <p:nvPr/>
        </p:nvGrpSpPr>
        <p:grpSpPr>
          <a:xfrm rot="0">
            <a:off x="13979830" y="8473355"/>
            <a:ext cx="3279470" cy="784945"/>
            <a:chOff x="0" y="0"/>
            <a:chExt cx="863729" cy="206735"/>
          </a:xfrm>
        </p:grpSpPr>
        <p:sp>
          <p:nvSpPr>
            <p:cNvPr name="Freeform 8" id="8"/>
            <p:cNvSpPr/>
            <p:nvPr/>
          </p:nvSpPr>
          <p:spPr>
            <a:xfrm flipH="false" flipV="false" rot="0">
              <a:off x="0" y="0"/>
              <a:ext cx="863729" cy="206735"/>
            </a:xfrm>
            <a:custGeom>
              <a:avLst/>
              <a:gdLst/>
              <a:ahLst/>
              <a:cxnLst/>
              <a:rect r="r" b="b" t="t" l="l"/>
              <a:pathLst>
                <a:path h="206735" w="863729">
                  <a:moveTo>
                    <a:pt x="103367" y="0"/>
                  </a:moveTo>
                  <a:lnTo>
                    <a:pt x="760362" y="0"/>
                  </a:lnTo>
                  <a:cubicBezTo>
                    <a:pt x="787776" y="0"/>
                    <a:pt x="814068" y="10890"/>
                    <a:pt x="833453" y="30276"/>
                  </a:cubicBezTo>
                  <a:cubicBezTo>
                    <a:pt x="852838" y="49661"/>
                    <a:pt x="863729" y="75953"/>
                    <a:pt x="863729" y="103367"/>
                  </a:cubicBezTo>
                  <a:lnTo>
                    <a:pt x="863729" y="103367"/>
                  </a:lnTo>
                  <a:cubicBezTo>
                    <a:pt x="863729" y="130782"/>
                    <a:pt x="852838" y="157074"/>
                    <a:pt x="833453" y="176459"/>
                  </a:cubicBezTo>
                  <a:cubicBezTo>
                    <a:pt x="814068" y="195844"/>
                    <a:pt x="787776" y="206735"/>
                    <a:pt x="760362" y="206735"/>
                  </a:cubicBezTo>
                  <a:lnTo>
                    <a:pt x="103367" y="206735"/>
                  </a:lnTo>
                  <a:cubicBezTo>
                    <a:pt x="75953" y="206735"/>
                    <a:pt x="49661" y="195844"/>
                    <a:pt x="30276" y="176459"/>
                  </a:cubicBezTo>
                  <a:cubicBezTo>
                    <a:pt x="10890" y="157074"/>
                    <a:pt x="0" y="130782"/>
                    <a:pt x="0" y="103367"/>
                  </a:cubicBezTo>
                  <a:lnTo>
                    <a:pt x="0" y="103367"/>
                  </a:lnTo>
                  <a:cubicBezTo>
                    <a:pt x="0" y="75953"/>
                    <a:pt x="10890" y="49661"/>
                    <a:pt x="30276" y="30276"/>
                  </a:cubicBezTo>
                  <a:cubicBezTo>
                    <a:pt x="49661" y="10890"/>
                    <a:pt x="75953" y="0"/>
                    <a:pt x="103367" y="0"/>
                  </a:cubicBezTo>
                  <a:close/>
                </a:path>
              </a:pathLst>
            </a:custGeom>
            <a:solidFill>
              <a:srgbClr val="68DE68"/>
            </a:solidFill>
          </p:spPr>
        </p:sp>
        <p:sp>
          <p:nvSpPr>
            <p:cNvPr name="TextBox 9" id="9"/>
            <p:cNvSpPr txBox="true"/>
            <p:nvPr/>
          </p:nvSpPr>
          <p:spPr>
            <a:xfrm>
              <a:off x="0" y="-38100"/>
              <a:ext cx="863729" cy="244835"/>
            </a:xfrm>
            <a:prstGeom prst="rect">
              <a:avLst/>
            </a:prstGeom>
          </p:spPr>
          <p:txBody>
            <a:bodyPr anchor="ctr" rtlCol="false" tIns="50800" lIns="50800" bIns="50800" rIns="50800"/>
            <a:lstStyle/>
            <a:p>
              <a:pPr algn="ctr">
                <a:lnSpc>
                  <a:spcPts val="2520"/>
                </a:lnSpc>
              </a:pPr>
            </a:p>
          </p:txBody>
        </p:sp>
      </p:grpSp>
      <p:grpSp>
        <p:nvGrpSpPr>
          <p:cNvPr name="Group 10" id="10"/>
          <p:cNvGrpSpPr/>
          <p:nvPr/>
        </p:nvGrpSpPr>
        <p:grpSpPr>
          <a:xfrm rot="0">
            <a:off x="14275761" y="8745397"/>
            <a:ext cx="240861" cy="24086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D0D0D"/>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520"/>
                </a:lnSpc>
              </a:pPr>
            </a:p>
          </p:txBody>
        </p:sp>
      </p:grpSp>
      <p:sp>
        <p:nvSpPr>
          <p:cNvPr name="TextBox 13" id="13"/>
          <p:cNvSpPr txBox="true"/>
          <p:nvPr/>
        </p:nvSpPr>
        <p:spPr>
          <a:xfrm rot="0">
            <a:off x="2668435" y="4072002"/>
            <a:ext cx="12951130" cy="2514470"/>
          </a:xfrm>
          <a:prstGeom prst="rect">
            <a:avLst/>
          </a:prstGeom>
        </p:spPr>
        <p:txBody>
          <a:bodyPr anchor="t" rtlCol="false" tIns="0" lIns="0" bIns="0" rIns="0">
            <a:spAutoFit/>
          </a:bodyPr>
          <a:lstStyle/>
          <a:p>
            <a:pPr algn="l">
              <a:lnSpc>
                <a:spcPts val="17096"/>
              </a:lnSpc>
            </a:pPr>
            <a:r>
              <a:rPr lang="en-US" sz="18996">
                <a:solidFill>
                  <a:srgbClr val="FFFFFF"/>
                </a:solidFill>
                <a:latin typeface="Poppins Light"/>
                <a:ea typeface="Poppins Light"/>
                <a:cs typeface="Poppins Light"/>
                <a:sym typeface="Poppins Light"/>
              </a:rPr>
              <a:t>Thank You!</a:t>
            </a:r>
          </a:p>
        </p:txBody>
      </p:sp>
      <p:sp>
        <p:nvSpPr>
          <p:cNvPr name="TextBox 14" id="14"/>
          <p:cNvSpPr txBox="true"/>
          <p:nvPr/>
        </p:nvSpPr>
        <p:spPr>
          <a:xfrm rot="0">
            <a:off x="14576362" y="8649610"/>
            <a:ext cx="2425763" cy="375285"/>
          </a:xfrm>
          <a:prstGeom prst="rect">
            <a:avLst/>
          </a:prstGeom>
        </p:spPr>
        <p:txBody>
          <a:bodyPr anchor="t" rtlCol="false" tIns="0" lIns="0" bIns="0" rIns="0">
            <a:spAutoFit/>
          </a:bodyPr>
          <a:lstStyle/>
          <a:p>
            <a:pPr algn="r" marL="0" indent="0" lvl="0">
              <a:lnSpc>
                <a:spcPts val="2940"/>
              </a:lnSpc>
              <a:spcBef>
                <a:spcPct val="0"/>
              </a:spcBef>
            </a:pPr>
            <a:r>
              <a:rPr lang="en-US" sz="2100">
                <a:solidFill>
                  <a:srgbClr val="0D0D0D"/>
                </a:solidFill>
                <a:latin typeface="Poppins Light"/>
                <a:ea typeface="Poppins Light"/>
                <a:cs typeface="Poppins Light"/>
                <a:sym typeface="Poppins Light"/>
              </a:rPr>
              <a:t>Presentation 2025</a:t>
            </a:r>
          </a:p>
        </p:txBody>
      </p:sp>
      <p:sp>
        <p:nvSpPr>
          <p:cNvPr name="Freeform 15" id="15"/>
          <p:cNvSpPr/>
          <p:nvPr/>
        </p:nvSpPr>
        <p:spPr>
          <a:xfrm flipH="false" flipV="false" rot="0">
            <a:off x="1028700" y="1035073"/>
            <a:ext cx="3487103" cy="520677"/>
          </a:xfrm>
          <a:custGeom>
            <a:avLst/>
            <a:gdLst/>
            <a:ahLst/>
            <a:cxnLst/>
            <a:rect r="r" b="b" t="t" l="l"/>
            <a:pathLst>
              <a:path h="520677" w="3487103">
                <a:moveTo>
                  <a:pt x="0" y="0"/>
                </a:moveTo>
                <a:lnTo>
                  <a:pt x="3487103" y="0"/>
                </a:lnTo>
                <a:lnTo>
                  <a:pt x="3487103" y="520677"/>
                </a:lnTo>
                <a:lnTo>
                  <a:pt x="0" y="520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DAHGSXRz6QU</dc:identifier>
  <dcterms:modified xsi:type="dcterms:W3CDTF">2011-08-01T06:04:30Z</dcterms:modified>
  <cp:revision>1</cp:revision>
  <dc:title>Ortus Profile Comercial  v2026</dc:title>
</cp:coreProperties>
</file>