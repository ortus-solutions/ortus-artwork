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Montserrat Classic Bold" charset="1" panose="00000800000000000000"/>
      <p:regular r:id="rId28"/>
    </p:embeddedFont>
    <p:embeddedFont>
      <p:font typeface="Montserrat Classic" charset="1" panose="00000500000000000000"/>
      <p:regular r:id="rId29"/>
    </p:embeddedFont>
    <p:embeddedFont>
      <p:font typeface="Canva Sans Bold" charset="1" panose="020B0803030501040103"/>
      <p:regular r:id="rId30"/>
    </p:embeddedFont>
    <p:embeddedFont>
      <p:font typeface="Canva Sans" charset="1" panose="020B0503030501040103"/>
      <p:regular r:id="rId31"/>
    </p:embeddedFont>
    <p:embeddedFont>
      <p:font typeface="Poppins" charset="1" panose="00000500000000000000"/>
      <p:regular r:id="rId32"/>
    </p:embeddedFont>
    <p:embeddedFont>
      <p:font typeface="Montserrat" charset="1" panose="00000500000000000000"/>
      <p:regular r:id="rId33"/>
    </p:embeddedFont>
    <p:embeddedFont>
      <p:font typeface="Poppins Ultra-Bold" charset="1" panose="00000900000000000000"/>
      <p:regular r:id="rId34"/>
    </p:embeddedFont>
    <p:embeddedFont>
      <p:font typeface="Montserrat Bold" charset="1" panose="000008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jpe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2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jpe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5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jpe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9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8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30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32.png" Type="http://schemas.openxmlformats.org/officeDocument/2006/relationships/image"/><Relationship Id="rId2" Target="../media/image3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3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34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6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38.pn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7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39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40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1.pn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42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4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jpe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52425" y="9258300"/>
            <a:ext cx="9727319" cy="3106962"/>
          </a:xfrm>
          <a:custGeom>
            <a:avLst/>
            <a:gdLst/>
            <a:ahLst/>
            <a:cxnLst/>
            <a:rect r="r" b="b" t="t" l="l"/>
            <a:pathLst>
              <a:path h="3106962" w="9727319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33955" y="4058561"/>
            <a:ext cx="6082963" cy="1882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5"/>
              </a:lnSpc>
            </a:pPr>
            <a:r>
              <a:rPr lang="en-US" sz="7358" b="true">
                <a:solidFill>
                  <a:srgbClr val="2E2E2E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UNLOCKING SUCCESS  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133955" y="8280071"/>
            <a:ext cx="3533721" cy="733600"/>
          </a:xfrm>
          <a:custGeom>
            <a:avLst/>
            <a:gdLst/>
            <a:ahLst/>
            <a:cxnLst/>
            <a:rect r="r" b="b" t="t" l="l"/>
            <a:pathLst>
              <a:path h="733600" w="3533721">
                <a:moveTo>
                  <a:pt x="0" y="0"/>
                </a:moveTo>
                <a:lnTo>
                  <a:pt x="3533721" y="0"/>
                </a:lnTo>
                <a:lnTo>
                  <a:pt x="353372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40534" y="2637914"/>
            <a:ext cx="4285754" cy="5011173"/>
          </a:xfrm>
          <a:custGeom>
            <a:avLst/>
            <a:gdLst/>
            <a:ahLst/>
            <a:cxnLst/>
            <a:rect r="r" b="b" t="t" l="l"/>
            <a:pathLst>
              <a:path h="5011173" w="4285754">
                <a:moveTo>
                  <a:pt x="0" y="0"/>
                </a:moveTo>
                <a:lnTo>
                  <a:pt x="4285754" y="0"/>
                </a:lnTo>
                <a:lnTo>
                  <a:pt x="4285754" y="5011172"/>
                </a:lnTo>
                <a:lnTo>
                  <a:pt x="0" y="5011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33955" y="5998696"/>
            <a:ext cx="8746668" cy="38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1"/>
              </a:lnSpc>
            </a:pPr>
            <a:r>
              <a:rPr lang="en-US" sz="2900">
                <a:solidFill>
                  <a:srgbClr val="737373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 SHOWCASE OF SUCCESSFUL CASE STUDIES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3079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3" y="0"/>
                </a:lnTo>
                <a:lnTo>
                  <a:pt x="406453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63454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2" y="0"/>
                </a:lnTo>
                <a:lnTo>
                  <a:pt x="406452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250352" y="2769935"/>
            <a:ext cx="2623185" cy="524637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-20000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102137" y="2769935"/>
            <a:ext cx="2623185" cy="5246370"/>
            <a:chOff x="0" y="0"/>
            <a:chExt cx="317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00000" t="0" r="-10000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953922" y="2769935"/>
            <a:ext cx="2623185" cy="5246370"/>
            <a:chOff x="0" y="0"/>
            <a:chExt cx="317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99093" t="0" r="-906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554871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2" y="0"/>
                </a:lnTo>
                <a:lnTo>
                  <a:pt x="406452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3824" y="1028700"/>
            <a:ext cx="2949547" cy="2214607"/>
          </a:xfrm>
          <a:custGeom>
            <a:avLst/>
            <a:gdLst/>
            <a:ahLst/>
            <a:cxnLst/>
            <a:rect r="r" b="b" t="t" l="l"/>
            <a:pathLst>
              <a:path h="2214607" w="2949547">
                <a:moveTo>
                  <a:pt x="0" y="0"/>
                </a:moveTo>
                <a:lnTo>
                  <a:pt x="2949547" y="0"/>
                </a:lnTo>
                <a:lnTo>
                  <a:pt x="2949547" y="2214607"/>
                </a:lnTo>
                <a:lnTo>
                  <a:pt x="0" y="22146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0047" r="-1578" b="-1524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3824" y="3523702"/>
            <a:ext cx="7252096" cy="466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FARM MANAGEMENT SAAS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Their leading enterprise-level fam management software is tailor-made for the floral industry.</a:t>
            </a: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It offers a comprehensive solution for running an entire business and helps reduce costs, streamline processes, improve efficiency, and provide real-time data for farms.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Their software is built to scale and perform during peak seasons such as Mother's Day, Valentine's Day, and Women's Day.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3952" y="4072939"/>
            <a:ext cx="4575063" cy="1330927"/>
          </a:xfrm>
          <a:custGeom>
            <a:avLst/>
            <a:gdLst/>
            <a:ahLst/>
            <a:cxnLst/>
            <a:rect r="r" b="b" t="t" l="l"/>
            <a:pathLst>
              <a:path h="1330927" w="4575063">
                <a:moveTo>
                  <a:pt x="0" y="0"/>
                </a:moveTo>
                <a:lnTo>
                  <a:pt x="4575063" y="0"/>
                </a:lnTo>
                <a:lnTo>
                  <a:pt x="4575063" y="1330927"/>
                </a:lnTo>
                <a:lnTo>
                  <a:pt x="0" y="13309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03952" y="5428492"/>
            <a:ext cx="7157275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Addressing UNOSOF's UI Evolution</a:t>
            </a:r>
          </a:p>
        </p:txBody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00000" t="0" r="-10000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519489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824" y="437511"/>
            <a:ext cx="3085351" cy="897557"/>
          </a:xfrm>
          <a:custGeom>
            <a:avLst/>
            <a:gdLst/>
            <a:ahLst/>
            <a:cxnLst/>
            <a:rect r="r" b="b" t="t" l="l"/>
            <a:pathLst>
              <a:path h="897557" w="3085351">
                <a:moveTo>
                  <a:pt x="0" y="0"/>
                </a:moveTo>
                <a:lnTo>
                  <a:pt x="3085351" y="0"/>
                </a:lnTo>
                <a:lnTo>
                  <a:pt x="3085351" y="897556"/>
                </a:lnTo>
                <a:lnTo>
                  <a:pt x="0" y="89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35873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131685" y="-5166091"/>
            <a:ext cx="9068729" cy="9068693"/>
            <a:chOff x="0" y="0"/>
            <a:chExt cx="12091639" cy="12091591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12091639" cy="12091591"/>
              <a:chOff x="0" y="0"/>
              <a:chExt cx="6350000" cy="63499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98157" t="-9147" r="0" b="-22551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2869943" y="2869918"/>
              <a:ext cx="6351754" cy="6351754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784555" y="3481879"/>
            <a:ext cx="4549980" cy="2448627"/>
            <a:chOff x="0" y="0"/>
            <a:chExt cx="6066640" cy="326483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UNOSOF faced significant user growth projections, prompting a redesign of the UNOSOF ERP's user interface (UI).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23470" y="3481879"/>
            <a:ext cx="4549980" cy="2843920"/>
            <a:chOff x="0" y="0"/>
            <a:chExt cx="6066640" cy="379189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UNOSOF ERP required a modern UI, balancing easy adoption for new users and low resistance to change for those accustomed to the old interface.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262385" y="3481879"/>
            <a:ext cx="4549980" cy="2843920"/>
            <a:chOff x="0" y="0"/>
            <a:chExt cx="6066640" cy="37918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Adapting data- and table-intensive screens for various display sizes, especially on mobile devices, presented a unique and critical challenge.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778288" y="506785"/>
            <a:ext cx="7626369" cy="6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1"/>
              </a:lnSpc>
            </a:pPr>
            <a:r>
              <a:rPr lang="en-US" b="true" sz="301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Addressing UNOSOF's UI Evolution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-2767246" y="7519765"/>
            <a:ext cx="5534492" cy="5534470"/>
            <a:chOff x="0" y="0"/>
            <a:chExt cx="7379322" cy="7379293"/>
          </a:xfrm>
        </p:grpSpPr>
        <p:grpSp>
          <p:nvGrpSpPr>
            <p:cNvPr name="Group 27" id="27"/>
            <p:cNvGrpSpPr>
              <a:grpSpLocks noChangeAspect="true"/>
            </p:cNvGrpSpPr>
            <p:nvPr/>
          </p:nvGrpSpPr>
          <p:grpSpPr>
            <a:xfrm rot="0">
              <a:off x="0" y="0"/>
              <a:ext cx="7379322" cy="7379293"/>
              <a:chOff x="0" y="0"/>
              <a:chExt cx="6350000" cy="634997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79593" t="-20721" r="-7586" b="-4065"/>
                </a:stretch>
              </a:blip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51477" y="1751463"/>
              <a:ext cx="3876368" cy="3876368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03952" y="5428492"/>
            <a:ext cx="7157275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Ortus Redesigns UNOSOF ERP's UI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154604" t="0" r="-45395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003952" y="4054093"/>
            <a:ext cx="4708704" cy="1498224"/>
          </a:xfrm>
          <a:custGeom>
            <a:avLst/>
            <a:gdLst/>
            <a:ahLst/>
            <a:cxnLst/>
            <a:rect r="r" b="b" t="t" l="l"/>
            <a:pathLst>
              <a:path h="1498224" w="4708704">
                <a:moveTo>
                  <a:pt x="0" y="0"/>
                </a:moveTo>
                <a:lnTo>
                  <a:pt x="4708704" y="0"/>
                </a:lnTo>
                <a:lnTo>
                  <a:pt x="4708704" y="1498224"/>
                </a:lnTo>
                <a:lnTo>
                  <a:pt x="0" y="14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519489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824" y="437511"/>
            <a:ext cx="3085351" cy="897557"/>
          </a:xfrm>
          <a:custGeom>
            <a:avLst/>
            <a:gdLst/>
            <a:ahLst/>
            <a:cxnLst/>
            <a:rect r="r" b="b" t="t" l="l"/>
            <a:pathLst>
              <a:path h="897557" w="3085351">
                <a:moveTo>
                  <a:pt x="0" y="0"/>
                </a:moveTo>
                <a:lnTo>
                  <a:pt x="3085351" y="0"/>
                </a:lnTo>
                <a:lnTo>
                  <a:pt x="3085351" y="897556"/>
                </a:lnTo>
                <a:lnTo>
                  <a:pt x="0" y="89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35873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764197" y="8905215"/>
            <a:ext cx="4763816" cy="47638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</p:spPr>
          <p:txBody>
            <a:bodyPr anchor="ctr" rtlCol="false" tIns="41620" lIns="41620" bIns="41620" rIns="41620"/>
            <a:lstStyle/>
            <a:p>
              <a:pPr algn="ctr">
                <a:lnSpc>
                  <a:spcPts val="422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31685" y="-5166091"/>
            <a:ext cx="9068729" cy="9068693"/>
            <a:chOff x="0" y="0"/>
            <a:chExt cx="12091639" cy="12091591"/>
          </a:xfrm>
        </p:grpSpPr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0" y="0"/>
              <a:ext cx="12091639" cy="12091591"/>
              <a:chOff x="0" y="0"/>
              <a:chExt cx="6350000" cy="63499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98157" t="-9147" r="0" b="-22551"/>
                </a:stretch>
              </a:blip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2869943" y="2869918"/>
              <a:ext cx="6351754" cy="6351754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784555" y="3481879"/>
            <a:ext cx="4549980" cy="3239213"/>
            <a:chOff x="0" y="0"/>
            <a:chExt cx="6066640" cy="431895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84954"/>
              <a:ext cx="6066640" cy="3133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Ortus initiated the redesign with comprehensive mockups of core screens and components like Login, Navigation, Filters, Data Tables, and the PO and Inventory page.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23470" y="3481879"/>
            <a:ext cx="4549980" cy="2448627"/>
            <a:chOff x="0" y="0"/>
            <a:chExt cx="6066640" cy="3264836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Enhanced filtering, sorting, and text search capabilities were introduced for improved user experience.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62385" y="3481879"/>
            <a:ext cx="4549980" cy="2448627"/>
            <a:chOff x="0" y="0"/>
            <a:chExt cx="6066640" cy="3264836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Collaborative efforts with UNOSOF involved selecting essential information for display on smaller devices.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778288" y="506785"/>
            <a:ext cx="7626369" cy="6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1"/>
              </a:lnSpc>
            </a:pPr>
            <a:r>
              <a:rPr lang="en-US" b="true" sz="301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Ortus Redesigns UNOSOF ERP's UI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-2767246" y="7519765"/>
            <a:ext cx="5534492" cy="5534470"/>
            <a:chOff x="0" y="0"/>
            <a:chExt cx="7379322" cy="7379293"/>
          </a:xfrm>
        </p:grpSpPr>
        <p:grpSp>
          <p:nvGrpSpPr>
            <p:cNvPr name="Group 30" id="30"/>
            <p:cNvGrpSpPr>
              <a:grpSpLocks noChangeAspect="true"/>
            </p:cNvGrpSpPr>
            <p:nvPr/>
          </p:nvGrpSpPr>
          <p:grpSpPr>
            <a:xfrm rot="0">
              <a:off x="0" y="0"/>
              <a:ext cx="7379322" cy="7379293"/>
              <a:chOff x="0" y="0"/>
              <a:chExt cx="6350000" cy="634997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79593" t="-20721" r="-7586" b="-4065"/>
                </a:stretch>
              </a:blip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1751477" y="1751463"/>
              <a:ext cx="3876368" cy="3876368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84234" t="0" r="-11600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003952" y="4054093"/>
            <a:ext cx="3886902" cy="1498224"/>
          </a:xfrm>
          <a:custGeom>
            <a:avLst/>
            <a:gdLst/>
            <a:ahLst/>
            <a:cxnLst/>
            <a:rect r="r" b="b" t="t" l="l"/>
            <a:pathLst>
              <a:path h="1498224" w="3886902">
                <a:moveTo>
                  <a:pt x="0" y="0"/>
                </a:moveTo>
                <a:lnTo>
                  <a:pt x="3886902" y="0"/>
                </a:lnTo>
                <a:lnTo>
                  <a:pt x="3886902" y="1498224"/>
                </a:lnTo>
                <a:lnTo>
                  <a:pt x="0" y="14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03952" y="5428492"/>
            <a:ext cx="7157275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Enhancing UNOSOF's User Experience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519489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3824" y="437511"/>
            <a:ext cx="3085351" cy="897557"/>
          </a:xfrm>
          <a:custGeom>
            <a:avLst/>
            <a:gdLst/>
            <a:ahLst/>
            <a:cxnLst/>
            <a:rect r="r" b="b" t="t" l="l"/>
            <a:pathLst>
              <a:path h="897557" w="3085351">
                <a:moveTo>
                  <a:pt x="0" y="0"/>
                </a:moveTo>
                <a:lnTo>
                  <a:pt x="3085351" y="0"/>
                </a:lnTo>
                <a:lnTo>
                  <a:pt x="3085351" y="897556"/>
                </a:lnTo>
                <a:lnTo>
                  <a:pt x="0" y="897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35873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2767246" y="7519765"/>
            <a:ext cx="5534492" cy="5534470"/>
            <a:chOff x="0" y="0"/>
            <a:chExt cx="7379322" cy="7379293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7379322" cy="7379293"/>
              <a:chOff x="0" y="0"/>
              <a:chExt cx="6350000" cy="63499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79593" t="-20721" r="-7586" b="-4065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1751477" y="1751463"/>
              <a:ext cx="3876368" cy="3876368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4131685" y="-5166091"/>
            <a:ext cx="9068729" cy="9068693"/>
            <a:chOff x="0" y="0"/>
            <a:chExt cx="12091639" cy="12091591"/>
          </a:xfrm>
        </p:grpSpPr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0" y="0"/>
              <a:ext cx="12091639" cy="12091591"/>
              <a:chOff x="0" y="0"/>
              <a:chExt cx="6350000" cy="634997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2"/>
                <a:stretch>
                  <a:fillRect l="-98157" t="-9147" r="0" b="-22551"/>
                </a:stretch>
              </a:blip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2869943" y="2869918"/>
              <a:ext cx="6351754" cy="6351754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2994699" y="2428518"/>
            <a:ext cx="4549980" cy="2843920"/>
            <a:chOff x="0" y="0"/>
            <a:chExt cx="6066640" cy="37918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redesign significantly improved core screens, including Login, Navigation, Filters, Data Tables and the PO and Inventory page.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129471" y="2428518"/>
            <a:ext cx="4549980" cy="2053334"/>
            <a:chOff x="0" y="0"/>
            <a:chExt cx="6066640" cy="273777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Successful implementation of mobile responsiveness for data- and table-intensive screens.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94699" y="6094709"/>
            <a:ext cx="4549980" cy="2053334"/>
            <a:chOff x="0" y="0"/>
            <a:chExt cx="6066640" cy="2737778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Users can now seamlessly access critical information, enhancing overall usability.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29471" y="6094709"/>
            <a:ext cx="4916503" cy="2448627"/>
            <a:chOff x="0" y="0"/>
            <a:chExt cx="6555338" cy="326483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123825"/>
              <a:ext cx="1952781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04.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1184954"/>
              <a:ext cx="6555338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UNOSOF ERP is now well-equipped to handle continued user growth with a modernized and intuitive interface.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778288" y="506785"/>
            <a:ext cx="8484096" cy="6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1"/>
              </a:lnSpc>
            </a:pPr>
            <a:r>
              <a:rPr lang="en-US" b="true" sz="301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Enhancing UNOSOF's User Experience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3079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3" y="0"/>
                </a:lnTo>
                <a:lnTo>
                  <a:pt x="406453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63454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2" y="0"/>
                </a:lnTo>
                <a:lnTo>
                  <a:pt x="406452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250352" y="2769935"/>
            <a:ext cx="2623185" cy="524637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-20000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2102137" y="2769935"/>
            <a:ext cx="2623185" cy="5246370"/>
            <a:chOff x="0" y="0"/>
            <a:chExt cx="317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00000" t="0" r="-10000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4953922" y="2769935"/>
            <a:ext cx="2623185" cy="5246370"/>
            <a:chOff x="0" y="0"/>
            <a:chExt cx="317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16866" t="-2108" r="0" b="-3513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554871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2" y="0"/>
                </a:lnTo>
                <a:lnTo>
                  <a:pt x="406452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3824" y="3744928"/>
            <a:ext cx="7252096" cy="392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1C1C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 INFORMATION SYSTEM - Sapphire K12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As a single web-based software system with all the tools you need to enhance your school and student performance, SapphireK12™connects administrators, teachers, students, and parents.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Their software helps you capture and manage student data, generate compliant state reports, and gain insight into school and district performance.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53824" y="1571072"/>
            <a:ext cx="4313131" cy="1129863"/>
          </a:xfrm>
          <a:custGeom>
            <a:avLst/>
            <a:gdLst/>
            <a:ahLst/>
            <a:cxnLst/>
            <a:rect r="r" b="b" t="t" l="l"/>
            <a:pathLst>
              <a:path h="1129863" w="4313131">
                <a:moveTo>
                  <a:pt x="0" y="0"/>
                </a:moveTo>
                <a:lnTo>
                  <a:pt x="4313131" y="0"/>
                </a:lnTo>
                <a:lnTo>
                  <a:pt x="4313131" y="1129863"/>
                </a:lnTo>
                <a:lnTo>
                  <a:pt x="0" y="11298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3952" y="4072939"/>
            <a:ext cx="4575063" cy="1330927"/>
          </a:xfrm>
          <a:custGeom>
            <a:avLst/>
            <a:gdLst/>
            <a:ahLst/>
            <a:cxnLst/>
            <a:rect r="r" b="b" t="t" l="l"/>
            <a:pathLst>
              <a:path h="1330927" w="4575063">
                <a:moveTo>
                  <a:pt x="0" y="0"/>
                </a:moveTo>
                <a:lnTo>
                  <a:pt x="4575063" y="0"/>
                </a:lnTo>
                <a:lnTo>
                  <a:pt x="4575063" y="1330927"/>
                </a:lnTo>
                <a:lnTo>
                  <a:pt x="0" y="13309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04069" t="0" r="-10406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03952" y="5428492"/>
            <a:ext cx="8668985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Redefining User Interfaces for Educational Excellence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988685" y="-4412260"/>
            <a:ext cx="9068729" cy="9068693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5000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53824" y="437511"/>
            <a:ext cx="3085351" cy="897557"/>
          </a:xfrm>
          <a:custGeom>
            <a:avLst/>
            <a:gdLst/>
            <a:ahLst/>
            <a:cxnLst/>
            <a:rect r="r" b="b" t="t" l="l"/>
            <a:pathLst>
              <a:path h="897557" w="3085351">
                <a:moveTo>
                  <a:pt x="0" y="0"/>
                </a:moveTo>
                <a:lnTo>
                  <a:pt x="3085351" y="0"/>
                </a:lnTo>
                <a:lnTo>
                  <a:pt x="3085351" y="897556"/>
                </a:lnTo>
                <a:lnTo>
                  <a:pt x="0" y="8975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35873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45974" y="2995555"/>
            <a:ext cx="3897348" cy="3897348"/>
            <a:chOff x="0" y="0"/>
            <a:chExt cx="5196464" cy="519646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196464" cy="5196464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41620" lIns="41620" bIns="41620" rIns="4162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495009" y="495018"/>
              <a:ext cx="4206445" cy="4206428"/>
              <a:chOff x="0" y="0"/>
              <a:chExt cx="6350000" cy="63499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 l="-25049" t="0" r="-28380" b="0"/>
                </a:stretch>
              </a:blipFill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2994699" y="2428518"/>
            <a:ext cx="4549980" cy="2053334"/>
            <a:chOff x="0" y="0"/>
            <a:chExt cx="6066640" cy="273777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Redesigned many user-facing screens for specific school roles and activities.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129471" y="2428518"/>
            <a:ext cx="4549980" cy="2053334"/>
            <a:chOff x="0" y="0"/>
            <a:chExt cx="6066640" cy="2737778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Modernized single-purpose-designed views for a user-friendly interface.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994699" y="6094709"/>
            <a:ext cx="4549980" cy="2053334"/>
            <a:chOff x="0" y="0"/>
            <a:chExt cx="6066640" cy="2737778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Existing views lacked quality and consistency, with significant diversity among them.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29471" y="6094709"/>
            <a:ext cx="4916503" cy="2053334"/>
            <a:chOff x="0" y="0"/>
            <a:chExt cx="6555338" cy="2737778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23825"/>
              <a:ext cx="1952781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04.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184954"/>
              <a:ext cx="6555338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Discrepancies, like differences between exam and classroom interfaces, caused confusion.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778288" y="535451"/>
            <a:ext cx="821039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5"/>
              </a:lnSpc>
            </a:pPr>
            <a:r>
              <a:rPr lang="en-US" b="true" sz="250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Redefining User Interfaces for Educational Excellence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03952" y="5428492"/>
            <a:ext cx="7157275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SapphireK12™ Interface Revolution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003952" y="4054093"/>
            <a:ext cx="4708704" cy="1498224"/>
          </a:xfrm>
          <a:custGeom>
            <a:avLst/>
            <a:gdLst/>
            <a:ahLst/>
            <a:cxnLst/>
            <a:rect r="r" b="b" t="t" l="l"/>
            <a:pathLst>
              <a:path h="1498224" w="4708704">
                <a:moveTo>
                  <a:pt x="0" y="0"/>
                </a:moveTo>
                <a:lnTo>
                  <a:pt x="4708704" y="0"/>
                </a:lnTo>
                <a:lnTo>
                  <a:pt x="4708704" y="1498224"/>
                </a:lnTo>
                <a:lnTo>
                  <a:pt x="0" y="14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988685" y="-1184009"/>
            <a:ext cx="6473850" cy="6473824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40915" t="0" r="-9203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416823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045974" y="3636109"/>
            <a:ext cx="3897348" cy="3897348"/>
            <a:chOff x="0" y="0"/>
            <a:chExt cx="5196464" cy="519646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196464" cy="519646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41620" lIns="41620" bIns="41620" rIns="4162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495009" y="495018"/>
              <a:ext cx="4206445" cy="4206428"/>
              <a:chOff x="0" y="0"/>
              <a:chExt cx="6350000" cy="63499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25059" t="0" r="-25059" b="0"/>
                </a:stretch>
              </a:blipFill>
            </p:spPr>
          </p:sp>
        </p:grpSp>
      </p:grpSp>
      <p:grpSp>
        <p:nvGrpSpPr>
          <p:cNvPr name="Group 15" id="15"/>
          <p:cNvGrpSpPr/>
          <p:nvPr/>
        </p:nvGrpSpPr>
        <p:grpSpPr>
          <a:xfrm rot="0">
            <a:off x="1784555" y="2652282"/>
            <a:ext cx="4549980" cy="2448627"/>
            <a:chOff x="0" y="0"/>
            <a:chExt cx="6066640" cy="326483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Engaged experienced designers, emphasizing creative solutions for a unified and modernized environment.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523470" y="2652282"/>
            <a:ext cx="4549980" cy="2448627"/>
            <a:chOff x="0" y="0"/>
            <a:chExt cx="6066640" cy="326483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Implemented a key improvement with a focus on enhancing user interaction and improving overall ease of use.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84555" y="5584783"/>
            <a:ext cx="4549980" cy="2843920"/>
            <a:chOff x="0" y="0"/>
            <a:chExt cx="6066640" cy="37918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Tailored views, ensuring a personalized approach for an enhanced user experience by customizing each view to meet specific user needs.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587788" y="506785"/>
            <a:ext cx="7626369" cy="6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1"/>
              </a:lnSpc>
            </a:pPr>
            <a:r>
              <a:rPr lang="en-US" b="true" sz="301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SapphireK12™ Interface Revolution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853824" y="450304"/>
            <a:ext cx="2754858" cy="876546"/>
          </a:xfrm>
          <a:custGeom>
            <a:avLst/>
            <a:gdLst/>
            <a:ahLst/>
            <a:cxnLst/>
            <a:rect r="r" b="b" t="t" l="l"/>
            <a:pathLst>
              <a:path h="876546" w="2754858">
                <a:moveTo>
                  <a:pt x="0" y="0"/>
                </a:moveTo>
                <a:lnTo>
                  <a:pt x="2754859" y="0"/>
                </a:lnTo>
                <a:lnTo>
                  <a:pt x="2754859" y="876546"/>
                </a:lnTo>
                <a:lnTo>
                  <a:pt x="0" y="876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003952" y="4054093"/>
            <a:ext cx="3886902" cy="1498224"/>
          </a:xfrm>
          <a:custGeom>
            <a:avLst/>
            <a:gdLst/>
            <a:ahLst/>
            <a:cxnLst/>
            <a:rect r="r" b="b" t="t" l="l"/>
            <a:pathLst>
              <a:path h="1498224" w="3886902">
                <a:moveTo>
                  <a:pt x="0" y="0"/>
                </a:moveTo>
                <a:lnTo>
                  <a:pt x="3886902" y="0"/>
                </a:lnTo>
                <a:lnTo>
                  <a:pt x="3886902" y="1498224"/>
                </a:lnTo>
                <a:lnTo>
                  <a:pt x="0" y="14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03952" y="5428492"/>
            <a:ext cx="8042178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SapphireK12™ - Elevating Education Experiences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69198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84555" y="3481879"/>
            <a:ext cx="4549980" cy="2843920"/>
            <a:chOff x="0" y="0"/>
            <a:chExt cx="6066640" cy="379189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Successfully redesigned to unify diverse screens, creating a consistent and user-friendly environment while enhancing user interaction.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23470" y="3481879"/>
            <a:ext cx="4549980" cy="2843920"/>
            <a:chOff x="0" y="0"/>
            <a:chExt cx="6066640" cy="379189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Implemented drag-and-drop feature for significantly improved user interaction and ease of use, resulting in a personalized experience.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62385" y="3481879"/>
            <a:ext cx="4549980" cy="3239213"/>
            <a:chOff x="0" y="0"/>
            <a:chExt cx="6066640" cy="431895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84954"/>
              <a:ext cx="6066640" cy="3133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Tailoring each view to meet the unique needs of users resulted in a modernized interface that enhanced the overall experience for administrators, teachers, students, and parents.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111538" y="506785"/>
            <a:ext cx="10299514" cy="6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1"/>
              </a:lnSpc>
            </a:pPr>
            <a:r>
              <a:rPr lang="en-US" b="true" sz="301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SapphireK12™ - Elevating Education Experiences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53824" y="437511"/>
            <a:ext cx="2328567" cy="897557"/>
          </a:xfrm>
          <a:custGeom>
            <a:avLst/>
            <a:gdLst/>
            <a:ahLst/>
            <a:cxnLst/>
            <a:rect r="r" b="b" t="t" l="l"/>
            <a:pathLst>
              <a:path h="897557" w="2328567">
                <a:moveTo>
                  <a:pt x="0" y="0"/>
                </a:moveTo>
                <a:lnTo>
                  <a:pt x="2328567" y="0"/>
                </a:lnTo>
                <a:lnTo>
                  <a:pt x="2328567" y="897556"/>
                </a:lnTo>
                <a:lnTo>
                  <a:pt x="0" y="897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true" flipV="true" rot="-5400000">
            <a:off x="0" y="7517065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390323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573079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3" y="0"/>
                </a:lnTo>
                <a:lnTo>
                  <a:pt x="406453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63454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2" y="0"/>
                </a:lnTo>
                <a:lnTo>
                  <a:pt x="406452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250352" y="2769935"/>
            <a:ext cx="2623185" cy="524637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45681" t="-8784" r="-221083" b="-5973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554871" y="9585960"/>
            <a:ext cx="406452" cy="406452"/>
          </a:xfrm>
          <a:custGeom>
            <a:avLst/>
            <a:gdLst/>
            <a:ahLst/>
            <a:cxnLst/>
            <a:rect r="r" b="b" t="t" l="l"/>
            <a:pathLst>
              <a:path h="406452" w="406452">
                <a:moveTo>
                  <a:pt x="0" y="0"/>
                </a:moveTo>
                <a:lnTo>
                  <a:pt x="406452" y="0"/>
                </a:lnTo>
                <a:lnTo>
                  <a:pt x="406452" y="406452"/>
                </a:lnTo>
                <a:lnTo>
                  <a:pt x="0" y="4064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53824" y="3546774"/>
            <a:ext cx="3857120" cy="1129863"/>
          </a:xfrm>
          <a:custGeom>
            <a:avLst/>
            <a:gdLst/>
            <a:ahLst/>
            <a:cxnLst/>
            <a:rect r="r" b="b" t="t" l="l"/>
            <a:pathLst>
              <a:path h="1129863" w="3857120">
                <a:moveTo>
                  <a:pt x="0" y="0"/>
                </a:moveTo>
                <a:lnTo>
                  <a:pt x="3857120" y="0"/>
                </a:lnTo>
                <a:lnTo>
                  <a:pt x="3857120" y="1129863"/>
                </a:lnTo>
                <a:lnTo>
                  <a:pt x="0" y="11298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3824" y="4989663"/>
            <a:ext cx="7252096" cy="224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Loeb Electric sells customizable electrical panels on an industrial scale. They approached Ortus seeking help for</a:t>
            </a:r>
          </a:p>
          <a:p>
            <a:pPr algn="l">
              <a:lnSpc>
                <a:spcPts val="3660"/>
              </a:lnSpc>
            </a:pPr>
            <a:r>
              <a:rPr lang="en-US" sz="2000">
                <a:solidFill>
                  <a:srgbClr val="1C1C1C"/>
                </a:solidFill>
                <a:latin typeface="Canva Sans"/>
                <a:ea typeface="Canva Sans"/>
                <a:cs typeface="Canva Sans"/>
                <a:sym typeface="Canva Sans"/>
              </a:rPr>
              <a:t>implementing a “Panel Builder” i.e. a way for customers’ to be able to build electrical panels onlines and to purchase them through a self-checkout service on their website.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4953922" y="2769935"/>
            <a:ext cx="2623185" cy="5246370"/>
            <a:chOff x="0" y="0"/>
            <a:chExt cx="317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288551" t="-8433" r="0" b="-10190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2102137" y="2769935"/>
            <a:ext cx="2623185" cy="5246370"/>
            <a:chOff x="0" y="0"/>
            <a:chExt cx="3175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78916" t="-8784" r="-109635" b="-9839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03952" y="4072939"/>
            <a:ext cx="4575063" cy="1330927"/>
          </a:xfrm>
          <a:custGeom>
            <a:avLst/>
            <a:gdLst/>
            <a:ahLst/>
            <a:cxnLst/>
            <a:rect r="r" b="b" t="t" l="l"/>
            <a:pathLst>
              <a:path h="1330927" w="4575063">
                <a:moveTo>
                  <a:pt x="0" y="0"/>
                </a:moveTo>
                <a:lnTo>
                  <a:pt x="4575063" y="0"/>
                </a:lnTo>
                <a:lnTo>
                  <a:pt x="4575063" y="1330927"/>
                </a:lnTo>
                <a:lnTo>
                  <a:pt x="0" y="13309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8"/>
              <a:stretch>
                <a:fillRect l="-16726" t="0" r="-1672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03952" y="5428492"/>
            <a:ext cx="8668985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Streamlining Complex Bid Communication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069532" y="1368632"/>
            <a:ext cx="7549736" cy="7549736"/>
            <a:chOff x="0" y="0"/>
            <a:chExt cx="10066315" cy="1006631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066315" cy="10066315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F220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41620" lIns="41620" bIns="41620" rIns="4162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958906" y="958922"/>
              <a:ext cx="8148504" cy="8148471"/>
              <a:chOff x="0" y="0"/>
              <a:chExt cx="6350000" cy="63499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13243" r="0" b="-13243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733732" y="450304"/>
            <a:ext cx="13320640" cy="897557"/>
            <a:chOff x="0" y="0"/>
            <a:chExt cx="17760853" cy="11967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13801" cy="1196742"/>
            </a:xfrm>
            <a:custGeom>
              <a:avLst/>
              <a:gdLst/>
              <a:ahLst/>
              <a:cxnLst/>
              <a:rect r="r" b="b" t="t" l="l"/>
              <a:pathLst>
                <a:path h="1196742" w="4113801">
                  <a:moveTo>
                    <a:pt x="0" y="0"/>
                  </a:moveTo>
                  <a:lnTo>
                    <a:pt x="4113801" y="0"/>
                  </a:lnTo>
                  <a:lnTo>
                    <a:pt x="4113801" y="1196742"/>
                  </a:lnTo>
                  <a:lnTo>
                    <a:pt x="0" y="1196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4" id="14"/>
            <p:cNvSpPr/>
            <p:nvPr/>
          </p:nvSpPr>
          <p:spPr>
            <a:xfrm>
              <a:off x="4673210" y="180868"/>
              <a:ext cx="0" cy="83500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5232619" y="143166"/>
              <a:ext cx="12528234" cy="7580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251"/>
                </a:lnSpc>
              </a:pPr>
              <a:r>
                <a:rPr lang="en-US" b="true" sz="3018">
                  <a:solidFill>
                    <a:srgbClr val="10101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Streamlining Complex Bid Communication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84555" y="3919187"/>
            <a:ext cx="4549980" cy="2448627"/>
            <a:chOff x="0" y="0"/>
            <a:chExt cx="6066640" cy="326483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Extensive communication hurdles with clients during bid creation due to dependencies and optional components.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29002" y="3919187"/>
            <a:ext cx="4549980" cy="2448627"/>
            <a:chOff x="0" y="0"/>
            <a:chExt cx="6066640" cy="326483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Need for a solution that allows users without electrical expertise to make informed component choices.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03952" y="5428492"/>
            <a:ext cx="9129872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Dynamic Web Implementation for Efficient Panel Building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-1666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003952" y="4054093"/>
            <a:ext cx="4708704" cy="1498224"/>
          </a:xfrm>
          <a:custGeom>
            <a:avLst/>
            <a:gdLst/>
            <a:ahLst/>
            <a:cxnLst/>
            <a:rect r="r" b="b" t="t" l="l"/>
            <a:pathLst>
              <a:path h="1498224" w="4708704">
                <a:moveTo>
                  <a:pt x="0" y="0"/>
                </a:moveTo>
                <a:lnTo>
                  <a:pt x="4708704" y="0"/>
                </a:lnTo>
                <a:lnTo>
                  <a:pt x="4708704" y="1498224"/>
                </a:lnTo>
                <a:lnTo>
                  <a:pt x="0" y="14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988685" y="-1184009"/>
            <a:ext cx="6473850" cy="6473824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1196" t="0" r="-28600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4168232" y="573162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045974" y="3636109"/>
            <a:ext cx="3897348" cy="3897348"/>
            <a:chOff x="0" y="0"/>
            <a:chExt cx="5196464" cy="519646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196464" cy="5196464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FDFD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41620" lIns="41620" bIns="41620" rIns="4162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495009" y="495018"/>
              <a:ext cx="4206445" cy="4206428"/>
              <a:chOff x="0" y="0"/>
              <a:chExt cx="6350000" cy="63499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0" t="-25000" r="0" b="-25000"/>
                </a:stretch>
              </a:blipFill>
            </p:spPr>
          </p:sp>
        </p:grpSp>
      </p:grpSp>
      <p:sp>
        <p:nvSpPr>
          <p:cNvPr name="Freeform 15" id="15"/>
          <p:cNvSpPr/>
          <p:nvPr/>
        </p:nvSpPr>
        <p:spPr>
          <a:xfrm flipH="false" flipV="false" rot="0">
            <a:off x="853824" y="450304"/>
            <a:ext cx="2754858" cy="876546"/>
          </a:xfrm>
          <a:custGeom>
            <a:avLst/>
            <a:gdLst/>
            <a:ahLst/>
            <a:cxnLst/>
            <a:rect r="r" b="b" t="t" l="l"/>
            <a:pathLst>
              <a:path h="876546" w="2754858">
                <a:moveTo>
                  <a:pt x="0" y="0"/>
                </a:moveTo>
                <a:lnTo>
                  <a:pt x="2754859" y="0"/>
                </a:lnTo>
                <a:lnTo>
                  <a:pt x="2754859" y="876546"/>
                </a:lnTo>
                <a:lnTo>
                  <a:pt x="0" y="876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84555" y="2381956"/>
            <a:ext cx="4549980" cy="2053334"/>
            <a:chOff x="0" y="0"/>
            <a:chExt cx="6066640" cy="273777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Ortus transformed Loeb's complex spreadsheet into a dynamic web application.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23470" y="2381956"/>
            <a:ext cx="4549980" cy="2843920"/>
            <a:chOff x="0" y="0"/>
            <a:chExt cx="6066640" cy="379189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Panel Builder simplified component selection, offering detailed technical specs, dependencies, compatibility, and incompatibility details.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523470" y="5943691"/>
            <a:ext cx="4549980" cy="2448627"/>
            <a:chOff x="0" y="0"/>
            <a:chExt cx="6066640" cy="326483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04.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Streamlined the process, enabling independent component selection without technician assistance.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784555" y="5943691"/>
            <a:ext cx="4549980" cy="2843920"/>
            <a:chOff x="0" y="0"/>
            <a:chExt cx="6066640" cy="3791893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1184954"/>
              <a:ext cx="6066640" cy="26069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Designed to empower users with limited electrical knowledge, including customers, contractors, and sales representatives.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587788" y="537739"/>
            <a:ext cx="7626369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4"/>
              </a:lnSpc>
            </a:pPr>
            <a:r>
              <a:rPr lang="en-US" b="true" sz="2499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Dynamic Web Implementation for Efficient Panel Building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5400000">
            <a:off x="15518065" y="0"/>
            <a:ext cx="2769935" cy="2769935"/>
          </a:xfrm>
          <a:custGeom>
            <a:avLst/>
            <a:gdLst/>
            <a:ahLst/>
            <a:cxnLst/>
            <a:rect r="r" b="b" t="t" l="l"/>
            <a:pathLst>
              <a:path h="2769935" w="2769935">
                <a:moveTo>
                  <a:pt x="2769935" y="2769935"/>
                </a:moveTo>
                <a:lnTo>
                  <a:pt x="0" y="2769935"/>
                </a:lnTo>
                <a:lnTo>
                  <a:pt x="0" y="0"/>
                </a:lnTo>
                <a:lnTo>
                  <a:pt x="2769935" y="0"/>
                </a:lnTo>
                <a:lnTo>
                  <a:pt x="2769935" y="2769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33355" y="295100"/>
            <a:ext cx="720691" cy="733600"/>
          </a:xfrm>
          <a:custGeom>
            <a:avLst/>
            <a:gdLst/>
            <a:ahLst/>
            <a:cxnLst/>
            <a:rect r="r" b="b" t="t" l="l"/>
            <a:pathLst>
              <a:path h="733600" w="720691">
                <a:moveTo>
                  <a:pt x="0" y="0"/>
                </a:moveTo>
                <a:lnTo>
                  <a:pt x="720691" y="0"/>
                </a:lnTo>
                <a:lnTo>
                  <a:pt x="720691" y="733600"/>
                </a:lnTo>
                <a:lnTo>
                  <a:pt x="0" y="733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390323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719824" y="1282236"/>
            <a:ext cx="3713780" cy="7427560"/>
            <a:chOff x="0" y="0"/>
            <a:chExt cx="3175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16666" t="0" r="-1666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003952" y="4054093"/>
            <a:ext cx="3886902" cy="1498224"/>
          </a:xfrm>
          <a:custGeom>
            <a:avLst/>
            <a:gdLst/>
            <a:ahLst/>
            <a:cxnLst/>
            <a:rect r="r" b="b" t="t" l="l"/>
            <a:pathLst>
              <a:path h="1498224" w="3886902">
                <a:moveTo>
                  <a:pt x="0" y="0"/>
                </a:moveTo>
                <a:lnTo>
                  <a:pt x="3886902" y="0"/>
                </a:lnTo>
                <a:lnTo>
                  <a:pt x="3886902" y="1498224"/>
                </a:lnTo>
                <a:lnTo>
                  <a:pt x="0" y="14982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03952" y="5428492"/>
            <a:ext cx="8042178" cy="49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7"/>
              </a:lnSpc>
            </a:pPr>
            <a:r>
              <a:rPr lang="en-US" sz="2429">
                <a:solidFill>
                  <a:srgbClr val="737373"/>
                </a:solidFill>
                <a:latin typeface="Montserrat"/>
                <a:ea typeface="Montserrat"/>
                <a:cs typeface="Montserrat"/>
                <a:sym typeface="Montserrat"/>
              </a:rPr>
              <a:t>Enhancing Bid Efficiency and User Experience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824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54871" y="9585960"/>
            <a:ext cx="1424661" cy="406452"/>
            <a:chOff x="0" y="0"/>
            <a:chExt cx="1899548" cy="541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3576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7" y="0"/>
                  </a:lnTo>
                  <a:lnTo>
                    <a:pt x="541937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78111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1936" cy="541936"/>
            </a:xfrm>
            <a:custGeom>
              <a:avLst/>
              <a:gdLst/>
              <a:ahLst/>
              <a:cxnLst/>
              <a:rect r="r" b="b" t="t" l="l"/>
              <a:pathLst>
                <a:path h="541936" w="541936">
                  <a:moveTo>
                    <a:pt x="0" y="0"/>
                  </a:moveTo>
                  <a:lnTo>
                    <a:pt x="541936" y="0"/>
                  </a:lnTo>
                  <a:lnTo>
                    <a:pt x="541936" y="541936"/>
                  </a:lnTo>
                  <a:lnTo>
                    <a:pt x="0" y="541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>
            <a:off x="3679227" y="564337"/>
            <a:ext cx="0" cy="6262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53824" y="428686"/>
            <a:ext cx="2328567" cy="897557"/>
          </a:xfrm>
          <a:custGeom>
            <a:avLst/>
            <a:gdLst/>
            <a:ahLst/>
            <a:cxnLst/>
            <a:rect r="r" b="b" t="t" l="l"/>
            <a:pathLst>
              <a:path h="897557" w="2328567">
                <a:moveTo>
                  <a:pt x="0" y="0"/>
                </a:moveTo>
                <a:lnTo>
                  <a:pt x="2328567" y="0"/>
                </a:lnTo>
                <a:lnTo>
                  <a:pt x="2328567" y="897557"/>
                </a:lnTo>
                <a:lnTo>
                  <a:pt x="0" y="8975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84555" y="2381956"/>
            <a:ext cx="4549980" cy="2448627"/>
            <a:chOff x="0" y="0"/>
            <a:chExt cx="6066640" cy="326483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01.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Panel Builder successfully streamlined bid creation, reducing back-and-forth communication with clients.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27043" y="2381956"/>
            <a:ext cx="4549980" cy="2053334"/>
            <a:chOff x="0" y="0"/>
            <a:chExt cx="6066640" cy="2737778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02.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Users could independently select components, improving overall efficiency.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27043" y="5943691"/>
            <a:ext cx="4549980" cy="2053334"/>
            <a:chOff x="0" y="0"/>
            <a:chExt cx="6066640" cy="2737778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04.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184954"/>
              <a:ext cx="6066640" cy="1552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Reduced the reliance on technicians for panel building, leading to increased autonomy.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84555" y="5943691"/>
            <a:ext cx="4549980" cy="2448627"/>
            <a:chOff x="0" y="0"/>
            <a:chExt cx="6066640" cy="326483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23825"/>
              <a:ext cx="1807202" cy="1025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1"/>
                </a:lnSpc>
              </a:pPr>
              <a:r>
                <a:rPr lang="en-US" sz="4486" b="true">
                  <a:solidFill>
                    <a:srgbClr val="8FC73E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03.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184954"/>
              <a:ext cx="6066640" cy="207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40"/>
                </a:lnSpc>
              </a:pPr>
              <a:r>
                <a:rPr lang="en-US" sz="2243">
                  <a:solidFill>
                    <a:srgbClr val="1C1C1C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Users with limited electrical knowledge could confidently choose components, enhancing the user experience.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754195" y="9608211"/>
            <a:ext cx="372718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www.ortussolutions.com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76063" y="497961"/>
            <a:ext cx="9898382" cy="606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1"/>
              </a:lnSpc>
            </a:pPr>
            <a:r>
              <a:rPr lang="en-US" b="true" sz="301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Enhancing Bid Efficiency and User Experience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69532" y="1368632"/>
            <a:ext cx="7549736" cy="7549736"/>
            <a:chOff x="0" y="0"/>
            <a:chExt cx="10066315" cy="1006631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0066315" cy="1006631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B6F220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anchor="ctr" rtlCol="false" tIns="41620" lIns="41620" bIns="41620" rIns="41620"/>
              <a:lstStyle/>
              <a:p>
                <a:pPr algn="ctr">
                  <a:lnSpc>
                    <a:spcPts val="4227"/>
                  </a:lnSpc>
                </a:pPr>
              </a:p>
            </p:txBody>
          </p:sp>
        </p:grpSp>
        <p:grpSp>
          <p:nvGrpSpPr>
            <p:cNvPr name="Group 26" id="26"/>
            <p:cNvGrpSpPr>
              <a:grpSpLocks noChangeAspect="true"/>
            </p:cNvGrpSpPr>
            <p:nvPr/>
          </p:nvGrpSpPr>
          <p:grpSpPr>
            <a:xfrm rot="0">
              <a:off x="958906" y="958922"/>
              <a:ext cx="8148504" cy="8148471"/>
              <a:chOff x="0" y="0"/>
              <a:chExt cx="6350000" cy="634997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l="0" t="-25000" r="0" b="-25000"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DAF0XrURkms</dc:identifier>
  <dcterms:modified xsi:type="dcterms:W3CDTF">2011-08-01T06:04:30Z</dcterms:modified>
  <cp:revision>1</cp:revision>
  <dc:title>Case Studies v2024 by Ortus Solutions</dc:title>
</cp:coreProperties>
</file>