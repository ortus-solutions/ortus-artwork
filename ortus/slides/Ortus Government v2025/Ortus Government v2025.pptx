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x="18288000" cy="10287000"/>
  <p:notesSz cx="6858000" cy="9144000"/>
  <p:embeddedFontLst>
    <p:embeddedFont>
      <p:font typeface="Neue Montreal Bold" charset="1" panose="00000400000000000000"/>
      <p:regular r:id="rId62"/>
    </p:embeddedFont>
    <p:embeddedFont>
      <p:font typeface="Inter" charset="1" panose="020B0502030000000004"/>
      <p:regular r:id="rId63"/>
    </p:embeddedFont>
    <p:embeddedFont>
      <p:font typeface="Poppins" charset="1" panose="00000500000000000000"/>
      <p:regular r:id="rId64"/>
    </p:embeddedFont>
    <p:embeddedFont>
      <p:font typeface="Poppins Light" charset="1" panose="00000400000000000000"/>
      <p:regular r:id="rId65"/>
    </p:embeddedFont>
    <p:embeddedFont>
      <p:font typeface="Poppins Bold" charset="1" panose="00000800000000000000"/>
      <p:regular r:id="rId66"/>
    </p:embeddedFont>
    <p:embeddedFont>
      <p:font typeface="Neue Montreal" charset="1" panose="00000400000000000000"/>
      <p:regular r:id="rId67"/>
    </p:embeddedFont>
    <p:embeddedFont>
      <p:font typeface="Poppins Medium" charset="1" panose="00000600000000000000"/>
      <p:regular r:id="rId68"/>
    </p:embeddedFont>
    <p:embeddedFont>
      <p:font typeface="Poppins Semi-Bold" charset="1" panose="00000700000000000000"/>
      <p:regular r:id="rId6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fonts/font65.fntdata" Type="http://schemas.openxmlformats.org/officeDocument/2006/relationships/font"/><Relationship Id="rId66" Target="fonts/font66.fntdata" Type="http://schemas.openxmlformats.org/officeDocument/2006/relationships/font"/><Relationship Id="rId67" Target="fonts/font67.fntdata" Type="http://schemas.openxmlformats.org/officeDocument/2006/relationships/font"/><Relationship Id="rId68" Target="fonts/font68.fntdata" Type="http://schemas.openxmlformats.org/officeDocument/2006/relationships/font"/><Relationship Id="rId69" Target="fonts/font69.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png" Type="http://schemas.openxmlformats.org/officeDocument/2006/relationships/image"/><Relationship Id="rId12" Target="../media/image32.pn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 Id="rId9" Target="../media/image2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49.png" Type="http://schemas.openxmlformats.org/officeDocument/2006/relationships/image"/><Relationship Id="rId7" Target="../media/image50.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51.png" Type="http://schemas.openxmlformats.org/officeDocument/2006/relationships/image"/><Relationship Id="rId5" Target="../media/image52.svg" Type="http://schemas.openxmlformats.org/officeDocument/2006/relationships/image"/><Relationship Id="rId6" Target="../media/image5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54.png" Type="http://schemas.openxmlformats.org/officeDocument/2006/relationships/image"/><Relationship Id="rId5" Target="../media/image55.png" Type="http://schemas.openxmlformats.org/officeDocument/2006/relationships/image"/><Relationship Id="rId6" Target="../media/image5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5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5.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60.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61.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62.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63.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64.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65.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66.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67.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68.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69.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0.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7.png" Type="http://schemas.openxmlformats.org/officeDocument/2006/relationships/image"/><Relationship Id="rId11" Target="../media/image78.png" Type="http://schemas.openxmlformats.org/officeDocument/2006/relationships/image"/><Relationship Id="rId12" Target="../media/image79.png" Type="http://schemas.openxmlformats.org/officeDocument/2006/relationships/image"/><Relationship Id="rId13" Target="../media/image80.png" Type="http://schemas.openxmlformats.org/officeDocument/2006/relationships/image"/><Relationship Id="rId14" Target="../media/image81.png" Type="http://schemas.openxmlformats.org/officeDocument/2006/relationships/image"/><Relationship Id="rId15" Target="../media/image82.png" Type="http://schemas.openxmlformats.org/officeDocument/2006/relationships/image"/><Relationship Id="rId16" Target="../media/image83.png" Type="http://schemas.openxmlformats.org/officeDocument/2006/relationships/image"/><Relationship Id="rId17" Target="../media/image84.png" Type="http://schemas.openxmlformats.org/officeDocument/2006/relationships/image"/><Relationship Id="rId18" Target="../media/image85.png" Type="http://schemas.openxmlformats.org/officeDocument/2006/relationships/image"/><Relationship Id="rId19" Target="../media/image69.png" Type="http://schemas.openxmlformats.org/officeDocument/2006/relationships/image"/><Relationship Id="rId2" Target="../media/image11.png" Type="http://schemas.openxmlformats.org/officeDocument/2006/relationships/image"/><Relationship Id="rId20" Target="../media/image86.png" Type="http://schemas.openxmlformats.org/officeDocument/2006/relationships/image"/><Relationship Id="rId21" Target="../media/image87.png" Type="http://schemas.openxmlformats.org/officeDocument/2006/relationships/image"/><Relationship Id="rId22" Target="../media/image88.png" Type="http://schemas.openxmlformats.org/officeDocument/2006/relationships/image"/><Relationship Id="rId23" Target="../media/image89.png" Type="http://schemas.openxmlformats.org/officeDocument/2006/relationships/image"/><Relationship Id="rId24" Target="../media/image90.png" Type="http://schemas.openxmlformats.org/officeDocument/2006/relationships/image"/><Relationship Id="rId25" Target="../media/image91.png" Type="http://schemas.openxmlformats.org/officeDocument/2006/relationships/image"/><Relationship Id="rId26" Target="../media/image92.png" Type="http://schemas.openxmlformats.org/officeDocument/2006/relationships/image"/><Relationship Id="rId27" Target="../media/image93.png" Type="http://schemas.openxmlformats.org/officeDocument/2006/relationships/image"/><Relationship Id="rId28" Target="../media/image94.png" Type="http://schemas.openxmlformats.org/officeDocument/2006/relationships/image"/><Relationship Id="rId29" Target="../media/image95.png" Type="http://schemas.openxmlformats.org/officeDocument/2006/relationships/image"/><Relationship Id="rId3" Target="../media/image12.svg" Type="http://schemas.openxmlformats.org/officeDocument/2006/relationships/image"/><Relationship Id="rId30" Target="../media/image96.png" Type="http://schemas.openxmlformats.org/officeDocument/2006/relationships/image"/><Relationship Id="rId31" Target="../media/image97.png" Type="http://schemas.openxmlformats.org/officeDocument/2006/relationships/image"/><Relationship Id="rId32" Target="../media/image98.png" Type="http://schemas.openxmlformats.org/officeDocument/2006/relationships/image"/><Relationship Id="rId33" Target="../media/image99.png" Type="http://schemas.openxmlformats.org/officeDocument/2006/relationships/image"/><Relationship Id="rId34" Target="../media/image100.png" Type="http://schemas.openxmlformats.org/officeDocument/2006/relationships/image"/><Relationship Id="rId35" Target="../media/image101.png" Type="http://schemas.openxmlformats.org/officeDocument/2006/relationships/image"/><Relationship Id="rId36" Target="../media/image102.png" Type="http://schemas.openxmlformats.org/officeDocument/2006/relationships/image"/><Relationship Id="rId37" Target="../media/image103.png" Type="http://schemas.openxmlformats.org/officeDocument/2006/relationships/image"/><Relationship Id="rId38" Target="../media/image104.png" Type="http://schemas.openxmlformats.org/officeDocument/2006/relationships/image"/><Relationship Id="rId39" Target="../media/image105.png" Type="http://schemas.openxmlformats.org/officeDocument/2006/relationships/image"/><Relationship Id="rId4" Target="../media/image71.png" Type="http://schemas.openxmlformats.org/officeDocument/2006/relationships/image"/><Relationship Id="rId40" Target="../media/image106.png" Type="http://schemas.openxmlformats.org/officeDocument/2006/relationships/image"/><Relationship Id="rId41" Target="../media/image107.png" Type="http://schemas.openxmlformats.org/officeDocument/2006/relationships/image"/><Relationship Id="rId42" Target="../media/image108.png" Type="http://schemas.openxmlformats.org/officeDocument/2006/relationships/image"/><Relationship Id="rId43" Target="../media/image109.png" Type="http://schemas.openxmlformats.org/officeDocument/2006/relationships/image"/><Relationship Id="rId44" Target="../media/image110.png" Type="http://schemas.openxmlformats.org/officeDocument/2006/relationships/image"/><Relationship Id="rId45" Target="../media/image111.png" Type="http://schemas.openxmlformats.org/officeDocument/2006/relationships/image"/><Relationship Id="rId5" Target="../media/image72.png" Type="http://schemas.openxmlformats.org/officeDocument/2006/relationships/image"/><Relationship Id="rId6" Target="../media/image73.png" Type="http://schemas.openxmlformats.org/officeDocument/2006/relationships/image"/><Relationship Id="rId7" Target="../media/image74.png" Type="http://schemas.openxmlformats.org/officeDocument/2006/relationships/image"/><Relationship Id="rId8" Target="../media/image75.png" Type="http://schemas.openxmlformats.org/officeDocument/2006/relationships/image"/><Relationship Id="rId9" Target="../media/image76.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2.png" Type="http://schemas.openxmlformats.org/officeDocument/2006/relationships/image"/><Relationship Id="rId3" Target="../media/image11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0">
            <a:off x="7640554" y="1316246"/>
            <a:ext cx="11408598" cy="11450236"/>
          </a:xfrm>
          <a:custGeom>
            <a:avLst/>
            <a:gdLst/>
            <a:ahLst/>
            <a:cxnLst/>
            <a:rect r="r" b="b" t="t" l="l"/>
            <a:pathLst>
              <a:path h="11450236" w="11408598">
                <a:moveTo>
                  <a:pt x="0" y="0"/>
                </a:moveTo>
                <a:lnTo>
                  <a:pt x="11408598" y="0"/>
                </a:lnTo>
                <a:lnTo>
                  <a:pt x="11408598" y="11450236"/>
                </a:lnTo>
                <a:lnTo>
                  <a:pt x="0" y="11450236"/>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383774">
            <a:off x="7061032" y="216455"/>
            <a:ext cx="11226909" cy="14341591"/>
            <a:chOff x="0" y="0"/>
            <a:chExt cx="2956881" cy="3777209"/>
          </a:xfrm>
        </p:grpSpPr>
        <p:sp>
          <p:nvSpPr>
            <p:cNvPr name="Freeform 4" id="4"/>
            <p:cNvSpPr/>
            <p:nvPr/>
          </p:nvSpPr>
          <p:spPr>
            <a:xfrm flipH="false" flipV="false" rot="0">
              <a:off x="0" y="0"/>
              <a:ext cx="2956881" cy="3777209"/>
            </a:xfrm>
            <a:custGeom>
              <a:avLst/>
              <a:gdLst/>
              <a:ahLst/>
              <a:cxnLst/>
              <a:rect r="r" b="b" t="t" l="l"/>
              <a:pathLst>
                <a:path h="3777209" w="2956881">
                  <a:moveTo>
                    <a:pt x="0" y="0"/>
                  </a:moveTo>
                  <a:lnTo>
                    <a:pt x="2956881" y="0"/>
                  </a:lnTo>
                  <a:lnTo>
                    <a:pt x="2956881" y="3777209"/>
                  </a:lnTo>
                  <a:lnTo>
                    <a:pt x="0" y="3777209"/>
                  </a:lnTo>
                  <a:close/>
                </a:path>
              </a:pathLst>
            </a:custGeom>
            <a:gradFill rotWithShape="true">
              <a:gsLst>
                <a:gs pos="0">
                  <a:srgbClr val="0D0D0D">
                    <a:alpha val="100000"/>
                  </a:srgbClr>
                </a:gs>
                <a:gs pos="100000">
                  <a:srgbClr val="141519">
                    <a:alpha val="0"/>
                  </a:srgbClr>
                </a:gs>
              </a:gsLst>
              <a:lin ang="0"/>
            </a:gradFill>
          </p:spPr>
        </p:sp>
        <p:sp>
          <p:nvSpPr>
            <p:cNvPr name="TextBox 5" id="5"/>
            <p:cNvSpPr txBox="true"/>
            <p:nvPr/>
          </p:nvSpPr>
          <p:spPr>
            <a:xfrm>
              <a:off x="0" y="28575"/>
              <a:ext cx="2956881" cy="3748634"/>
            </a:xfrm>
            <a:prstGeom prst="rect">
              <a:avLst/>
            </a:prstGeom>
          </p:spPr>
          <p:txBody>
            <a:bodyPr anchor="ctr" rtlCol="false" tIns="50800" lIns="50800" bIns="50800" rIns="50800"/>
            <a:lstStyle/>
            <a:p>
              <a:pPr algn="ctr">
                <a:lnSpc>
                  <a:spcPts val="2267"/>
                </a:lnSpc>
              </a:pPr>
            </a:p>
          </p:txBody>
        </p:sp>
      </p:grpSp>
      <p:sp>
        <p:nvSpPr>
          <p:cNvPr name="Freeform 6" id="6"/>
          <p:cNvSpPr/>
          <p:nvPr/>
        </p:nvSpPr>
        <p:spPr>
          <a:xfrm flipH="false" flipV="false" rot="0">
            <a:off x="1028700" y="4032199"/>
            <a:ext cx="8555951" cy="1776215"/>
          </a:xfrm>
          <a:custGeom>
            <a:avLst/>
            <a:gdLst/>
            <a:ahLst/>
            <a:cxnLst/>
            <a:rect r="r" b="b" t="t" l="l"/>
            <a:pathLst>
              <a:path h="1776215" w="8555951">
                <a:moveTo>
                  <a:pt x="0" y="0"/>
                </a:moveTo>
                <a:lnTo>
                  <a:pt x="8555951" y="0"/>
                </a:lnTo>
                <a:lnTo>
                  <a:pt x="8555951" y="1776216"/>
                </a:lnTo>
                <a:lnTo>
                  <a:pt x="0" y="17762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2821977" y="8345037"/>
            <a:ext cx="4016140" cy="1151986"/>
            <a:chOff x="0" y="0"/>
            <a:chExt cx="5354853" cy="1535981"/>
          </a:xfrm>
        </p:grpSpPr>
        <p:sp>
          <p:nvSpPr>
            <p:cNvPr name="Freeform 8" id="8"/>
            <p:cNvSpPr/>
            <p:nvPr/>
          </p:nvSpPr>
          <p:spPr>
            <a:xfrm flipH="false" flipV="false" rot="0">
              <a:off x="0" y="0"/>
              <a:ext cx="1533421" cy="1535981"/>
            </a:xfrm>
            <a:custGeom>
              <a:avLst/>
              <a:gdLst/>
              <a:ahLst/>
              <a:cxnLst/>
              <a:rect r="r" b="b" t="t" l="l"/>
              <a:pathLst>
                <a:path h="1535981" w="1533421">
                  <a:moveTo>
                    <a:pt x="0" y="0"/>
                  </a:moveTo>
                  <a:lnTo>
                    <a:pt x="1533421" y="0"/>
                  </a:lnTo>
                  <a:lnTo>
                    <a:pt x="1533421" y="1535981"/>
                  </a:lnTo>
                  <a:lnTo>
                    <a:pt x="0" y="1535981"/>
                  </a:lnTo>
                  <a:lnTo>
                    <a:pt x="0" y="0"/>
                  </a:lnTo>
                  <a:close/>
                </a:path>
              </a:pathLst>
            </a:custGeom>
            <a:blipFill>
              <a:blip r:embed="rId6"/>
              <a:stretch>
                <a:fillRect l="0" t="0" r="0" b="0"/>
              </a:stretch>
            </a:blipFill>
          </p:spPr>
        </p:sp>
        <p:sp>
          <p:nvSpPr>
            <p:cNvPr name="TextBox 9" id="9"/>
            <p:cNvSpPr txBox="true"/>
            <p:nvPr/>
          </p:nvSpPr>
          <p:spPr>
            <a:xfrm rot="0">
              <a:off x="1860498" y="371751"/>
              <a:ext cx="3494356" cy="396240"/>
            </a:xfrm>
            <a:prstGeom prst="rect">
              <a:avLst/>
            </a:prstGeom>
          </p:spPr>
          <p:txBody>
            <a:bodyPr anchor="t" rtlCol="false" tIns="0" lIns="0" bIns="0" rIns="0">
              <a:spAutoFit/>
            </a:bodyPr>
            <a:lstStyle/>
            <a:p>
              <a:pPr algn="l">
                <a:lnSpc>
                  <a:spcPts val="2520"/>
                </a:lnSpc>
              </a:pPr>
              <a:r>
                <a:rPr lang="en-US" sz="1800" b="true">
                  <a:solidFill>
                    <a:srgbClr val="B6F220"/>
                  </a:solidFill>
                  <a:latin typeface="Neue Montreal Bold"/>
                  <a:ea typeface="Neue Montreal Bold"/>
                  <a:cs typeface="Neue Montreal Bold"/>
                  <a:sym typeface="Neue Montreal Bold"/>
                </a:rPr>
                <a:t>GSA Contract Number</a:t>
              </a:r>
            </a:p>
          </p:txBody>
        </p:sp>
        <p:sp>
          <p:nvSpPr>
            <p:cNvPr name="TextBox 10" id="10"/>
            <p:cNvSpPr txBox="true"/>
            <p:nvPr/>
          </p:nvSpPr>
          <p:spPr>
            <a:xfrm rot="0">
              <a:off x="1860498" y="821444"/>
              <a:ext cx="3035352" cy="396240"/>
            </a:xfrm>
            <a:prstGeom prst="rect">
              <a:avLst/>
            </a:prstGeom>
          </p:spPr>
          <p:txBody>
            <a:bodyPr anchor="t" rtlCol="false" tIns="0" lIns="0" bIns="0" rIns="0">
              <a:spAutoFit/>
            </a:bodyPr>
            <a:lstStyle/>
            <a:p>
              <a:pPr algn="l">
                <a:lnSpc>
                  <a:spcPts val="2520"/>
                </a:lnSpc>
              </a:pPr>
              <a:r>
                <a:rPr lang="en-US" sz="1800">
                  <a:solidFill>
                    <a:srgbClr val="FFFFFF"/>
                  </a:solidFill>
                  <a:latin typeface="Inter"/>
                  <a:ea typeface="Inter"/>
                  <a:cs typeface="Inter"/>
                  <a:sym typeface="Inter"/>
                </a:rPr>
                <a:t>47QTCA23D00DH</a:t>
              </a:r>
            </a:p>
          </p:txBody>
        </p:sp>
      </p:grpSp>
      <p:sp>
        <p:nvSpPr>
          <p:cNvPr name="Freeform 11" id="11"/>
          <p:cNvSpPr/>
          <p:nvPr/>
        </p:nvSpPr>
        <p:spPr>
          <a:xfrm flipH="false" flipV="false" rot="0">
            <a:off x="1028700" y="8345037"/>
            <a:ext cx="1151986" cy="1151986"/>
          </a:xfrm>
          <a:custGeom>
            <a:avLst/>
            <a:gdLst/>
            <a:ahLst/>
            <a:cxnLst/>
            <a:rect r="r" b="b" t="t" l="l"/>
            <a:pathLst>
              <a:path h="1151986" w="1151986">
                <a:moveTo>
                  <a:pt x="0" y="0"/>
                </a:moveTo>
                <a:lnTo>
                  <a:pt x="1151986" y="0"/>
                </a:lnTo>
                <a:lnTo>
                  <a:pt x="1151986" y="1151986"/>
                </a:lnTo>
                <a:lnTo>
                  <a:pt x="0" y="1151986"/>
                </a:lnTo>
                <a:lnTo>
                  <a:pt x="0" y="0"/>
                </a:lnTo>
                <a:close/>
              </a:path>
            </a:pathLst>
          </a:custGeom>
          <a:blipFill>
            <a:blip r:embed="rId7"/>
            <a:stretch>
              <a:fillRect l="0" t="0" r="0" b="0"/>
            </a:stretch>
          </a:blipFill>
        </p:spPr>
      </p:sp>
      <p:grpSp>
        <p:nvGrpSpPr>
          <p:cNvPr name="Group 12" id="12"/>
          <p:cNvGrpSpPr/>
          <p:nvPr/>
        </p:nvGrpSpPr>
        <p:grpSpPr>
          <a:xfrm rot="0">
            <a:off x="9756368" y="8652425"/>
            <a:ext cx="1387044" cy="605875"/>
            <a:chOff x="0" y="0"/>
            <a:chExt cx="1849392" cy="807833"/>
          </a:xfrm>
        </p:grpSpPr>
        <p:sp>
          <p:nvSpPr>
            <p:cNvPr name="TextBox 13" id="13"/>
            <p:cNvSpPr txBox="true"/>
            <p:nvPr/>
          </p:nvSpPr>
          <p:spPr>
            <a:xfrm rot="0">
              <a:off x="0" y="-38100"/>
              <a:ext cx="1849392" cy="396240"/>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B6F220"/>
                  </a:solidFill>
                  <a:latin typeface="Neue Montreal Bold"/>
                  <a:ea typeface="Neue Montreal Bold"/>
                  <a:cs typeface="Neue Montreal Bold"/>
                  <a:sym typeface="Neue Montreal Bold"/>
                </a:rPr>
                <a:t>Cage Code</a:t>
              </a:r>
            </a:p>
          </p:txBody>
        </p:sp>
        <p:sp>
          <p:nvSpPr>
            <p:cNvPr name="TextBox 14" id="14"/>
            <p:cNvSpPr txBox="true"/>
            <p:nvPr/>
          </p:nvSpPr>
          <p:spPr>
            <a:xfrm rot="0">
              <a:off x="0" y="411593"/>
              <a:ext cx="1849392" cy="396240"/>
            </a:xfrm>
            <a:prstGeom prst="rect">
              <a:avLst/>
            </a:prstGeom>
          </p:spPr>
          <p:txBody>
            <a:bodyPr anchor="t" rtlCol="false" tIns="0" lIns="0" bIns="0" rIns="0">
              <a:spAutoFit/>
            </a:bodyPr>
            <a:lstStyle/>
            <a:p>
              <a:pPr algn="l">
                <a:lnSpc>
                  <a:spcPts val="2520"/>
                </a:lnSpc>
                <a:spcBef>
                  <a:spcPct val="0"/>
                </a:spcBef>
              </a:pPr>
              <a:r>
                <a:rPr lang="en-US" sz="1800">
                  <a:solidFill>
                    <a:srgbClr val="FFFFFF"/>
                  </a:solidFill>
                  <a:latin typeface="Inter"/>
                  <a:ea typeface="Inter"/>
                  <a:cs typeface="Inter"/>
                  <a:sym typeface="Inter"/>
                </a:rPr>
                <a:t>6CF97</a:t>
              </a:r>
            </a:p>
          </p:txBody>
        </p:sp>
      </p:grpSp>
      <p:grpSp>
        <p:nvGrpSpPr>
          <p:cNvPr name="Group 15" id="15"/>
          <p:cNvGrpSpPr/>
          <p:nvPr/>
        </p:nvGrpSpPr>
        <p:grpSpPr>
          <a:xfrm rot="0">
            <a:off x="7479409" y="8652425"/>
            <a:ext cx="1635668" cy="605875"/>
            <a:chOff x="0" y="0"/>
            <a:chExt cx="2180891" cy="807833"/>
          </a:xfrm>
        </p:grpSpPr>
        <p:sp>
          <p:nvSpPr>
            <p:cNvPr name="TextBox 16" id="16"/>
            <p:cNvSpPr txBox="true"/>
            <p:nvPr/>
          </p:nvSpPr>
          <p:spPr>
            <a:xfrm rot="0">
              <a:off x="0" y="-38100"/>
              <a:ext cx="2180891" cy="396240"/>
            </a:xfrm>
            <a:prstGeom prst="rect">
              <a:avLst/>
            </a:prstGeom>
          </p:spPr>
          <p:txBody>
            <a:bodyPr anchor="t" rtlCol="false" tIns="0" lIns="0" bIns="0" rIns="0">
              <a:spAutoFit/>
            </a:bodyPr>
            <a:lstStyle/>
            <a:p>
              <a:pPr algn="l">
                <a:lnSpc>
                  <a:spcPts val="2520"/>
                </a:lnSpc>
              </a:pPr>
              <a:r>
                <a:rPr lang="en-US" sz="1800" b="true">
                  <a:solidFill>
                    <a:srgbClr val="B6F220"/>
                  </a:solidFill>
                  <a:latin typeface="Neue Montreal Bold"/>
                  <a:ea typeface="Neue Montreal Bold"/>
                  <a:cs typeface="Neue Montreal Bold"/>
                  <a:sym typeface="Neue Montreal Bold"/>
                </a:rPr>
                <a:t>DUNS Number</a:t>
              </a:r>
            </a:p>
          </p:txBody>
        </p:sp>
        <p:sp>
          <p:nvSpPr>
            <p:cNvPr name="TextBox 17" id="17"/>
            <p:cNvSpPr txBox="true"/>
            <p:nvPr/>
          </p:nvSpPr>
          <p:spPr>
            <a:xfrm rot="0">
              <a:off x="0" y="411593"/>
              <a:ext cx="2180891" cy="396240"/>
            </a:xfrm>
            <a:prstGeom prst="rect">
              <a:avLst/>
            </a:prstGeom>
          </p:spPr>
          <p:txBody>
            <a:bodyPr anchor="t" rtlCol="false" tIns="0" lIns="0" bIns="0" rIns="0">
              <a:spAutoFit/>
            </a:bodyPr>
            <a:lstStyle/>
            <a:p>
              <a:pPr algn="l">
                <a:lnSpc>
                  <a:spcPts val="2520"/>
                </a:lnSpc>
              </a:pPr>
              <a:r>
                <a:rPr lang="en-US" sz="1800">
                  <a:solidFill>
                    <a:srgbClr val="FFFFFF"/>
                  </a:solidFill>
                  <a:latin typeface="Inter"/>
                  <a:ea typeface="Inter"/>
                  <a:cs typeface="Inter"/>
                  <a:sym typeface="Inter"/>
                </a:rPr>
                <a:t>015234069</a:t>
              </a:r>
            </a:p>
          </p:txBody>
        </p:sp>
      </p:grpSp>
      <p:sp>
        <p:nvSpPr>
          <p:cNvPr name="TextBox 18" id="18"/>
          <p:cNvSpPr txBox="true"/>
          <p:nvPr/>
        </p:nvSpPr>
        <p:spPr>
          <a:xfrm rot="0">
            <a:off x="2815842" y="5584260"/>
            <a:ext cx="5771491" cy="524510"/>
          </a:xfrm>
          <a:prstGeom prst="rect">
            <a:avLst/>
          </a:prstGeom>
        </p:spPr>
        <p:txBody>
          <a:bodyPr anchor="t" rtlCol="false" tIns="0" lIns="0" bIns="0" rIns="0">
            <a:spAutoFit/>
          </a:bodyPr>
          <a:lstStyle/>
          <a:p>
            <a:pPr algn="l">
              <a:lnSpc>
                <a:spcPts val="3519"/>
              </a:lnSpc>
            </a:pPr>
            <a:r>
              <a:rPr lang="en-US" sz="3999" spc="-63">
                <a:solidFill>
                  <a:srgbClr val="FFFFFF"/>
                </a:solidFill>
                <a:latin typeface="Poppins"/>
                <a:ea typeface="Poppins"/>
                <a:cs typeface="Poppins"/>
                <a:sym typeface="Poppins"/>
              </a:rPr>
              <a:t>For Government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71550" y="2860675"/>
            <a:ext cx="6462712" cy="148336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About Us</a:t>
            </a:r>
          </a:p>
        </p:txBody>
      </p:sp>
      <p:sp>
        <p:nvSpPr>
          <p:cNvPr name="TextBox 4" id="4"/>
          <p:cNvSpPr txBox="true"/>
          <p:nvPr/>
        </p:nvSpPr>
        <p:spPr>
          <a:xfrm rot="0">
            <a:off x="1028700" y="4277360"/>
            <a:ext cx="8372475" cy="2101215"/>
          </a:xfrm>
          <a:prstGeom prst="rect">
            <a:avLst/>
          </a:prstGeom>
        </p:spPr>
        <p:txBody>
          <a:bodyPr anchor="t" rtlCol="false" tIns="0" lIns="0" bIns="0" rIns="0">
            <a:spAutoFit/>
          </a:bodyPr>
          <a:lstStyle/>
          <a:p>
            <a:pPr algn="l">
              <a:lnSpc>
                <a:spcPts val="3359"/>
              </a:lnSpc>
            </a:pPr>
            <a:r>
              <a:rPr lang="en-US" sz="2400">
                <a:solidFill>
                  <a:srgbClr val="0D0D0D"/>
                </a:solidFill>
                <a:latin typeface="Poppins"/>
                <a:ea typeface="Poppins"/>
                <a:cs typeface="Poppins"/>
                <a:sym typeface="Poppins"/>
              </a:rPr>
              <a:t>Ortus Solutions is a leading innovator in software development, dedicated to delivering cutting-edge web-based solutions. With a strong commitment to quality and innovation, we provide expert services in modern application development.</a:t>
            </a:r>
          </a:p>
        </p:txBody>
      </p:sp>
      <p:sp>
        <p:nvSpPr>
          <p:cNvPr name="TextBox 5" id="5"/>
          <p:cNvSpPr txBox="true"/>
          <p:nvPr/>
        </p:nvSpPr>
        <p:spPr>
          <a:xfrm rot="0">
            <a:off x="1028700" y="7677158"/>
            <a:ext cx="3174206" cy="1268730"/>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Bold"/>
                <a:ea typeface="Poppins Bold"/>
                <a:cs typeface="Poppins Bold"/>
                <a:sym typeface="Poppins Bold"/>
              </a:rPr>
              <a:t>Formed 2006,</a:t>
            </a:r>
            <a:r>
              <a:rPr lang="en-US" sz="1800">
                <a:solidFill>
                  <a:srgbClr val="0D0D0D"/>
                </a:solidFill>
                <a:latin typeface="Poppins"/>
                <a:ea typeface="Poppins"/>
                <a:cs typeface="Poppins"/>
                <a:sym typeface="Poppins"/>
              </a:rPr>
              <a:t> Ortus Solutions is an established professional software development firm.</a:t>
            </a:r>
          </a:p>
        </p:txBody>
      </p:sp>
      <p:sp>
        <p:nvSpPr>
          <p:cNvPr name="TextBox 6" id="6"/>
          <p:cNvSpPr txBox="true"/>
          <p:nvPr/>
        </p:nvSpPr>
        <p:spPr>
          <a:xfrm rot="0">
            <a:off x="4572967" y="7677158"/>
            <a:ext cx="2286893" cy="1268730"/>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Bold"/>
                <a:ea typeface="Poppins Bold"/>
                <a:cs typeface="Poppins Bold"/>
                <a:sym typeface="Poppins Bold"/>
              </a:rPr>
              <a:t>8a-certified </a:t>
            </a:r>
            <a:r>
              <a:rPr lang="en-US" sz="1800">
                <a:solidFill>
                  <a:srgbClr val="0D0D0D"/>
                </a:solidFill>
                <a:latin typeface="Poppins"/>
                <a:ea typeface="Poppins"/>
                <a:cs typeface="Poppins"/>
                <a:sym typeface="Poppins"/>
              </a:rPr>
              <a:t>small business with a proven track record of excellence.</a:t>
            </a:r>
          </a:p>
        </p:txBody>
      </p:sp>
      <p:sp>
        <p:nvSpPr>
          <p:cNvPr name="TextBox 7" id="7"/>
          <p:cNvSpPr txBox="true"/>
          <p:nvPr/>
        </p:nvSpPr>
        <p:spPr>
          <a:xfrm rot="0">
            <a:off x="7229921" y="7677158"/>
            <a:ext cx="3174206" cy="1268730"/>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Specialized in </a:t>
            </a:r>
            <a:r>
              <a:rPr lang="en-US" sz="1800" b="true">
                <a:solidFill>
                  <a:srgbClr val="0D0D0D"/>
                </a:solidFill>
                <a:latin typeface="Poppins Bold"/>
                <a:ea typeface="Poppins Bold"/>
                <a:cs typeface="Poppins Bold"/>
                <a:sym typeface="Poppins Bold"/>
              </a:rPr>
              <a:t>mobile and web application design, development and deployment.</a:t>
            </a:r>
          </a:p>
        </p:txBody>
      </p:sp>
      <p:sp>
        <p:nvSpPr>
          <p:cNvPr name="TextBox 8" id="8"/>
          <p:cNvSpPr txBox="true"/>
          <p:nvPr/>
        </p:nvSpPr>
        <p:spPr>
          <a:xfrm rot="0">
            <a:off x="10774189" y="7677158"/>
            <a:ext cx="2668875" cy="1268730"/>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Bold"/>
                <a:ea typeface="Poppins Bold"/>
                <a:cs typeface="Poppins Bold"/>
                <a:sym typeface="Poppins Bold"/>
              </a:rPr>
              <a:t>Creators of 350+ web development tools</a:t>
            </a:r>
            <a:r>
              <a:rPr lang="en-US" sz="1800">
                <a:solidFill>
                  <a:srgbClr val="0D0D0D"/>
                </a:solidFill>
                <a:latin typeface="Poppins"/>
                <a:ea typeface="Poppins"/>
                <a:cs typeface="Poppins"/>
                <a:sym typeface="Poppins"/>
              </a:rPr>
              <a:t> powering application across the world.</a:t>
            </a:r>
          </a:p>
        </p:txBody>
      </p:sp>
      <p:sp>
        <p:nvSpPr>
          <p:cNvPr name="TextBox 9" id="9"/>
          <p:cNvSpPr txBox="true"/>
          <p:nvPr/>
        </p:nvSpPr>
        <p:spPr>
          <a:xfrm rot="0">
            <a:off x="13813125" y="7677158"/>
            <a:ext cx="3174206" cy="1268730"/>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Bold"/>
                <a:ea typeface="Poppins Bold"/>
                <a:cs typeface="Poppins Bold"/>
                <a:sym typeface="Poppins Bold"/>
              </a:rPr>
              <a:t>Open Source Software publishers</a:t>
            </a:r>
            <a:r>
              <a:rPr lang="en-US" sz="1800">
                <a:solidFill>
                  <a:srgbClr val="0D0D0D"/>
                </a:solidFill>
                <a:latin typeface="Poppins"/>
                <a:ea typeface="Poppins"/>
                <a:cs typeface="Poppins"/>
                <a:sym typeface="Poppins"/>
              </a:rPr>
              <a:t> with a focus on empowering business and developers alike</a:t>
            </a:r>
          </a:p>
        </p:txBody>
      </p:sp>
      <p:sp>
        <p:nvSpPr>
          <p:cNvPr name="Freeform 10" id="10"/>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1" id="11"/>
          <p:cNvSpPr/>
          <p:nvPr/>
        </p:nvSpPr>
        <p:spPr>
          <a:xfrm>
            <a:off x="4387937" y="7586663"/>
            <a:ext cx="0" cy="1506872"/>
          </a:xfrm>
          <a:prstGeom prst="line">
            <a:avLst/>
          </a:prstGeom>
          <a:ln cap="flat" w="9525">
            <a:solidFill>
              <a:srgbClr val="0D0D0D"/>
            </a:solidFill>
            <a:prstDash val="solid"/>
            <a:headEnd type="none" len="sm" w="sm"/>
            <a:tailEnd type="none" len="sm" w="sm"/>
          </a:ln>
        </p:spPr>
      </p:sp>
      <p:sp>
        <p:nvSpPr>
          <p:cNvPr name="AutoShape 12" id="12"/>
          <p:cNvSpPr/>
          <p:nvPr/>
        </p:nvSpPr>
        <p:spPr>
          <a:xfrm>
            <a:off x="7044891" y="7586663"/>
            <a:ext cx="0" cy="1506872"/>
          </a:xfrm>
          <a:prstGeom prst="line">
            <a:avLst/>
          </a:prstGeom>
          <a:ln cap="flat" w="9525">
            <a:solidFill>
              <a:srgbClr val="0D0D0D"/>
            </a:solidFill>
            <a:prstDash val="solid"/>
            <a:headEnd type="none" len="sm" w="sm"/>
            <a:tailEnd type="none" len="sm" w="sm"/>
          </a:ln>
        </p:spPr>
      </p:sp>
      <p:sp>
        <p:nvSpPr>
          <p:cNvPr name="AutoShape 13" id="13"/>
          <p:cNvSpPr/>
          <p:nvPr/>
        </p:nvSpPr>
        <p:spPr>
          <a:xfrm>
            <a:off x="10589158" y="7586663"/>
            <a:ext cx="0" cy="1506872"/>
          </a:xfrm>
          <a:prstGeom prst="line">
            <a:avLst/>
          </a:prstGeom>
          <a:ln cap="flat" w="9525">
            <a:solidFill>
              <a:srgbClr val="0D0D0D"/>
            </a:solidFill>
            <a:prstDash val="solid"/>
            <a:headEnd type="none" len="sm" w="sm"/>
            <a:tailEnd type="none" len="sm" w="sm"/>
          </a:ln>
        </p:spPr>
      </p:sp>
      <p:sp>
        <p:nvSpPr>
          <p:cNvPr name="AutoShape 14" id="14"/>
          <p:cNvSpPr/>
          <p:nvPr/>
        </p:nvSpPr>
        <p:spPr>
          <a:xfrm>
            <a:off x="13628095" y="7586663"/>
            <a:ext cx="0" cy="1506872"/>
          </a:xfrm>
          <a:prstGeom prst="line">
            <a:avLst/>
          </a:prstGeom>
          <a:ln cap="flat" w="9525">
            <a:solidFill>
              <a:srgbClr val="0D0D0D"/>
            </a:solidFill>
            <a:prstDash val="solid"/>
            <a:headEnd type="none" len="sm" w="sm"/>
            <a:tailEnd type="none" len="sm" w="sm"/>
          </a:ln>
        </p:spPr>
      </p:sp>
      <p:sp>
        <p:nvSpPr>
          <p:cNvPr name="Freeform 15" id="15"/>
          <p:cNvSpPr/>
          <p:nvPr/>
        </p:nvSpPr>
        <p:spPr>
          <a:xfrm flipH="false" flipV="false" rot="0">
            <a:off x="12511194" y="4725035"/>
            <a:ext cx="1150066" cy="1151986"/>
          </a:xfrm>
          <a:custGeom>
            <a:avLst/>
            <a:gdLst/>
            <a:ahLst/>
            <a:cxnLst/>
            <a:rect r="r" b="b" t="t" l="l"/>
            <a:pathLst>
              <a:path h="1151986" w="1150066">
                <a:moveTo>
                  <a:pt x="0" y="0"/>
                </a:moveTo>
                <a:lnTo>
                  <a:pt x="1150066" y="0"/>
                </a:lnTo>
                <a:lnTo>
                  <a:pt x="1150066" y="1151986"/>
                </a:lnTo>
                <a:lnTo>
                  <a:pt x="0" y="1151986"/>
                </a:lnTo>
                <a:lnTo>
                  <a:pt x="0" y="0"/>
                </a:lnTo>
                <a:close/>
              </a:path>
            </a:pathLst>
          </a:custGeom>
          <a:blipFill>
            <a:blip r:embed="rId6"/>
            <a:stretch>
              <a:fillRect l="0" t="0" r="0" b="0"/>
            </a:stretch>
          </a:blipFill>
        </p:spPr>
      </p:sp>
      <p:sp>
        <p:nvSpPr>
          <p:cNvPr name="TextBox 16" id="16"/>
          <p:cNvSpPr txBox="true"/>
          <p:nvPr/>
        </p:nvSpPr>
        <p:spPr>
          <a:xfrm rot="0">
            <a:off x="13906567" y="4994324"/>
            <a:ext cx="2620767" cy="306705"/>
          </a:xfrm>
          <a:prstGeom prst="rect">
            <a:avLst/>
          </a:prstGeom>
        </p:spPr>
        <p:txBody>
          <a:bodyPr anchor="t" rtlCol="false" tIns="0" lIns="0" bIns="0" rIns="0">
            <a:spAutoFit/>
          </a:bodyPr>
          <a:lstStyle/>
          <a:p>
            <a:pPr algn="l">
              <a:lnSpc>
                <a:spcPts val="2520"/>
              </a:lnSpc>
            </a:pPr>
            <a:r>
              <a:rPr lang="en-US" sz="1800" b="true">
                <a:solidFill>
                  <a:srgbClr val="0D0D0D"/>
                </a:solidFill>
                <a:latin typeface="Neue Montreal Bold"/>
                <a:ea typeface="Neue Montreal Bold"/>
                <a:cs typeface="Neue Montreal Bold"/>
                <a:sym typeface="Neue Montreal Bold"/>
              </a:rPr>
              <a:t>GSA Contract Number</a:t>
            </a:r>
          </a:p>
        </p:txBody>
      </p:sp>
      <p:sp>
        <p:nvSpPr>
          <p:cNvPr name="TextBox 17" id="17"/>
          <p:cNvSpPr txBox="true"/>
          <p:nvPr/>
        </p:nvSpPr>
        <p:spPr>
          <a:xfrm rot="0">
            <a:off x="13906567" y="5331594"/>
            <a:ext cx="2276514" cy="306705"/>
          </a:xfrm>
          <a:prstGeom prst="rect">
            <a:avLst/>
          </a:prstGeom>
        </p:spPr>
        <p:txBody>
          <a:bodyPr anchor="t" rtlCol="false" tIns="0" lIns="0" bIns="0" rIns="0">
            <a:spAutoFit/>
          </a:bodyPr>
          <a:lstStyle/>
          <a:p>
            <a:pPr algn="l">
              <a:lnSpc>
                <a:spcPts val="2520"/>
              </a:lnSpc>
            </a:pPr>
            <a:r>
              <a:rPr lang="en-US" sz="1800">
                <a:solidFill>
                  <a:srgbClr val="0D0D0D"/>
                </a:solidFill>
                <a:latin typeface="Inter"/>
                <a:ea typeface="Inter"/>
                <a:cs typeface="Inter"/>
                <a:sym typeface="Inter"/>
              </a:rPr>
              <a:t>47QTCA23D00DH</a:t>
            </a:r>
          </a:p>
        </p:txBody>
      </p:sp>
      <p:sp>
        <p:nvSpPr>
          <p:cNvPr name="Freeform 18" id="18"/>
          <p:cNvSpPr/>
          <p:nvPr/>
        </p:nvSpPr>
        <p:spPr>
          <a:xfrm flipH="false" flipV="false" rot="0">
            <a:off x="10717917" y="4725035"/>
            <a:ext cx="1151986" cy="1151986"/>
          </a:xfrm>
          <a:custGeom>
            <a:avLst/>
            <a:gdLst/>
            <a:ahLst/>
            <a:cxnLst/>
            <a:rect r="r" b="b" t="t" l="l"/>
            <a:pathLst>
              <a:path h="1151986" w="1151986">
                <a:moveTo>
                  <a:pt x="0" y="0"/>
                </a:moveTo>
                <a:lnTo>
                  <a:pt x="1151986" y="0"/>
                </a:lnTo>
                <a:lnTo>
                  <a:pt x="1151986" y="1151986"/>
                </a:lnTo>
                <a:lnTo>
                  <a:pt x="0" y="1151986"/>
                </a:lnTo>
                <a:lnTo>
                  <a:pt x="0" y="0"/>
                </a:lnTo>
                <a:close/>
              </a:path>
            </a:pathLst>
          </a:custGeom>
          <a:blipFill>
            <a:blip r:embed="rId7"/>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706175" y="1919845"/>
            <a:ext cx="9394987" cy="6447310"/>
          </a:xfrm>
          <a:custGeom>
            <a:avLst/>
            <a:gdLst/>
            <a:ahLst/>
            <a:cxnLst/>
            <a:rect r="r" b="b" t="t" l="l"/>
            <a:pathLst>
              <a:path h="6447310" w="9394987">
                <a:moveTo>
                  <a:pt x="0" y="0"/>
                </a:moveTo>
                <a:lnTo>
                  <a:pt x="9394986" y="0"/>
                </a:lnTo>
                <a:lnTo>
                  <a:pt x="9394986" y="6447310"/>
                </a:lnTo>
                <a:lnTo>
                  <a:pt x="0" y="6447310"/>
                </a:lnTo>
                <a:lnTo>
                  <a:pt x="0" y="0"/>
                </a:lnTo>
                <a:close/>
              </a:path>
            </a:pathLst>
          </a:custGeom>
          <a:blipFill>
            <a:blip r:embed="rId4"/>
            <a:stretch>
              <a:fillRect l="0" t="0" r="0" b="0"/>
            </a:stretch>
          </a:blipFill>
        </p:spPr>
      </p:sp>
      <p:sp>
        <p:nvSpPr>
          <p:cNvPr name="TextBox 4" id="4"/>
          <p:cNvSpPr txBox="true"/>
          <p:nvPr/>
        </p:nvSpPr>
        <p:spPr>
          <a:xfrm rot="0">
            <a:off x="1028700" y="2240389"/>
            <a:ext cx="6462712" cy="148336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Locations</a:t>
            </a:r>
          </a:p>
        </p:txBody>
      </p:sp>
      <p:sp>
        <p:nvSpPr>
          <p:cNvPr name="TextBox 5" id="5"/>
          <p:cNvSpPr txBox="true"/>
          <p:nvPr/>
        </p:nvSpPr>
        <p:spPr>
          <a:xfrm rot="0">
            <a:off x="1028700" y="3936683"/>
            <a:ext cx="3109912" cy="3135630"/>
          </a:xfrm>
          <a:prstGeom prst="rect">
            <a:avLst/>
          </a:prstGeom>
        </p:spPr>
        <p:txBody>
          <a:bodyPr anchor="t" rtlCol="false" tIns="0" lIns="0" bIns="0" rIns="0">
            <a:spAutoFit/>
          </a:bodyPr>
          <a:lstStyle/>
          <a:p>
            <a:pPr algn="l">
              <a:lnSpc>
                <a:spcPts val="2520"/>
              </a:lnSpc>
            </a:pPr>
            <a:r>
              <a:rPr lang="en-US" sz="1800">
                <a:solidFill>
                  <a:srgbClr val="0D0D0D"/>
                </a:solidFill>
                <a:latin typeface="Inter"/>
                <a:ea typeface="Inter"/>
                <a:cs typeface="Inter"/>
                <a:sym typeface="Inter"/>
              </a:rPr>
              <a:t>Houston, TX</a:t>
            </a:r>
          </a:p>
          <a:p>
            <a:pPr algn="l">
              <a:lnSpc>
                <a:spcPts val="2520"/>
              </a:lnSpc>
            </a:pPr>
            <a:r>
              <a:rPr lang="en-US" sz="1800">
                <a:solidFill>
                  <a:srgbClr val="0D0D0D"/>
                </a:solidFill>
                <a:latin typeface="Inter"/>
                <a:ea typeface="Inter"/>
                <a:cs typeface="Inter"/>
                <a:sym typeface="Inter"/>
              </a:rPr>
              <a:t>West Bend, WI</a:t>
            </a:r>
          </a:p>
          <a:p>
            <a:pPr algn="l">
              <a:lnSpc>
                <a:spcPts val="2520"/>
              </a:lnSpc>
            </a:pPr>
            <a:r>
              <a:rPr lang="en-US" sz="1800">
                <a:solidFill>
                  <a:srgbClr val="0D0D0D"/>
                </a:solidFill>
                <a:latin typeface="Inter"/>
                <a:ea typeface="Inter"/>
                <a:cs typeface="Inter"/>
                <a:sym typeface="Inter"/>
              </a:rPr>
              <a:t>Reston, VA</a:t>
            </a:r>
          </a:p>
          <a:p>
            <a:pPr algn="l">
              <a:lnSpc>
                <a:spcPts val="2520"/>
              </a:lnSpc>
            </a:pPr>
            <a:r>
              <a:rPr lang="en-US" sz="1800">
                <a:solidFill>
                  <a:srgbClr val="0D0D0D"/>
                </a:solidFill>
                <a:latin typeface="Inter"/>
                <a:ea typeface="Inter"/>
                <a:cs typeface="Inter"/>
                <a:sym typeface="Inter"/>
              </a:rPr>
              <a:t>Bakersfield, CA</a:t>
            </a:r>
          </a:p>
          <a:p>
            <a:pPr algn="l">
              <a:lnSpc>
                <a:spcPts val="2520"/>
              </a:lnSpc>
            </a:pPr>
            <a:r>
              <a:rPr lang="en-US" sz="1800">
                <a:solidFill>
                  <a:srgbClr val="0D0D0D"/>
                </a:solidFill>
                <a:latin typeface="Inter"/>
                <a:ea typeface="Inter"/>
                <a:cs typeface="Inter"/>
                <a:sym typeface="Inter"/>
              </a:rPr>
              <a:t>Grand Rapids, MI</a:t>
            </a:r>
          </a:p>
          <a:p>
            <a:pPr algn="l">
              <a:lnSpc>
                <a:spcPts val="2520"/>
              </a:lnSpc>
            </a:pPr>
            <a:r>
              <a:rPr lang="en-US" sz="1800">
                <a:solidFill>
                  <a:srgbClr val="0D0D0D"/>
                </a:solidFill>
                <a:latin typeface="Inter"/>
                <a:ea typeface="Inter"/>
                <a:cs typeface="Inter"/>
                <a:sym typeface="Inter"/>
              </a:rPr>
              <a:t>Antioch, TN</a:t>
            </a:r>
          </a:p>
          <a:p>
            <a:pPr algn="l">
              <a:lnSpc>
                <a:spcPts val="2520"/>
              </a:lnSpc>
            </a:pPr>
            <a:r>
              <a:rPr lang="en-US" sz="1800">
                <a:solidFill>
                  <a:srgbClr val="0D0D0D"/>
                </a:solidFill>
                <a:latin typeface="Inter"/>
                <a:ea typeface="Inter"/>
                <a:cs typeface="Inter"/>
                <a:sym typeface="Inter"/>
              </a:rPr>
              <a:t>Holland Patent, NY</a:t>
            </a:r>
          </a:p>
          <a:p>
            <a:pPr algn="l">
              <a:lnSpc>
                <a:spcPts val="2520"/>
              </a:lnSpc>
            </a:pPr>
            <a:r>
              <a:rPr lang="en-US" sz="1800">
                <a:solidFill>
                  <a:srgbClr val="0D0D0D"/>
                </a:solidFill>
                <a:latin typeface="Inter"/>
                <a:ea typeface="Inter"/>
                <a:cs typeface="Inter"/>
                <a:sym typeface="Inter"/>
              </a:rPr>
              <a:t>Saratoga Springs, UT</a:t>
            </a:r>
          </a:p>
          <a:p>
            <a:pPr algn="l">
              <a:lnSpc>
                <a:spcPts val="2520"/>
              </a:lnSpc>
            </a:pPr>
            <a:r>
              <a:rPr lang="en-US" sz="1800">
                <a:solidFill>
                  <a:srgbClr val="0D0D0D"/>
                </a:solidFill>
                <a:latin typeface="Inter"/>
                <a:ea typeface="Inter"/>
                <a:cs typeface="Inter"/>
                <a:sym typeface="Inter"/>
              </a:rPr>
              <a:t>Capitan Cook, HI</a:t>
            </a:r>
          </a:p>
          <a:p>
            <a:pPr algn="l">
              <a:lnSpc>
                <a:spcPts val="2520"/>
              </a:lnSpc>
            </a:pPr>
            <a:r>
              <a:rPr lang="en-US" sz="1800">
                <a:solidFill>
                  <a:srgbClr val="0D0D0D"/>
                </a:solidFill>
                <a:latin typeface="Inter"/>
                <a:ea typeface="Inter"/>
                <a:cs typeface="Inter"/>
                <a:sym typeface="Inter"/>
              </a:rPr>
              <a:t>Kansas City, MO</a:t>
            </a:r>
          </a:p>
        </p:txBody>
      </p:sp>
      <p:sp>
        <p:nvSpPr>
          <p:cNvPr name="TextBox 6" id="6"/>
          <p:cNvSpPr txBox="true"/>
          <p:nvPr/>
        </p:nvSpPr>
        <p:spPr>
          <a:xfrm rot="0">
            <a:off x="4138612" y="3936683"/>
            <a:ext cx="3109912" cy="2821305"/>
          </a:xfrm>
          <a:prstGeom prst="rect">
            <a:avLst/>
          </a:prstGeom>
        </p:spPr>
        <p:txBody>
          <a:bodyPr anchor="t" rtlCol="false" tIns="0" lIns="0" bIns="0" rIns="0">
            <a:spAutoFit/>
          </a:bodyPr>
          <a:lstStyle/>
          <a:p>
            <a:pPr algn="l">
              <a:lnSpc>
                <a:spcPts val="2520"/>
              </a:lnSpc>
            </a:pPr>
            <a:r>
              <a:rPr lang="en-US" sz="1800">
                <a:solidFill>
                  <a:srgbClr val="0D0D0D"/>
                </a:solidFill>
                <a:latin typeface="Inter"/>
                <a:ea typeface="Inter"/>
                <a:cs typeface="Inter"/>
                <a:sym typeface="Inter"/>
              </a:rPr>
              <a:t>Fairfax, VA</a:t>
            </a:r>
          </a:p>
          <a:p>
            <a:pPr algn="l">
              <a:lnSpc>
                <a:spcPts val="2520"/>
              </a:lnSpc>
            </a:pPr>
            <a:r>
              <a:rPr lang="en-US" sz="1800">
                <a:solidFill>
                  <a:srgbClr val="0D0D0D"/>
                </a:solidFill>
                <a:latin typeface="Inter"/>
                <a:ea typeface="Inter"/>
                <a:cs typeface="Inter"/>
                <a:sym typeface="Inter"/>
              </a:rPr>
              <a:t>Randleman, NC</a:t>
            </a:r>
          </a:p>
          <a:p>
            <a:pPr algn="l">
              <a:lnSpc>
                <a:spcPts val="2520"/>
              </a:lnSpc>
            </a:pPr>
            <a:r>
              <a:rPr lang="en-US" sz="1800">
                <a:solidFill>
                  <a:srgbClr val="0D0D0D"/>
                </a:solidFill>
                <a:latin typeface="Inter"/>
                <a:ea typeface="Inter"/>
                <a:cs typeface="Inter"/>
                <a:sym typeface="Inter"/>
              </a:rPr>
              <a:t>Andover, MA</a:t>
            </a:r>
          </a:p>
          <a:p>
            <a:pPr algn="l">
              <a:lnSpc>
                <a:spcPts val="2520"/>
              </a:lnSpc>
            </a:pPr>
            <a:r>
              <a:rPr lang="en-US" sz="1800">
                <a:solidFill>
                  <a:srgbClr val="0D0D0D"/>
                </a:solidFill>
                <a:latin typeface="Inter"/>
                <a:ea typeface="Inter"/>
                <a:cs typeface="Inter"/>
                <a:sym typeface="Inter"/>
              </a:rPr>
              <a:t>Mckinney, TX</a:t>
            </a:r>
          </a:p>
          <a:p>
            <a:pPr algn="l">
              <a:lnSpc>
                <a:spcPts val="2520"/>
              </a:lnSpc>
            </a:pPr>
            <a:r>
              <a:rPr lang="en-US" sz="1800">
                <a:solidFill>
                  <a:srgbClr val="0D0D0D"/>
                </a:solidFill>
                <a:latin typeface="Inter"/>
                <a:ea typeface="Inter"/>
                <a:cs typeface="Inter"/>
                <a:sym typeface="Inter"/>
              </a:rPr>
              <a:t>Spring, TX</a:t>
            </a:r>
          </a:p>
          <a:p>
            <a:pPr algn="l">
              <a:lnSpc>
                <a:spcPts val="2520"/>
              </a:lnSpc>
            </a:pPr>
            <a:r>
              <a:rPr lang="en-US" sz="1800">
                <a:solidFill>
                  <a:srgbClr val="0D0D0D"/>
                </a:solidFill>
                <a:latin typeface="Inter"/>
                <a:ea typeface="Inter"/>
                <a:cs typeface="Inter"/>
                <a:sym typeface="Inter"/>
              </a:rPr>
              <a:t>Waxahachie, TX</a:t>
            </a:r>
          </a:p>
          <a:p>
            <a:pPr algn="l">
              <a:lnSpc>
                <a:spcPts val="2520"/>
              </a:lnSpc>
            </a:pPr>
            <a:r>
              <a:rPr lang="en-US" sz="1800">
                <a:solidFill>
                  <a:srgbClr val="0D0D0D"/>
                </a:solidFill>
                <a:latin typeface="Inter"/>
                <a:ea typeface="Inter"/>
                <a:cs typeface="Inter"/>
                <a:sym typeface="Inter"/>
              </a:rPr>
              <a:t>Plainfield, IL</a:t>
            </a:r>
          </a:p>
          <a:p>
            <a:pPr algn="l">
              <a:lnSpc>
                <a:spcPts val="2520"/>
              </a:lnSpc>
            </a:pPr>
            <a:r>
              <a:rPr lang="en-US" sz="1800">
                <a:solidFill>
                  <a:srgbClr val="0D0D0D"/>
                </a:solidFill>
                <a:latin typeface="Inter"/>
                <a:ea typeface="Inter"/>
                <a:cs typeface="Inter"/>
                <a:sym typeface="Inter"/>
              </a:rPr>
              <a:t>Martinez, GA</a:t>
            </a:r>
          </a:p>
          <a:p>
            <a:pPr algn="l">
              <a:lnSpc>
                <a:spcPts val="2520"/>
              </a:lnSpc>
            </a:pPr>
            <a:r>
              <a:rPr lang="en-US" sz="1800">
                <a:solidFill>
                  <a:srgbClr val="0D0D0D"/>
                </a:solidFill>
                <a:latin typeface="Inter"/>
                <a:ea typeface="Inter"/>
                <a:cs typeface="Inter"/>
                <a:sym typeface="Inter"/>
              </a:rPr>
              <a:t>Davenport, FL</a:t>
            </a:r>
          </a:p>
        </p:txBody>
      </p:sp>
    </p:spTree>
  </p:cSld>
  <p:clrMapOvr>
    <a:masterClrMapping/>
  </p:clrMapOvr>
  <p:transition spd="fast">
    <p:wipe dir="r"/>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757803"/>
            <a:ext cx="9767888" cy="2847595"/>
          </a:xfrm>
          <a:prstGeom prst="rect">
            <a:avLst/>
          </a:prstGeom>
        </p:spPr>
        <p:txBody>
          <a:bodyPr anchor="t" rtlCol="false" tIns="0" lIns="0" bIns="0" rIns="0">
            <a:spAutoFit/>
          </a:bodyPr>
          <a:lstStyle/>
          <a:p>
            <a:pPr algn="l">
              <a:lnSpc>
                <a:spcPts val="10608"/>
              </a:lnSpc>
            </a:pPr>
            <a:r>
              <a:rPr lang="en-US" sz="10400">
                <a:solidFill>
                  <a:srgbClr val="0D0D0D"/>
                </a:solidFill>
                <a:latin typeface="Poppins Light"/>
                <a:ea typeface="Poppins Light"/>
                <a:cs typeface="Poppins Light"/>
                <a:sym typeface="Poppins Light"/>
              </a:rPr>
              <a:t>Core Competencies</a:t>
            </a:r>
          </a:p>
        </p:txBody>
      </p:sp>
      <p:sp>
        <p:nvSpPr>
          <p:cNvPr name="Freeform 4" id="4"/>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u"/>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3802063"/>
            <a:ext cx="6805612" cy="2759075"/>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Moder</a:t>
            </a:r>
            <a:r>
              <a:rPr lang="en-US" sz="6999">
                <a:solidFill>
                  <a:srgbClr val="0D0D0D"/>
                </a:solidFill>
                <a:latin typeface="Poppins Light"/>
                <a:ea typeface="Poppins Light"/>
                <a:cs typeface="Poppins Light"/>
                <a:sym typeface="Poppins Light"/>
              </a:rPr>
              <a:t>nization and Digital Transformation</a:t>
            </a:r>
          </a:p>
        </p:txBody>
      </p:sp>
      <p:sp>
        <p:nvSpPr>
          <p:cNvPr name="Freeform 3" id="3"/>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9422588" y="3850005"/>
            <a:ext cx="7667098" cy="252031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D0D0D"/>
                </a:solidFill>
                <a:latin typeface="Poppins"/>
                <a:ea typeface="Poppins"/>
                <a:cs typeface="Poppins"/>
                <a:sym typeface="Poppins"/>
              </a:rPr>
              <a:t>Expert development and modernization of legacy applications using ColdBox MVC and the BoxLang JVM Language, enhancing performance and maintainability.</a:t>
            </a:r>
          </a:p>
          <a:p>
            <a:pPr algn="l" marL="518160" indent="-259080" lvl="1">
              <a:lnSpc>
                <a:spcPts val="3359"/>
              </a:lnSpc>
              <a:buFont typeface="Arial"/>
              <a:buChar char="•"/>
            </a:pPr>
            <a:r>
              <a:rPr lang="en-US" sz="2400">
                <a:solidFill>
                  <a:srgbClr val="0D0D0D"/>
                </a:solidFill>
                <a:latin typeface="Poppins"/>
                <a:ea typeface="Poppins"/>
                <a:cs typeface="Poppins"/>
                <a:sym typeface="Poppins"/>
              </a:rPr>
              <a:t>Tailored solutions for secure, scalable, and efficient web-based government applications.</a:t>
            </a:r>
          </a:p>
        </p:txBody>
      </p:sp>
      <p:grpSp>
        <p:nvGrpSpPr>
          <p:cNvPr name="Group 5" id="5"/>
          <p:cNvGrpSpPr/>
          <p:nvPr/>
        </p:nvGrpSpPr>
        <p:grpSpPr>
          <a:xfrm rot="0">
            <a:off x="13436552" y="1072430"/>
            <a:ext cx="3822748" cy="784945"/>
            <a:chOff x="0" y="0"/>
            <a:chExt cx="1006814" cy="206735"/>
          </a:xfrm>
        </p:grpSpPr>
        <p:sp>
          <p:nvSpPr>
            <p:cNvPr name="Freeform 6" id="6"/>
            <p:cNvSpPr/>
            <p:nvPr/>
          </p:nvSpPr>
          <p:spPr>
            <a:xfrm flipH="false" flipV="false" rot="0">
              <a:off x="0" y="0"/>
              <a:ext cx="1006814" cy="206735"/>
            </a:xfrm>
            <a:custGeom>
              <a:avLst/>
              <a:gdLst/>
              <a:ahLst/>
              <a:cxnLst/>
              <a:rect r="r" b="b" t="t" l="l"/>
              <a:pathLst>
                <a:path h="206735" w="1006814">
                  <a:moveTo>
                    <a:pt x="103367" y="0"/>
                  </a:moveTo>
                  <a:lnTo>
                    <a:pt x="903447" y="0"/>
                  </a:lnTo>
                  <a:cubicBezTo>
                    <a:pt x="930862" y="0"/>
                    <a:pt x="957154" y="10890"/>
                    <a:pt x="976539" y="30276"/>
                  </a:cubicBezTo>
                  <a:cubicBezTo>
                    <a:pt x="995924" y="49661"/>
                    <a:pt x="1006814" y="75953"/>
                    <a:pt x="1006814" y="103367"/>
                  </a:cubicBezTo>
                  <a:lnTo>
                    <a:pt x="1006814" y="103367"/>
                  </a:lnTo>
                  <a:cubicBezTo>
                    <a:pt x="1006814" y="130782"/>
                    <a:pt x="995924" y="157074"/>
                    <a:pt x="976539" y="176459"/>
                  </a:cubicBezTo>
                  <a:cubicBezTo>
                    <a:pt x="957154" y="195844"/>
                    <a:pt x="930862" y="206735"/>
                    <a:pt x="90344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7" id="7"/>
            <p:cNvSpPr txBox="true"/>
            <p:nvPr/>
          </p:nvSpPr>
          <p:spPr>
            <a:xfrm>
              <a:off x="0" y="-38100"/>
              <a:ext cx="1006814" cy="244835"/>
            </a:xfrm>
            <a:prstGeom prst="rect">
              <a:avLst/>
            </a:prstGeom>
          </p:spPr>
          <p:txBody>
            <a:bodyPr anchor="ctr" rtlCol="false" tIns="50800" lIns="50800" bIns="50800" rIns="50800"/>
            <a:lstStyle/>
            <a:p>
              <a:pPr algn="ctr">
                <a:lnSpc>
                  <a:spcPts val="2520"/>
                </a:lnSpc>
              </a:pPr>
            </a:p>
          </p:txBody>
        </p:sp>
      </p:grpSp>
      <p:sp>
        <p:nvSpPr>
          <p:cNvPr name="TextBox 8" id="8"/>
          <p:cNvSpPr txBox="true"/>
          <p:nvPr/>
        </p:nvSpPr>
        <p:spPr>
          <a:xfrm rot="0">
            <a:off x="14172124" y="1220428"/>
            <a:ext cx="2715701"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Core Competencies</a:t>
            </a:r>
          </a:p>
        </p:txBody>
      </p:sp>
      <p:grpSp>
        <p:nvGrpSpPr>
          <p:cNvPr name="Group 9" id="9"/>
          <p:cNvGrpSpPr/>
          <p:nvPr/>
        </p:nvGrpSpPr>
        <p:grpSpPr>
          <a:xfrm rot="0">
            <a:off x="13745607" y="1344472"/>
            <a:ext cx="240861" cy="24086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2" id="12"/>
          <p:cNvSpPr/>
          <p:nvPr/>
        </p:nvSpPr>
        <p:spPr>
          <a:xfrm flipH="false" flipV="false" rot="0">
            <a:off x="1028700" y="6869906"/>
            <a:ext cx="404812" cy="404812"/>
          </a:xfrm>
          <a:custGeom>
            <a:avLst/>
            <a:gdLst/>
            <a:ahLst/>
            <a:cxnLst/>
            <a:rect r="r" b="b" t="t" l="l"/>
            <a:pathLst>
              <a:path h="404812" w="404812">
                <a:moveTo>
                  <a:pt x="0" y="0"/>
                </a:moveTo>
                <a:lnTo>
                  <a:pt x="404812" y="0"/>
                </a:lnTo>
                <a:lnTo>
                  <a:pt x="404812" y="404813"/>
                </a:lnTo>
                <a:lnTo>
                  <a:pt x="0" y="4048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36552" y="1072430"/>
            <a:ext cx="3822748" cy="784945"/>
            <a:chOff x="0" y="0"/>
            <a:chExt cx="1006814" cy="206735"/>
          </a:xfrm>
        </p:grpSpPr>
        <p:sp>
          <p:nvSpPr>
            <p:cNvPr name="Freeform 4" id="4"/>
            <p:cNvSpPr/>
            <p:nvPr/>
          </p:nvSpPr>
          <p:spPr>
            <a:xfrm flipH="false" flipV="false" rot="0">
              <a:off x="0" y="0"/>
              <a:ext cx="1006814" cy="206735"/>
            </a:xfrm>
            <a:custGeom>
              <a:avLst/>
              <a:gdLst/>
              <a:ahLst/>
              <a:cxnLst/>
              <a:rect r="r" b="b" t="t" l="l"/>
              <a:pathLst>
                <a:path h="206735" w="1006814">
                  <a:moveTo>
                    <a:pt x="103367" y="0"/>
                  </a:moveTo>
                  <a:lnTo>
                    <a:pt x="903447" y="0"/>
                  </a:lnTo>
                  <a:cubicBezTo>
                    <a:pt x="930862" y="0"/>
                    <a:pt x="957154" y="10890"/>
                    <a:pt x="976539" y="30276"/>
                  </a:cubicBezTo>
                  <a:cubicBezTo>
                    <a:pt x="995924" y="49661"/>
                    <a:pt x="1006814" y="75953"/>
                    <a:pt x="1006814" y="103367"/>
                  </a:cubicBezTo>
                  <a:lnTo>
                    <a:pt x="1006814" y="103367"/>
                  </a:lnTo>
                  <a:cubicBezTo>
                    <a:pt x="1006814" y="130782"/>
                    <a:pt x="995924" y="157074"/>
                    <a:pt x="976539" y="176459"/>
                  </a:cubicBezTo>
                  <a:cubicBezTo>
                    <a:pt x="957154" y="195844"/>
                    <a:pt x="930862" y="206735"/>
                    <a:pt x="90344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5" id="5"/>
            <p:cNvSpPr txBox="true"/>
            <p:nvPr/>
          </p:nvSpPr>
          <p:spPr>
            <a:xfrm>
              <a:off x="0" y="-38100"/>
              <a:ext cx="1006814" cy="244835"/>
            </a:xfrm>
            <a:prstGeom prst="rect">
              <a:avLst/>
            </a:prstGeom>
          </p:spPr>
          <p:txBody>
            <a:bodyPr anchor="ctr" rtlCol="false" tIns="50800" lIns="50800" bIns="50800" rIns="50800"/>
            <a:lstStyle/>
            <a:p>
              <a:pPr algn="ctr">
                <a:lnSpc>
                  <a:spcPts val="2520"/>
                </a:lnSpc>
              </a:pPr>
            </a:p>
          </p:txBody>
        </p:sp>
      </p:grpSp>
      <p:grpSp>
        <p:nvGrpSpPr>
          <p:cNvPr name="Group 6" id="6"/>
          <p:cNvGrpSpPr/>
          <p:nvPr/>
        </p:nvGrpSpPr>
        <p:grpSpPr>
          <a:xfrm rot="0">
            <a:off x="13745607" y="1344472"/>
            <a:ext cx="240861" cy="2408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false" flipV="false" rot="0">
            <a:off x="1028700" y="6964112"/>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28700" y="6070342"/>
            <a:ext cx="3936188" cy="576779"/>
          </a:xfrm>
          <a:custGeom>
            <a:avLst/>
            <a:gdLst/>
            <a:ahLst/>
            <a:cxnLst/>
            <a:rect r="r" b="b" t="t" l="l"/>
            <a:pathLst>
              <a:path h="576779" w="3936188">
                <a:moveTo>
                  <a:pt x="0" y="0"/>
                </a:moveTo>
                <a:lnTo>
                  <a:pt x="3936188" y="0"/>
                </a:lnTo>
                <a:lnTo>
                  <a:pt x="3936188" y="576779"/>
                </a:lnTo>
                <a:lnTo>
                  <a:pt x="0" y="576779"/>
                </a:lnTo>
                <a:lnTo>
                  <a:pt x="0" y="0"/>
                </a:lnTo>
                <a:close/>
              </a:path>
            </a:pathLst>
          </a:custGeom>
          <a:blipFill>
            <a:blip r:embed="rId6"/>
            <a:stretch>
              <a:fillRect l="0" t="0" r="0" b="0"/>
            </a:stretch>
          </a:blipFill>
        </p:spPr>
      </p:sp>
      <p:sp>
        <p:nvSpPr>
          <p:cNvPr name="TextBox 11" id="11"/>
          <p:cNvSpPr txBox="true"/>
          <p:nvPr/>
        </p:nvSpPr>
        <p:spPr>
          <a:xfrm rot="0">
            <a:off x="1028700" y="2994276"/>
            <a:ext cx="7170705" cy="2759075"/>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Propr</a:t>
            </a:r>
            <a:r>
              <a:rPr lang="en-US" sz="6999">
                <a:solidFill>
                  <a:srgbClr val="0D0D0D"/>
                </a:solidFill>
                <a:latin typeface="Poppins Light"/>
                <a:ea typeface="Poppins Light"/>
                <a:cs typeface="Poppins Light"/>
                <a:sym typeface="Poppins Light"/>
              </a:rPr>
              <a:t>ietary JVM Programming Language</a:t>
            </a:r>
          </a:p>
        </p:txBody>
      </p:sp>
      <p:sp>
        <p:nvSpPr>
          <p:cNvPr name="TextBox 12" id="12"/>
          <p:cNvSpPr txBox="true"/>
          <p:nvPr/>
        </p:nvSpPr>
        <p:spPr>
          <a:xfrm rot="0">
            <a:off x="9422588" y="3850005"/>
            <a:ext cx="6441300" cy="419671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D0D0D"/>
                </a:solidFill>
                <a:latin typeface="Poppins"/>
                <a:ea typeface="Poppins"/>
                <a:cs typeface="Poppins"/>
                <a:sym typeface="Poppins"/>
              </a:rPr>
              <a:t>Optimized for high-performance, mission-critical applications.</a:t>
            </a:r>
          </a:p>
          <a:p>
            <a:pPr algn="l" marL="518160" indent="-259080" lvl="1">
              <a:lnSpc>
                <a:spcPts val="3359"/>
              </a:lnSpc>
              <a:buFont typeface="Arial"/>
              <a:buChar char="•"/>
            </a:pPr>
            <a:r>
              <a:rPr lang="en-US" sz="2400">
                <a:solidFill>
                  <a:srgbClr val="0D0D0D"/>
                </a:solidFill>
                <a:latin typeface="Poppins"/>
                <a:ea typeface="Poppins"/>
                <a:cs typeface="Poppins"/>
                <a:sym typeface="Poppins"/>
              </a:rPr>
              <a:t>Comprehensive support for migration from legacy languages to BoxLang.</a:t>
            </a:r>
          </a:p>
          <a:p>
            <a:pPr algn="l" marL="518160" indent="-259080" lvl="1">
              <a:lnSpc>
                <a:spcPts val="3359"/>
              </a:lnSpc>
              <a:buFont typeface="Arial"/>
              <a:buChar char="•"/>
            </a:pPr>
            <a:r>
              <a:rPr lang="en-US" sz="2400">
                <a:solidFill>
                  <a:srgbClr val="0D0D0D"/>
                </a:solidFill>
                <a:latin typeface="Poppins"/>
                <a:ea typeface="Poppins"/>
                <a:cs typeface="Poppins"/>
                <a:sym typeface="Poppins"/>
              </a:rPr>
              <a:t>Increased system reliability and reduced operational costs.</a:t>
            </a:r>
          </a:p>
          <a:p>
            <a:pPr algn="l" marL="518160" indent="-259080" lvl="1">
              <a:lnSpc>
                <a:spcPts val="3359"/>
              </a:lnSpc>
              <a:buFont typeface="Arial"/>
              <a:buChar char="•"/>
            </a:pPr>
            <a:r>
              <a:rPr lang="en-US" sz="2400">
                <a:solidFill>
                  <a:srgbClr val="0D0D0D"/>
                </a:solidFill>
                <a:latin typeface="Poppins"/>
                <a:ea typeface="Poppins"/>
                <a:cs typeface="Poppins"/>
                <a:sym typeface="Poppins"/>
              </a:rPr>
              <a:t>Drop-in replacement for Adobe ColdFusion</a:t>
            </a:r>
          </a:p>
          <a:p>
            <a:pPr algn="l" marL="518160" indent="-259080" lvl="1">
              <a:lnSpc>
                <a:spcPts val="3359"/>
              </a:lnSpc>
              <a:buFont typeface="Arial"/>
              <a:buChar char="•"/>
            </a:pPr>
            <a:r>
              <a:rPr lang="en-US" sz="2400">
                <a:solidFill>
                  <a:srgbClr val="0D0D0D"/>
                </a:solidFill>
                <a:latin typeface="Poppins"/>
                <a:ea typeface="Poppins"/>
                <a:cs typeface="Poppins"/>
                <a:sym typeface="Poppins"/>
              </a:rPr>
              <a:t>Multi-Runtime: CLI Applications, Lambdas, Web, Mobile, and more.</a:t>
            </a:r>
          </a:p>
        </p:txBody>
      </p:sp>
      <p:sp>
        <p:nvSpPr>
          <p:cNvPr name="TextBox 13" id="13"/>
          <p:cNvSpPr txBox="true"/>
          <p:nvPr/>
        </p:nvSpPr>
        <p:spPr>
          <a:xfrm rot="0">
            <a:off x="14172124" y="1220428"/>
            <a:ext cx="2715701"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Core Competencies</a:t>
            </a:r>
          </a:p>
        </p:txBody>
      </p:sp>
      <p:sp>
        <p:nvSpPr>
          <p:cNvPr name="TextBox 14" id="14"/>
          <p:cNvSpPr txBox="true"/>
          <p:nvPr/>
        </p:nvSpPr>
        <p:spPr>
          <a:xfrm rot="0">
            <a:off x="1629585" y="7019674"/>
            <a:ext cx="7170705" cy="349250"/>
          </a:xfrm>
          <a:prstGeom prst="rect">
            <a:avLst/>
          </a:prstGeom>
        </p:spPr>
        <p:txBody>
          <a:bodyPr anchor="t" rtlCol="false" tIns="0" lIns="0" bIns="0" rIns="0">
            <a:spAutoFit/>
          </a:bodyPr>
          <a:lstStyle/>
          <a:p>
            <a:pPr algn="l">
              <a:lnSpc>
                <a:spcPts val="2499"/>
              </a:lnSpc>
            </a:pPr>
            <a:r>
              <a:rPr lang="en-US" sz="2499">
                <a:solidFill>
                  <a:srgbClr val="0D0D0D"/>
                </a:solidFill>
                <a:latin typeface="Poppins Light"/>
                <a:ea typeface="Poppins Light"/>
                <a:cs typeface="Poppins Light"/>
                <a:sym typeface="Poppins Light"/>
              </a:rPr>
              <a:t>www.boxlang.io</a:t>
            </a:r>
          </a:p>
        </p:txBody>
      </p:sp>
    </p:spTree>
  </p:cSld>
  <p:clrMapOvr>
    <a:masterClrMapping/>
  </p:clrMapOvr>
  <p:transition spd="fast">
    <p:wipe dir="u"/>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36552" y="1072430"/>
            <a:ext cx="3822748" cy="784945"/>
            <a:chOff x="0" y="0"/>
            <a:chExt cx="1006814" cy="206735"/>
          </a:xfrm>
        </p:grpSpPr>
        <p:sp>
          <p:nvSpPr>
            <p:cNvPr name="Freeform 4" id="4"/>
            <p:cNvSpPr/>
            <p:nvPr/>
          </p:nvSpPr>
          <p:spPr>
            <a:xfrm flipH="false" flipV="false" rot="0">
              <a:off x="0" y="0"/>
              <a:ext cx="1006814" cy="206735"/>
            </a:xfrm>
            <a:custGeom>
              <a:avLst/>
              <a:gdLst/>
              <a:ahLst/>
              <a:cxnLst/>
              <a:rect r="r" b="b" t="t" l="l"/>
              <a:pathLst>
                <a:path h="206735" w="1006814">
                  <a:moveTo>
                    <a:pt x="103367" y="0"/>
                  </a:moveTo>
                  <a:lnTo>
                    <a:pt x="903447" y="0"/>
                  </a:lnTo>
                  <a:cubicBezTo>
                    <a:pt x="930862" y="0"/>
                    <a:pt x="957154" y="10890"/>
                    <a:pt x="976539" y="30276"/>
                  </a:cubicBezTo>
                  <a:cubicBezTo>
                    <a:pt x="995924" y="49661"/>
                    <a:pt x="1006814" y="75953"/>
                    <a:pt x="1006814" y="103367"/>
                  </a:cubicBezTo>
                  <a:lnTo>
                    <a:pt x="1006814" y="103367"/>
                  </a:lnTo>
                  <a:cubicBezTo>
                    <a:pt x="1006814" y="130782"/>
                    <a:pt x="995924" y="157074"/>
                    <a:pt x="976539" y="176459"/>
                  </a:cubicBezTo>
                  <a:cubicBezTo>
                    <a:pt x="957154" y="195844"/>
                    <a:pt x="930862" y="206735"/>
                    <a:pt x="90344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5" id="5"/>
            <p:cNvSpPr txBox="true"/>
            <p:nvPr/>
          </p:nvSpPr>
          <p:spPr>
            <a:xfrm>
              <a:off x="0" y="-38100"/>
              <a:ext cx="1006814" cy="244835"/>
            </a:xfrm>
            <a:prstGeom prst="rect">
              <a:avLst/>
            </a:prstGeom>
          </p:spPr>
          <p:txBody>
            <a:bodyPr anchor="ctr" rtlCol="false" tIns="50800" lIns="50800" bIns="50800" rIns="50800"/>
            <a:lstStyle/>
            <a:p>
              <a:pPr algn="ctr">
                <a:lnSpc>
                  <a:spcPts val="2520"/>
                </a:lnSpc>
              </a:pPr>
            </a:p>
          </p:txBody>
        </p:sp>
      </p:grpSp>
      <p:grpSp>
        <p:nvGrpSpPr>
          <p:cNvPr name="Group 6" id="6"/>
          <p:cNvGrpSpPr/>
          <p:nvPr/>
        </p:nvGrpSpPr>
        <p:grpSpPr>
          <a:xfrm rot="0">
            <a:off x="13745607" y="1344472"/>
            <a:ext cx="240861" cy="2408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false" flipV="false" rot="0">
            <a:off x="1028700" y="6417185"/>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28700" y="3541203"/>
            <a:ext cx="7170705" cy="2759075"/>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Custom Sof</a:t>
            </a:r>
            <a:r>
              <a:rPr lang="en-US" sz="6999">
                <a:solidFill>
                  <a:srgbClr val="0D0D0D"/>
                </a:solidFill>
                <a:latin typeface="Poppins Light"/>
                <a:ea typeface="Poppins Light"/>
                <a:cs typeface="Poppins Light"/>
                <a:sym typeface="Poppins Light"/>
              </a:rPr>
              <a:t>tware Development</a:t>
            </a:r>
          </a:p>
        </p:txBody>
      </p:sp>
      <p:sp>
        <p:nvSpPr>
          <p:cNvPr name="TextBox 11" id="11"/>
          <p:cNvSpPr txBox="true"/>
          <p:nvPr/>
        </p:nvSpPr>
        <p:spPr>
          <a:xfrm rot="0">
            <a:off x="9422588" y="3640455"/>
            <a:ext cx="7836712" cy="293941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D0D0D"/>
                </a:solidFill>
                <a:latin typeface="Poppins"/>
                <a:ea typeface="Poppins"/>
                <a:cs typeface="Poppins"/>
                <a:sym typeface="Poppins"/>
              </a:rPr>
              <a:t>End-to-end web application development using modern frameworks (ColdBox MVC, Vue.js, Quasar).</a:t>
            </a:r>
          </a:p>
          <a:p>
            <a:pPr algn="l" marL="518160" indent="-259080" lvl="1">
              <a:lnSpc>
                <a:spcPts val="3359"/>
              </a:lnSpc>
              <a:buFont typeface="Arial"/>
              <a:buChar char="•"/>
            </a:pPr>
            <a:r>
              <a:rPr lang="en-US" sz="2400">
                <a:solidFill>
                  <a:srgbClr val="0D0D0D"/>
                </a:solidFill>
                <a:latin typeface="Poppins"/>
                <a:ea typeface="Poppins"/>
                <a:cs typeface="Poppins"/>
                <a:sym typeface="Poppins"/>
              </a:rPr>
              <a:t>Multi-tenant and multi-region solutions for government services and data management.</a:t>
            </a:r>
          </a:p>
          <a:p>
            <a:pPr algn="l" marL="518160" indent="-259080" lvl="1">
              <a:lnSpc>
                <a:spcPts val="3359"/>
              </a:lnSpc>
              <a:buFont typeface="Arial"/>
              <a:buChar char="•"/>
            </a:pPr>
            <a:r>
              <a:rPr lang="en-US" sz="2400">
                <a:solidFill>
                  <a:srgbClr val="0D0D0D"/>
                </a:solidFill>
                <a:latin typeface="Poppins"/>
                <a:ea typeface="Poppins"/>
                <a:cs typeface="Poppins"/>
                <a:sym typeface="Poppins"/>
              </a:rPr>
              <a:t>Robust AP</a:t>
            </a:r>
            <a:r>
              <a:rPr lang="en-US" sz="2400">
                <a:solidFill>
                  <a:srgbClr val="0D0D0D"/>
                </a:solidFill>
                <a:latin typeface="Poppins"/>
                <a:ea typeface="Poppins"/>
                <a:cs typeface="Poppins"/>
                <a:sym typeface="Poppins"/>
              </a:rPr>
              <a:t>I development and integration, including secure and compliant data exchange.</a:t>
            </a:r>
          </a:p>
        </p:txBody>
      </p:sp>
      <p:sp>
        <p:nvSpPr>
          <p:cNvPr name="TextBox 12" id="12"/>
          <p:cNvSpPr txBox="true"/>
          <p:nvPr/>
        </p:nvSpPr>
        <p:spPr>
          <a:xfrm rot="0">
            <a:off x="14172124" y="1220428"/>
            <a:ext cx="2715701"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Core Competencies</a:t>
            </a:r>
          </a:p>
        </p:txBody>
      </p:sp>
    </p:spTree>
  </p:cSld>
  <p:clrMapOvr>
    <a:masterClrMapping/>
  </p:clrMapOvr>
  <p:transition spd="fast">
    <p:wipe dir="u"/>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36552" y="1072430"/>
            <a:ext cx="3822748" cy="784945"/>
            <a:chOff x="0" y="0"/>
            <a:chExt cx="1006814" cy="206735"/>
          </a:xfrm>
        </p:grpSpPr>
        <p:sp>
          <p:nvSpPr>
            <p:cNvPr name="Freeform 4" id="4"/>
            <p:cNvSpPr/>
            <p:nvPr/>
          </p:nvSpPr>
          <p:spPr>
            <a:xfrm flipH="false" flipV="false" rot="0">
              <a:off x="0" y="0"/>
              <a:ext cx="1006814" cy="206735"/>
            </a:xfrm>
            <a:custGeom>
              <a:avLst/>
              <a:gdLst/>
              <a:ahLst/>
              <a:cxnLst/>
              <a:rect r="r" b="b" t="t" l="l"/>
              <a:pathLst>
                <a:path h="206735" w="1006814">
                  <a:moveTo>
                    <a:pt x="103367" y="0"/>
                  </a:moveTo>
                  <a:lnTo>
                    <a:pt x="903447" y="0"/>
                  </a:lnTo>
                  <a:cubicBezTo>
                    <a:pt x="930862" y="0"/>
                    <a:pt x="957154" y="10890"/>
                    <a:pt x="976539" y="30276"/>
                  </a:cubicBezTo>
                  <a:cubicBezTo>
                    <a:pt x="995924" y="49661"/>
                    <a:pt x="1006814" y="75953"/>
                    <a:pt x="1006814" y="103367"/>
                  </a:cubicBezTo>
                  <a:lnTo>
                    <a:pt x="1006814" y="103367"/>
                  </a:lnTo>
                  <a:cubicBezTo>
                    <a:pt x="1006814" y="130782"/>
                    <a:pt x="995924" y="157074"/>
                    <a:pt x="976539" y="176459"/>
                  </a:cubicBezTo>
                  <a:cubicBezTo>
                    <a:pt x="957154" y="195844"/>
                    <a:pt x="930862" y="206735"/>
                    <a:pt x="90344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5" id="5"/>
            <p:cNvSpPr txBox="true"/>
            <p:nvPr/>
          </p:nvSpPr>
          <p:spPr>
            <a:xfrm>
              <a:off x="0" y="-38100"/>
              <a:ext cx="1006814" cy="244835"/>
            </a:xfrm>
            <a:prstGeom prst="rect">
              <a:avLst/>
            </a:prstGeom>
          </p:spPr>
          <p:txBody>
            <a:bodyPr anchor="ctr" rtlCol="false" tIns="50800" lIns="50800" bIns="50800" rIns="50800"/>
            <a:lstStyle/>
            <a:p>
              <a:pPr algn="ctr">
                <a:lnSpc>
                  <a:spcPts val="2520"/>
                </a:lnSpc>
              </a:pPr>
            </a:p>
          </p:txBody>
        </p:sp>
      </p:grpSp>
      <p:grpSp>
        <p:nvGrpSpPr>
          <p:cNvPr name="Group 6" id="6"/>
          <p:cNvGrpSpPr/>
          <p:nvPr/>
        </p:nvGrpSpPr>
        <p:grpSpPr>
          <a:xfrm rot="0">
            <a:off x="13745607" y="1344472"/>
            <a:ext cx="240861" cy="2408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false" flipV="false" rot="0">
            <a:off x="1028700" y="6417185"/>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28700" y="3541203"/>
            <a:ext cx="7170705" cy="2759075"/>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DevOps and Infras</a:t>
            </a:r>
            <a:r>
              <a:rPr lang="en-US" sz="6999">
                <a:solidFill>
                  <a:srgbClr val="0D0D0D"/>
                </a:solidFill>
                <a:latin typeface="Poppins Light"/>
                <a:ea typeface="Poppins Light"/>
                <a:cs typeface="Poppins Light"/>
                <a:sym typeface="Poppins Light"/>
              </a:rPr>
              <a:t>tructure Automation</a:t>
            </a:r>
          </a:p>
        </p:txBody>
      </p:sp>
      <p:sp>
        <p:nvSpPr>
          <p:cNvPr name="TextBox 11" id="11"/>
          <p:cNvSpPr txBox="true"/>
          <p:nvPr/>
        </p:nvSpPr>
        <p:spPr>
          <a:xfrm rot="0">
            <a:off x="9422588" y="3850005"/>
            <a:ext cx="7836712" cy="252031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D0D0D"/>
                </a:solidFill>
                <a:latin typeface="Poppins"/>
                <a:ea typeface="Poppins"/>
                <a:cs typeface="Poppins"/>
                <a:sym typeface="Poppins"/>
              </a:rPr>
              <a:t>Automated CI/CD pipelines for rapid, reliable deployment.</a:t>
            </a:r>
          </a:p>
          <a:p>
            <a:pPr algn="l" marL="518160" indent="-259080" lvl="1">
              <a:lnSpc>
                <a:spcPts val="3359"/>
              </a:lnSpc>
              <a:buFont typeface="Arial"/>
              <a:buChar char="•"/>
            </a:pPr>
            <a:r>
              <a:rPr lang="en-US" sz="2400">
                <a:solidFill>
                  <a:srgbClr val="0D0D0D"/>
                </a:solidFill>
                <a:latin typeface="Poppins"/>
                <a:ea typeface="Poppins"/>
                <a:cs typeface="Poppins"/>
                <a:sym typeface="Poppins"/>
              </a:rPr>
              <a:t>Infrastructure management on Digital Ocean, AWS, Azure, and other cloud environments.</a:t>
            </a:r>
          </a:p>
          <a:p>
            <a:pPr algn="l" marL="518160" indent="-259080" lvl="1">
              <a:lnSpc>
                <a:spcPts val="3359"/>
              </a:lnSpc>
              <a:buFont typeface="Arial"/>
              <a:buChar char="•"/>
            </a:pPr>
            <a:r>
              <a:rPr lang="en-US" sz="2400">
                <a:solidFill>
                  <a:srgbClr val="0D0D0D"/>
                </a:solidFill>
                <a:latin typeface="Poppins"/>
                <a:ea typeface="Poppins"/>
                <a:cs typeface="Poppins"/>
                <a:sym typeface="Poppins"/>
              </a:rPr>
              <a:t>Scalable c</a:t>
            </a:r>
            <a:r>
              <a:rPr lang="en-US" sz="2400">
                <a:solidFill>
                  <a:srgbClr val="0D0D0D"/>
                </a:solidFill>
                <a:latin typeface="Poppins"/>
                <a:ea typeface="Poppins"/>
                <a:cs typeface="Poppins"/>
                <a:sym typeface="Poppins"/>
              </a:rPr>
              <a:t>ontainerized applications leveraging Docker and Kubernetes.</a:t>
            </a:r>
          </a:p>
        </p:txBody>
      </p:sp>
      <p:sp>
        <p:nvSpPr>
          <p:cNvPr name="TextBox 12" id="12"/>
          <p:cNvSpPr txBox="true"/>
          <p:nvPr/>
        </p:nvSpPr>
        <p:spPr>
          <a:xfrm rot="0">
            <a:off x="14172124" y="1220428"/>
            <a:ext cx="2715701"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Core Competencies</a:t>
            </a:r>
          </a:p>
        </p:txBody>
      </p:sp>
    </p:spTree>
  </p:cSld>
  <p:clrMapOvr>
    <a:masterClrMapping/>
  </p:clrMapOvr>
  <p:transition spd="fast">
    <p:wipe dir="u"/>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36552" y="1072430"/>
            <a:ext cx="3822748" cy="784945"/>
            <a:chOff x="0" y="0"/>
            <a:chExt cx="1006814" cy="206735"/>
          </a:xfrm>
        </p:grpSpPr>
        <p:sp>
          <p:nvSpPr>
            <p:cNvPr name="Freeform 4" id="4"/>
            <p:cNvSpPr/>
            <p:nvPr/>
          </p:nvSpPr>
          <p:spPr>
            <a:xfrm flipH="false" flipV="false" rot="0">
              <a:off x="0" y="0"/>
              <a:ext cx="1006814" cy="206735"/>
            </a:xfrm>
            <a:custGeom>
              <a:avLst/>
              <a:gdLst/>
              <a:ahLst/>
              <a:cxnLst/>
              <a:rect r="r" b="b" t="t" l="l"/>
              <a:pathLst>
                <a:path h="206735" w="1006814">
                  <a:moveTo>
                    <a:pt x="103367" y="0"/>
                  </a:moveTo>
                  <a:lnTo>
                    <a:pt x="903447" y="0"/>
                  </a:lnTo>
                  <a:cubicBezTo>
                    <a:pt x="930862" y="0"/>
                    <a:pt x="957154" y="10890"/>
                    <a:pt x="976539" y="30276"/>
                  </a:cubicBezTo>
                  <a:cubicBezTo>
                    <a:pt x="995924" y="49661"/>
                    <a:pt x="1006814" y="75953"/>
                    <a:pt x="1006814" y="103367"/>
                  </a:cubicBezTo>
                  <a:lnTo>
                    <a:pt x="1006814" y="103367"/>
                  </a:lnTo>
                  <a:cubicBezTo>
                    <a:pt x="1006814" y="130782"/>
                    <a:pt x="995924" y="157074"/>
                    <a:pt x="976539" y="176459"/>
                  </a:cubicBezTo>
                  <a:cubicBezTo>
                    <a:pt x="957154" y="195844"/>
                    <a:pt x="930862" y="206735"/>
                    <a:pt x="90344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5" id="5"/>
            <p:cNvSpPr txBox="true"/>
            <p:nvPr/>
          </p:nvSpPr>
          <p:spPr>
            <a:xfrm>
              <a:off x="0" y="-38100"/>
              <a:ext cx="1006814" cy="244835"/>
            </a:xfrm>
            <a:prstGeom prst="rect">
              <a:avLst/>
            </a:prstGeom>
          </p:spPr>
          <p:txBody>
            <a:bodyPr anchor="ctr" rtlCol="false" tIns="50800" lIns="50800" bIns="50800" rIns="50800"/>
            <a:lstStyle/>
            <a:p>
              <a:pPr algn="ctr">
                <a:lnSpc>
                  <a:spcPts val="2520"/>
                </a:lnSpc>
              </a:pPr>
            </a:p>
          </p:txBody>
        </p:sp>
      </p:grpSp>
      <p:grpSp>
        <p:nvGrpSpPr>
          <p:cNvPr name="Group 6" id="6"/>
          <p:cNvGrpSpPr/>
          <p:nvPr/>
        </p:nvGrpSpPr>
        <p:grpSpPr>
          <a:xfrm rot="0">
            <a:off x="13745607" y="1344472"/>
            <a:ext cx="240861" cy="2408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false" flipV="false" rot="0">
            <a:off x="1028700" y="6417185"/>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28700" y="3541203"/>
            <a:ext cx="7170705" cy="2759075"/>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Cyberse</a:t>
            </a:r>
            <a:r>
              <a:rPr lang="en-US" sz="6999">
                <a:solidFill>
                  <a:srgbClr val="0D0D0D"/>
                </a:solidFill>
                <a:latin typeface="Poppins Light"/>
                <a:ea typeface="Poppins Light"/>
                <a:cs typeface="Poppins Light"/>
                <a:sym typeface="Poppins Light"/>
              </a:rPr>
              <a:t>curity and Compliance</a:t>
            </a:r>
          </a:p>
        </p:txBody>
      </p:sp>
      <p:sp>
        <p:nvSpPr>
          <p:cNvPr name="TextBox 11" id="11"/>
          <p:cNvSpPr txBox="true"/>
          <p:nvPr/>
        </p:nvSpPr>
        <p:spPr>
          <a:xfrm rot="0">
            <a:off x="9422588" y="3589145"/>
            <a:ext cx="7836712" cy="252031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D0D0D"/>
                </a:solidFill>
                <a:latin typeface="Poppins"/>
                <a:ea typeface="Poppins"/>
                <a:cs typeface="Poppins"/>
                <a:sym typeface="Poppins"/>
              </a:rPr>
              <a:t>Adherence to government standards (e.g., FISMA, NIST).</a:t>
            </a:r>
          </a:p>
          <a:p>
            <a:pPr algn="l" marL="518160" indent="-259080" lvl="1">
              <a:lnSpc>
                <a:spcPts val="3359"/>
              </a:lnSpc>
              <a:buFont typeface="Arial"/>
              <a:buChar char="•"/>
            </a:pPr>
            <a:r>
              <a:rPr lang="en-US" sz="2400">
                <a:solidFill>
                  <a:srgbClr val="0D0D0D"/>
                </a:solidFill>
                <a:latin typeface="Poppins"/>
                <a:ea typeface="Poppins"/>
                <a:cs typeface="Poppins"/>
                <a:sym typeface="Poppins"/>
              </a:rPr>
              <a:t>Secure coding practices and vulnerability assessments to safeguard government data.</a:t>
            </a:r>
          </a:p>
          <a:p>
            <a:pPr algn="l" marL="518160" indent="-259080" lvl="1">
              <a:lnSpc>
                <a:spcPts val="3359"/>
              </a:lnSpc>
              <a:buFont typeface="Arial"/>
              <a:buChar char="•"/>
            </a:pPr>
            <a:r>
              <a:rPr lang="en-US" sz="2400">
                <a:solidFill>
                  <a:srgbClr val="0D0D0D"/>
                </a:solidFill>
                <a:latin typeface="Poppins"/>
                <a:ea typeface="Poppins"/>
                <a:cs typeface="Poppins"/>
                <a:sym typeface="Poppins"/>
              </a:rPr>
              <a:t>Role-based access c</a:t>
            </a:r>
            <a:r>
              <a:rPr lang="en-US" sz="2400">
                <a:solidFill>
                  <a:srgbClr val="0D0D0D"/>
                </a:solidFill>
                <a:latin typeface="Poppins"/>
                <a:ea typeface="Poppins"/>
                <a:cs typeface="Poppins"/>
                <a:sym typeface="Poppins"/>
              </a:rPr>
              <a:t>ontrol (RBAC) and audit logging for high-security environments.</a:t>
            </a:r>
          </a:p>
        </p:txBody>
      </p:sp>
      <p:sp>
        <p:nvSpPr>
          <p:cNvPr name="TextBox 12" id="12"/>
          <p:cNvSpPr txBox="true"/>
          <p:nvPr/>
        </p:nvSpPr>
        <p:spPr>
          <a:xfrm rot="0">
            <a:off x="14172124" y="1220428"/>
            <a:ext cx="2715701"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Core Competencies</a:t>
            </a:r>
          </a:p>
        </p:txBody>
      </p:sp>
    </p:spTree>
  </p:cSld>
  <p:clrMapOvr>
    <a:masterClrMapping/>
  </p:clrMapOvr>
  <p:transition spd="fast">
    <p:wipe dir="u"/>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36552" y="1072430"/>
            <a:ext cx="3822748" cy="784945"/>
            <a:chOff x="0" y="0"/>
            <a:chExt cx="1006814" cy="206735"/>
          </a:xfrm>
        </p:grpSpPr>
        <p:sp>
          <p:nvSpPr>
            <p:cNvPr name="Freeform 4" id="4"/>
            <p:cNvSpPr/>
            <p:nvPr/>
          </p:nvSpPr>
          <p:spPr>
            <a:xfrm flipH="false" flipV="false" rot="0">
              <a:off x="0" y="0"/>
              <a:ext cx="1006814" cy="206735"/>
            </a:xfrm>
            <a:custGeom>
              <a:avLst/>
              <a:gdLst/>
              <a:ahLst/>
              <a:cxnLst/>
              <a:rect r="r" b="b" t="t" l="l"/>
              <a:pathLst>
                <a:path h="206735" w="1006814">
                  <a:moveTo>
                    <a:pt x="103367" y="0"/>
                  </a:moveTo>
                  <a:lnTo>
                    <a:pt x="903447" y="0"/>
                  </a:lnTo>
                  <a:cubicBezTo>
                    <a:pt x="930862" y="0"/>
                    <a:pt x="957154" y="10890"/>
                    <a:pt x="976539" y="30276"/>
                  </a:cubicBezTo>
                  <a:cubicBezTo>
                    <a:pt x="995924" y="49661"/>
                    <a:pt x="1006814" y="75953"/>
                    <a:pt x="1006814" y="103367"/>
                  </a:cubicBezTo>
                  <a:lnTo>
                    <a:pt x="1006814" y="103367"/>
                  </a:lnTo>
                  <a:cubicBezTo>
                    <a:pt x="1006814" y="130782"/>
                    <a:pt x="995924" y="157074"/>
                    <a:pt x="976539" y="176459"/>
                  </a:cubicBezTo>
                  <a:cubicBezTo>
                    <a:pt x="957154" y="195844"/>
                    <a:pt x="930862" y="206735"/>
                    <a:pt x="90344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5" id="5"/>
            <p:cNvSpPr txBox="true"/>
            <p:nvPr/>
          </p:nvSpPr>
          <p:spPr>
            <a:xfrm>
              <a:off x="0" y="-38100"/>
              <a:ext cx="1006814" cy="244835"/>
            </a:xfrm>
            <a:prstGeom prst="rect">
              <a:avLst/>
            </a:prstGeom>
          </p:spPr>
          <p:txBody>
            <a:bodyPr anchor="ctr" rtlCol="false" tIns="50800" lIns="50800" bIns="50800" rIns="50800"/>
            <a:lstStyle/>
            <a:p>
              <a:pPr algn="ctr">
                <a:lnSpc>
                  <a:spcPts val="2520"/>
                </a:lnSpc>
              </a:pPr>
            </a:p>
          </p:txBody>
        </p:sp>
      </p:grpSp>
      <p:grpSp>
        <p:nvGrpSpPr>
          <p:cNvPr name="Group 6" id="6"/>
          <p:cNvGrpSpPr/>
          <p:nvPr/>
        </p:nvGrpSpPr>
        <p:grpSpPr>
          <a:xfrm rot="0">
            <a:off x="13745607" y="1344472"/>
            <a:ext cx="240861" cy="2408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false" flipV="false" rot="0">
            <a:off x="1028700" y="6417185"/>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28700" y="3541203"/>
            <a:ext cx="7170705" cy="2759075"/>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T</a:t>
            </a:r>
            <a:r>
              <a:rPr lang="en-US" sz="6999">
                <a:solidFill>
                  <a:srgbClr val="0D0D0D"/>
                </a:solidFill>
                <a:latin typeface="Poppins Light"/>
                <a:ea typeface="Poppins Light"/>
                <a:cs typeface="Poppins Light"/>
                <a:sym typeface="Poppins Light"/>
              </a:rPr>
              <a:t>raining and Technical Support</a:t>
            </a:r>
          </a:p>
        </p:txBody>
      </p:sp>
      <p:sp>
        <p:nvSpPr>
          <p:cNvPr name="TextBox 11" id="11"/>
          <p:cNvSpPr txBox="true"/>
          <p:nvPr/>
        </p:nvSpPr>
        <p:spPr>
          <a:xfrm rot="0">
            <a:off x="9422588" y="3850005"/>
            <a:ext cx="7836712" cy="252031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D0D0D"/>
                </a:solidFill>
                <a:latin typeface="Poppins"/>
                <a:ea typeface="Poppins"/>
                <a:cs typeface="Poppins"/>
                <a:sym typeface="Poppins"/>
              </a:rPr>
              <a:t>Comprehensive training for IT teams on BoxLang and ColdBox frameworks.</a:t>
            </a:r>
          </a:p>
          <a:p>
            <a:pPr algn="l" marL="518160" indent="-259080" lvl="1">
              <a:lnSpc>
                <a:spcPts val="3359"/>
              </a:lnSpc>
              <a:buFont typeface="Arial"/>
              <a:buChar char="•"/>
            </a:pPr>
            <a:r>
              <a:rPr lang="en-US" sz="2400">
                <a:solidFill>
                  <a:srgbClr val="0D0D0D"/>
                </a:solidFill>
                <a:latin typeface="Poppins"/>
                <a:ea typeface="Poppins"/>
                <a:cs typeface="Poppins"/>
                <a:sym typeface="Poppins"/>
              </a:rPr>
              <a:t>Ongoing technical support and maintenance for deployed solutions.</a:t>
            </a:r>
          </a:p>
          <a:p>
            <a:pPr algn="l" marL="518160" indent="-259080" lvl="1">
              <a:lnSpc>
                <a:spcPts val="3359"/>
              </a:lnSpc>
              <a:buFont typeface="Arial"/>
              <a:buChar char="•"/>
            </a:pPr>
            <a:r>
              <a:rPr lang="en-US" sz="2400">
                <a:solidFill>
                  <a:srgbClr val="0D0D0D"/>
                </a:solidFill>
                <a:latin typeface="Poppins"/>
                <a:ea typeface="Poppins"/>
                <a:cs typeface="Poppins"/>
                <a:sym typeface="Poppins"/>
              </a:rPr>
              <a:t>Documentation and kn</a:t>
            </a:r>
            <a:r>
              <a:rPr lang="en-US" sz="2400">
                <a:solidFill>
                  <a:srgbClr val="0D0D0D"/>
                </a:solidFill>
                <a:latin typeface="Poppins"/>
                <a:ea typeface="Poppins"/>
                <a:cs typeface="Poppins"/>
                <a:sym typeface="Poppins"/>
              </a:rPr>
              <a:t>owledge </a:t>
            </a:r>
            <a:r>
              <a:rPr lang="en-US" sz="2400">
                <a:solidFill>
                  <a:srgbClr val="0D0D0D"/>
                </a:solidFill>
                <a:latin typeface="Poppins"/>
                <a:ea typeface="Poppins"/>
                <a:cs typeface="Poppins"/>
                <a:sym typeface="Poppins"/>
              </a:rPr>
              <a:t>transfer for long-term sustainability.</a:t>
            </a:r>
          </a:p>
        </p:txBody>
      </p:sp>
      <p:sp>
        <p:nvSpPr>
          <p:cNvPr name="TextBox 12" id="12"/>
          <p:cNvSpPr txBox="true"/>
          <p:nvPr/>
        </p:nvSpPr>
        <p:spPr>
          <a:xfrm rot="0">
            <a:off x="14172124" y="1220428"/>
            <a:ext cx="2715701"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Core Competencies</a:t>
            </a:r>
          </a:p>
        </p:txBody>
      </p:sp>
    </p:spTree>
  </p:cSld>
  <p:clrMapOvr>
    <a:masterClrMapping/>
  </p:clrMapOvr>
  <p:transition spd="fast">
    <p:wipe dir="u"/>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36552" y="1072430"/>
            <a:ext cx="3822748" cy="784945"/>
            <a:chOff x="0" y="0"/>
            <a:chExt cx="1006814" cy="206735"/>
          </a:xfrm>
        </p:grpSpPr>
        <p:sp>
          <p:nvSpPr>
            <p:cNvPr name="Freeform 4" id="4"/>
            <p:cNvSpPr/>
            <p:nvPr/>
          </p:nvSpPr>
          <p:spPr>
            <a:xfrm flipH="false" flipV="false" rot="0">
              <a:off x="0" y="0"/>
              <a:ext cx="1006814" cy="206735"/>
            </a:xfrm>
            <a:custGeom>
              <a:avLst/>
              <a:gdLst/>
              <a:ahLst/>
              <a:cxnLst/>
              <a:rect r="r" b="b" t="t" l="l"/>
              <a:pathLst>
                <a:path h="206735" w="1006814">
                  <a:moveTo>
                    <a:pt x="103367" y="0"/>
                  </a:moveTo>
                  <a:lnTo>
                    <a:pt x="903447" y="0"/>
                  </a:lnTo>
                  <a:cubicBezTo>
                    <a:pt x="930862" y="0"/>
                    <a:pt x="957154" y="10890"/>
                    <a:pt x="976539" y="30276"/>
                  </a:cubicBezTo>
                  <a:cubicBezTo>
                    <a:pt x="995924" y="49661"/>
                    <a:pt x="1006814" y="75953"/>
                    <a:pt x="1006814" y="103367"/>
                  </a:cubicBezTo>
                  <a:lnTo>
                    <a:pt x="1006814" y="103367"/>
                  </a:lnTo>
                  <a:cubicBezTo>
                    <a:pt x="1006814" y="130782"/>
                    <a:pt x="995924" y="157074"/>
                    <a:pt x="976539" y="176459"/>
                  </a:cubicBezTo>
                  <a:cubicBezTo>
                    <a:pt x="957154" y="195844"/>
                    <a:pt x="930862" y="206735"/>
                    <a:pt x="90344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5" id="5"/>
            <p:cNvSpPr txBox="true"/>
            <p:nvPr/>
          </p:nvSpPr>
          <p:spPr>
            <a:xfrm>
              <a:off x="0" y="-38100"/>
              <a:ext cx="1006814" cy="244835"/>
            </a:xfrm>
            <a:prstGeom prst="rect">
              <a:avLst/>
            </a:prstGeom>
          </p:spPr>
          <p:txBody>
            <a:bodyPr anchor="ctr" rtlCol="false" tIns="50800" lIns="50800" bIns="50800" rIns="50800"/>
            <a:lstStyle/>
            <a:p>
              <a:pPr algn="ctr">
                <a:lnSpc>
                  <a:spcPts val="2520"/>
                </a:lnSpc>
              </a:pPr>
            </a:p>
          </p:txBody>
        </p:sp>
      </p:grpSp>
      <p:grpSp>
        <p:nvGrpSpPr>
          <p:cNvPr name="Group 6" id="6"/>
          <p:cNvGrpSpPr/>
          <p:nvPr/>
        </p:nvGrpSpPr>
        <p:grpSpPr>
          <a:xfrm rot="0">
            <a:off x="13745607" y="1344472"/>
            <a:ext cx="240861" cy="2408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false" flipV="false" rot="0">
            <a:off x="1028700" y="6417185"/>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28700" y="3541203"/>
            <a:ext cx="8372475" cy="2759075"/>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System Integ</a:t>
            </a:r>
            <a:r>
              <a:rPr lang="en-US" sz="6999">
                <a:solidFill>
                  <a:srgbClr val="0D0D0D"/>
                </a:solidFill>
                <a:latin typeface="Poppins Light"/>
                <a:ea typeface="Poppins Light"/>
                <a:cs typeface="Poppins Light"/>
                <a:sym typeface="Poppins Light"/>
              </a:rPr>
              <a:t>ration and Data Interoperability</a:t>
            </a:r>
          </a:p>
        </p:txBody>
      </p:sp>
      <p:sp>
        <p:nvSpPr>
          <p:cNvPr name="TextBox 11" id="11"/>
          <p:cNvSpPr txBox="true"/>
          <p:nvPr/>
        </p:nvSpPr>
        <p:spPr>
          <a:xfrm rot="0">
            <a:off x="10282238" y="3850005"/>
            <a:ext cx="6977062" cy="252031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D0D0D"/>
                </a:solidFill>
                <a:latin typeface="Poppins"/>
                <a:ea typeface="Poppins"/>
                <a:cs typeface="Poppins"/>
                <a:sym typeface="Poppins"/>
              </a:rPr>
              <a:t>Integrating diverse data sources and legacy systems into unified platforms.</a:t>
            </a:r>
          </a:p>
          <a:p>
            <a:pPr algn="l" marL="518160" indent="-259080" lvl="1">
              <a:lnSpc>
                <a:spcPts val="3359"/>
              </a:lnSpc>
              <a:buFont typeface="Arial"/>
              <a:buChar char="•"/>
            </a:pPr>
            <a:r>
              <a:rPr lang="en-US" sz="2400">
                <a:solidFill>
                  <a:srgbClr val="0D0D0D"/>
                </a:solidFill>
                <a:latin typeface="Poppins"/>
                <a:ea typeface="Poppins"/>
                <a:cs typeface="Poppins"/>
                <a:sym typeface="Poppins"/>
              </a:rPr>
              <a:t>Real-t</a:t>
            </a:r>
            <a:r>
              <a:rPr lang="en-US" sz="2400">
                <a:solidFill>
                  <a:srgbClr val="0D0D0D"/>
                </a:solidFill>
                <a:latin typeface="Poppins"/>
                <a:ea typeface="Poppins"/>
                <a:cs typeface="Poppins"/>
                <a:sym typeface="Poppins"/>
              </a:rPr>
              <a:t>ime data processing and analytics for government decision-making.</a:t>
            </a:r>
          </a:p>
          <a:p>
            <a:pPr algn="l" marL="518160" indent="-259080" lvl="1">
              <a:lnSpc>
                <a:spcPts val="3359"/>
              </a:lnSpc>
              <a:buFont typeface="Arial"/>
              <a:buChar char="•"/>
            </a:pPr>
            <a:r>
              <a:rPr lang="en-US" sz="2400">
                <a:solidFill>
                  <a:srgbClr val="0D0D0D"/>
                </a:solidFill>
                <a:latin typeface="Poppins"/>
                <a:ea typeface="Poppins"/>
                <a:cs typeface="Poppins"/>
                <a:sym typeface="Poppins"/>
              </a:rPr>
              <a:t>C</a:t>
            </a:r>
            <a:r>
              <a:rPr lang="en-US" sz="2400">
                <a:solidFill>
                  <a:srgbClr val="0D0D0D"/>
                </a:solidFill>
                <a:latin typeface="Poppins"/>
                <a:ea typeface="Poppins"/>
                <a:cs typeface="Poppins"/>
                <a:sym typeface="Poppins"/>
              </a:rPr>
              <a:t>ustom connectors and midd</a:t>
            </a:r>
            <a:r>
              <a:rPr lang="en-US" sz="2400">
                <a:solidFill>
                  <a:srgbClr val="0D0D0D"/>
                </a:solidFill>
                <a:latin typeface="Poppins"/>
                <a:ea typeface="Poppins"/>
                <a:cs typeface="Poppins"/>
                <a:sym typeface="Poppins"/>
              </a:rPr>
              <a:t>lew</a:t>
            </a:r>
            <a:r>
              <a:rPr lang="en-US" sz="2400">
                <a:solidFill>
                  <a:srgbClr val="0D0D0D"/>
                </a:solidFill>
                <a:latin typeface="Poppins"/>
                <a:ea typeface="Poppins"/>
                <a:cs typeface="Poppins"/>
                <a:sym typeface="Poppins"/>
              </a:rPr>
              <a:t>are for seamless data flow.</a:t>
            </a:r>
          </a:p>
        </p:txBody>
      </p:sp>
      <p:sp>
        <p:nvSpPr>
          <p:cNvPr name="TextBox 12" id="12"/>
          <p:cNvSpPr txBox="true"/>
          <p:nvPr/>
        </p:nvSpPr>
        <p:spPr>
          <a:xfrm rot="0">
            <a:off x="14172124" y="1220428"/>
            <a:ext cx="2715701"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Core Competencies</a:t>
            </a:r>
          </a:p>
        </p:txBody>
      </p:sp>
    </p:spTree>
  </p:cSld>
  <p:clrMapOvr>
    <a:masterClrMapping/>
  </p:clrMapOvr>
  <p:transition spd="fast">
    <p:wipe dir="u"/>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71550" y="2933562"/>
            <a:ext cx="7677150"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Core Products</a:t>
            </a:r>
          </a:p>
        </p:txBody>
      </p:sp>
      <p:sp>
        <p:nvSpPr>
          <p:cNvPr name="TextBox 5" id="5"/>
          <p:cNvSpPr txBox="true"/>
          <p:nvPr/>
        </p:nvSpPr>
        <p:spPr>
          <a:xfrm rot="0">
            <a:off x="971550" y="5839598"/>
            <a:ext cx="7034212" cy="1609091"/>
          </a:xfrm>
          <a:prstGeom prst="rect">
            <a:avLst/>
          </a:prstGeom>
        </p:spPr>
        <p:txBody>
          <a:bodyPr anchor="t" rtlCol="false" tIns="0" lIns="0" bIns="0" rIns="0">
            <a:spAutoFit/>
          </a:bodyPr>
          <a:lstStyle/>
          <a:p>
            <a:pPr algn="l">
              <a:lnSpc>
                <a:spcPts val="4100"/>
              </a:lnSpc>
            </a:pPr>
            <a:r>
              <a:rPr lang="en-US" sz="4100">
                <a:solidFill>
                  <a:srgbClr val="0D0D0D"/>
                </a:solidFill>
                <a:latin typeface="Poppins Light"/>
                <a:ea typeface="Poppins Light"/>
                <a:cs typeface="Poppins Light"/>
                <a:sym typeface="Poppins Light"/>
              </a:rPr>
              <a:t>We believe in the power of great tools to deliver great solutions.</a:t>
            </a:r>
          </a:p>
        </p:txBody>
      </p:sp>
    </p:spTree>
  </p:cSld>
  <p:clrMapOvr>
    <a:masterClrMapping/>
  </p:clrMapOvr>
  <p:transition spd="fast">
    <p:wipe dir="u"/>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7026" y="2803170"/>
            <a:ext cx="3874530" cy="3651745"/>
          </a:xfrm>
          <a:custGeom>
            <a:avLst/>
            <a:gdLst/>
            <a:ahLst/>
            <a:cxnLst/>
            <a:rect r="r" b="b" t="t" l="l"/>
            <a:pathLst>
              <a:path h="3651745" w="3874530">
                <a:moveTo>
                  <a:pt x="0" y="0"/>
                </a:moveTo>
                <a:lnTo>
                  <a:pt x="3874530" y="0"/>
                </a:lnTo>
                <a:lnTo>
                  <a:pt x="3874530" y="3651744"/>
                </a:lnTo>
                <a:lnTo>
                  <a:pt x="0" y="36517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368137" y="5388617"/>
            <a:ext cx="8615940" cy="3678296"/>
          </a:xfrm>
          <a:custGeom>
            <a:avLst/>
            <a:gdLst/>
            <a:ahLst/>
            <a:cxnLst/>
            <a:rect r="r" b="b" t="t" l="l"/>
            <a:pathLst>
              <a:path h="3678296" w="8615940">
                <a:moveTo>
                  <a:pt x="0" y="0"/>
                </a:moveTo>
                <a:lnTo>
                  <a:pt x="8615941" y="0"/>
                </a:lnTo>
                <a:lnTo>
                  <a:pt x="8615941" y="3678296"/>
                </a:lnTo>
                <a:lnTo>
                  <a:pt x="0" y="3678296"/>
                </a:lnTo>
                <a:lnTo>
                  <a:pt x="0" y="0"/>
                </a:lnTo>
                <a:close/>
              </a:path>
            </a:pathLst>
          </a:custGeom>
          <a:blipFill>
            <a:blip r:embed="rId6"/>
            <a:stretch>
              <a:fillRect l="0" t="0" r="0" b="0"/>
            </a:stretch>
          </a:blipFill>
        </p:spPr>
      </p:sp>
      <p:sp>
        <p:nvSpPr>
          <p:cNvPr name="TextBox 5" id="5"/>
          <p:cNvSpPr txBox="true"/>
          <p:nvPr/>
        </p:nvSpPr>
        <p:spPr>
          <a:xfrm rot="0">
            <a:off x="5345906" y="3093720"/>
            <a:ext cx="11913394" cy="1564005"/>
          </a:xfrm>
          <a:prstGeom prst="rect">
            <a:avLst/>
          </a:prstGeom>
        </p:spPr>
        <p:txBody>
          <a:bodyPr anchor="t" rtlCol="false" tIns="0" lIns="0" bIns="0" rIns="0">
            <a:spAutoFit/>
          </a:bodyPr>
          <a:lstStyle/>
          <a:p>
            <a:pPr algn="l">
              <a:lnSpc>
                <a:spcPts val="2520"/>
              </a:lnSpc>
            </a:pPr>
            <a:r>
              <a:rPr lang="en-US" sz="1800">
                <a:solidFill>
                  <a:srgbClr val="0D0D0D"/>
                </a:solidFill>
                <a:latin typeface="Inter"/>
                <a:ea typeface="Inter"/>
                <a:cs typeface="Inter"/>
                <a:sym typeface="Inter"/>
              </a:rPr>
              <a:t>ColdBox is a conventions-based MVC Framework. It provides a set of reusable code and tools that can be used to increase your development productivity, as well as a development standard for working in team environments. ColdBox is comprehensive and modular, which helps address most infrastructure concerns of typical CFML applications. It is composed of several standalone libraries that in turn compose the ColdBox Platform.</a:t>
            </a:r>
          </a:p>
        </p:txBody>
      </p:sp>
      <p:sp>
        <p:nvSpPr>
          <p:cNvPr name="TextBox 6" id="6"/>
          <p:cNvSpPr txBox="true"/>
          <p:nvPr/>
        </p:nvSpPr>
        <p:spPr>
          <a:xfrm rot="0">
            <a:off x="5353050" y="4895850"/>
            <a:ext cx="9629775" cy="264795"/>
          </a:xfrm>
          <a:prstGeom prst="rect">
            <a:avLst/>
          </a:prstGeom>
        </p:spPr>
        <p:txBody>
          <a:bodyPr anchor="t" rtlCol="false" tIns="0" lIns="0" bIns="0" rIns="0">
            <a:spAutoFit/>
          </a:bodyPr>
          <a:lstStyle/>
          <a:p>
            <a:pPr algn="l">
              <a:lnSpc>
                <a:spcPts val="1800"/>
              </a:lnSpc>
            </a:pPr>
            <a:r>
              <a:rPr lang="en-US" sz="1800" b="true">
                <a:solidFill>
                  <a:srgbClr val="0D0D0D"/>
                </a:solidFill>
                <a:latin typeface="Poppins Bold"/>
                <a:ea typeface="Poppins Bold"/>
                <a:cs typeface="Poppins Bold"/>
                <a:sym typeface="Poppins Bold"/>
              </a:rPr>
              <a:t>ColdBox powers scalable apps since 2005 with support and training.</a:t>
            </a:r>
          </a:p>
        </p:txBody>
      </p:sp>
      <p:grpSp>
        <p:nvGrpSpPr>
          <p:cNvPr name="Group 7" id="7"/>
          <p:cNvGrpSpPr/>
          <p:nvPr/>
        </p:nvGrpSpPr>
        <p:grpSpPr>
          <a:xfrm rot="0">
            <a:off x="14468475" y="1072430"/>
            <a:ext cx="2790825" cy="784945"/>
            <a:chOff x="0" y="0"/>
            <a:chExt cx="735032" cy="206735"/>
          </a:xfrm>
        </p:grpSpPr>
        <p:sp>
          <p:nvSpPr>
            <p:cNvPr name="Freeform 8" id="8"/>
            <p:cNvSpPr/>
            <p:nvPr/>
          </p:nvSpPr>
          <p:spPr>
            <a:xfrm flipH="false" flipV="false" rot="0">
              <a:off x="0" y="0"/>
              <a:ext cx="735032" cy="206735"/>
            </a:xfrm>
            <a:custGeom>
              <a:avLst/>
              <a:gdLst/>
              <a:ahLst/>
              <a:cxnLst/>
              <a:rect r="r" b="b" t="t" l="l"/>
              <a:pathLst>
                <a:path h="206735" w="735032">
                  <a:moveTo>
                    <a:pt x="103367" y="0"/>
                  </a:moveTo>
                  <a:lnTo>
                    <a:pt x="631665" y="0"/>
                  </a:lnTo>
                  <a:cubicBezTo>
                    <a:pt x="659080" y="0"/>
                    <a:pt x="685371" y="10890"/>
                    <a:pt x="704757" y="30276"/>
                  </a:cubicBezTo>
                  <a:cubicBezTo>
                    <a:pt x="724142" y="49661"/>
                    <a:pt x="735032" y="75953"/>
                    <a:pt x="735032" y="103367"/>
                  </a:cubicBezTo>
                  <a:lnTo>
                    <a:pt x="735032" y="103367"/>
                  </a:lnTo>
                  <a:cubicBezTo>
                    <a:pt x="735032" y="130782"/>
                    <a:pt x="724142" y="157074"/>
                    <a:pt x="704757" y="176459"/>
                  </a:cubicBezTo>
                  <a:cubicBezTo>
                    <a:pt x="685371" y="195844"/>
                    <a:pt x="659080" y="206735"/>
                    <a:pt x="631665"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9" id="9"/>
            <p:cNvSpPr txBox="true"/>
            <p:nvPr/>
          </p:nvSpPr>
          <p:spPr>
            <a:xfrm>
              <a:off x="0" y="-38100"/>
              <a:ext cx="735032" cy="244835"/>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0">
            <a:off x="14837214" y="1344472"/>
            <a:ext cx="240861" cy="24086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13" id="13"/>
          <p:cNvSpPr txBox="true"/>
          <p:nvPr/>
        </p:nvSpPr>
        <p:spPr>
          <a:xfrm rot="0">
            <a:off x="15288667" y="1258210"/>
            <a:ext cx="1599158"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Core Products</a:t>
            </a:r>
          </a:p>
        </p:txBody>
      </p:sp>
      <p:sp>
        <p:nvSpPr>
          <p:cNvPr name="TextBox 14" id="14"/>
          <p:cNvSpPr txBox="true"/>
          <p:nvPr/>
        </p:nvSpPr>
        <p:spPr>
          <a:xfrm rot="0">
            <a:off x="1716120" y="6702564"/>
            <a:ext cx="7170705" cy="313055"/>
          </a:xfrm>
          <a:prstGeom prst="rect">
            <a:avLst/>
          </a:prstGeom>
        </p:spPr>
        <p:txBody>
          <a:bodyPr anchor="t" rtlCol="false" tIns="0" lIns="0" bIns="0" rIns="0">
            <a:spAutoFit/>
          </a:bodyPr>
          <a:lstStyle/>
          <a:p>
            <a:pPr algn="l">
              <a:lnSpc>
                <a:spcPts val="2200"/>
              </a:lnSpc>
            </a:pPr>
            <a:r>
              <a:rPr lang="en-US" sz="2200">
                <a:solidFill>
                  <a:srgbClr val="0D0D0D"/>
                </a:solidFill>
                <a:latin typeface="Poppins Light"/>
                <a:ea typeface="Poppins Light"/>
                <a:cs typeface="Poppins Light"/>
                <a:sym typeface="Poppins Light"/>
              </a:rPr>
              <a:t>www.coldbox.org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4">
              <a:alphaModFix amt="15000"/>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468475" y="1072430"/>
            <a:ext cx="2790825" cy="784945"/>
            <a:chOff x="0" y="0"/>
            <a:chExt cx="735032" cy="206735"/>
          </a:xfrm>
        </p:grpSpPr>
        <p:sp>
          <p:nvSpPr>
            <p:cNvPr name="Freeform 5" id="5"/>
            <p:cNvSpPr/>
            <p:nvPr/>
          </p:nvSpPr>
          <p:spPr>
            <a:xfrm flipH="false" flipV="false" rot="0">
              <a:off x="0" y="0"/>
              <a:ext cx="735032" cy="206735"/>
            </a:xfrm>
            <a:custGeom>
              <a:avLst/>
              <a:gdLst/>
              <a:ahLst/>
              <a:cxnLst/>
              <a:rect r="r" b="b" t="t" l="l"/>
              <a:pathLst>
                <a:path h="206735" w="735032">
                  <a:moveTo>
                    <a:pt x="103367" y="0"/>
                  </a:moveTo>
                  <a:lnTo>
                    <a:pt x="631665" y="0"/>
                  </a:lnTo>
                  <a:cubicBezTo>
                    <a:pt x="659080" y="0"/>
                    <a:pt x="685371" y="10890"/>
                    <a:pt x="704757" y="30276"/>
                  </a:cubicBezTo>
                  <a:cubicBezTo>
                    <a:pt x="724142" y="49661"/>
                    <a:pt x="735032" y="75953"/>
                    <a:pt x="735032" y="103367"/>
                  </a:cubicBezTo>
                  <a:lnTo>
                    <a:pt x="735032" y="103367"/>
                  </a:lnTo>
                  <a:cubicBezTo>
                    <a:pt x="735032" y="130782"/>
                    <a:pt x="724142" y="157074"/>
                    <a:pt x="704757" y="176459"/>
                  </a:cubicBezTo>
                  <a:cubicBezTo>
                    <a:pt x="685371" y="195844"/>
                    <a:pt x="659080" y="206735"/>
                    <a:pt x="631665"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735032" cy="244835"/>
            </a:xfrm>
            <a:prstGeom prst="rect">
              <a:avLst/>
            </a:prstGeom>
          </p:spPr>
          <p:txBody>
            <a:bodyPr anchor="ctr" rtlCol="false" tIns="50800" lIns="50800" bIns="50800" rIns="50800"/>
            <a:lstStyle/>
            <a:p>
              <a:pPr algn="ctr">
                <a:lnSpc>
                  <a:spcPts val="2520"/>
                </a:lnSpc>
              </a:pPr>
            </a:p>
          </p:txBody>
        </p:sp>
      </p:grpSp>
      <p:grpSp>
        <p:nvGrpSpPr>
          <p:cNvPr name="Group 7" id="7"/>
          <p:cNvGrpSpPr/>
          <p:nvPr/>
        </p:nvGrpSpPr>
        <p:grpSpPr>
          <a:xfrm rot="0">
            <a:off x="14837214" y="1344472"/>
            <a:ext cx="240861" cy="24086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10" id="10"/>
          <p:cNvSpPr txBox="true"/>
          <p:nvPr/>
        </p:nvSpPr>
        <p:spPr>
          <a:xfrm rot="0">
            <a:off x="15288667" y="1258210"/>
            <a:ext cx="1599158"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Core Products</a:t>
            </a:r>
          </a:p>
        </p:txBody>
      </p:sp>
      <p:sp>
        <p:nvSpPr>
          <p:cNvPr name="TextBox 11" id="11"/>
          <p:cNvSpPr txBox="true"/>
          <p:nvPr/>
        </p:nvSpPr>
        <p:spPr>
          <a:xfrm rot="0">
            <a:off x="6439579" y="4073137"/>
            <a:ext cx="8235004" cy="97726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A standalone, native tool for Windows, Mac, and Linux </a:t>
            </a:r>
          </a:p>
        </p:txBody>
      </p:sp>
      <p:sp>
        <p:nvSpPr>
          <p:cNvPr name="TextBox 12" id="12"/>
          <p:cNvSpPr txBox="true"/>
          <p:nvPr/>
        </p:nvSpPr>
        <p:spPr>
          <a:xfrm rot="0">
            <a:off x="6439579" y="5223923"/>
            <a:ext cx="9192667" cy="1437894"/>
          </a:xfrm>
          <a:prstGeom prst="rect">
            <a:avLst/>
          </a:prstGeom>
        </p:spPr>
        <p:txBody>
          <a:bodyPr anchor="t" rtlCol="false" tIns="0" lIns="0" bIns="0" rIns="0">
            <a:spAutoFit/>
          </a:bodyPr>
          <a:lstStyle/>
          <a:p>
            <a:pPr algn="l">
              <a:lnSpc>
                <a:spcPts val="2808"/>
              </a:lnSpc>
            </a:pPr>
            <a:r>
              <a:rPr lang="en-US" sz="2400">
                <a:solidFill>
                  <a:srgbClr val="0D0D0D"/>
                </a:solidFill>
                <a:latin typeface="Poppins Light"/>
                <a:ea typeface="Poppins Light"/>
                <a:cs typeface="Poppins Light"/>
                <a:sym typeface="Poppins Light"/>
              </a:rPr>
              <a:t>CommandBox will provide you with a Command Line Interface (CLI) for developer productivity, tool interaction, package management, embedded CFML server, application scaffolding, and some sweet ASCII art. </a:t>
            </a:r>
          </a:p>
        </p:txBody>
      </p:sp>
      <p:sp>
        <p:nvSpPr>
          <p:cNvPr name="Freeform 13" id="13"/>
          <p:cNvSpPr/>
          <p:nvPr/>
        </p:nvSpPr>
        <p:spPr>
          <a:xfrm flipH="false" flipV="false" rot="0">
            <a:off x="1028700" y="3066146"/>
            <a:ext cx="4848532" cy="4574087"/>
          </a:xfrm>
          <a:custGeom>
            <a:avLst/>
            <a:gdLst/>
            <a:ahLst/>
            <a:cxnLst/>
            <a:rect r="r" b="b" t="t" l="l"/>
            <a:pathLst>
              <a:path h="4574087" w="4848532">
                <a:moveTo>
                  <a:pt x="0" y="0"/>
                </a:moveTo>
                <a:lnTo>
                  <a:pt x="4848532" y="0"/>
                </a:lnTo>
                <a:lnTo>
                  <a:pt x="4848532" y="4574087"/>
                </a:lnTo>
                <a:lnTo>
                  <a:pt x="0" y="45740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647213">
            <a:off x="4536405" y="-865982"/>
            <a:ext cx="20219053" cy="10370689"/>
          </a:xfrm>
          <a:custGeom>
            <a:avLst/>
            <a:gdLst/>
            <a:ahLst/>
            <a:cxnLst/>
            <a:rect r="r" b="b" t="t" l="l"/>
            <a:pathLst>
              <a:path h="10370689" w="20219053">
                <a:moveTo>
                  <a:pt x="0" y="0"/>
                </a:moveTo>
                <a:lnTo>
                  <a:pt x="20219053" y="0"/>
                </a:lnTo>
                <a:lnTo>
                  <a:pt x="20219053" y="10370689"/>
                </a:lnTo>
                <a:lnTo>
                  <a:pt x="0" y="10370689"/>
                </a:lnTo>
                <a:lnTo>
                  <a:pt x="0" y="0"/>
                </a:lnTo>
                <a:close/>
              </a:path>
            </a:pathLst>
          </a:custGeom>
          <a:blipFill>
            <a:blip r:embed="rId4">
              <a:alphaModFix amt="15000"/>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468475" y="1072430"/>
            <a:ext cx="2790825" cy="784945"/>
            <a:chOff x="0" y="0"/>
            <a:chExt cx="735032" cy="206735"/>
          </a:xfrm>
        </p:grpSpPr>
        <p:sp>
          <p:nvSpPr>
            <p:cNvPr name="Freeform 5" id="5"/>
            <p:cNvSpPr/>
            <p:nvPr/>
          </p:nvSpPr>
          <p:spPr>
            <a:xfrm flipH="false" flipV="false" rot="0">
              <a:off x="0" y="0"/>
              <a:ext cx="735032" cy="206735"/>
            </a:xfrm>
            <a:custGeom>
              <a:avLst/>
              <a:gdLst/>
              <a:ahLst/>
              <a:cxnLst/>
              <a:rect r="r" b="b" t="t" l="l"/>
              <a:pathLst>
                <a:path h="206735" w="735032">
                  <a:moveTo>
                    <a:pt x="103367" y="0"/>
                  </a:moveTo>
                  <a:lnTo>
                    <a:pt x="631665" y="0"/>
                  </a:lnTo>
                  <a:cubicBezTo>
                    <a:pt x="659080" y="0"/>
                    <a:pt x="685371" y="10890"/>
                    <a:pt x="704757" y="30276"/>
                  </a:cubicBezTo>
                  <a:cubicBezTo>
                    <a:pt x="724142" y="49661"/>
                    <a:pt x="735032" y="75953"/>
                    <a:pt x="735032" y="103367"/>
                  </a:cubicBezTo>
                  <a:lnTo>
                    <a:pt x="735032" y="103367"/>
                  </a:lnTo>
                  <a:cubicBezTo>
                    <a:pt x="735032" y="130782"/>
                    <a:pt x="724142" y="157074"/>
                    <a:pt x="704757" y="176459"/>
                  </a:cubicBezTo>
                  <a:cubicBezTo>
                    <a:pt x="685371" y="195844"/>
                    <a:pt x="659080" y="206735"/>
                    <a:pt x="631665"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735032" cy="244835"/>
            </a:xfrm>
            <a:prstGeom prst="rect">
              <a:avLst/>
            </a:prstGeom>
          </p:spPr>
          <p:txBody>
            <a:bodyPr anchor="ctr" rtlCol="false" tIns="50800" lIns="50800" bIns="50800" rIns="50800"/>
            <a:lstStyle/>
            <a:p>
              <a:pPr algn="ctr">
                <a:lnSpc>
                  <a:spcPts val="2520"/>
                </a:lnSpc>
              </a:pPr>
            </a:p>
          </p:txBody>
        </p:sp>
      </p:grpSp>
      <p:grpSp>
        <p:nvGrpSpPr>
          <p:cNvPr name="Group 7" id="7"/>
          <p:cNvGrpSpPr/>
          <p:nvPr/>
        </p:nvGrpSpPr>
        <p:grpSpPr>
          <a:xfrm rot="0">
            <a:off x="14837214" y="1344472"/>
            <a:ext cx="240861" cy="24086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0" id="10"/>
          <p:cNvSpPr/>
          <p:nvPr/>
        </p:nvSpPr>
        <p:spPr>
          <a:xfrm flipH="false" flipV="false" rot="0">
            <a:off x="1028700" y="3214688"/>
            <a:ext cx="4752831" cy="4466946"/>
          </a:xfrm>
          <a:custGeom>
            <a:avLst/>
            <a:gdLst/>
            <a:ahLst/>
            <a:cxnLst/>
            <a:rect r="r" b="b" t="t" l="l"/>
            <a:pathLst>
              <a:path h="4466946" w="4752831">
                <a:moveTo>
                  <a:pt x="0" y="0"/>
                </a:moveTo>
                <a:lnTo>
                  <a:pt x="4752831" y="0"/>
                </a:lnTo>
                <a:lnTo>
                  <a:pt x="4752831" y="4466946"/>
                </a:lnTo>
                <a:lnTo>
                  <a:pt x="0" y="44669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5288667" y="1258210"/>
            <a:ext cx="1599158"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Core Products</a:t>
            </a:r>
          </a:p>
        </p:txBody>
      </p:sp>
      <p:sp>
        <p:nvSpPr>
          <p:cNvPr name="TextBox 12" id="12"/>
          <p:cNvSpPr txBox="true"/>
          <p:nvPr/>
        </p:nvSpPr>
        <p:spPr>
          <a:xfrm rot="0">
            <a:off x="6439579" y="4347938"/>
            <a:ext cx="6800057" cy="97726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A powerful professional open-source headless CMS. </a:t>
            </a:r>
          </a:p>
        </p:txBody>
      </p:sp>
      <p:sp>
        <p:nvSpPr>
          <p:cNvPr name="TextBox 13" id="13"/>
          <p:cNvSpPr txBox="true"/>
          <p:nvPr/>
        </p:nvSpPr>
        <p:spPr>
          <a:xfrm rot="0">
            <a:off x="6439579" y="5424536"/>
            <a:ext cx="7757719" cy="733044"/>
          </a:xfrm>
          <a:prstGeom prst="rect">
            <a:avLst/>
          </a:prstGeom>
        </p:spPr>
        <p:txBody>
          <a:bodyPr anchor="t" rtlCol="false" tIns="0" lIns="0" bIns="0" rIns="0">
            <a:spAutoFit/>
          </a:bodyPr>
          <a:lstStyle/>
          <a:p>
            <a:pPr algn="l">
              <a:lnSpc>
                <a:spcPts val="2808"/>
              </a:lnSpc>
            </a:pPr>
            <a:r>
              <a:rPr lang="en-US" sz="2400">
                <a:solidFill>
                  <a:srgbClr val="0D0D0D"/>
                </a:solidFill>
                <a:latin typeface="Poppins Light"/>
                <a:ea typeface="Poppins Light"/>
                <a:cs typeface="Poppins Light"/>
                <a:sym typeface="Poppins Light"/>
              </a:rPr>
              <a:t>Designed to scale, perform with security in mind, and multi-site ready.</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4">
              <a:alphaModFix amt="15000"/>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468475" y="1072430"/>
            <a:ext cx="2790825" cy="784945"/>
            <a:chOff x="0" y="0"/>
            <a:chExt cx="735032" cy="206735"/>
          </a:xfrm>
        </p:grpSpPr>
        <p:sp>
          <p:nvSpPr>
            <p:cNvPr name="Freeform 5" id="5"/>
            <p:cNvSpPr/>
            <p:nvPr/>
          </p:nvSpPr>
          <p:spPr>
            <a:xfrm flipH="false" flipV="false" rot="0">
              <a:off x="0" y="0"/>
              <a:ext cx="735032" cy="206735"/>
            </a:xfrm>
            <a:custGeom>
              <a:avLst/>
              <a:gdLst/>
              <a:ahLst/>
              <a:cxnLst/>
              <a:rect r="r" b="b" t="t" l="l"/>
              <a:pathLst>
                <a:path h="206735" w="735032">
                  <a:moveTo>
                    <a:pt x="103367" y="0"/>
                  </a:moveTo>
                  <a:lnTo>
                    <a:pt x="631665" y="0"/>
                  </a:lnTo>
                  <a:cubicBezTo>
                    <a:pt x="659080" y="0"/>
                    <a:pt x="685371" y="10890"/>
                    <a:pt x="704757" y="30276"/>
                  </a:cubicBezTo>
                  <a:cubicBezTo>
                    <a:pt x="724142" y="49661"/>
                    <a:pt x="735032" y="75953"/>
                    <a:pt x="735032" y="103367"/>
                  </a:cubicBezTo>
                  <a:lnTo>
                    <a:pt x="735032" y="103367"/>
                  </a:lnTo>
                  <a:cubicBezTo>
                    <a:pt x="735032" y="130782"/>
                    <a:pt x="724142" y="157074"/>
                    <a:pt x="704757" y="176459"/>
                  </a:cubicBezTo>
                  <a:cubicBezTo>
                    <a:pt x="685371" y="195844"/>
                    <a:pt x="659080" y="206735"/>
                    <a:pt x="631665"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735032" cy="244835"/>
            </a:xfrm>
            <a:prstGeom prst="rect">
              <a:avLst/>
            </a:prstGeom>
          </p:spPr>
          <p:txBody>
            <a:bodyPr anchor="ctr" rtlCol="false" tIns="50800" lIns="50800" bIns="50800" rIns="50800"/>
            <a:lstStyle/>
            <a:p>
              <a:pPr algn="ctr">
                <a:lnSpc>
                  <a:spcPts val="2520"/>
                </a:lnSpc>
              </a:pPr>
            </a:p>
          </p:txBody>
        </p:sp>
      </p:grpSp>
      <p:grpSp>
        <p:nvGrpSpPr>
          <p:cNvPr name="Group 7" id="7"/>
          <p:cNvGrpSpPr/>
          <p:nvPr/>
        </p:nvGrpSpPr>
        <p:grpSpPr>
          <a:xfrm rot="0">
            <a:off x="14837214" y="1344472"/>
            <a:ext cx="240861" cy="24086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0" id="10"/>
          <p:cNvSpPr/>
          <p:nvPr/>
        </p:nvSpPr>
        <p:spPr>
          <a:xfrm flipH="false" flipV="false" rot="0">
            <a:off x="1042987" y="3605453"/>
            <a:ext cx="8101013" cy="1178000"/>
          </a:xfrm>
          <a:custGeom>
            <a:avLst/>
            <a:gdLst/>
            <a:ahLst/>
            <a:cxnLst/>
            <a:rect r="r" b="b" t="t" l="l"/>
            <a:pathLst>
              <a:path h="1178000" w="8101013">
                <a:moveTo>
                  <a:pt x="0" y="0"/>
                </a:moveTo>
                <a:lnTo>
                  <a:pt x="8101013" y="0"/>
                </a:lnTo>
                <a:lnTo>
                  <a:pt x="8101013" y="1177999"/>
                </a:lnTo>
                <a:lnTo>
                  <a:pt x="0" y="11779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5288667" y="1258210"/>
            <a:ext cx="1599158"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Core Products</a:t>
            </a:r>
          </a:p>
        </p:txBody>
      </p:sp>
      <p:sp>
        <p:nvSpPr>
          <p:cNvPr name="TextBox 12" id="12"/>
          <p:cNvSpPr txBox="true"/>
          <p:nvPr/>
        </p:nvSpPr>
        <p:spPr>
          <a:xfrm rot="0">
            <a:off x="1042988" y="5890832"/>
            <a:ext cx="10276267" cy="97726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A modern, dynamically and loosely typed scripting language for multiple runtimes.</a:t>
            </a:r>
          </a:p>
        </p:txBody>
      </p:sp>
      <p:sp>
        <p:nvSpPr>
          <p:cNvPr name="TextBox 13" id="13"/>
          <p:cNvSpPr txBox="true"/>
          <p:nvPr/>
        </p:nvSpPr>
        <p:spPr>
          <a:xfrm rot="0">
            <a:off x="1042988" y="6944297"/>
            <a:ext cx="11294562" cy="642366"/>
          </a:xfrm>
          <a:prstGeom prst="rect">
            <a:avLst/>
          </a:prstGeom>
        </p:spPr>
        <p:txBody>
          <a:bodyPr anchor="t" rtlCol="false" tIns="0" lIns="0" bIns="0" rIns="0">
            <a:spAutoFit/>
          </a:bodyPr>
          <a:lstStyle/>
          <a:p>
            <a:pPr algn="l">
              <a:lnSpc>
                <a:spcPts val="2502"/>
              </a:lnSpc>
            </a:pPr>
            <a:r>
              <a:rPr lang="en-US" sz="1800">
                <a:solidFill>
                  <a:srgbClr val="0D0D0D"/>
                </a:solidFill>
                <a:latin typeface="Poppins Light"/>
                <a:ea typeface="Poppins Light"/>
                <a:cs typeface="Poppins Light"/>
                <a:sym typeface="Poppins Light"/>
              </a:rPr>
              <a:t>For the Java Virtual Machine (JVM) giving you tons of Object-Oriented (OO), Functional Programming (FP) Constructs, and dynamic Metadata Programming (MP)</a:t>
            </a:r>
          </a:p>
        </p:txBody>
      </p:sp>
      <p:sp>
        <p:nvSpPr>
          <p:cNvPr name="TextBox 14" id="14"/>
          <p:cNvSpPr txBox="true"/>
          <p:nvPr/>
        </p:nvSpPr>
        <p:spPr>
          <a:xfrm rot="0">
            <a:off x="1028700" y="4836623"/>
            <a:ext cx="5713661" cy="516891"/>
          </a:xfrm>
          <a:prstGeom prst="rect">
            <a:avLst/>
          </a:prstGeom>
        </p:spPr>
        <p:txBody>
          <a:bodyPr anchor="t" rtlCol="false" tIns="0" lIns="0" bIns="0" rIns="0">
            <a:spAutoFit/>
          </a:bodyPr>
          <a:lstStyle/>
          <a:p>
            <a:pPr algn="l">
              <a:lnSpc>
                <a:spcPts val="4059"/>
              </a:lnSpc>
              <a:spcBef>
                <a:spcPct val="0"/>
              </a:spcBef>
            </a:pPr>
            <a:r>
              <a:rPr lang="en-US" sz="2899">
                <a:solidFill>
                  <a:srgbClr val="303446"/>
                </a:solidFill>
                <a:latin typeface="Poppins"/>
                <a:ea typeface="Poppins"/>
                <a:cs typeface="Poppins"/>
                <a:sym typeface="Poppins"/>
              </a:rPr>
              <a:t>Dynamic : Modular : Productive</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5831681"/>
            <a:ext cx="404812" cy="404812"/>
          </a:xfrm>
          <a:custGeom>
            <a:avLst/>
            <a:gdLst/>
            <a:ahLst/>
            <a:cxnLst/>
            <a:rect r="r" b="b" t="t" l="l"/>
            <a:pathLst>
              <a:path h="404812" w="404812">
                <a:moveTo>
                  <a:pt x="0" y="0"/>
                </a:moveTo>
                <a:lnTo>
                  <a:pt x="404812" y="0"/>
                </a:lnTo>
                <a:lnTo>
                  <a:pt x="404812" y="404813"/>
                </a:lnTo>
                <a:lnTo>
                  <a:pt x="0" y="4048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468475" y="1072430"/>
            <a:ext cx="2790825" cy="784945"/>
            <a:chOff x="0" y="0"/>
            <a:chExt cx="735032" cy="206735"/>
          </a:xfrm>
        </p:grpSpPr>
        <p:sp>
          <p:nvSpPr>
            <p:cNvPr name="Freeform 5" id="5"/>
            <p:cNvSpPr/>
            <p:nvPr/>
          </p:nvSpPr>
          <p:spPr>
            <a:xfrm flipH="false" flipV="false" rot="0">
              <a:off x="0" y="0"/>
              <a:ext cx="735032" cy="206735"/>
            </a:xfrm>
            <a:custGeom>
              <a:avLst/>
              <a:gdLst/>
              <a:ahLst/>
              <a:cxnLst/>
              <a:rect r="r" b="b" t="t" l="l"/>
              <a:pathLst>
                <a:path h="206735" w="735032">
                  <a:moveTo>
                    <a:pt x="103367" y="0"/>
                  </a:moveTo>
                  <a:lnTo>
                    <a:pt x="631665" y="0"/>
                  </a:lnTo>
                  <a:cubicBezTo>
                    <a:pt x="659080" y="0"/>
                    <a:pt x="685371" y="10890"/>
                    <a:pt x="704757" y="30276"/>
                  </a:cubicBezTo>
                  <a:cubicBezTo>
                    <a:pt x="724142" y="49661"/>
                    <a:pt x="735032" y="75953"/>
                    <a:pt x="735032" y="103367"/>
                  </a:cubicBezTo>
                  <a:lnTo>
                    <a:pt x="735032" y="103367"/>
                  </a:lnTo>
                  <a:cubicBezTo>
                    <a:pt x="735032" y="130782"/>
                    <a:pt x="724142" y="157074"/>
                    <a:pt x="704757" y="176459"/>
                  </a:cubicBezTo>
                  <a:cubicBezTo>
                    <a:pt x="685371" y="195844"/>
                    <a:pt x="659080" y="206735"/>
                    <a:pt x="631665"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735032" cy="244835"/>
            </a:xfrm>
            <a:prstGeom prst="rect">
              <a:avLst/>
            </a:prstGeom>
          </p:spPr>
          <p:txBody>
            <a:bodyPr anchor="ctr" rtlCol="false" tIns="50800" lIns="50800" bIns="50800" rIns="50800"/>
            <a:lstStyle/>
            <a:p>
              <a:pPr algn="ctr">
                <a:lnSpc>
                  <a:spcPts val="2520"/>
                </a:lnSpc>
              </a:pPr>
            </a:p>
          </p:txBody>
        </p:sp>
      </p:grpSp>
      <p:grpSp>
        <p:nvGrpSpPr>
          <p:cNvPr name="Group 7" id="7"/>
          <p:cNvGrpSpPr/>
          <p:nvPr/>
        </p:nvGrpSpPr>
        <p:grpSpPr>
          <a:xfrm rot="0">
            <a:off x="14837214" y="1344472"/>
            <a:ext cx="240861" cy="24086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0" id="10"/>
          <p:cNvSpPr/>
          <p:nvPr/>
        </p:nvSpPr>
        <p:spPr>
          <a:xfrm flipH="false" flipV="false" rot="0">
            <a:off x="7959424" y="2714313"/>
            <a:ext cx="2335843" cy="1502676"/>
          </a:xfrm>
          <a:custGeom>
            <a:avLst/>
            <a:gdLst/>
            <a:ahLst/>
            <a:cxnLst/>
            <a:rect r="r" b="b" t="t" l="l"/>
            <a:pathLst>
              <a:path h="1502676" w="2335843">
                <a:moveTo>
                  <a:pt x="0" y="0"/>
                </a:moveTo>
                <a:lnTo>
                  <a:pt x="2335843" y="0"/>
                </a:lnTo>
                <a:lnTo>
                  <a:pt x="2335843" y="1502675"/>
                </a:lnTo>
                <a:lnTo>
                  <a:pt x="0" y="1502675"/>
                </a:lnTo>
                <a:lnTo>
                  <a:pt x="0" y="0"/>
                </a:lnTo>
                <a:close/>
              </a:path>
            </a:pathLst>
          </a:custGeom>
          <a:blipFill>
            <a:blip r:embed="rId6"/>
            <a:stretch>
              <a:fillRect l="0" t="0" r="0" b="0"/>
            </a:stretch>
          </a:blipFill>
        </p:spPr>
      </p:sp>
      <p:sp>
        <p:nvSpPr>
          <p:cNvPr name="Freeform 11" id="11"/>
          <p:cNvSpPr/>
          <p:nvPr/>
        </p:nvSpPr>
        <p:spPr>
          <a:xfrm flipH="false" flipV="false" rot="0">
            <a:off x="11694490" y="2700338"/>
            <a:ext cx="1637770" cy="1530626"/>
          </a:xfrm>
          <a:custGeom>
            <a:avLst/>
            <a:gdLst/>
            <a:ahLst/>
            <a:cxnLst/>
            <a:rect r="r" b="b" t="t" l="l"/>
            <a:pathLst>
              <a:path h="1530626" w="1637770">
                <a:moveTo>
                  <a:pt x="0" y="0"/>
                </a:moveTo>
                <a:lnTo>
                  <a:pt x="1637770" y="0"/>
                </a:lnTo>
                <a:lnTo>
                  <a:pt x="1637770" y="1530626"/>
                </a:lnTo>
                <a:lnTo>
                  <a:pt x="0" y="1530626"/>
                </a:lnTo>
                <a:lnTo>
                  <a:pt x="0" y="0"/>
                </a:lnTo>
                <a:close/>
              </a:path>
            </a:pathLst>
          </a:custGeom>
          <a:blipFill>
            <a:blip r:embed="rId7"/>
            <a:stretch>
              <a:fillRect l="0" t="0" r="0" b="0"/>
            </a:stretch>
          </a:blipFill>
        </p:spPr>
      </p:sp>
      <p:sp>
        <p:nvSpPr>
          <p:cNvPr name="Freeform 12" id="12"/>
          <p:cNvSpPr/>
          <p:nvPr/>
        </p:nvSpPr>
        <p:spPr>
          <a:xfrm flipH="false" flipV="false" rot="0">
            <a:off x="14731483" y="2714311"/>
            <a:ext cx="2097801" cy="1502680"/>
          </a:xfrm>
          <a:custGeom>
            <a:avLst/>
            <a:gdLst/>
            <a:ahLst/>
            <a:cxnLst/>
            <a:rect r="r" b="b" t="t" l="l"/>
            <a:pathLst>
              <a:path h="1502680" w="2097801">
                <a:moveTo>
                  <a:pt x="0" y="0"/>
                </a:moveTo>
                <a:lnTo>
                  <a:pt x="2097801" y="0"/>
                </a:lnTo>
                <a:lnTo>
                  <a:pt x="2097801" y="1502679"/>
                </a:lnTo>
                <a:lnTo>
                  <a:pt x="0" y="1502679"/>
                </a:lnTo>
                <a:lnTo>
                  <a:pt x="0" y="0"/>
                </a:lnTo>
                <a:close/>
              </a:path>
            </a:pathLst>
          </a:custGeom>
          <a:blipFill>
            <a:blip r:embed="rId8"/>
            <a:stretch>
              <a:fillRect l="0" t="0" r="0" b="0"/>
            </a:stretch>
          </a:blipFill>
        </p:spPr>
      </p:sp>
      <p:sp>
        <p:nvSpPr>
          <p:cNvPr name="Freeform 13" id="13"/>
          <p:cNvSpPr/>
          <p:nvPr/>
        </p:nvSpPr>
        <p:spPr>
          <a:xfrm flipH="false" flipV="false" rot="0">
            <a:off x="7976079" y="5096978"/>
            <a:ext cx="2302533" cy="1419172"/>
          </a:xfrm>
          <a:custGeom>
            <a:avLst/>
            <a:gdLst/>
            <a:ahLst/>
            <a:cxnLst/>
            <a:rect r="r" b="b" t="t" l="l"/>
            <a:pathLst>
              <a:path h="1419172" w="2302533">
                <a:moveTo>
                  <a:pt x="0" y="0"/>
                </a:moveTo>
                <a:lnTo>
                  <a:pt x="2302533" y="0"/>
                </a:lnTo>
                <a:lnTo>
                  <a:pt x="2302533" y="1419172"/>
                </a:lnTo>
                <a:lnTo>
                  <a:pt x="0" y="1419172"/>
                </a:lnTo>
                <a:lnTo>
                  <a:pt x="0" y="0"/>
                </a:lnTo>
                <a:close/>
              </a:path>
            </a:pathLst>
          </a:custGeom>
          <a:blipFill>
            <a:blip r:embed="rId9"/>
            <a:stretch>
              <a:fillRect l="0" t="0" r="0" b="0"/>
            </a:stretch>
          </a:blipFill>
        </p:spPr>
      </p:sp>
      <p:sp>
        <p:nvSpPr>
          <p:cNvPr name="Freeform 14" id="14"/>
          <p:cNvSpPr/>
          <p:nvPr/>
        </p:nvSpPr>
        <p:spPr>
          <a:xfrm flipH="false" flipV="false" rot="0">
            <a:off x="11472834" y="5030040"/>
            <a:ext cx="2081083" cy="1553047"/>
          </a:xfrm>
          <a:custGeom>
            <a:avLst/>
            <a:gdLst/>
            <a:ahLst/>
            <a:cxnLst/>
            <a:rect r="r" b="b" t="t" l="l"/>
            <a:pathLst>
              <a:path h="1553047" w="2081083">
                <a:moveTo>
                  <a:pt x="0" y="0"/>
                </a:moveTo>
                <a:lnTo>
                  <a:pt x="2081082" y="0"/>
                </a:lnTo>
                <a:lnTo>
                  <a:pt x="2081082" y="1553047"/>
                </a:lnTo>
                <a:lnTo>
                  <a:pt x="0" y="1553047"/>
                </a:lnTo>
                <a:lnTo>
                  <a:pt x="0" y="0"/>
                </a:lnTo>
                <a:close/>
              </a:path>
            </a:pathLst>
          </a:custGeom>
          <a:blipFill>
            <a:blip r:embed="rId10"/>
            <a:stretch>
              <a:fillRect l="0" t="0" r="0" b="0"/>
            </a:stretch>
          </a:blipFill>
        </p:spPr>
      </p:sp>
      <p:sp>
        <p:nvSpPr>
          <p:cNvPr name="Freeform 15" id="15"/>
          <p:cNvSpPr/>
          <p:nvPr/>
        </p:nvSpPr>
        <p:spPr>
          <a:xfrm flipH="false" flipV="false" rot="0">
            <a:off x="11335861" y="7250023"/>
            <a:ext cx="2355027" cy="934535"/>
          </a:xfrm>
          <a:custGeom>
            <a:avLst/>
            <a:gdLst/>
            <a:ahLst/>
            <a:cxnLst/>
            <a:rect r="r" b="b" t="t" l="l"/>
            <a:pathLst>
              <a:path h="934535" w="2355027">
                <a:moveTo>
                  <a:pt x="0" y="0"/>
                </a:moveTo>
                <a:lnTo>
                  <a:pt x="2355028" y="0"/>
                </a:lnTo>
                <a:lnTo>
                  <a:pt x="2355028" y="934534"/>
                </a:lnTo>
                <a:lnTo>
                  <a:pt x="0" y="934534"/>
                </a:lnTo>
                <a:lnTo>
                  <a:pt x="0" y="0"/>
                </a:lnTo>
                <a:close/>
              </a:path>
            </a:pathLst>
          </a:custGeom>
          <a:blipFill>
            <a:blip r:embed="rId11"/>
            <a:stretch>
              <a:fillRect l="0" t="0" r="0" b="0"/>
            </a:stretch>
          </a:blipFill>
        </p:spPr>
      </p:sp>
      <p:sp>
        <p:nvSpPr>
          <p:cNvPr name="Freeform 16" id="16"/>
          <p:cNvSpPr/>
          <p:nvPr/>
        </p:nvSpPr>
        <p:spPr>
          <a:xfrm flipH="false" flipV="false" rot="0">
            <a:off x="14937112" y="4897714"/>
            <a:ext cx="1686543" cy="1817701"/>
          </a:xfrm>
          <a:custGeom>
            <a:avLst/>
            <a:gdLst/>
            <a:ahLst/>
            <a:cxnLst/>
            <a:rect r="r" b="b" t="t" l="l"/>
            <a:pathLst>
              <a:path h="1817701" w="1686543">
                <a:moveTo>
                  <a:pt x="0" y="0"/>
                </a:moveTo>
                <a:lnTo>
                  <a:pt x="1686543" y="0"/>
                </a:lnTo>
                <a:lnTo>
                  <a:pt x="1686543" y="1817700"/>
                </a:lnTo>
                <a:lnTo>
                  <a:pt x="0" y="1817700"/>
                </a:lnTo>
                <a:lnTo>
                  <a:pt x="0" y="0"/>
                </a:lnTo>
                <a:close/>
              </a:path>
            </a:pathLst>
          </a:custGeom>
          <a:blipFill>
            <a:blip r:embed="rId12"/>
            <a:stretch>
              <a:fillRect l="-63461" t="-9484" r="-70275" b="-7113"/>
            </a:stretch>
          </a:blipFill>
        </p:spPr>
      </p:sp>
      <p:sp>
        <p:nvSpPr>
          <p:cNvPr name="TextBox 17" id="17"/>
          <p:cNvSpPr txBox="true"/>
          <p:nvPr/>
        </p:nvSpPr>
        <p:spPr>
          <a:xfrm rot="0">
            <a:off x="971550" y="2474955"/>
            <a:ext cx="6462712" cy="148336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Resellers</a:t>
            </a:r>
          </a:p>
        </p:txBody>
      </p:sp>
      <p:sp>
        <p:nvSpPr>
          <p:cNvPr name="TextBox 18" id="18"/>
          <p:cNvSpPr txBox="true"/>
          <p:nvPr/>
        </p:nvSpPr>
        <p:spPr>
          <a:xfrm rot="0">
            <a:off x="15288667" y="1258210"/>
            <a:ext cx="1599158"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Core Products</a:t>
            </a:r>
          </a:p>
        </p:txBody>
      </p:sp>
    </p:spTree>
  </p:cSld>
  <p:clrMapOvr>
    <a:masterClrMapping/>
  </p:clrMapOvr>
  <p:transition spd="fast">
    <p:wipe dir="u"/>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056380"/>
            <a:ext cx="10480051" cy="1878964"/>
          </a:xfrm>
          <a:prstGeom prst="rect">
            <a:avLst/>
          </a:prstGeom>
        </p:spPr>
        <p:txBody>
          <a:bodyPr anchor="t" rtlCol="false" tIns="0" lIns="0" bIns="0" rIns="0">
            <a:spAutoFit/>
          </a:bodyPr>
          <a:lstStyle/>
          <a:p>
            <a:pPr algn="l">
              <a:lnSpc>
                <a:spcPts val="14560"/>
              </a:lnSpc>
            </a:pPr>
            <a:r>
              <a:rPr lang="en-US" sz="10400">
                <a:solidFill>
                  <a:srgbClr val="0D0D0D"/>
                </a:solidFill>
                <a:latin typeface="Poppins Light"/>
                <a:ea typeface="Poppins Light"/>
                <a:cs typeface="Poppins Light"/>
                <a:sym typeface="Poppins Light"/>
              </a:rPr>
              <a:t>Services</a:t>
            </a:r>
          </a:p>
        </p:txBody>
      </p:sp>
      <p:sp>
        <p:nvSpPr>
          <p:cNvPr name="Freeform 4" id="4"/>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d"/>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982825" y="1072430"/>
            <a:ext cx="2276475" cy="784945"/>
            <a:chOff x="0" y="0"/>
            <a:chExt cx="599565" cy="206735"/>
          </a:xfrm>
        </p:grpSpPr>
        <p:sp>
          <p:nvSpPr>
            <p:cNvPr name="Freeform 4" id="4"/>
            <p:cNvSpPr/>
            <p:nvPr/>
          </p:nvSpPr>
          <p:spPr>
            <a:xfrm flipH="false" flipV="false" rot="0">
              <a:off x="0" y="0"/>
              <a:ext cx="599565" cy="206735"/>
            </a:xfrm>
            <a:custGeom>
              <a:avLst/>
              <a:gdLst/>
              <a:ahLst/>
              <a:cxnLst/>
              <a:rect r="r" b="b" t="t" l="l"/>
              <a:pathLst>
                <a:path h="206735" w="599565">
                  <a:moveTo>
                    <a:pt x="103367" y="0"/>
                  </a:moveTo>
                  <a:lnTo>
                    <a:pt x="496198" y="0"/>
                  </a:lnTo>
                  <a:cubicBezTo>
                    <a:pt x="523613" y="0"/>
                    <a:pt x="549905" y="10890"/>
                    <a:pt x="569290" y="30276"/>
                  </a:cubicBezTo>
                  <a:cubicBezTo>
                    <a:pt x="588675" y="49661"/>
                    <a:pt x="599565" y="75953"/>
                    <a:pt x="599565" y="103367"/>
                  </a:cubicBezTo>
                  <a:lnTo>
                    <a:pt x="599565" y="103367"/>
                  </a:lnTo>
                  <a:cubicBezTo>
                    <a:pt x="599565" y="130782"/>
                    <a:pt x="588675" y="157074"/>
                    <a:pt x="569290" y="176459"/>
                  </a:cubicBezTo>
                  <a:cubicBezTo>
                    <a:pt x="549905" y="195844"/>
                    <a:pt x="523613" y="206735"/>
                    <a:pt x="496198"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5" id="5"/>
            <p:cNvSpPr txBox="true"/>
            <p:nvPr/>
          </p:nvSpPr>
          <p:spPr>
            <a:xfrm>
              <a:off x="0" y="-38100"/>
              <a:ext cx="599565" cy="244835"/>
            </a:xfrm>
            <a:prstGeom prst="rect">
              <a:avLst/>
            </a:prstGeom>
          </p:spPr>
          <p:txBody>
            <a:bodyPr anchor="ctr" rtlCol="false" tIns="50800" lIns="50800" bIns="50800" rIns="50800"/>
            <a:lstStyle/>
            <a:p>
              <a:pPr algn="ctr">
                <a:lnSpc>
                  <a:spcPts val="2520"/>
                </a:lnSpc>
              </a:pPr>
            </a:p>
          </p:txBody>
        </p:sp>
      </p:grpSp>
      <p:sp>
        <p:nvSpPr>
          <p:cNvPr name="TextBox 6" id="6"/>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7" id="7"/>
          <p:cNvGrpSpPr/>
          <p:nvPr/>
        </p:nvGrpSpPr>
        <p:grpSpPr>
          <a:xfrm rot="0">
            <a:off x="15319698" y="1344472"/>
            <a:ext cx="240861" cy="24086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0">
            <a:off x="9280744" y="4043915"/>
            <a:ext cx="6775392" cy="784945"/>
            <a:chOff x="0" y="0"/>
            <a:chExt cx="9033856" cy="1046593"/>
          </a:xfrm>
        </p:grpSpPr>
        <p:grpSp>
          <p:nvGrpSpPr>
            <p:cNvPr name="Group 11" id="11"/>
            <p:cNvGrpSpPr/>
            <p:nvPr/>
          </p:nvGrpSpPr>
          <p:grpSpPr>
            <a:xfrm rot="0">
              <a:off x="0" y="0"/>
              <a:ext cx="9033856" cy="1046593"/>
              <a:chOff x="0" y="0"/>
              <a:chExt cx="1784465" cy="206735"/>
            </a:xfrm>
          </p:grpSpPr>
          <p:sp>
            <p:nvSpPr>
              <p:cNvPr name="Freeform 12" id="12"/>
              <p:cNvSpPr/>
              <p:nvPr/>
            </p:nvSpPr>
            <p:spPr>
              <a:xfrm flipH="false" flipV="false" rot="0">
                <a:off x="0" y="0"/>
                <a:ext cx="1784465" cy="206735"/>
              </a:xfrm>
              <a:custGeom>
                <a:avLst/>
                <a:gdLst/>
                <a:ahLst/>
                <a:cxnLst/>
                <a:rect r="r" b="b" t="t" l="l"/>
                <a:pathLst>
                  <a:path h="206735" w="1784465">
                    <a:moveTo>
                      <a:pt x="103367" y="0"/>
                    </a:moveTo>
                    <a:lnTo>
                      <a:pt x="1681098" y="0"/>
                    </a:lnTo>
                    <a:cubicBezTo>
                      <a:pt x="1708513" y="0"/>
                      <a:pt x="1734805" y="10890"/>
                      <a:pt x="1754190" y="30276"/>
                    </a:cubicBezTo>
                    <a:cubicBezTo>
                      <a:pt x="1773575" y="49661"/>
                      <a:pt x="1784465" y="75953"/>
                      <a:pt x="1784465" y="103367"/>
                    </a:cubicBezTo>
                    <a:lnTo>
                      <a:pt x="1784465" y="103367"/>
                    </a:lnTo>
                    <a:cubicBezTo>
                      <a:pt x="1784465" y="130782"/>
                      <a:pt x="1773575" y="157074"/>
                      <a:pt x="1754190" y="176459"/>
                    </a:cubicBezTo>
                    <a:cubicBezTo>
                      <a:pt x="1734805" y="195844"/>
                      <a:pt x="1708513" y="206735"/>
                      <a:pt x="1681098"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3" id="13"/>
              <p:cNvSpPr txBox="true"/>
              <p:nvPr/>
            </p:nvSpPr>
            <p:spPr>
              <a:xfrm>
                <a:off x="0" y="-38100"/>
                <a:ext cx="1784465"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980011" y="197330"/>
              <a:ext cx="7393076"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Software &amp; Mobile App Developers</a:t>
              </a:r>
            </a:p>
          </p:txBody>
        </p:sp>
        <p:grpSp>
          <p:nvGrpSpPr>
            <p:cNvPr name="Group 15" id="15"/>
            <p:cNvGrpSpPr/>
            <p:nvPr/>
          </p:nvGrpSpPr>
          <p:grpSpPr>
            <a:xfrm rot="0">
              <a:off x="376982" y="362723"/>
              <a:ext cx="321148" cy="32114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18" id="18"/>
          <p:cNvGrpSpPr/>
          <p:nvPr/>
        </p:nvGrpSpPr>
        <p:grpSpPr>
          <a:xfrm rot="0">
            <a:off x="9280744" y="6857601"/>
            <a:ext cx="4306668" cy="784945"/>
            <a:chOff x="0" y="0"/>
            <a:chExt cx="5742224" cy="1046593"/>
          </a:xfrm>
        </p:grpSpPr>
        <p:grpSp>
          <p:nvGrpSpPr>
            <p:cNvPr name="Group 19" id="19"/>
            <p:cNvGrpSpPr/>
            <p:nvPr/>
          </p:nvGrpSpPr>
          <p:grpSpPr>
            <a:xfrm rot="0">
              <a:off x="0" y="0"/>
              <a:ext cx="5742224" cy="1046593"/>
              <a:chOff x="0" y="0"/>
              <a:chExt cx="1134267" cy="206735"/>
            </a:xfrm>
          </p:grpSpPr>
          <p:sp>
            <p:nvSpPr>
              <p:cNvPr name="Freeform 20" id="20"/>
              <p:cNvSpPr/>
              <p:nvPr/>
            </p:nvSpPr>
            <p:spPr>
              <a:xfrm flipH="false" flipV="false" rot="0">
                <a:off x="0" y="0"/>
                <a:ext cx="1134267" cy="206735"/>
              </a:xfrm>
              <a:custGeom>
                <a:avLst/>
                <a:gdLst/>
                <a:ahLst/>
                <a:cxnLst/>
                <a:rect r="r" b="b" t="t" l="l"/>
                <a:pathLst>
                  <a:path h="206735" w="1134267">
                    <a:moveTo>
                      <a:pt x="103367" y="0"/>
                    </a:moveTo>
                    <a:lnTo>
                      <a:pt x="1030899" y="0"/>
                    </a:lnTo>
                    <a:cubicBezTo>
                      <a:pt x="1058314" y="0"/>
                      <a:pt x="1084606" y="10890"/>
                      <a:pt x="1103991" y="30276"/>
                    </a:cubicBezTo>
                    <a:cubicBezTo>
                      <a:pt x="1123376" y="49661"/>
                      <a:pt x="1134267" y="75953"/>
                      <a:pt x="1134267" y="103367"/>
                    </a:cubicBezTo>
                    <a:lnTo>
                      <a:pt x="1134267" y="103367"/>
                    </a:lnTo>
                    <a:cubicBezTo>
                      <a:pt x="1134267" y="130782"/>
                      <a:pt x="1123376" y="157074"/>
                      <a:pt x="1103991" y="176459"/>
                    </a:cubicBezTo>
                    <a:cubicBezTo>
                      <a:pt x="1084606" y="195844"/>
                      <a:pt x="1058314" y="206735"/>
                      <a:pt x="103089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1" id="21"/>
              <p:cNvSpPr txBox="true"/>
              <p:nvPr/>
            </p:nvSpPr>
            <p:spPr>
              <a:xfrm>
                <a:off x="0" y="-38100"/>
                <a:ext cx="1134267" cy="244835"/>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980011" y="197330"/>
              <a:ext cx="4076414"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Business Analysts</a:t>
              </a:r>
            </a:p>
          </p:txBody>
        </p:sp>
        <p:grpSp>
          <p:nvGrpSpPr>
            <p:cNvPr name="Group 23" id="23"/>
            <p:cNvGrpSpPr/>
            <p:nvPr/>
          </p:nvGrpSpPr>
          <p:grpSpPr>
            <a:xfrm rot="0">
              <a:off x="376982" y="362723"/>
              <a:ext cx="321148" cy="321148"/>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6" id="26"/>
          <p:cNvGrpSpPr/>
          <p:nvPr/>
        </p:nvGrpSpPr>
        <p:grpSpPr>
          <a:xfrm rot="0">
            <a:off x="9280744" y="4981810"/>
            <a:ext cx="3792318" cy="784945"/>
            <a:chOff x="0" y="0"/>
            <a:chExt cx="5056424" cy="1046593"/>
          </a:xfrm>
        </p:grpSpPr>
        <p:grpSp>
          <p:nvGrpSpPr>
            <p:cNvPr name="Group 27" id="27"/>
            <p:cNvGrpSpPr/>
            <p:nvPr/>
          </p:nvGrpSpPr>
          <p:grpSpPr>
            <a:xfrm rot="0">
              <a:off x="0" y="0"/>
              <a:ext cx="5056424" cy="1046593"/>
              <a:chOff x="0" y="0"/>
              <a:chExt cx="998800" cy="206735"/>
            </a:xfrm>
          </p:grpSpPr>
          <p:sp>
            <p:nvSpPr>
              <p:cNvPr name="Freeform 28" id="28"/>
              <p:cNvSpPr/>
              <p:nvPr/>
            </p:nvSpPr>
            <p:spPr>
              <a:xfrm flipH="false" flipV="false" rot="0">
                <a:off x="0" y="0"/>
                <a:ext cx="998800" cy="206735"/>
              </a:xfrm>
              <a:custGeom>
                <a:avLst/>
                <a:gdLst/>
                <a:ahLst/>
                <a:cxnLst/>
                <a:rect r="r" b="b" t="t" l="l"/>
                <a:pathLst>
                  <a:path h="206735" w="998800">
                    <a:moveTo>
                      <a:pt x="103367" y="0"/>
                    </a:moveTo>
                    <a:lnTo>
                      <a:pt x="895433" y="0"/>
                    </a:lnTo>
                    <a:cubicBezTo>
                      <a:pt x="922847" y="0"/>
                      <a:pt x="949139" y="10890"/>
                      <a:pt x="968524" y="30276"/>
                    </a:cubicBezTo>
                    <a:cubicBezTo>
                      <a:pt x="987909" y="49661"/>
                      <a:pt x="998800" y="75953"/>
                      <a:pt x="998800" y="103367"/>
                    </a:cubicBezTo>
                    <a:lnTo>
                      <a:pt x="998800" y="103367"/>
                    </a:lnTo>
                    <a:cubicBezTo>
                      <a:pt x="998800" y="130782"/>
                      <a:pt x="987909" y="157074"/>
                      <a:pt x="968524" y="176459"/>
                    </a:cubicBezTo>
                    <a:cubicBezTo>
                      <a:pt x="949139" y="195844"/>
                      <a:pt x="922847" y="206735"/>
                      <a:pt x="8954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9" id="29"/>
              <p:cNvSpPr txBox="true"/>
              <p:nvPr/>
            </p:nvSpPr>
            <p:spPr>
              <a:xfrm>
                <a:off x="0" y="-38100"/>
                <a:ext cx="998800" cy="244835"/>
              </a:xfrm>
              <a:prstGeom prst="rect">
                <a:avLst/>
              </a:prstGeom>
            </p:spPr>
            <p:txBody>
              <a:bodyPr anchor="ctr" rtlCol="false" tIns="50800" lIns="50800" bIns="50800" rIns="50800"/>
              <a:lstStyle/>
              <a:p>
                <a:pPr algn="ctr">
                  <a:lnSpc>
                    <a:spcPts val="2520"/>
                  </a:lnSpc>
                </a:pPr>
              </a:p>
            </p:txBody>
          </p:sp>
        </p:grpSp>
        <p:sp>
          <p:nvSpPr>
            <p:cNvPr name="TextBox 30" id="30"/>
            <p:cNvSpPr txBox="true"/>
            <p:nvPr/>
          </p:nvSpPr>
          <p:spPr>
            <a:xfrm rot="0">
              <a:off x="980011" y="197330"/>
              <a:ext cx="3441882"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UI/UX Designers</a:t>
              </a:r>
            </a:p>
          </p:txBody>
        </p:sp>
        <p:grpSp>
          <p:nvGrpSpPr>
            <p:cNvPr name="Group 31" id="31"/>
            <p:cNvGrpSpPr/>
            <p:nvPr/>
          </p:nvGrpSpPr>
          <p:grpSpPr>
            <a:xfrm rot="0">
              <a:off x="376982" y="362723"/>
              <a:ext cx="321148" cy="32114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34" id="34"/>
          <p:cNvGrpSpPr/>
          <p:nvPr/>
        </p:nvGrpSpPr>
        <p:grpSpPr>
          <a:xfrm rot="0">
            <a:off x="9280744" y="7795496"/>
            <a:ext cx="4306668" cy="784945"/>
            <a:chOff x="0" y="0"/>
            <a:chExt cx="5742224" cy="1046593"/>
          </a:xfrm>
        </p:grpSpPr>
        <p:grpSp>
          <p:nvGrpSpPr>
            <p:cNvPr name="Group 35" id="35"/>
            <p:cNvGrpSpPr/>
            <p:nvPr/>
          </p:nvGrpSpPr>
          <p:grpSpPr>
            <a:xfrm rot="0">
              <a:off x="0" y="0"/>
              <a:ext cx="5742224" cy="1046593"/>
              <a:chOff x="0" y="0"/>
              <a:chExt cx="1134267" cy="206735"/>
            </a:xfrm>
          </p:grpSpPr>
          <p:sp>
            <p:nvSpPr>
              <p:cNvPr name="Freeform 36" id="36"/>
              <p:cNvSpPr/>
              <p:nvPr/>
            </p:nvSpPr>
            <p:spPr>
              <a:xfrm flipH="false" flipV="false" rot="0">
                <a:off x="0" y="0"/>
                <a:ext cx="1134267" cy="206735"/>
              </a:xfrm>
              <a:custGeom>
                <a:avLst/>
                <a:gdLst/>
                <a:ahLst/>
                <a:cxnLst/>
                <a:rect r="r" b="b" t="t" l="l"/>
                <a:pathLst>
                  <a:path h="206735" w="1134267">
                    <a:moveTo>
                      <a:pt x="103367" y="0"/>
                    </a:moveTo>
                    <a:lnTo>
                      <a:pt x="1030899" y="0"/>
                    </a:lnTo>
                    <a:cubicBezTo>
                      <a:pt x="1058314" y="0"/>
                      <a:pt x="1084606" y="10890"/>
                      <a:pt x="1103991" y="30276"/>
                    </a:cubicBezTo>
                    <a:cubicBezTo>
                      <a:pt x="1123376" y="49661"/>
                      <a:pt x="1134267" y="75953"/>
                      <a:pt x="1134267" y="103367"/>
                    </a:cubicBezTo>
                    <a:lnTo>
                      <a:pt x="1134267" y="103367"/>
                    </a:lnTo>
                    <a:cubicBezTo>
                      <a:pt x="1134267" y="130782"/>
                      <a:pt x="1123376" y="157074"/>
                      <a:pt x="1103991" y="176459"/>
                    </a:cubicBezTo>
                    <a:cubicBezTo>
                      <a:pt x="1084606" y="195844"/>
                      <a:pt x="1058314" y="206735"/>
                      <a:pt x="103089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37" id="37"/>
              <p:cNvSpPr txBox="true"/>
              <p:nvPr/>
            </p:nvSpPr>
            <p:spPr>
              <a:xfrm>
                <a:off x="0" y="-38100"/>
                <a:ext cx="1134267" cy="244835"/>
              </a:xfrm>
              <a:prstGeom prst="rect">
                <a:avLst/>
              </a:prstGeom>
            </p:spPr>
            <p:txBody>
              <a:bodyPr anchor="ctr" rtlCol="false" tIns="50800" lIns="50800" bIns="50800" rIns="50800"/>
              <a:lstStyle/>
              <a:p>
                <a:pPr algn="ctr">
                  <a:lnSpc>
                    <a:spcPts val="2520"/>
                  </a:lnSpc>
                </a:pPr>
              </a:p>
            </p:txBody>
          </p:sp>
        </p:grpSp>
        <p:sp>
          <p:nvSpPr>
            <p:cNvPr name="TextBox 38" id="38"/>
            <p:cNvSpPr txBox="true"/>
            <p:nvPr/>
          </p:nvSpPr>
          <p:spPr>
            <a:xfrm rot="0">
              <a:off x="980011" y="197330"/>
              <a:ext cx="4076414"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Project Managers</a:t>
              </a:r>
            </a:p>
          </p:txBody>
        </p:sp>
        <p:grpSp>
          <p:nvGrpSpPr>
            <p:cNvPr name="Group 39" id="39"/>
            <p:cNvGrpSpPr/>
            <p:nvPr/>
          </p:nvGrpSpPr>
          <p:grpSpPr>
            <a:xfrm rot="0">
              <a:off x="376982" y="362723"/>
              <a:ext cx="321148" cy="321148"/>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42" id="42"/>
          <p:cNvGrpSpPr/>
          <p:nvPr/>
        </p:nvGrpSpPr>
        <p:grpSpPr>
          <a:xfrm rot="0">
            <a:off x="9280744" y="5919705"/>
            <a:ext cx="3507412" cy="784945"/>
            <a:chOff x="0" y="0"/>
            <a:chExt cx="4676549" cy="1046593"/>
          </a:xfrm>
        </p:grpSpPr>
        <p:grpSp>
          <p:nvGrpSpPr>
            <p:cNvPr name="Group 43" id="43"/>
            <p:cNvGrpSpPr/>
            <p:nvPr/>
          </p:nvGrpSpPr>
          <p:grpSpPr>
            <a:xfrm rot="0">
              <a:off x="0" y="0"/>
              <a:ext cx="4676549" cy="1046593"/>
              <a:chOff x="0" y="0"/>
              <a:chExt cx="923763" cy="206735"/>
            </a:xfrm>
          </p:grpSpPr>
          <p:sp>
            <p:nvSpPr>
              <p:cNvPr name="Freeform 44" id="44"/>
              <p:cNvSpPr/>
              <p:nvPr/>
            </p:nvSpPr>
            <p:spPr>
              <a:xfrm flipH="false" flipV="false" rot="0">
                <a:off x="0" y="0"/>
                <a:ext cx="923763" cy="206735"/>
              </a:xfrm>
              <a:custGeom>
                <a:avLst/>
                <a:gdLst/>
                <a:ahLst/>
                <a:cxnLst/>
                <a:rect r="r" b="b" t="t" l="l"/>
                <a:pathLst>
                  <a:path h="206735" w="923763">
                    <a:moveTo>
                      <a:pt x="103367" y="0"/>
                    </a:moveTo>
                    <a:lnTo>
                      <a:pt x="820395" y="0"/>
                    </a:lnTo>
                    <a:cubicBezTo>
                      <a:pt x="847810" y="0"/>
                      <a:pt x="874102" y="10890"/>
                      <a:pt x="893487" y="30276"/>
                    </a:cubicBezTo>
                    <a:cubicBezTo>
                      <a:pt x="912872" y="49661"/>
                      <a:pt x="923763" y="75953"/>
                      <a:pt x="923763" y="103367"/>
                    </a:cubicBezTo>
                    <a:lnTo>
                      <a:pt x="923763" y="103367"/>
                    </a:lnTo>
                    <a:cubicBezTo>
                      <a:pt x="923763" y="130782"/>
                      <a:pt x="912872" y="157074"/>
                      <a:pt x="893487" y="176459"/>
                    </a:cubicBezTo>
                    <a:cubicBezTo>
                      <a:pt x="874102" y="195844"/>
                      <a:pt x="847810" y="206735"/>
                      <a:pt x="820395"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45" id="45"/>
              <p:cNvSpPr txBox="true"/>
              <p:nvPr/>
            </p:nvSpPr>
            <p:spPr>
              <a:xfrm>
                <a:off x="0" y="-38100"/>
                <a:ext cx="923763" cy="244835"/>
              </a:xfrm>
              <a:prstGeom prst="rect">
                <a:avLst/>
              </a:prstGeom>
            </p:spPr>
            <p:txBody>
              <a:bodyPr anchor="ctr" rtlCol="false" tIns="50800" lIns="50800" bIns="50800" rIns="50800"/>
              <a:lstStyle/>
              <a:p>
                <a:pPr algn="ctr">
                  <a:lnSpc>
                    <a:spcPts val="2520"/>
                  </a:lnSpc>
                </a:pPr>
              </a:p>
            </p:txBody>
          </p:sp>
        </p:grpSp>
        <p:sp>
          <p:nvSpPr>
            <p:cNvPr name="TextBox 46" id="46"/>
            <p:cNvSpPr txBox="true"/>
            <p:nvPr/>
          </p:nvSpPr>
          <p:spPr>
            <a:xfrm rot="0">
              <a:off x="980011" y="197330"/>
              <a:ext cx="3126246"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Data Analysts</a:t>
              </a:r>
            </a:p>
          </p:txBody>
        </p:sp>
        <p:grpSp>
          <p:nvGrpSpPr>
            <p:cNvPr name="Group 47" id="47"/>
            <p:cNvGrpSpPr/>
            <p:nvPr/>
          </p:nvGrpSpPr>
          <p:grpSpPr>
            <a:xfrm rot="0">
              <a:off x="376982" y="362723"/>
              <a:ext cx="321148" cy="321148"/>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9" id="4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Freeform 50" id="50"/>
          <p:cNvSpPr/>
          <p:nvPr/>
        </p:nvSpPr>
        <p:spPr>
          <a:xfrm flipH="false" flipV="false" rot="0">
            <a:off x="1028700" y="6695126"/>
            <a:ext cx="2376695" cy="2376695"/>
          </a:xfrm>
          <a:custGeom>
            <a:avLst/>
            <a:gdLst/>
            <a:ahLst/>
            <a:cxnLst/>
            <a:rect r="r" b="b" t="t" l="l"/>
            <a:pathLst>
              <a:path h="2376695" w="2376695">
                <a:moveTo>
                  <a:pt x="0" y="0"/>
                </a:moveTo>
                <a:lnTo>
                  <a:pt x="2376695" y="0"/>
                </a:lnTo>
                <a:lnTo>
                  <a:pt x="2376695" y="2376694"/>
                </a:lnTo>
                <a:lnTo>
                  <a:pt x="0" y="23766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1" id="51"/>
          <p:cNvSpPr txBox="true"/>
          <p:nvPr/>
        </p:nvSpPr>
        <p:spPr>
          <a:xfrm rot="0">
            <a:off x="1028700" y="5055788"/>
            <a:ext cx="6803495" cy="1263015"/>
          </a:xfrm>
          <a:prstGeom prst="rect">
            <a:avLst/>
          </a:prstGeom>
        </p:spPr>
        <p:txBody>
          <a:bodyPr anchor="t" rtlCol="false" tIns="0" lIns="0" bIns="0" rIns="0">
            <a:spAutoFit/>
          </a:bodyPr>
          <a:lstStyle/>
          <a:p>
            <a:pPr algn="l">
              <a:lnSpc>
                <a:spcPts val="3359"/>
              </a:lnSpc>
            </a:pPr>
            <a:r>
              <a:rPr lang="en-US" sz="2400">
                <a:solidFill>
                  <a:srgbClr val="0D0D0D"/>
                </a:solidFill>
                <a:latin typeface="Poppins"/>
                <a:ea typeface="Poppins"/>
                <a:cs typeface="Poppins"/>
                <a:sym typeface="Poppins"/>
              </a:rPr>
              <a:t>Need a website, API, mobile or application? We have all the tools and services to get your project built!</a:t>
            </a:r>
          </a:p>
        </p:txBody>
      </p:sp>
      <p:sp>
        <p:nvSpPr>
          <p:cNvPr name="TextBox 52" id="52"/>
          <p:cNvSpPr txBox="true"/>
          <p:nvPr/>
        </p:nvSpPr>
        <p:spPr>
          <a:xfrm rot="0">
            <a:off x="9280744" y="3257931"/>
            <a:ext cx="4443412" cy="425958"/>
          </a:xfrm>
          <a:prstGeom prst="rect">
            <a:avLst/>
          </a:prstGeom>
        </p:spPr>
        <p:txBody>
          <a:bodyPr anchor="t" rtlCol="false" tIns="0" lIns="0" bIns="0" rIns="0">
            <a:spAutoFit/>
          </a:bodyPr>
          <a:lstStyle/>
          <a:p>
            <a:pPr algn="l">
              <a:lnSpc>
                <a:spcPts val="3185"/>
              </a:lnSpc>
            </a:pPr>
            <a:r>
              <a:rPr lang="en-US" sz="2699">
                <a:solidFill>
                  <a:srgbClr val="0D0D0D"/>
                </a:solidFill>
                <a:latin typeface="Poppins"/>
                <a:ea typeface="Poppins"/>
                <a:cs typeface="Poppins"/>
                <a:sym typeface="Poppins"/>
              </a:rPr>
              <a:t>Our Skills</a:t>
            </a:r>
          </a:p>
        </p:txBody>
      </p:sp>
      <p:sp>
        <p:nvSpPr>
          <p:cNvPr name="TextBox 53" id="53"/>
          <p:cNvSpPr txBox="true"/>
          <p:nvPr/>
        </p:nvSpPr>
        <p:spPr>
          <a:xfrm rot="0">
            <a:off x="971550" y="3078715"/>
            <a:ext cx="7915275" cy="1873250"/>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Custom Software Development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5055788"/>
            <a:ext cx="6803495" cy="1263015"/>
          </a:xfrm>
          <a:prstGeom prst="rect">
            <a:avLst/>
          </a:prstGeom>
        </p:spPr>
        <p:txBody>
          <a:bodyPr anchor="t" rtlCol="false" tIns="0" lIns="0" bIns="0" rIns="0">
            <a:spAutoFit/>
          </a:bodyPr>
          <a:lstStyle/>
          <a:p>
            <a:pPr algn="l">
              <a:lnSpc>
                <a:spcPts val="3359"/>
              </a:lnSpc>
            </a:pPr>
            <a:r>
              <a:rPr lang="en-US" sz="2400">
                <a:solidFill>
                  <a:srgbClr val="0D0D0D"/>
                </a:solidFill>
                <a:latin typeface="Poppins"/>
                <a:ea typeface="Poppins"/>
                <a:cs typeface="Poppins"/>
                <a:sym typeface="Poppins"/>
              </a:rPr>
              <a:t>Need a website, API, mobile or application? We have all the tools and services to get your project built!</a:t>
            </a:r>
          </a:p>
        </p:txBody>
      </p:sp>
      <p:grpSp>
        <p:nvGrpSpPr>
          <p:cNvPr name="Group 4" id="4"/>
          <p:cNvGrpSpPr/>
          <p:nvPr/>
        </p:nvGrpSpPr>
        <p:grpSpPr>
          <a:xfrm rot="0">
            <a:off x="14982825" y="1072430"/>
            <a:ext cx="2276475" cy="784945"/>
            <a:chOff x="0" y="0"/>
            <a:chExt cx="599565" cy="206735"/>
          </a:xfrm>
        </p:grpSpPr>
        <p:sp>
          <p:nvSpPr>
            <p:cNvPr name="Freeform 5" id="5"/>
            <p:cNvSpPr/>
            <p:nvPr/>
          </p:nvSpPr>
          <p:spPr>
            <a:xfrm flipH="false" flipV="false" rot="0">
              <a:off x="0" y="0"/>
              <a:ext cx="599565" cy="206735"/>
            </a:xfrm>
            <a:custGeom>
              <a:avLst/>
              <a:gdLst/>
              <a:ahLst/>
              <a:cxnLst/>
              <a:rect r="r" b="b" t="t" l="l"/>
              <a:pathLst>
                <a:path h="206735" w="599565">
                  <a:moveTo>
                    <a:pt x="103367" y="0"/>
                  </a:moveTo>
                  <a:lnTo>
                    <a:pt x="496198" y="0"/>
                  </a:lnTo>
                  <a:cubicBezTo>
                    <a:pt x="523613" y="0"/>
                    <a:pt x="549905" y="10890"/>
                    <a:pt x="569290" y="30276"/>
                  </a:cubicBezTo>
                  <a:cubicBezTo>
                    <a:pt x="588675" y="49661"/>
                    <a:pt x="599565" y="75953"/>
                    <a:pt x="599565" y="103367"/>
                  </a:cubicBezTo>
                  <a:lnTo>
                    <a:pt x="599565" y="103367"/>
                  </a:lnTo>
                  <a:cubicBezTo>
                    <a:pt x="599565" y="130782"/>
                    <a:pt x="588675" y="157074"/>
                    <a:pt x="569290" y="176459"/>
                  </a:cubicBezTo>
                  <a:cubicBezTo>
                    <a:pt x="549905" y="195844"/>
                    <a:pt x="523613" y="206735"/>
                    <a:pt x="496198"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599565" cy="244835"/>
            </a:xfrm>
            <a:prstGeom prst="rect">
              <a:avLst/>
            </a:prstGeom>
          </p:spPr>
          <p:txBody>
            <a:bodyPr anchor="ctr" rtlCol="false" tIns="50800" lIns="50800" bIns="50800" rIns="50800"/>
            <a:lstStyle/>
            <a:p>
              <a:pPr algn="ctr">
                <a:lnSpc>
                  <a:spcPts val="2520"/>
                </a:lnSpc>
              </a:pPr>
            </a:p>
          </p:txBody>
        </p:sp>
      </p:grpSp>
      <p:sp>
        <p:nvSpPr>
          <p:cNvPr name="TextBox 7" id="7"/>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8" id="8"/>
          <p:cNvGrpSpPr/>
          <p:nvPr/>
        </p:nvGrpSpPr>
        <p:grpSpPr>
          <a:xfrm rot="0">
            <a:off x="15319698" y="1344472"/>
            <a:ext cx="240861" cy="24086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11" id="11"/>
          <p:cNvSpPr txBox="true"/>
          <p:nvPr/>
        </p:nvSpPr>
        <p:spPr>
          <a:xfrm rot="0">
            <a:off x="9280744" y="3257931"/>
            <a:ext cx="4443412" cy="425958"/>
          </a:xfrm>
          <a:prstGeom prst="rect">
            <a:avLst/>
          </a:prstGeom>
        </p:spPr>
        <p:txBody>
          <a:bodyPr anchor="t" rtlCol="false" tIns="0" lIns="0" bIns="0" rIns="0">
            <a:spAutoFit/>
          </a:bodyPr>
          <a:lstStyle/>
          <a:p>
            <a:pPr algn="l">
              <a:lnSpc>
                <a:spcPts val="3185"/>
              </a:lnSpc>
            </a:pPr>
            <a:r>
              <a:rPr lang="en-US" sz="2699">
                <a:solidFill>
                  <a:srgbClr val="0D0D0D"/>
                </a:solidFill>
                <a:latin typeface="Poppins"/>
                <a:ea typeface="Poppins"/>
                <a:cs typeface="Poppins"/>
                <a:sym typeface="Poppins"/>
              </a:rPr>
              <a:t>Our Skills</a:t>
            </a:r>
          </a:p>
        </p:txBody>
      </p:sp>
      <p:grpSp>
        <p:nvGrpSpPr>
          <p:cNvPr name="Group 12" id="12"/>
          <p:cNvGrpSpPr/>
          <p:nvPr/>
        </p:nvGrpSpPr>
        <p:grpSpPr>
          <a:xfrm rot="0">
            <a:off x="9280744" y="4043915"/>
            <a:ext cx="4906962" cy="784945"/>
            <a:chOff x="0" y="0"/>
            <a:chExt cx="6542616" cy="1046593"/>
          </a:xfrm>
        </p:grpSpPr>
        <p:grpSp>
          <p:nvGrpSpPr>
            <p:cNvPr name="Group 13" id="13"/>
            <p:cNvGrpSpPr/>
            <p:nvPr/>
          </p:nvGrpSpPr>
          <p:grpSpPr>
            <a:xfrm rot="0">
              <a:off x="0" y="0"/>
              <a:ext cx="6542616" cy="1046593"/>
              <a:chOff x="0" y="0"/>
              <a:chExt cx="1292369" cy="206735"/>
            </a:xfrm>
          </p:grpSpPr>
          <p:sp>
            <p:nvSpPr>
              <p:cNvPr name="Freeform 14" id="14"/>
              <p:cNvSpPr/>
              <p:nvPr/>
            </p:nvSpPr>
            <p:spPr>
              <a:xfrm flipH="false" flipV="false" rot="0">
                <a:off x="0" y="0"/>
                <a:ext cx="1292369" cy="206735"/>
              </a:xfrm>
              <a:custGeom>
                <a:avLst/>
                <a:gdLst/>
                <a:ahLst/>
                <a:cxnLst/>
                <a:rect r="r" b="b" t="t" l="l"/>
                <a:pathLst>
                  <a:path h="206735" w="1292369">
                    <a:moveTo>
                      <a:pt x="103367" y="0"/>
                    </a:moveTo>
                    <a:lnTo>
                      <a:pt x="1189001" y="0"/>
                    </a:lnTo>
                    <a:cubicBezTo>
                      <a:pt x="1216416" y="0"/>
                      <a:pt x="1242708" y="10890"/>
                      <a:pt x="1262093" y="30276"/>
                    </a:cubicBezTo>
                    <a:cubicBezTo>
                      <a:pt x="1281478" y="49661"/>
                      <a:pt x="1292369" y="75953"/>
                      <a:pt x="1292369" y="103367"/>
                    </a:cubicBezTo>
                    <a:lnTo>
                      <a:pt x="1292369" y="103367"/>
                    </a:lnTo>
                    <a:cubicBezTo>
                      <a:pt x="1292369" y="130782"/>
                      <a:pt x="1281478" y="157074"/>
                      <a:pt x="1262093" y="176459"/>
                    </a:cubicBezTo>
                    <a:cubicBezTo>
                      <a:pt x="1242708" y="195844"/>
                      <a:pt x="1216416" y="206735"/>
                      <a:pt x="1189001"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5" id="15"/>
              <p:cNvSpPr txBox="true"/>
              <p:nvPr/>
            </p:nvSpPr>
            <p:spPr>
              <a:xfrm>
                <a:off x="0" y="-38100"/>
                <a:ext cx="1292369" cy="244835"/>
              </a:xfrm>
              <a:prstGeom prst="rect">
                <a:avLst/>
              </a:prstGeom>
            </p:spPr>
            <p:txBody>
              <a:bodyPr anchor="ctr" rtlCol="false" tIns="50800" lIns="50800" bIns="50800" rIns="50800"/>
              <a:lstStyle/>
              <a:p>
                <a:pPr algn="ctr">
                  <a:lnSpc>
                    <a:spcPts val="2520"/>
                  </a:lnSpc>
                </a:pPr>
              </a:p>
            </p:txBody>
          </p:sp>
        </p:grpSp>
        <p:sp>
          <p:nvSpPr>
            <p:cNvPr name="TextBox 16" id="16"/>
            <p:cNvSpPr txBox="true"/>
            <p:nvPr/>
          </p:nvSpPr>
          <p:spPr>
            <a:xfrm rot="0">
              <a:off x="980011" y="197330"/>
              <a:ext cx="5216820"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Infrastructure Architects</a:t>
              </a:r>
            </a:p>
          </p:txBody>
        </p:sp>
        <p:grpSp>
          <p:nvGrpSpPr>
            <p:cNvPr name="Group 17" id="17"/>
            <p:cNvGrpSpPr/>
            <p:nvPr/>
          </p:nvGrpSpPr>
          <p:grpSpPr>
            <a:xfrm rot="0">
              <a:off x="376982" y="362723"/>
              <a:ext cx="321148" cy="32114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0" id="20"/>
          <p:cNvGrpSpPr/>
          <p:nvPr/>
        </p:nvGrpSpPr>
        <p:grpSpPr>
          <a:xfrm rot="0">
            <a:off x="9280744" y="6857601"/>
            <a:ext cx="3963049" cy="784945"/>
            <a:chOff x="0" y="0"/>
            <a:chExt cx="5284065" cy="1046593"/>
          </a:xfrm>
        </p:grpSpPr>
        <p:grpSp>
          <p:nvGrpSpPr>
            <p:cNvPr name="Group 21" id="21"/>
            <p:cNvGrpSpPr/>
            <p:nvPr/>
          </p:nvGrpSpPr>
          <p:grpSpPr>
            <a:xfrm rot="0">
              <a:off x="0" y="0"/>
              <a:ext cx="5284065" cy="1046593"/>
              <a:chOff x="0" y="0"/>
              <a:chExt cx="1043766" cy="206735"/>
            </a:xfrm>
          </p:grpSpPr>
          <p:sp>
            <p:nvSpPr>
              <p:cNvPr name="Freeform 22" id="22"/>
              <p:cNvSpPr/>
              <p:nvPr/>
            </p:nvSpPr>
            <p:spPr>
              <a:xfrm flipH="false" flipV="false" rot="0">
                <a:off x="0" y="0"/>
                <a:ext cx="1043766" cy="206735"/>
              </a:xfrm>
              <a:custGeom>
                <a:avLst/>
                <a:gdLst/>
                <a:ahLst/>
                <a:cxnLst/>
                <a:rect r="r" b="b" t="t" l="l"/>
                <a:pathLst>
                  <a:path h="206735" w="1043766">
                    <a:moveTo>
                      <a:pt x="103367" y="0"/>
                    </a:moveTo>
                    <a:lnTo>
                      <a:pt x="940399" y="0"/>
                    </a:lnTo>
                    <a:cubicBezTo>
                      <a:pt x="967813" y="0"/>
                      <a:pt x="994105" y="10890"/>
                      <a:pt x="1013490" y="30276"/>
                    </a:cubicBezTo>
                    <a:cubicBezTo>
                      <a:pt x="1032876" y="49661"/>
                      <a:pt x="1043766" y="75953"/>
                      <a:pt x="1043766" y="103367"/>
                    </a:cubicBezTo>
                    <a:lnTo>
                      <a:pt x="1043766" y="103367"/>
                    </a:lnTo>
                    <a:cubicBezTo>
                      <a:pt x="1043766" y="130782"/>
                      <a:pt x="1032876" y="157074"/>
                      <a:pt x="1013490" y="176459"/>
                    </a:cubicBezTo>
                    <a:cubicBezTo>
                      <a:pt x="994105" y="195844"/>
                      <a:pt x="967813" y="206735"/>
                      <a:pt x="94039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3" id="23"/>
              <p:cNvSpPr txBox="true"/>
              <p:nvPr/>
            </p:nvSpPr>
            <p:spPr>
              <a:xfrm>
                <a:off x="0" y="-38100"/>
                <a:ext cx="1043766" cy="244835"/>
              </a:xfrm>
              <a:prstGeom prst="rect">
                <a:avLst/>
              </a:prstGeom>
            </p:spPr>
            <p:txBody>
              <a:bodyPr anchor="ctr" rtlCol="false" tIns="50800" lIns="50800" bIns="50800" rIns="50800"/>
              <a:lstStyle/>
              <a:p>
                <a:pPr algn="ctr">
                  <a:lnSpc>
                    <a:spcPts val="2520"/>
                  </a:lnSpc>
                </a:pPr>
              </a:p>
            </p:txBody>
          </p:sp>
        </p:grpSp>
        <p:sp>
          <p:nvSpPr>
            <p:cNvPr name="TextBox 24" id="24"/>
            <p:cNvSpPr txBox="true"/>
            <p:nvPr/>
          </p:nvSpPr>
          <p:spPr>
            <a:xfrm rot="0">
              <a:off x="980011" y="197330"/>
              <a:ext cx="4076414"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DevOps Engineers</a:t>
              </a:r>
            </a:p>
          </p:txBody>
        </p:sp>
        <p:grpSp>
          <p:nvGrpSpPr>
            <p:cNvPr name="Group 25" id="25"/>
            <p:cNvGrpSpPr/>
            <p:nvPr/>
          </p:nvGrpSpPr>
          <p:grpSpPr>
            <a:xfrm rot="0">
              <a:off x="376982" y="362723"/>
              <a:ext cx="321148" cy="321148"/>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8" id="28"/>
          <p:cNvGrpSpPr/>
          <p:nvPr/>
        </p:nvGrpSpPr>
        <p:grpSpPr>
          <a:xfrm rot="0">
            <a:off x="9280744" y="4981810"/>
            <a:ext cx="3792318" cy="784945"/>
            <a:chOff x="0" y="0"/>
            <a:chExt cx="5056424" cy="1046593"/>
          </a:xfrm>
        </p:grpSpPr>
        <p:grpSp>
          <p:nvGrpSpPr>
            <p:cNvPr name="Group 29" id="29"/>
            <p:cNvGrpSpPr/>
            <p:nvPr/>
          </p:nvGrpSpPr>
          <p:grpSpPr>
            <a:xfrm rot="0">
              <a:off x="0" y="0"/>
              <a:ext cx="5056424" cy="1046593"/>
              <a:chOff x="0" y="0"/>
              <a:chExt cx="998800" cy="206735"/>
            </a:xfrm>
          </p:grpSpPr>
          <p:sp>
            <p:nvSpPr>
              <p:cNvPr name="Freeform 30" id="30"/>
              <p:cNvSpPr/>
              <p:nvPr/>
            </p:nvSpPr>
            <p:spPr>
              <a:xfrm flipH="false" flipV="false" rot="0">
                <a:off x="0" y="0"/>
                <a:ext cx="998800" cy="206735"/>
              </a:xfrm>
              <a:custGeom>
                <a:avLst/>
                <a:gdLst/>
                <a:ahLst/>
                <a:cxnLst/>
                <a:rect r="r" b="b" t="t" l="l"/>
                <a:pathLst>
                  <a:path h="206735" w="998800">
                    <a:moveTo>
                      <a:pt x="103367" y="0"/>
                    </a:moveTo>
                    <a:lnTo>
                      <a:pt x="895433" y="0"/>
                    </a:lnTo>
                    <a:cubicBezTo>
                      <a:pt x="922847" y="0"/>
                      <a:pt x="949139" y="10890"/>
                      <a:pt x="968524" y="30276"/>
                    </a:cubicBezTo>
                    <a:cubicBezTo>
                      <a:pt x="987909" y="49661"/>
                      <a:pt x="998800" y="75953"/>
                      <a:pt x="998800" y="103367"/>
                    </a:cubicBezTo>
                    <a:lnTo>
                      <a:pt x="998800" y="103367"/>
                    </a:lnTo>
                    <a:cubicBezTo>
                      <a:pt x="998800" y="130782"/>
                      <a:pt x="987909" y="157074"/>
                      <a:pt x="968524" y="176459"/>
                    </a:cubicBezTo>
                    <a:cubicBezTo>
                      <a:pt x="949139" y="195844"/>
                      <a:pt x="922847" y="206735"/>
                      <a:pt x="8954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31" id="31"/>
              <p:cNvSpPr txBox="true"/>
              <p:nvPr/>
            </p:nvSpPr>
            <p:spPr>
              <a:xfrm>
                <a:off x="0" y="-38100"/>
                <a:ext cx="998800" cy="244835"/>
              </a:xfrm>
              <a:prstGeom prst="rect">
                <a:avLst/>
              </a:prstGeom>
            </p:spPr>
            <p:txBody>
              <a:bodyPr anchor="ctr" rtlCol="false" tIns="50800" lIns="50800" bIns="50800" rIns="50800"/>
              <a:lstStyle/>
              <a:p>
                <a:pPr algn="ctr">
                  <a:lnSpc>
                    <a:spcPts val="2520"/>
                  </a:lnSpc>
                </a:pPr>
              </a:p>
            </p:txBody>
          </p:sp>
        </p:grpSp>
        <p:sp>
          <p:nvSpPr>
            <p:cNvPr name="TextBox 32" id="32"/>
            <p:cNvSpPr txBox="true"/>
            <p:nvPr/>
          </p:nvSpPr>
          <p:spPr>
            <a:xfrm rot="0">
              <a:off x="980011" y="197330"/>
              <a:ext cx="3696538"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Software Testers</a:t>
              </a:r>
            </a:p>
          </p:txBody>
        </p:sp>
        <p:grpSp>
          <p:nvGrpSpPr>
            <p:cNvPr name="Group 33" id="33"/>
            <p:cNvGrpSpPr/>
            <p:nvPr/>
          </p:nvGrpSpPr>
          <p:grpSpPr>
            <a:xfrm rot="0">
              <a:off x="376982" y="362723"/>
              <a:ext cx="321148" cy="321148"/>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36" id="36"/>
          <p:cNvGrpSpPr/>
          <p:nvPr/>
        </p:nvGrpSpPr>
        <p:grpSpPr>
          <a:xfrm rot="0">
            <a:off x="9280744" y="7795496"/>
            <a:ext cx="4306668" cy="784945"/>
            <a:chOff x="0" y="0"/>
            <a:chExt cx="5742224" cy="1046593"/>
          </a:xfrm>
        </p:grpSpPr>
        <p:grpSp>
          <p:nvGrpSpPr>
            <p:cNvPr name="Group 37" id="37"/>
            <p:cNvGrpSpPr/>
            <p:nvPr/>
          </p:nvGrpSpPr>
          <p:grpSpPr>
            <a:xfrm rot="0">
              <a:off x="0" y="0"/>
              <a:ext cx="5742224" cy="1046593"/>
              <a:chOff x="0" y="0"/>
              <a:chExt cx="1134267" cy="206735"/>
            </a:xfrm>
          </p:grpSpPr>
          <p:sp>
            <p:nvSpPr>
              <p:cNvPr name="Freeform 38" id="38"/>
              <p:cNvSpPr/>
              <p:nvPr/>
            </p:nvSpPr>
            <p:spPr>
              <a:xfrm flipH="false" flipV="false" rot="0">
                <a:off x="0" y="0"/>
                <a:ext cx="1134267" cy="206735"/>
              </a:xfrm>
              <a:custGeom>
                <a:avLst/>
                <a:gdLst/>
                <a:ahLst/>
                <a:cxnLst/>
                <a:rect r="r" b="b" t="t" l="l"/>
                <a:pathLst>
                  <a:path h="206735" w="1134267">
                    <a:moveTo>
                      <a:pt x="103367" y="0"/>
                    </a:moveTo>
                    <a:lnTo>
                      <a:pt x="1030899" y="0"/>
                    </a:lnTo>
                    <a:cubicBezTo>
                      <a:pt x="1058314" y="0"/>
                      <a:pt x="1084606" y="10890"/>
                      <a:pt x="1103991" y="30276"/>
                    </a:cubicBezTo>
                    <a:cubicBezTo>
                      <a:pt x="1123376" y="49661"/>
                      <a:pt x="1134267" y="75953"/>
                      <a:pt x="1134267" y="103367"/>
                    </a:cubicBezTo>
                    <a:lnTo>
                      <a:pt x="1134267" y="103367"/>
                    </a:lnTo>
                    <a:cubicBezTo>
                      <a:pt x="1134267" y="130782"/>
                      <a:pt x="1123376" y="157074"/>
                      <a:pt x="1103991" y="176459"/>
                    </a:cubicBezTo>
                    <a:cubicBezTo>
                      <a:pt x="1084606" y="195844"/>
                      <a:pt x="1058314" y="206735"/>
                      <a:pt x="103089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39" id="39"/>
              <p:cNvSpPr txBox="true"/>
              <p:nvPr/>
            </p:nvSpPr>
            <p:spPr>
              <a:xfrm>
                <a:off x="0" y="-38100"/>
                <a:ext cx="1134267" cy="244835"/>
              </a:xfrm>
              <a:prstGeom prst="rect">
                <a:avLst/>
              </a:prstGeom>
            </p:spPr>
            <p:txBody>
              <a:bodyPr anchor="ctr" rtlCol="false" tIns="50800" lIns="50800" bIns="50800" rIns="50800"/>
              <a:lstStyle/>
              <a:p>
                <a:pPr algn="ctr">
                  <a:lnSpc>
                    <a:spcPts val="2520"/>
                  </a:lnSpc>
                </a:pPr>
              </a:p>
            </p:txBody>
          </p:sp>
        </p:grpSp>
        <p:sp>
          <p:nvSpPr>
            <p:cNvPr name="TextBox 40" id="40"/>
            <p:cNvSpPr txBox="true"/>
            <p:nvPr/>
          </p:nvSpPr>
          <p:spPr>
            <a:xfrm rot="0">
              <a:off x="980011" y="197330"/>
              <a:ext cx="4076414"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Software Architects</a:t>
              </a:r>
            </a:p>
          </p:txBody>
        </p:sp>
        <p:grpSp>
          <p:nvGrpSpPr>
            <p:cNvPr name="Group 41" id="41"/>
            <p:cNvGrpSpPr/>
            <p:nvPr/>
          </p:nvGrpSpPr>
          <p:grpSpPr>
            <a:xfrm rot="0">
              <a:off x="376982" y="362723"/>
              <a:ext cx="321148" cy="321148"/>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3" id="4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44" id="44"/>
          <p:cNvGrpSpPr/>
          <p:nvPr/>
        </p:nvGrpSpPr>
        <p:grpSpPr>
          <a:xfrm rot="0">
            <a:off x="9280744" y="5919705"/>
            <a:ext cx="3507412" cy="784945"/>
            <a:chOff x="0" y="0"/>
            <a:chExt cx="4676549" cy="1046593"/>
          </a:xfrm>
        </p:grpSpPr>
        <p:grpSp>
          <p:nvGrpSpPr>
            <p:cNvPr name="Group 45" id="45"/>
            <p:cNvGrpSpPr/>
            <p:nvPr/>
          </p:nvGrpSpPr>
          <p:grpSpPr>
            <a:xfrm rot="0">
              <a:off x="0" y="0"/>
              <a:ext cx="4676549" cy="1046593"/>
              <a:chOff x="0" y="0"/>
              <a:chExt cx="923763" cy="206735"/>
            </a:xfrm>
          </p:grpSpPr>
          <p:sp>
            <p:nvSpPr>
              <p:cNvPr name="Freeform 46" id="46"/>
              <p:cNvSpPr/>
              <p:nvPr/>
            </p:nvSpPr>
            <p:spPr>
              <a:xfrm flipH="false" flipV="false" rot="0">
                <a:off x="0" y="0"/>
                <a:ext cx="923763" cy="206735"/>
              </a:xfrm>
              <a:custGeom>
                <a:avLst/>
                <a:gdLst/>
                <a:ahLst/>
                <a:cxnLst/>
                <a:rect r="r" b="b" t="t" l="l"/>
                <a:pathLst>
                  <a:path h="206735" w="923763">
                    <a:moveTo>
                      <a:pt x="103367" y="0"/>
                    </a:moveTo>
                    <a:lnTo>
                      <a:pt x="820395" y="0"/>
                    </a:lnTo>
                    <a:cubicBezTo>
                      <a:pt x="847810" y="0"/>
                      <a:pt x="874102" y="10890"/>
                      <a:pt x="893487" y="30276"/>
                    </a:cubicBezTo>
                    <a:cubicBezTo>
                      <a:pt x="912872" y="49661"/>
                      <a:pt x="923763" y="75953"/>
                      <a:pt x="923763" y="103367"/>
                    </a:cubicBezTo>
                    <a:lnTo>
                      <a:pt x="923763" y="103367"/>
                    </a:lnTo>
                    <a:cubicBezTo>
                      <a:pt x="923763" y="130782"/>
                      <a:pt x="912872" y="157074"/>
                      <a:pt x="893487" y="176459"/>
                    </a:cubicBezTo>
                    <a:cubicBezTo>
                      <a:pt x="874102" y="195844"/>
                      <a:pt x="847810" y="206735"/>
                      <a:pt x="820395"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47" id="47"/>
              <p:cNvSpPr txBox="true"/>
              <p:nvPr/>
            </p:nvSpPr>
            <p:spPr>
              <a:xfrm>
                <a:off x="0" y="-38100"/>
                <a:ext cx="923763" cy="244835"/>
              </a:xfrm>
              <a:prstGeom prst="rect">
                <a:avLst/>
              </a:prstGeom>
            </p:spPr>
            <p:txBody>
              <a:bodyPr anchor="ctr" rtlCol="false" tIns="50800" lIns="50800" bIns="50800" rIns="50800"/>
              <a:lstStyle/>
              <a:p>
                <a:pPr algn="ctr">
                  <a:lnSpc>
                    <a:spcPts val="2520"/>
                  </a:lnSpc>
                </a:pPr>
              </a:p>
            </p:txBody>
          </p:sp>
        </p:grpSp>
        <p:sp>
          <p:nvSpPr>
            <p:cNvPr name="TextBox 48" id="48"/>
            <p:cNvSpPr txBox="true"/>
            <p:nvPr/>
          </p:nvSpPr>
          <p:spPr>
            <a:xfrm rot="0">
              <a:off x="980011" y="197330"/>
              <a:ext cx="3696538"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Security Auditors</a:t>
              </a:r>
            </a:p>
          </p:txBody>
        </p:sp>
        <p:grpSp>
          <p:nvGrpSpPr>
            <p:cNvPr name="Group 49" id="49"/>
            <p:cNvGrpSpPr/>
            <p:nvPr/>
          </p:nvGrpSpPr>
          <p:grpSpPr>
            <a:xfrm rot="0">
              <a:off x="376982" y="362723"/>
              <a:ext cx="321148" cy="321148"/>
              <a:chOff x="0" y="0"/>
              <a:chExt cx="812800" cy="812800"/>
            </a:xfrm>
          </p:grpSpPr>
          <p:sp>
            <p:nvSpPr>
              <p:cNvPr name="Freeform 50" id="5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51" id="5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TextBox 52" id="52"/>
          <p:cNvSpPr txBox="true"/>
          <p:nvPr/>
        </p:nvSpPr>
        <p:spPr>
          <a:xfrm rot="0">
            <a:off x="971550" y="3078715"/>
            <a:ext cx="7915275" cy="1873250"/>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Custom Software Development</a:t>
            </a:r>
          </a:p>
        </p:txBody>
      </p:sp>
      <p:sp>
        <p:nvSpPr>
          <p:cNvPr name="Freeform 53" id="53"/>
          <p:cNvSpPr/>
          <p:nvPr/>
        </p:nvSpPr>
        <p:spPr>
          <a:xfrm flipH="false" flipV="false" rot="0">
            <a:off x="1028700" y="6695126"/>
            <a:ext cx="2376695" cy="2376695"/>
          </a:xfrm>
          <a:custGeom>
            <a:avLst/>
            <a:gdLst/>
            <a:ahLst/>
            <a:cxnLst/>
            <a:rect r="r" b="b" t="t" l="l"/>
            <a:pathLst>
              <a:path h="2376695" w="2376695">
                <a:moveTo>
                  <a:pt x="0" y="0"/>
                </a:moveTo>
                <a:lnTo>
                  <a:pt x="2376695" y="0"/>
                </a:lnTo>
                <a:lnTo>
                  <a:pt x="2376695" y="2376694"/>
                </a:lnTo>
                <a:lnTo>
                  <a:pt x="0" y="23766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u"/>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9124950" y="1782663"/>
            <a:ext cx="0" cy="697330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14982825" y="1072430"/>
            <a:ext cx="2276475" cy="784945"/>
            <a:chOff x="0" y="0"/>
            <a:chExt cx="599565" cy="206735"/>
          </a:xfrm>
        </p:grpSpPr>
        <p:sp>
          <p:nvSpPr>
            <p:cNvPr name="Freeform 5" id="5"/>
            <p:cNvSpPr/>
            <p:nvPr/>
          </p:nvSpPr>
          <p:spPr>
            <a:xfrm flipH="false" flipV="false" rot="0">
              <a:off x="0" y="0"/>
              <a:ext cx="599565" cy="206735"/>
            </a:xfrm>
            <a:custGeom>
              <a:avLst/>
              <a:gdLst/>
              <a:ahLst/>
              <a:cxnLst/>
              <a:rect r="r" b="b" t="t" l="l"/>
              <a:pathLst>
                <a:path h="206735" w="599565">
                  <a:moveTo>
                    <a:pt x="103367" y="0"/>
                  </a:moveTo>
                  <a:lnTo>
                    <a:pt x="496198" y="0"/>
                  </a:lnTo>
                  <a:cubicBezTo>
                    <a:pt x="523613" y="0"/>
                    <a:pt x="549905" y="10890"/>
                    <a:pt x="569290" y="30276"/>
                  </a:cubicBezTo>
                  <a:cubicBezTo>
                    <a:pt x="588675" y="49661"/>
                    <a:pt x="599565" y="75953"/>
                    <a:pt x="599565" y="103367"/>
                  </a:cubicBezTo>
                  <a:lnTo>
                    <a:pt x="599565" y="103367"/>
                  </a:lnTo>
                  <a:cubicBezTo>
                    <a:pt x="599565" y="130782"/>
                    <a:pt x="588675" y="157074"/>
                    <a:pt x="569290" y="176459"/>
                  </a:cubicBezTo>
                  <a:cubicBezTo>
                    <a:pt x="549905" y="195844"/>
                    <a:pt x="523613" y="206735"/>
                    <a:pt x="496198"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599565" cy="244835"/>
            </a:xfrm>
            <a:prstGeom prst="rect">
              <a:avLst/>
            </a:prstGeom>
          </p:spPr>
          <p:txBody>
            <a:bodyPr anchor="ctr" rtlCol="false" tIns="50800" lIns="50800" bIns="50800" rIns="50800"/>
            <a:lstStyle/>
            <a:p>
              <a:pPr algn="ctr">
                <a:lnSpc>
                  <a:spcPts val="2520"/>
                </a:lnSpc>
              </a:pPr>
            </a:p>
          </p:txBody>
        </p:sp>
      </p:grpSp>
      <p:sp>
        <p:nvSpPr>
          <p:cNvPr name="TextBox 7" id="7"/>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8" id="8"/>
          <p:cNvGrpSpPr/>
          <p:nvPr/>
        </p:nvGrpSpPr>
        <p:grpSpPr>
          <a:xfrm rot="0">
            <a:off x="15319698" y="1344472"/>
            <a:ext cx="240861" cy="24086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1" id="11"/>
          <p:cNvSpPr/>
          <p:nvPr/>
        </p:nvSpPr>
        <p:spPr>
          <a:xfrm flipH="false" flipV="false" rot="0">
            <a:off x="3241260" y="2911670"/>
            <a:ext cx="2380492" cy="2380492"/>
          </a:xfrm>
          <a:custGeom>
            <a:avLst/>
            <a:gdLst/>
            <a:ahLst/>
            <a:cxnLst/>
            <a:rect r="r" b="b" t="t" l="l"/>
            <a:pathLst>
              <a:path h="2380492" w="2380492">
                <a:moveTo>
                  <a:pt x="0" y="0"/>
                </a:moveTo>
                <a:lnTo>
                  <a:pt x="2380492" y="0"/>
                </a:lnTo>
                <a:lnTo>
                  <a:pt x="2380492" y="2380492"/>
                </a:lnTo>
                <a:lnTo>
                  <a:pt x="0" y="23804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2784489" y="3063249"/>
            <a:ext cx="2077334" cy="2077334"/>
          </a:xfrm>
          <a:custGeom>
            <a:avLst/>
            <a:gdLst/>
            <a:ahLst/>
            <a:cxnLst/>
            <a:rect r="r" b="b" t="t" l="l"/>
            <a:pathLst>
              <a:path h="2077334" w="2077334">
                <a:moveTo>
                  <a:pt x="0" y="0"/>
                </a:moveTo>
                <a:lnTo>
                  <a:pt x="2077334" y="0"/>
                </a:lnTo>
                <a:lnTo>
                  <a:pt x="2077334" y="2077334"/>
                </a:lnTo>
                <a:lnTo>
                  <a:pt x="0" y="20773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028700" y="5476875"/>
            <a:ext cx="6805612" cy="987425"/>
          </a:xfrm>
          <a:prstGeom prst="rect">
            <a:avLst/>
          </a:prstGeom>
        </p:spPr>
        <p:txBody>
          <a:bodyPr anchor="t" rtlCol="false" tIns="0" lIns="0" bIns="0" rIns="0">
            <a:spAutoFit/>
          </a:bodyPr>
          <a:lstStyle/>
          <a:p>
            <a:pPr algn="ctr">
              <a:lnSpc>
                <a:spcPts val="6999"/>
              </a:lnSpc>
            </a:pPr>
            <a:r>
              <a:rPr lang="en-US" sz="6999">
                <a:solidFill>
                  <a:srgbClr val="0D0D0D"/>
                </a:solidFill>
                <a:latin typeface="Poppins Light"/>
                <a:ea typeface="Poppins Light"/>
                <a:cs typeface="Poppins Light"/>
                <a:sym typeface="Poppins Light"/>
              </a:rPr>
              <a:t>UX/UI</a:t>
            </a:r>
            <a:r>
              <a:rPr lang="en-US" sz="6999">
                <a:solidFill>
                  <a:srgbClr val="0D0D0D"/>
                </a:solidFill>
                <a:latin typeface="Poppins Light"/>
                <a:ea typeface="Poppins Light"/>
                <a:cs typeface="Poppins Light"/>
                <a:sym typeface="Poppins Light"/>
              </a:rPr>
              <a:t> Design</a:t>
            </a:r>
          </a:p>
        </p:txBody>
      </p:sp>
      <p:sp>
        <p:nvSpPr>
          <p:cNvPr name="TextBox 14" id="14"/>
          <p:cNvSpPr txBox="true"/>
          <p:nvPr/>
        </p:nvSpPr>
        <p:spPr>
          <a:xfrm rot="0">
            <a:off x="10420350" y="5476875"/>
            <a:ext cx="6805612" cy="987425"/>
          </a:xfrm>
          <a:prstGeom prst="rect">
            <a:avLst/>
          </a:prstGeom>
        </p:spPr>
        <p:txBody>
          <a:bodyPr anchor="t" rtlCol="false" tIns="0" lIns="0" bIns="0" rIns="0">
            <a:spAutoFit/>
          </a:bodyPr>
          <a:lstStyle/>
          <a:p>
            <a:pPr algn="ctr">
              <a:lnSpc>
                <a:spcPts val="6999"/>
              </a:lnSpc>
            </a:pPr>
            <a:r>
              <a:rPr lang="en-US" sz="6999">
                <a:solidFill>
                  <a:srgbClr val="0D0D0D"/>
                </a:solidFill>
                <a:latin typeface="Poppins Light"/>
                <a:ea typeface="Poppins Light"/>
                <a:cs typeface="Poppins Light"/>
                <a:sym typeface="Poppins Light"/>
              </a:rPr>
              <a:t>Mobile App</a:t>
            </a:r>
          </a:p>
        </p:txBody>
      </p:sp>
      <p:sp>
        <p:nvSpPr>
          <p:cNvPr name="TextBox 15" id="15"/>
          <p:cNvSpPr txBox="true"/>
          <p:nvPr/>
        </p:nvSpPr>
        <p:spPr>
          <a:xfrm rot="0">
            <a:off x="1435515" y="6778625"/>
            <a:ext cx="5991983" cy="843915"/>
          </a:xfrm>
          <a:prstGeom prst="rect">
            <a:avLst/>
          </a:prstGeom>
        </p:spPr>
        <p:txBody>
          <a:bodyPr anchor="t" rtlCol="false" tIns="0" lIns="0" bIns="0" rIns="0">
            <a:spAutoFit/>
          </a:bodyPr>
          <a:lstStyle/>
          <a:p>
            <a:pPr algn="ctr">
              <a:lnSpc>
                <a:spcPts val="3359"/>
              </a:lnSpc>
            </a:pPr>
            <a:r>
              <a:rPr lang="en-US" sz="2400">
                <a:solidFill>
                  <a:srgbClr val="0D0D0D"/>
                </a:solidFill>
                <a:latin typeface="Poppins"/>
                <a:ea typeface="Poppins"/>
                <a:cs typeface="Poppins"/>
                <a:sym typeface="Poppins"/>
              </a:rPr>
              <a:t>We offer architecture &amp; design services for your next big project.</a:t>
            </a:r>
          </a:p>
        </p:txBody>
      </p:sp>
      <p:sp>
        <p:nvSpPr>
          <p:cNvPr name="TextBox 16" id="16"/>
          <p:cNvSpPr txBox="true"/>
          <p:nvPr/>
        </p:nvSpPr>
        <p:spPr>
          <a:xfrm rot="0">
            <a:off x="10589419" y="6778625"/>
            <a:ext cx="6467475" cy="843915"/>
          </a:xfrm>
          <a:prstGeom prst="rect">
            <a:avLst/>
          </a:prstGeom>
        </p:spPr>
        <p:txBody>
          <a:bodyPr anchor="t" rtlCol="false" tIns="0" lIns="0" bIns="0" rIns="0">
            <a:spAutoFit/>
          </a:bodyPr>
          <a:lstStyle/>
          <a:p>
            <a:pPr algn="ctr">
              <a:lnSpc>
                <a:spcPts val="3359"/>
              </a:lnSpc>
            </a:pPr>
            <a:r>
              <a:rPr lang="en-US" sz="2400">
                <a:solidFill>
                  <a:srgbClr val="0D0D0D"/>
                </a:solidFill>
                <a:latin typeface="Poppins"/>
                <a:ea typeface="Poppins"/>
                <a:cs typeface="Poppins"/>
                <a:sym typeface="Poppins"/>
              </a:rPr>
              <a:t>Create fully-responsive websites, progressive apps and hybrid mobile apps.</a:t>
            </a:r>
          </a:p>
        </p:txBody>
      </p:sp>
    </p:spTree>
  </p:cSld>
  <p:clrMapOvr>
    <a:masterClrMapping/>
  </p:clrMapOvr>
  <p:transition spd="fast">
    <p:wipe dir="u"/>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9124950" y="1782663"/>
            <a:ext cx="0" cy="697330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14982825" y="1072430"/>
            <a:ext cx="2276475" cy="784945"/>
            <a:chOff x="0" y="0"/>
            <a:chExt cx="599565" cy="206735"/>
          </a:xfrm>
        </p:grpSpPr>
        <p:sp>
          <p:nvSpPr>
            <p:cNvPr name="Freeform 5" id="5"/>
            <p:cNvSpPr/>
            <p:nvPr/>
          </p:nvSpPr>
          <p:spPr>
            <a:xfrm flipH="false" flipV="false" rot="0">
              <a:off x="0" y="0"/>
              <a:ext cx="599565" cy="206735"/>
            </a:xfrm>
            <a:custGeom>
              <a:avLst/>
              <a:gdLst/>
              <a:ahLst/>
              <a:cxnLst/>
              <a:rect r="r" b="b" t="t" l="l"/>
              <a:pathLst>
                <a:path h="206735" w="599565">
                  <a:moveTo>
                    <a:pt x="103367" y="0"/>
                  </a:moveTo>
                  <a:lnTo>
                    <a:pt x="496198" y="0"/>
                  </a:lnTo>
                  <a:cubicBezTo>
                    <a:pt x="523613" y="0"/>
                    <a:pt x="549905" y="10890"/>
                    <a:pt x="569290" y="30276"/>
                  </a:cubicBezTo>
                  <a:cubicBezTo>
                    <a:pt x="588675" y="49661"/>
                    <a:pt x="599565" y="75953"/>
                    <a:pt x="599565" y="103367"/>
                  </a:cubicBezTo>
                  <a:lnTo>
                    <a:pt x="599565" y="103367"/>
                  </a:lnTo>
                  <a:cubicBezTo>
                    <a:pt x="599565" y="130782"/>
                    <a:pt x="588675" y="157074"/>
                    <a:pt x="569290" y="176459"/>
                  </a:cubicBezTo>
                  <a:cubicBezTo>
                    <a:pt x="549905" y="195844"/>
                    <a:pt x="523613" y="206735"/>
                    <a:pt x="496198"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599565" cy="244835"/>
            </a:xfrm>
            <a:prstGeom prst="rect">
              <a:avLst/>
            </a:prstGeom>
          </p:spPr>
          <p:txBody>
            <a:bodyPr anchor="ctr" rtlCol="false" tIns="50800" lIns="50800" bIns="50800" rIns="50800"/>
            <a:lstStyle/>
            <a:p>
              <a:pPr algn="ctr">
                <a:lnSpc>
                  <a:spcPts val="2520"/>
                </a:lnSpc>
              </a:pPr>
            </a:p>
          </p:txBody>
        </p:sp>
      </p:grpSp>
      <p:sp>
        <p:nvSpPr>
          <p:cNvPr name="TextBox 7" id="7"/>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8" id="8"/>
          <p:cNvGrpSpPr/>
          <p:nvPr/>
        </p:nvGrpSpPr>
        <p:grpSpPr>
          <a:xfrm rot="0">
            <a:off x="15319698" y="1344472"/>
            <a:ext cx="240861" cy="24086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1" id="11"/>
          <p:cNvSpPr/>
          <p:nvPr/>
        </p:nvSpPr>
        <p:spPr>
          <a:xfrm flipH="false" flipV="false" rot="0">
            <a:off x="3240881" y="2990850"/>
            <a:ext cx="2381250" cy="2381250"/>
          </a:xfrm>
          <a:custGeom>
            <a:avLst/>
            <a:gdLst/>
            <a:ahLst/>
            <a:cxnLst/>
            <a:rect r="r" b="b" t="t" l="l"/>
            <a:pathLst>
              <a:path h="2381250" w="2381250">
                <a:moveTo>
                  <a:pt x="0" y="0"/>
                </a:moveTo>
                <a:lnTo>
                  <a:pt x="2381250" y="0"/>
                </a:lnTo>
                <a:lnTo>
                  <a:pt x="2381250" y="2381250"/>
                </a:lnTo>
                <a:lnTo>
                  <a:pt x="0" y="2381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2632531" y="2990850"/>
            <a:ext cx="2381250" cy="2381250"/>
          </a:xfrm>
          <a:custGeom>
            <a:avLst/>
            <a:gdLst/>
            <a:ahLst/>
            <a:cxnLst/>
            <a:rect r="r" b="b" t="t" l="l"/>
            <a:pathLst>
              <a:path h="2381250" w="2381250">
                <a:moveTo>
                  <a:pt x="0" y="0"/>
                </a:moveTo>
                <a:lnTo>
                  <a:pt x="2381250" y="0"/>
                </a:lnTo>
                <a:lnTo>
                  <a:pt x="2381250" y="2381250"/>
                </a:lnTo>
                <a:lnTo>
                  <a:pt x="0" y="23812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028700" y="5476875"/>
            <a:ext cx="6805612" cy="1873250"/>
          </a:xfrm>
          <a:prstGeom prst="rect">
            <a:avLst/>
          </a:prstGeom>
        </p:spPr>
        <p:txBody>
          <a:bodyPr anchor="t" rtlCol="false" tIns="0" lIns="0" bIns="0" rIns="0">
            <a:spAutoFit/>
          </a:bodyPr>
          <a:lstStyle/>
          <a:p>
            <a:pPr algn="ctr">
              <a:lnSpc>
                <a:spcPts val="6999"/>
              </a:lnSpc>
            </a:pPr>
            <a:r>
              <a:rPr lang="en-US" sz="6999">
                <a:solidFill>
                  <a:srgbClr val="0D0D0D"/>
                </a:solidFill>
                <a:latin typeface="Poppins Light"/>
                <a:ea typeface="Poppins Light"/>
                <a:cs typeface="Poppins Light"/>
                <a:sym typeface="Poppins Light"/>
              </a:rPr>
              <a:t>Legacy</a:t>
            </a:r>
            <a:r>
              <a:rPr lang="en-US" sz="6999">
                <a:solidFill>
                  <a:srgbClr val="0D0D0D"/>
                </a:solidFill>
                <a:latin typeface="Poppins Light"/>
                <a:ea typeface="Poppins Light"/>
                <a:cs typeface="Poppins Light"/>
                <a:sym typeface="Poppins Light"/>
              </a:rPr>
              <a:t> Modernization</a:t>
            </a:r>
          </a:p>
        </p:txBody>
      </p:sp>
      <p:sp>
        <p:nvSpPr>
          <p:cNvPr name="TextBox 14" id="14"/>
          <p:cNvSpPr txBox="true"/>
          <p:nvPr/>
        </p:nvSpPr>
        <p:spPr>
          <a:xfrm rot="0">
            <a:off x="10420350" y="5476875"/>
            <a:ext cx="6805612" cy="1873250"/>
          </a:xfrm>
          <a:prstGeom prst="rect">
            <a:avLst/>
          </a:prstGeom>
        </p:spPr>
        <p:txBody>
          <a:bodyPr anchor="t" rtlCol="false" tIns="0" lIns="0" bIns="0" rIns="0">
            <a:spAutoFit/>
          </a:bodyPr>
          <a:lstStyle/>
          <a:p>
            <a:pPr algn="ctr">
              <a:lnSpc>
                <a:spcPts val="6999"/>
              </a:lnSpc>
            </a:pPr>
            <a:r>
              <a:rPr lang="en-US" sz="6999">
                <a:solidFill>
                  <a:srgbClr val="0D0D0D"/>
                </a:solidFill>
                <a:latin typeface="Poppins Light"/>
                <a:ea typeface="Poppins Light"/>
                <a:cs typeface="Poppins Light"/>
                <a:sym typeface="Poppins Light"/>
              </a:rPr>
              <a:t>Quality Assurance</a:t>
            </a:r>
          </a:p>
        </p:txBody>
      </p:sp>
      <p:sp>
        <p:nvSpPr>
          <p:cNvPr name="TextBox 15" id="15"/>
          <p:cNvSpPr txBox="true"/>
          <p:nvPr/>
        </p:nvSpPr>
        <p:spPr>
          <a:xfrm rot="0">
            <a:off x="1542896" y="7666673"/>
            <a:ext cx="5777221" cy="843915"/>
          </a:xfrm>
          <a:prstGeom prst="rect">
            <a:avLst/>
          </a:prstGeom>
        </p:spPr>
        <p:txBody>
          <a:bodyPr anchor="t" rtlCol="false" tIns="0" lIns="0" bIns="0" rIns="0">
            <a:spAutoFit/>
          </a:bodyPr>
          <a:lstStyle/>
          <a:p>
            <a:pPr algn="ctr">
              <a:lnSpc>
                <a:spcPts val="3359"/>
              </a:lnSpc>
            </a:pPr>
            <a:r>
              <a:rPr lang="en-US" sz="2400">
                <a:solidFill>
                  <a:srgbClr val="0D0D0D"/>
                </a:solidFill>
                <a:latin typeface="Poppins"/>
                <a:ea typeface="Poppins"/>
                <a:cs typeface="Poppins"/>
                <a:sym typeface="Poppins"/>
              </a:rPr>
              <a:t>Bring your Legacy Applications to the twenty-first century!</a:t>
            </a:r>
          </a:p>
        </p:txBody>
      </p:sp>
      <p:sp>
        <p:nvSpPr>
          <p:cNvPr name="TextBox 16" id="16"/>
          <p:cNvSpPr txBox="true"/>
          <p:nvPr/>
        </p:nvSpPr>
        <p:spPr>
          <a:xfrm rot="0">
            <a:off x="11044219" y="7666673"/>
            <a:ext cx="5557874" cy="843915"/>
          </a:xfrm>
          <a:prstGeom prst="rect">
            <a:avLst/>
          </a:prstGeom>
        </p:spPr>
        <p:txBody>
          <a:bodyPr anchor="t" rtlCol="false" tIns="0" lIns="0" bIns="0" rIns="0">
            <a:spAutoFit/>
          </a:bodyPr>
          <a:lstStyle/>
          <a:p>
            <a:pPr algn="ctr">
              <a:lnSpc>
                <a:spcPts val="3359"/>
              </a:lnSpc>
            </a:pPr>
            <a:r>
              <a:rPr lang="en-US" sz="2400">
                <a:solidFill>
                  <a:srgbClr val="0D0D0D"/>
                </a:solidFill>
                <a:latin typeface="Poppins"/>
                <a:ea typeface="Poppins"/>
                <a:cs typeface="Poppins"/>
                <a:sym typeface="Poppins"/>
              </a:rPr>
              <a:t>Test your application functionality, performance and security.</a:t>
            </a:r>
          </a:p>
        </p:txBody>
      </p:sp>
    </p:spTree>
  </p:cSld>
  <p:clrMapOvr>
    <a:masterClrMapping/>
  </p:clrMapOvr>
  <p:transition spd="fast">
    <p:wipe dir="u"/>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9124950" y="1782663"/>
            <a:ext cx="0" cy="697330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14982825" y="1072430"/>
            <a:ext cx="2276475" cy="784945"/>
            <a:chOff x="0" y="0"/>
            <a:chExt cx="599565" cy="206735"/>
          </a:xfrm>
        </p:grpSpPr>
        <p:sp>
          <p:nvSpPr>
            <p:cNvPr name="Freeform 5" id="5"/>
            <p:cNvSpPr/>
            <p:nvPr/>
          </p:nvSpPr>
          <p:spPr>
            <a:xfrm flipH="false" flipV="false" rot="0">
              <a:off x="0" y="0"/>
              <a:ext cx="599565" cy="206735"/>
            </a:xfrm>
            <a:custGeom>
              <a:avLst/>
              <a:gdLst/>
              <a:ahLst/>
              <a:cxnLst/>
              <a:rect r="r" b="b" t="t" l="l"/>
              <a:pathLst>
                <a:path h="206735" w="599565">
                  <a:moveTo>
                    <a:pt x="103367" y="0"/>
                  </a:moveTo>
                  <a:lnTo>
                    <a:pt x="496198" y="0"/>
                  </a:lnTo>
                  <a:cubicBezTo>
                    <a:pt x="523613" y="0"/>
                    <a:pt x="549905" y="10890"/>
                    <a:pt x="569290" y="30276"/>
                  </a:cubicBezTo>
                  <a:cubicBezTo>
                    <a:pt x="588675" y="49661"/>
                    <a:pt x="599565" y="75953"/>
                    <a:pt x="599565" y="103367"/>
                  </a:cubicBezTo>
                  <a:lnTo>
                    <a:pt x="599565" y="103367"/>
                  </a:lnTo>
                  <a:cubicBezTo>
                    <a:pt x="599565" y="130782"/>
                    <a:pt x="588675" y="157074"/>
                    <a:pt x="569290" y="176459"/>
                  </a:cubicBezTo>
                  <a:cubicBezTo>
                    <a:pt x="549905" y="195844"/>
                    <a:pt x="523613" y="206735"/>
                    <a:pt x="496198"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599565" cy="244835"/>
            </a:xfrm>
            <a:prstGeom prst="rect">
              <a:avLst/>
            </a:prstGeom>
          </p:spPr>
          <p:txBody>
            <a:bodyPr anchor="ctr" rtlCol="false" tIns="50800" lIns="50800" bIns="50800" rIns="50800"/>
            <a:lstStyle/>
            <a:p>
              <a:pPr algn="ctr">
                <a:lnSpc>
                  <a:spcPts val="2520"/>
                </a:lnSpc>
              </a:pPr>
            </a:p>
          </p:txBody>
        </p:sp>
      </p:grpSp>
      <p:sp>
        <p:nvSpPr>
          <p:cNvPr name="TextBox 7" id="7"/>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8" id="8"/>
          <p:cNvGrpSpPr/>
          <p:nvPr/>
        </p:nvGrpSpPr>
        <p:grpSpPr>
          <a:xfrm rot="0">
            <a:off x="15319698" y="1344472"/>
            <a:ext cx="240861" cy="24086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1" id="11"/>
          <p:cNvSpPr/>
          <p:nvPr/>
        </p:nvSpPr>
        <p:spPr>
          <a:xfrm flipH="false" flipV="false" rot="0">
            <a:off x="3240881" y="2700338"/>
            <a:ext cx="2381250" cy="2381250"/>
          </a:xfrm>
          <a:custGeom>
            <a:avLst/>
            <a:gdLst/>
            <a:ahLst/>
            <a:cxnLst/>
            <a:rect r="r" b="b" t="t" l="l"/>
            <a:pathLst>
              <a:path h="2381250" w="2381250">
                <a:moveTo>
                  <a:pt x="0" y="0"/>
                </a:moveTo>
                <a:lnTo>
                  <a:pt x="2381250" y="0"/>
                </a:lnTo>
                <a:lnTo>
                  <a:pt x="2381250" y="2381250"/>
                </a:lnTo>
                <a:lnTo>
                  <a:pt x="0" y="2381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2632531" y="2700338"/>
            <a:ext cx="2381250" cy="2381250"/>
          </a:xfrm>
          <a:custGeom>
            <a:avLst/>
            <a:gdLst/>
            <a:ahLst/>
            <a:cxnLst/>
            <a:rect r="r" b="b" t="t" l="l"/>
            <a:pathLst>
              <a:path h="2381250" w="2381250">
                <a:moveTo>
                  <a:pt x="0" y="0"/>
                </a:moveTo>
                <a:lnTo>
                  <a:pt x="2381250" y="0"/>
                </a:lnTo>
                <a:lnTo>
                  <a:pt x="2381250" y="2381250"/>
                </a:lnTo>
                <a:lnTo>
                  <a:pt x="0" y="23812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028700" y="5476875"/>
            <a:ext cx="6805612" cy="1873250"/>
          </a:xfrm>
          <a:prstGeom prst="rect">
            <a:avLst/>
          </a:prstGeom>
        </p:spPr>
        <p:txBody>
          <a:bodyPr anchor="t" rtlCol="false" tIns="0" lIns="0" bIns="0" rIns="0">
            <a:spAutoFit/>
          </a:bodyPr>
          <a:lstStyle/>
          <a:p>
            <a:pPr algn="ctr">
              <a:lnSpc>
                <a:spcPts val="6999"/>
              </a:lnSpc>
            </a:pPr>
            <a:r>
              <a:rPr lang="en-US" sz="6999">
                <a:solidFill>
                  <a:srgbClr val="0D0D0D"/>
                </a:solidFill>
                <a:latin typeface="Poppins Light"/>
                <a:ea typeface="Poppins Light"/>
                <a:cs typeface="Poppins Light"/>
                <a:sym typeface="Poppins Light"/>
              </a:rPr>
              <a:t>Business</a:t>
            </a:r>
          </a:p>
          <a:p>
            <a:pPr algn="ctr">
              <a:lnSpc>
                <a:spcPts val="6999"/>
              </a:lnSpc>
            </a:pPr>
            <a:r>
              <a:rPr lang="en-US" sz="6999">
                <a:solidFill>
                  <a:srgbClr val="0D0D0D"/>
                </a:solidFill>
                <a:latin typeface="Poppins Light"/>
                <a:ea typeface="Poppins Light"/>
                <a:cs typeface="Poppins Light"/>
                <a:sym typeface="Poppins Light"/>
              </a:rPr>
              <a:t>Inteligence</a:t>
            </a:r>
          </a:p>
        </p:txBody>
      </p:sp>
      <p:sp>
        <p:nvSpPr>
          <p:cNvPr name="TextBox 14" id="14"/>
          <p:cNvSpPr txBox="true"/>
          <p:nvPr/>
        </p:nvSpPr>
        <p:spPr>
          <a:xfrm rot="0">
            <a:off x="10420350" y="5476875"/>
            <a:ext cx="6805612" cy="1873250"/>
          </a:xfrm>
          <a:prstGeom prst="rect">
            <a:avLst/>
          </a:prstGeom>
        </p:spPr>
        <p:txBody>
          <a:bodyPr anchor="t" rtlCol="false" tIns="0" lIns="0" bIns="0" rIns="0">
            <a:spAutoFit/>
          </a:bodyPr>
          <a:lstStyle/>
          <a:p>
            <a:pPr algn="ctr">
              <a:lnSpc>
                <a:spcPts val="6999"/>
              </a:lnSpc>
            </a:pPr>
            <a:r>
              <a:rPr lang="en-US" sz="6999">
                <a:solidFill>
                  <a:srgbClr val="0D0D0D"/>
                </a:solidFill>
                <a:latin typeface="Poppins Light"/>
                <a:ea typeface="Poppins Light"/>
                <a:cs typeface="Poppins Light"/>
                <a:sym typeface="Poppins Light"/>
              </a:rPr>
              <a:t>DevOps &amp; Infrastructure</a:t>
            </a:r>
          </a:p>
        </p:txBody>
      </p:sp>
      <p:sp>
        <p:nvSpPr>
          <p:cNvPr name="TextBox 15" id="15"/>
          <p:cNvSpPr txBox="true"/>
          <p:nvPr/>
        </p:nvSpPr>
        <p:spPr>
          <a:xfrm rot="0">
            <a:off x="725002" y="7666673"/>
            <a:ext cx="7413008" cy="1263015"/>
          </a:xfrm>
          <a:prstGeom prst="rect">
            <a:avLst/>
          </a:prstGeom>
        </p:spPr>
        <p:txBody>
          <a:bodyPr anchor="t" rtlCol="false" tIns="0" lIns="0" bIns="0" rIns="0">
            <a:spAutoFit/>
          </a:bodyPr>
          <a:lstStyle/>
          <a:p>
            <a:pPr algn="ctr">
              <a:lnSpc>
                <a:spcPts val="3359"/>
              </a:lnSpc>
            </a:pPr>
            <a:r>
              <a:rPr lang="en-US" sz="2399">
                <a:solidFill>
                  <a:srgbClr val="0D0D0D"/>
                </a:solidFill>
                <a:latin typeface="Poppins"/>
                <a:ea typeface="Poppins"/>
                <a:cs typeface="Poppins"/>
                <a:sym typeface="Poppins"/>
              </a:rPr>
              <a:t>Centralize and automate data with a real-time BI dashboard to uncover insights, track KPIs, and enhance decision-making for your business.</a:t>
            </a:r>
          </a:p>
        </p:txBody>
      </p:sp>
      <p:sp>
        <p:nvSpPr>
          <p:cNvPr name="TextBox 16" id="16"/>
          <p:cNvSpPr txBox="true"/>
          <p:nvPr/>
        </p:nvSpPr>
        <p:spPr>
          <a:xfrm rot="0">
            <a:off x="11044219" y="7666673"/>
            <a:ext cx="5557874" cy="1263015"/>
          </a:xfrm>
          <a:prstGeom prst="rect">
            <a:avLst/>
          </a:prstGeom>
        </p:spPr>
        <p:txBody>
          <a:bodyPr anchor="t" rtlCol="false" tIns="0" lIns="0" bIns="0" rIns="0">
            <a:spAutoFit/>
          </a:bodyPr>
          <a:lstStyle/>
          <a:p>
            <a:pPr algn="ctr">
              <a:lnSpc>
                <a:spcPts val="3359"/>
              </a:lnSpc>
            </a:pPr>
            <a:r>
              <a:rPr lang="en-US" sz="2399">
                <a:solidFill>
                  <a:srgbClr val="0D0D0D"/>
                </a:solidFill>
                <a:latin typeface="Poppins"/>
                <a:ea typeface="Poppins"/>
                <a:cs typeface="Poppins"/>
                <a:sym typeface="Poppins"/>
              </a:rPr>
              <a:t>Let us design your next server farm, CI/CD or fine tune it for optimal performance.</a:t>
            </a:r>
          </a:p>
        </p:txBody>
      </p:sp>
    </p:spTree>
  </p:cSld>
  <p:clrMapOvr>
    <a:masterClrMapping/>
  </p:clrMapOvr>
  <p:transition spd="fast">
    <p:wipe dir="u"/>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9124950" y="1782663"/>
            <a:ext cx="0" cy="697330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14982825" y="1072430"/>
            <a:ext cx="2276475" cy="784945"/>
            <a:chOff x="0" y="0"/>
            <a:chExt cx="599565" cy="206735"/>
          </a:xfrm>
        </p:grpSpPr>
        <p:sp>
          <p:nvSpPr>
            <p:cNvPr name="Freeform 5" id="5"/>
            <p:cNvSpPr/>
            <p:nvPr/>
          </p:nvSpPr>
          <p:spPr>
            <a:xfrm flipH="false" flipV="false" rot="0">
              <a:off x="0" y="0"/>
              <a:ext cx="599565" cy="206735"/>
            </a:xfrm>
            <a:custGeom>
              <a:avLst/>
              <a:gdLst/>
              <a:ahLst/>
              <a:cxnLst/>
              <a:rect r="r" b="b" t="t" l="l"/>
              <a:pathLst>
                <a:path h="206735" w="599565">
                  <a:moveTo>
                    <a:pt x="103367" y="0"/>
                  </a:moveTo>
                  <a:lnTo>
                    <a:pt x="496198" y="0"/>
                  </a:lnTo>
                  <a:cubicBezTo>
                    <a:pt x="523613" y="0"/>
                    <a:pt x="549905" y="10890"/>
                    <a:pt x="569290" y="30276"/>
                  </a:cubicBezTo>
                  <a:cubicBezTo>
                    <a:pt x="588675" y="49661"/>
                    <a:pt x="599565" y="75953"/>
                    <a:pt x="599565" y="103367"/>
                  </a:cubicBezTo>
                  <a:lnTo>
                    <a:pt x="599565" y="103367"/>
                  </a:lnTo>
                  <a:cubicBezTo>
                    <a:pt x="599565" y="130782"/>
                    <a:pt x="588675" y="157074"/>
                    <a:pt x="569290" y="176459"/>
                  </a:cubicBezTo>
                  <a:cubicBezTo>
                    <a:pt x="549905" y="195844"/>
                    <a:pt x="523613" y="206735"/>
                    <a:pt x="496198"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599565" cy="244835"/>
            </a:xfrm>
            <a:prstGeom prst="rect">
              <a:avLst/>
            </a:prstGeom>
          </p:spPr>
          <p:txBody>
            <a:bodyPr anchor="ctr" rtlCol="false" tIns="50800" lIns="50800" bIns="50800" rIns="50800"/>
            <a:lstStyle/>
            <a:p>
              <a:pPr algn="ctr">
                <a:lnSpc>
                  <a:spcPts val="2520"/>
                </a:lnSpc>
              </a:pPr>
            </a:p>
          </p:txBody>
        </p:sp>
      </p:grpSp>
      <p:sp>
        <p:nvSpPr>
          <p:cNvPr name="TextBox 7" id="7"/>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8" id="8"/>
          <p:cNvGrpSpPr/>
          <p:nvPr/>
        </p:nvGrpSpPr>
        <p:grpSpPr>
          <a:xfrm rot="0">
            <a:off x="15319698" y="1344472"/>
            <a:ext cx="240861" cy="24086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1" id="11"/>
          <p:cNvSpPr/>
          <p:nvPr/>
        </p:nvSpPr>
        <p:spPr>
          <a:xfrm flipH="false" flipV="false" rot="0">
            <a:off x="12665869" y="3019425"/>
            <a:ext cx="2381250" cy="2381250"/>
          </a:xfrm>
          <a:custGeom>
            <a:avLst/>
            <a:gdLst/>
            <a:ahLst/>
            <a:cxnLst/>
            <a:rect r="r" b="b" t="t" l="l"/>
            <a:pathLst>
              <a:path h="2381250" w="2381250">
                <a:moveTo>
                  <a:pt x="0" y="0"/>
                </a:moveTo>
                <a:lnTo>
                  <a:pt x="2381250" y="0"/>
                </a:lnTo>
                <a:lnTo>
                  <a:pt x="2381250" y="2381250"/>
                </a:lnTo>
                <a:lnTo>
                  <a:pt x="0" y="2381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3274219" y="3019425"/>
            <a:ext cx="2381250" cy="2381250"/>
          </a:xfrm>
          <a:custGeom>
            <a:avLst/>
            <a:gdLst/>
            <a:ahLst/>
            <a:cxnLst/>
            <a:rect r="r" b="b" t="t" l="l"/>
            <a:pathLst>
              <a:path h="2381250" w="2381250">
                <a:moveTo>
                  <a:pt x="0" y="0"/>
                </a:moveTo>
                <a:lnTo>
                  <a:pt x="2381250" y="0"/>
                </a:lnTo>
                <a:lnTo>
                  <a:pt x="2381250" y="2381250"/>
                </a:lnTo>
                <a:lnTo>
                  <a:pt x="0" y="23812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062038" y="5476875"/>
            <a:ext cx="6805612" cy="1873250"/>
          </a:xfrm>
          <a:prstGeom prst="rect">
            <a:avLst/>
          </a:prstGeom>
        </p:spPr>
        <p:txBody>
          <a:bodyPr anchor="t" rtlCol="false" tIns="0" lIns="0" bIns="0" rIns="0">
            <a:spAutoFit/>
          </a:bodyPr>
          <a:lstStyle/>
          <a:p>
            <a:pPr algn="ctr">
              <a:lnSpc>
                <a:spcPts val="6999"/>
              </a:lnSpc>
            </a:pPr>
            <a:r>
              <a:rPr lang="en-US" sz="6999">
                <a:solidFill>
                  <a:srgbClr val="0D0D0D"/>
                </a:solidFill>
                <a:latin typeface="Poppins Light"/>
                <a:ea typeface="Poppins Light"/>
                <a:cs typeface="Poppins Light"/>
                <a:sym typeface="Poppins Light"/>
              </a:rPr>
              <a:t>Performa</a:t>
            </a:r>
            <a:r>
              <a:rPr lang="en-US" sz="6999">
                <a:solidFill>
                  <a:srgbClr val="0D0D0D"/>
                </a:solidFill>
                <a:latin typeface="Poppins Light"/>
                <a:ea typeface="Poppins Light"/>
                <a:cs typeface="Poppins Light"/>
                <a:sym typeface="Poppins Light"/>
              </a:rPr>
              <a:t>nce &amp; Security</a:t>
            </a:r>
          </a:p>
        </p:txBody>
      </p:sp>
      <p:sp>
        <p:nvSpPr>
          <p:cNvPr name="TextBox 14" id="14"/>
          <p:cNvSpPr txBox="true"/>
          <p:nvPr/>
        </p:nvSpPr>
        <p:spPr>
          <a:xfrm rot="0">
            <a:off x="10453688" y="5476875"/>
            <a:ext cx="6805612" cy="1873250"/>
          </a:xfrm>
          <a:prstGeom prst="rect">
            <a:avLst/>
          </a:prstGeom>
        </p:spPr>
        <p:txBody>
          <a:bodyPr anchor="t" rtlCol="false" tIns="0" lIns="0" bIns="0" rIns="0">
            <a:spAutoFit/>
          </a:bodyPr>
          <a:lstStyle/>
          <a:p>
            <a:pPr algn="ctr">
              <a:lnSpc>
                <a:spcPts val="6999"/>
              </a:lnSpc>
            </a:pPr>
            <a:r>
              <a:rPr lang="en-US" sz="6999">
                <a:solidFill>
                  <a:srgbClr val="0D0D0D"/>
                </a:solidFill>
                <a:latin typeface="Poppins Light"/>
                <a:ea typeface="Poppins Light"/>
                <a:cs typeface="Poppins Light"/>
                <a:sym typeface="Poppins Light"/>
              </a:rPr>
              <a:t>Expert </a:t>
            </a:r>
          </a:p>
          <a:p>
            <a:pPr algn="ctr">
              <a:lnSpc>
                <a:spcPts val="6999"/>
              </a:lnSpc>
            </a:pPr>
            <a:r>
              <a:rPr lang="en-US" sz="6999">
                <a:solidFill>
                  <a:srgbClr val="0D0D0D"/>
                </a:solidFill>
                <a:latin typeface="Poppins Light"/>
                <a:ea typeface="Poppins Light"/>
                <a:cs typeface="Poppins Light"/>
                <a:sym typeface="Poppins Light"/>
              </a:rPr>
              <a:t>Training</a:t>
            </a:r>
          </a:p>
        </p:txBody>
      </p:sp>
      <p:sp>
        <p:nvSpPr>
          <p:cNvPr name="TextBox 15" id="15"/>
          <p:cNvSpPr txBox="true"/>
          <p:nvPr/>
        </p:nvSpPr>
        <p:spPr>
          <a:xfrm rot="0">
            <a:off x="1447376" y="7666673"/>
            <a:ext cx="6034935" cy="1263015"/>
          </a:xfrm>
          <a:prstGeom prst="rect">
            <a:avLst/>
          </a:prstGeom>
        </p:spPr>
        <p:txBody>
          <a:bodyPr anchor="t" rtlCol="false" tIns="0" lIns="0" bIns="0" rIns="0">
            <a:spAutoFit/>
          </a:bodyPr>
          <a:lstStyle/>
          <a:p>
            <a:pPr algn="ctr">
              <a:lnSpc>
                <a:spcPts val="3359"/>
              </a:lnSpc>
            </a:pPr>
            <a:r>
              <a:rPr lang="en-US" sz="2400">
                <a:solidFill>
                  <a:srgbClr val="0D0D0D"/>
                </a:solidFill>
                <a:latin typeface="Poppins"/>
                <a:ea typeface="Poppins"/>
                <a:cs typeface="Poppins"/>
                <a:sym typeface="Poppins"/>
              </a:rPr>
              <a:t>Optimize performance for your apps, detect and remediate security vulnerabilities.</a:t>
            </a:r>
          </a:p>
        </p:txBody>
      </p:sp>
      <p:sp>
        <p:nvSpPr>
          <p:cNvPr name="TextBox 16" id="16"/>
          <p:cNvSpPr txBox="true"/>
          <p:nvPr/>
        </p:nvSpPr>
        <p:spPr>
          <a:xfrm rot="0">
            <a:off x="11077557" y="7666673"/>
            <a:ext cx="5557874" cy="1263015"/>
          </a:xfrm>
          <a:prstGeom prst="rect">
            <a:avLst/>
          </a:prstGeom>
        </p:spPr>
        <p:txBody>
          <a:bodyPr anchor="t" rtlCol="false" tIns="0" lIns="0" bIns="0" rIns="0">
            <a:spAutoFit/>
          </a:bodyPr>
          <a:lstStyle/>
          <a:p>
            <a:pPr algn="ctr">
              <a:lnSpc>
                <a:spcPts val="3359"/>
              </a:lnSpc>
            </a:pPr>
            <a:r>
              <a:rPr lang="en-US" sz="2400">
                <a:solidFill>
                  <a:srgbClr val="0D0D0D"/>
                </a:solidFill>
                <a:latin typeface="Poppins"/>
                <a:ea typeface="Poppins"/>
                <a:cs typeface="Poppins"/>
                <a:sym typeface="Poppins"/>
              </a:rPr>
              <a:t>We have a wide selection of CFML training courses which can be delivered on-site or virtually.</a:t>
            </a:r>
          </a:p>
        </p:txBody>
      </p:sp>
    </p:spTree>
  </p:cSld>
  <p:clrMapOvr>
    <a:masterClrMapping/>
  </p:clrMapOvr>
  <p:transition spd="fast">
    <p:wipe dir="u"/>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9124950" y="1782663"/>
            <a:ext cx="0" cy="697330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14982825" y="1072430"/>
            <a:ext cx="2276475" cy="784945"/>
            <a:chOff x="0" y="0"/>
            <a:chExt cx="599565" cy="206735"/>
          </a:xfrm>
        </p:grpSpPr>
        <p:sp>
          <p:nvSpPr>
            <p:cNvPr name="Freeform 5" id="5"/>
            <p:cNvSpPr/>
            <p:nvPr/>
          </p:nvSpPr>
          <p:spPr>
            <a:xfrm flipH="false" flipV="false" rot="0">
              <a:off x="0" y="0"/>
              <a:ext cx="599565" cy="206735"/>
            </a:xfrm>
            <a:custGeom>
              <a:avLst/>
              <a:gdLst/>
              <a:ahLst/>
              <a:cxnLst/>
              <a:rect r="r" b="b" t="t" l="l"/>
              <a:pathLst>
                <a:path h="206735" w="599565">
                  <a:moveTo>
                    <a:pt x="103367" y="0"/>
                  </a:moveTo>
                  <a:lnTo>
                    <a:pt x="496198" y="0"/>
                  </a:lnTo>
                  <a:cubicBezTo>
                    <a:pt x="523613" y="0"/>
                    <a:pt x="549905" y="10890"/>
                    <a:pt x="569290" y="30276"/>
                  </a:cubicBezTo>
                  <a:cubicBezTo>
                    <a:pt x="588675" y="49661"/>
                    <a:pt x="599565" y="75953"/>
                    <a:pt x="599565" y="103367"/>
                  </a:cubicBezTo>
                  <a:lnTo>
                    <a:pt x="599565" y="103367"/>
                  </a:lnTo>
                  <a:cubicBezTo>
                    <a:pt x="599565" y="130782"/>
                    <a:pt x="588675" y="157074"/>
                    <a:pt x="569290" y="176459"/>
                  </a:cubicBezTo>
                  <a:cubicBezTo>
                    <a:pt x="549905" y="195844"/>
                    <a:pt x="523613" y="206735"/>
                    <a:pt x="496198"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599565" cy="244835"/>
            </a:xfrm>
            <a:prstGeom prst="rect">
              <a:avLst/>
            </a:prstGeom>
          </p:spPr>
          <p:txBody>
            <a:bodyPr anchor="ctr" rtlCol="false" tIns="50800" lIns="50800" bIns="50800" rIns="50800"/>
            <a:lstStyle/>
            <a:p>
              <a:pPr algn="ctr">
                <a:lnSpc>
                  <a:spcPts val="2520"/>
                </a:lnSpc>
              </a:pPr>
            </a:p>
          </p:txBody>
        </p:sp>
      </p:grpSp>
      <p:sp>
        <p:nvSpPr>
          <p:cNvPr name="TextBox 7" id="7"/>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8" id="8"/>
          <p:cNvGrpSpPr/>
          <p:nvPr/>
        </p:nvGrpSpPr>
        <p:grpSpPr>
          <a:xfrm rot="0">
            <a:off x="15319698" y="1344472"/>
            <a:ext cx="240861" cy="24086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1" id="11"/>
          <p:cNvSpPr/>
          <p:nvPr/>
        </p:nvSpPr>
        <p:spPr>
          <a:xfrm flipH="false" flipV="false" rot="0">
            <a:off x="3240881" y="2762250"/>
            <a:ext cx="2381250" cy="2381250"/>
          </a:xfrm>
          <a:custGeom>
            <a:avLst/>
            <a:gdLst/>
            <a:ahLst/>
            <a:cxnLst/>
            <a:rect r="r" b="b" t="t" l="l"/>
            <a:pathLst>
              <a:path h="2381250" w="2381250">
                <a:moveTo>
                  <a:pt x="0" y="0"/>
                </a:moveTo>
                <a:lnTo>
                  <a:pt x="2381250" y="0"/>
                </a:lnTo>
                <a:lnTo>
                  <a:pt x="2381250" y="2381250"/>
                </a:lnTo>
                <a:lnTo>
                  <a:pt x="0" y="2381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2632531" y="2762250"/>
            <a:ext cx="2381250" cy="2381250"/>
          </a:xfrm>
          <a:custGeom>
            <a:avLst/>
            <a:gdLst/>
            <a:ahLst/>
            <a:cxnLst/>
            <a:rect r="r" b="b" t="t" l="l"/>
            <a:pathLst>
              <a:path h="2381250" w="2381250">
                <a:moveTo>
                  <a:pt x="0" y="0"/>
                </a:moveTo>
                <a:lnTo>
                  <a:pt x="2381250" y="0"/>
                </a:lnTo>
                <a:lnTo>
                  <a:pt x="2381250" y="2381250"/>
                </a:lnTo>
                <a:lnTo>
                  <a:pt x="0" y="2381250"/>
                </a:lnTo>
                <a:lnTo>
                  <a:pt x="0" y="0"/>
                </a:lnTo>
                <a:close/>
              </a:path>
            </a:pathLst>
          </a:custGeom>
          <a:blipFill>
            <a:blip r:embed="rId6"/>
            <a:stretch>
              <a:fillRect l="0" t="0" r="0" b="0"/>
            </a:stretch>
          </a:blipFill>
        </p:spPr>
      </p:sp>
      <p:sp>
        <p:nvSpPr>
          <p:cNvPr name="TextBox 13" id="13"/>
          <p:cNvSpPr txBox="true"/>
          <p:nvPr/>
        </p:nvSpPr>
        <p:spPr>
          <a:xfrm rot="0">
            <a:off x="1028700" y="5478622"/>
            <a:ext cx="6805612" cy="1873250"/>
          </a:xfrm>
          <a:prstGeom prst="rect">
            <a:avLst/>
          </a:prstGeom>
        </p:spPr>
        <p:txBody>
          <a:bodyPr anchor="t" rtlCol="false" tIns="0" lIns="0" bIns="0" rIns="0">
            <a:spAutoFit/>
          </a:bodyPr>
          <a:lstStyle/>
          <a:p>
            <a:pPr algn="ctr">
              <a:lnSpc>
                <a:spcPts val="6999"/>
              </a:lnSpc>
            </a:pPr>
            <a:r>
              <a:rPr lang="en-US" sz="6999">
                <a:solidFill>
                  <a:srgbClr val="0D0D0D"/>
                </a:solidFill>
                <a:latin typeface="Poppins Light"/>
                <a:ea typeface="Poppins Light"/>
                <a:cs typeface="Poppins Light"/>
                <a:sym typeface="Poppins Light"/>
              </a:rPr>
              <a:t>Staff Aug</a:t>
            </a:r>
            <a:r>
              <a:rPr lang="en-US" sz="6999">
                <a:solidFill>
                  <a:srgbClr val="0D0D0D"/>
                </a:solidFill>
                <a:latin typeface="Poppins Light"/>
                <a:ea typeface="Poppins Light"/>
                <a:cs typeface="Poppins Light"/>
                <a:sym typeface="Poppins Light"/>
              </a:rPr>
              <a:t>mentation</a:t>
            </a:r>
          </a:p>
        </p:txBody>
      </p:sp>
      <p:sp>
        <p:nvSpPr>
          <p:cNvPr name="TextBox 14" id="14"/>
          <p:cNvSpPr txBox="true"/>
          <p:nvPr/>
        </p:nvSpPr>
        <p:spPr>
          <a:xfrm rot="0">
            <a:off x="10420350" y="5478622"/>
            <a:ext cx="6805612" cy="1873250"/>
          </a:xfrm>
          <a:prstGeom prst="rect">
            <a:avLst/>
          </a:prstGeom>
        </p:spPr>
        <p:txBody>
          <a:bodyPr anchor="t" rtlCol="false" tIns="0" lIns="0" bIns="0" rIns="0">
            <a:spAutoFit/>
          </a:bodyPr>
          <a:lstStyle/>
          <a:p>
            <a:pPr algn="ctr">
              <a:lnSpc>
                <a:spcPts val="6999"/>
              </a:lnSpc>
            </a:pPr>
            <a:r>
              <a:rPr lang="en-US" sz="6999">
                <a:solidFill>
                  <a:srgbClr val="0D0D0D"/>
                </a:solidFill>
                <a:latin typeface="Poppins Light"/>
                <a:ea typeface="Poppins Light"/>
                <a:cs typeface="Poppins Light"/>
                <a:sym typeface="Poppins Light"/>
              </a:rPr>
              <a:t>Elasticsearch Solutions</a:t>
            </a:r>
          </a:p>
        </p:txBody>
      </p:sp>
      <p:sp>
        <p:nvSpPr>
          <p:cNvPr name="TextBox 15" id="15"/>
          <p:cNvSpPr txBox="true"/>
          <p:nvPr/>
        </p:nvSpPr>
        <p:spPr>
          <a:xfrm rot="0">
            <a:off x="1532158" y="7666673"/>
            <a:ext cx="5798697" cy="1263015"/>
          </a:xfrm>
          <a:prstGeom prst="rect">
            <a:avLst/>
          </a:prstGeom>
        </p:spPr>
        <p:txBody>
          <a:bodyPr anchor="t" rtlCol="false" tIns="0" lIns="0" bIns="0" rIns="0">
            <a:spAutoFit/>
          </a:bodyPr>
          <a:lstStyle/>
          <a:p>
            <a:pPr algn="ctr">
              <a:lnSpc>
                <a:spcPts val="3359"/>
              </a:lnSpc>
            </a:pPr>
            <a:r>
              <a:rPr lang="en-US" sz="2400">
                <a:solidFill>
                  <a:srgbClr val="0D0D0D"/>
                </a:solidFill>
                <a:latin typeface="Poppins"/>
                <a:ea typeface="Poppins"/>
                <a:cs typeface="Poppins"/>
                <a:sym typeface="Poppins"/>
              </a:rPr>
              <a:t>Accelerate your Web Development Projects  with On-Demand Software Development Experts!</a:t>
            </a:r>
          </a:p>
        </p:txBody>
      </p:sp>
      <p:sp>
        <p:nvSpPr>
          <p:cNvPr name="TextBox 16" id="16"/>
          <p:cNvSpPr txBox="true"/>
          <p:nvPr/>
        </p:nvSpPr>
        <p:spPr>
          <a:xfrm rot="0">
            <a:off x="11044219" y="7666673"/>
            <a:ext cx="5557874" cy="1263015"/>
          </a:xfrm>
          <a:prstGeom prst="rect">
            <a:avLst/>
          </a:prstGeom>
        </p:spPr>
        <p:txBody>
          <a:bodyPr anchor="t" rtlCol="false" tIns="0" lIns="0" bIns="0" rIns="0">
            <a:spAutoFit/>
          </a:bodyPr>
          <a:lstStyle/>
          <a:p>
            <a:pPr algn="ctr">
              <a:lnSpc>
                <a:spcPts val="3359"/>
              </a:lnSpc>
            </a:pPr>
            <a:r>
              <a:rPr lang="en-US" sz="2400">
                <a:solidFill>
                  <a:srgbClr val="0D0D0D"/>
                </a:solidFill>
                <a:latin typeface="Poppins"/>
                <a:ea typeface="Poppins"/>
                <a:cs typeface="Poppins"/>
                <a:sym typeface="Poppins"/>
              </a:rPr>
              <a:t>Enhance search with expert consulting and implementation of Elasticsearch and AWS OpenSearch</a:t>
            </a:r>
          </a:p>
        </p:txBody>
      </p:sp>
    </p:spTree>
  </p:cSld>
  <p:clrMapOvr>
    <a:masterClrMapping/>
  </p:clrMapOvr>
  <p:transition spd="fast">
    <p:wipe dir="u"/>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623026" y="1344472"/>
            <a:ext cx="240861" cy="24086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023717" y="5238788"/>
            <a:ext cx="3918217" cy="523020"/>
          </a:xfrm>
          <a:custGeom>
            <a:avLst/>
            <a:gdLst/>
            <a:ahLst/>
            <a:cxnLst/>
            <a:rect r="r" b="b" t="t" l="l"/>
            <a:pathLst>
              <a:path h="523020" w="3918217">
                <a:moveTo>
                  <a:pt x="0" y="0"/>
                </a:moveTo>
                <a:lnTo>
                  <a:pt x="3918216" y="0"/>
                </a:lnTo>
                <a:lnTo>
                  <a:pt x="3918216" y="523020"/>
                </a:lnTo>
                <a:lnTo>
                  <a:pt x="0" y="523020"/>
                </a:lnTo>
                <a:lnTo>
                  <a:pt x="0" y="0"/>
                </a:lnTo>
                <a:close/>
              </a:path>
            </a:pathLst>
          </a:custGeom>
          <a:blipFill>
            <a:blip r:embed="rId4"/>
            <a:stretch>
              <a:fillRect l="0" t="0" r="0" b="0"/>
            </a:stretch>
          </a:blipFill>
        </p:spPr>
      </p:sp>
      <p:sp>
        <p:nvSpPr>
          <p:cNvPr name="Freeform 7" id="7"/>
          <p:cNvSpPr/>
          <p:nvPr/>
        </p:nvSpPr>
        <p:spPr>
          <a:xfrm flipH="false" flipV="false" rot="0">
            <a:off x="11574243" y="8268931"/>
            <a:ext cx="1440969" cy="737504"/>
          </a:xfrm>
          <a:custGeom>
            <a:avLst/>
            <a:gdLst/>
            <a:ahLst/>
            <a:cxnLst/>
            <a:rect r="r" b="b" t="t" l="l"/>
            <a:pathLst>
              <a:path h="737504" w="1440969">
                <a:moveTo>
                  <a:pt x="0" y="0"/>
                </a:moveTo>
                <a:lnTo>
                  <a:pt x="1440970" y="0"/>
                </a:lnTo>
                <a:lnTo>
                  <a:pt x="1440970" y="737504"/>
                </a:lnTo>
                <a:lnTo>
                  <a:pt x="0" y="737504"/>
                </a:lnTo>
                <a:lnTo>
                  <a:pt x="0" y="0"/>
                </a:lnTo>
                <a:close/>
              </a:path>
            </a:pathLst>
          </a:custGeom>
          <a:blipFill>
            <a:blip r:embed="rId5"/>
            <a:stretch>
              <a:fillRect l="0" t="0" r="0" b="0"/>
            </a:stretch>
          </a:blipFill>
        </p:spPr>
      </p:sp>
      <p:grpSp>
        <p:nvGrpSpPr>
          <p:cNvPr name="Group 8" id="8"/>
          <p:cNvGrpSpPr/>
          <p:nvPr/>
        </p:nvGrpSpPr>
        <p:grpSpPr>
          <a:xfrm rot="0">
            <a:off x="14982825" y="1072430"/>
            <a:ext cx="2276475" cy="784945"/>
            <a:chOff x="0" y="0"/>
            <a:chExt cx="599565" cy="206735"/>
          </a:xfrm>
        </p:grpSpPr>
        <p:sp>
          <p:nvSpPr>
            <p:cNvPr name="Freeform 9" id="9"/>
            <p:cNvSpPr/>
            <p:nvPr/>
          </p:nvSpPr>
          <p:spPr>
            <a:xfrm flipH="false" flipV="false" rot="0">
              <a:off x="0" y="0"/>
              <a:ext cx="599565" cy="206735"/>
            </a:xfrm>
            <a:custGeom>
              <a:avLst/>
              <a:gdLst/>
              <a:ahLst/>
              <a:cxnLst/>
              <a:rect r="r" b="b" t="t" l="l"/>
              <a:pathLst>
                <a:path h="206735" w="599565">
                  <a:moveTo>
                    <a:pt x="103367" y="0"/>
                  </a:moveTo>
                  <a:lnTo>
                    <a:pt x="496198" y="0"/>
                  </a:lnTo>
                  <a:cubicBezTo>
                    <a:pt x="523613" y="0"/>
                    <a:pt x="549905" y="10890"/>
                    <a:pt x="569290" y="30276"/>
                  </a:cubicBezTo>
                  <a:cubicBezTo>
                    <a:pt x="588675" y="49661"/>
                    <a:pt x="599565" y="75953"/>
                    <a:pt x="599565" y="103367"/>
                  </a:cubicBezTo>
                  <a:lnTo>
                    <a:pt x="599565" y="103367"/>
                  </a:lnTo>
                  <a:cubicBezTo>
                    <a:pt x="599565" y="130782"/>
                    <a:pt x="588675" y="157074"/>
                    <a:pt x="569290" y="176459"/>
                  </a:cubicBezTo>
                  <a:cubicBezTo>
                    <a:pt x="549905" y="195844"/>
                    <a:pt x="523613" y="206735"/>
                    <a:pt x="496198"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0" id="10"/>
            <p:cNvSpPr txBox="true"/>
            <p:nvPr/>
          </p:nvSpPr>
          <p:spPr>
            <a:xfrm>
              <a:off x="0" y="-38100"/>
              <a:ext cx="599565" cy="244835"/>
            </a:xfrm>
            <a:prstGeom prst="rect">
              <a:avLst/>
            </a:prstGeom>
          </p:spPr>
          <p:txBody>
            <a:bodyPr anchor="ctr" rtlCol="false" tIns="50800" lIns="50800" bIns="50800" rIns="50800"/>
            <a:lstStyle/>
            <a:p>
              <a:pPr algn="ctr">
                <a:lnSpc>
                  <a:spcPts val="2520"/>
                </a:lnSpc>
              </a:pPr>
            </a:p>
          </p:txBody>
        </p:sp>
      </p:grpSp>
      <p:sp>
        <p:nvSpPr>
          <p:cNvPr name="TextBox 11" id="11"/>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12" id="12"/>
          <p:cNvGrpSpPr/>
          <p:nvPr/>
        </p:nvGrpSpPr>
        <p:grpSpPr>
          <a:xfrm rot="0">
            <a:off x="15319698" y="1344472"/>
            <a:ext cx="240861" cy="24086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5" id="15"/>
          <p:cNvSpPr/>
          <p:nvPr/>
        </p:nvSpPr>
        <p:spPr>
          <a:xfrm flipH="false" flipV="false" rot="0">
            <a:off x="986506" y="5990064"/>
            <a:ext cx="1846514" cy="2131884"/>
          </a:xfrm>
          <a:custGeom>
            <a:avLst/>
            <a:gdLst/>
            <a:ahLst/>
            <a:cxnLst/>
            <a:rect r="r" b="b" t="t" l="l"/>
            <a:pathLst>
              <a:path h="2131884" w="1846514">
                <a:moveTo>
                  <a:pt x="0" y="0"/>
                </a:moveTo>
                <a:lnTo>
                  <a:pt x="1846513" y="0"/>
                </a:lnTo>
                <a:lnTo>
                  <a:pt x="1846513" y="2131884"/>
                </a:lnTo>
                <a:lnTo>
                  <a:pt x="0" y="2131884"/>
                </a:lnTo>
                <a:lnTo>
                  <a:pt x="0" y="0"/>
                </a:lnTo>
                <a:close/>
              </a:path>
            </a:pathLst>
          </a:custGeom>
          <a:blipFill>
            <a:blip r:embed="rId6"/>
            <a:stretch>
              <a:fillRect l="-7486" t="-8190" r="-218341" b="-20203"/>
            </a:stretch>
          </a:blipFill>
        </p:spPr>
      </p:sp>
      <p:sp>
        <p:nvSpPr>
          <p:cNvPr name="TextBox 16" id="16"/>
          <p:cNvSpPr txBox="true"/>
          <p:nvPr/>
        </p:nvSpPr>
        <p:spPr>
          <a:xfrm rot="0">
            <a:off x="1028700" y="2786063"/>
            <a:ext cx="9493362" cy="1435113"/>
          </a:xfrm>
          <a:prstGeom prst="rect">
            <a:avLst/>
          </a:prstGeom>
        </p:spPr>
        <p:txBody>
          <a:bodyPr anchor="t" rtlCol="false" tIns="0" lIns="0" bIns="0" rIns="0">
            <a:spAutoFit/>
          </a:bodyPr>
          <a:lstStyle/>
          <a:p>
            <a:pPr algn="l">
              <a:lnSpc>
                <a:spcPts val="10000"/>
              </a:lnSpc>
            </a:pPr>
            <a:r>
              <a:rPr lang="en-US" sz="10000">
                <a:solidFill>
                  <a:srgbClr val="0D0D0D"/>
                </a:solidFill>
                <a:latin typeface="Poppins Light"/>
                <a:ea typeface="Poppins Light"/>
                <a:cs typeface="Poppins Light"/>
                <a:sym typeface="Poppins Light"/>
              </a:rPr>
              <a:t>Cloud Servers</a:t>
            </a:r>
          </a:p>
        </p:txBody>
      </p:sp>
      <p:sp>
        <p:nvSpPr>
          <p:cNvPr name="TextBox 17" id="17"/>
          <p:cNvSpPr txBox="true"/>
          <p:nvPr/>
        </p:nvSpPr>
        <p:spPr>
          <a:xfrm rot="0">
            <a:off x="11149398" y="3586246"/>
            <a:ext cx="6109902" cy="1343025"/>
          </a:xfrm>
          <a:prstGeom prst="rect">
            <a:avLst/>
          </a:prstGeom>
        </p:spPr>
        <p:txBody>
          <a:bodyPr anchor="t" rtlCol="false" tIns="0" lIns="0" bIns="0" rIns="0">
            <a:spAutoFit/>
          </a:bodyPr>
          <a:lstStyle/>
          <a:p>
            <a:pPr algn="r">
              <a:lnSpc>
                <a:spcPts val="2100"/>
              </a:lnSpc>
              <a:spcBef>
                <a:spcPct val="0"/>
              </a:spcBef>
            </a:pPr>
            <a:r>
              <a:rPr lang="en-US" sz="1500">
                <a:solidFill>
                  <a:srgbClr val="0D0D0D"/>
                </a:solidFill>
                <a:latin typeface="Poppins"/>
                <a:ea typeface="Poppins"/>
                <a:cs typeface="Poppins"/>
                <a:sym typeface="Poppins"/>
              </a:rPr>
              <a:t>Offers a seamless and high-performance </a:t>
            </a:r>
            <a:r>
              <a:rPr lang="en-US" b="true" sz="1500">
                <a:solidFill>
                  <a:srgbClr val="0D0D0D"/>
                </a:solidFill>
                <a:latin typeface="Poppins Bold"/>
                <a:ea typeface="Poppins Bold"/>
                <a:cs typeface="Poppins Bold"/>
                <a:sym typeface="Poppins Bold"/>
              </a:rPr>
              <a:t>Ubuntu and Windows-based </a:t>
            </a:r>
            <a:r>
              <a:rPr lang="en-US" sz="1500">
                <a:solidFill>
                  <a:srgbClr val="0D0D0D"/>
                </a:solidFill>
                <a:latin typeface="Poppins"/>
                <a:ea typeface="Poppins"/>
                <a:cs typeface="Poppins"/>
                <a:sym typeface="Poppins"/>
              </a:rPr>
              <a:t>environment to deploy and manage </a:t>
            </a:r>
            <a:r>
              <a:rPr lang="en-US" b="true" sz="1500">
                <a:solidFill>
                  <a:srgbClr val="0D0D0D"/>
                </a:solidFill>
                <a:latin typeface="Poppins Bold"/>
                <a:ea typeface="Poppins Bold"/>
                <a:cs typeface="Poppins Bold"/>
                <a:sym typeface="Poppins Bold"/>
              </a:rPr>
              <a:t>BoxLang applications</a:t>
            </a:r>
            <a:r>
              <a:rPr lang="en-US" sz="1500">
                <a:solidFill>
                  <a:srgbClr val="0D0D0D"/>
                </a:solidFill>
                <a:latin typeface="Poppins"/>
                <a:ea typeface="Poppins"/>
                <a:cs typeface="Poppins"/>
                <a:sym typeface="Poppins"/>
              </a:rPr>
              <a:t> on </a:t>
            </a:r>
            <a:r>
              <a:rPr lang="en-US" b="true" sz="1500">
                <a:solidFill>
                  <a:srgbClr val="0D0D0D"/>
                </a:solidFill>
                <a:latin typeface="Poppins Bold"/>
                <a:ea typeface="Poppins Bold"/>
                <a:cs typeface="Poppins Bold"/>
                <a:sym typeface="Poppins Bold"/>
              </a:rPr>
              <a:t>Microsoft Azure and AWS</a:t>
            </a:r>
            <a:r>
              <a:rPr lang="en-US" sz="1500">
                <a:solidFill>
                  <a:srgbClr val="0D0D0D"/>
                </a:solidFill>
                <a:latin typeface="Poppins"/>
                <a:ea typeface="Poppins"/>
                <a:cs typeface="Poppins"/>
                <a:sym typeface="Poppins"/>
              </a:rPr>
              <a:t>. This virtual machine is pre-configured with everything you need to start coding, deploying, and scaling your applications with ease.</a:t>
            </a:r>
          </a:p>
        </p:txBody>
      </p:sp>
      <p:sp>
        <p:nvSpPr>
          <p:cNvPr name="TextBox 18" id="18"/>
          <p:cNvSpPr txBox="true"/>
          <p:nvPr/>
        </p:nvSpPr>
        <p:spPr>
          <a:xfrm rot="0">
            <a:off x="1028700" y="4377165"/>
            <a:ext cx="7520194" cy="698500"/>
          </a:xfrm>
          <a:prstGeom prst="rect">
            <a:avLst/>
          </a:prstGeom>
        </p:spPr>
        <p:txBody>
          <a:bodyPr anchor="t" rtlCol="false" tIns="0" lIns="0" bIns="0" rIns="0">
            <a:spAutoFit/>
          </a:bodyPr>
          <a:lstStyle/>
          <a:p>
            <a:pPr algn="l">
              <a:lnSpc>
                <a:spcPts val="4999"/>
              </a:lnSpc>
            </a:pPr>
            <a:r>
              <a:rPr lang="en-US" sz="4999">
                <a:solidFill>
                  <a:srgbClr val="0D0D0D"/>
                </a:solidFill>
                <a:latin typeface="Poppins Light"/>
                <a:ea typeface="Poppins Light"/>
                <a:cs typeface="Poppins Light"/>
                <a:sym typeface="Poppins Light"/>
              </a:rPr>
              <a:t>a new way to the cloud</a:t>
            </a:r>
          </a:p>
        </p:txBody>
      </p:sp>
      <p:sp>
        <p:nvSpPr>
          <p:cNvPr name="TextBox 19" id="19"/>
          <p:cNvSpPr txBox="true"/>
          <p:nvPr/>
        </p:nvSpPr>
        <p:spPr>
          <a:xfrm rot="0">
            <a:off x="3022933" y="6714210"/>
            <a:ext cx="10961025" cy="809625"/>
          </a:xfrm>
          <a:prstGeom prst="rect">
            <a:avLst/>
          </a:prstGeom>
        </p:spPr>
        <p:txBody>
          <a:bodyPr anchor="t" rtlCol="false" tIns="0" lIns="0" bIns="0" rIns="0">
            <a:spAutoFit/>
          </a:bodyPr>
          <a:lstStyle/>
          <a:p>
            <a:pPr algn="l">
              <a:lnSpc>
                <a:spcPts val="2100"/>
              </a:lnSpc>
              <a:spcBef>
                <a:spcPct val="0"/>
              </a:spcBef>
            </a:pPr>
            <a:r>
              <a:rPr lang="en-US" sz="1500">
                <a:solidFill>
                  <a:srgbClr val="0D0D0D"/>
                </a:solidFill>
                <a:latin typeface="Poppins"/>
                <a:ea typeface="Poppins"/>
                <a:cs typeface="Poppins"/>
                <a:sym typeface="Poppins"/>
              </a:rPr>
              <a:t>Set up a fast, secure, and performance-driven BoxLang environment on AWS with our </a:t>
            </a:r>
            <a:r>
              <a:rPr lang="en-US" b="true" sz="1500">
                <a:solidFill>
                  <a:srgbClr val="0D0D0D"/>
                </a:solidFill>
                <a:latin typeface="Poppins Bold"/>
                <a:ea typeface="Poppins Bold"/>
                <a:cs typeface="Poppins Bold"/>
                <a:sym typeface="Poppins Bold"/>
              </a:rPr>
              <a:t>Ubuntu and Windows-based</a:t>
            </a:r>
            <a:r>
              <a:rPr lang="en-US" sz="1500">
                <a:solidFill>
                  <a:srgbClr val="0D0D0D"/>
                </a:solidFill>
                <a:latin typeface="Poppins"/>
                <a:ea typeface="Poppins"/>
                <a:cs typeface="Poppins"/>
                <a:sym typeface="Poppins"/>
              </a:rPr>
              <a:t> virtual machines. This pre-configured AMI streamlines development, offering seamless scalability and effortless cloud deployment for both developers and enterprises.</a:t>
            </a:r>
          </a:p>
        </p:txBody>
      </p:sp>
      <p:sp>
        <p:nvSpPr>
          <p:cNvPr name="TextBox 20" id="20"/>
          <p:cNvSpPr txBox="true"/>
          <p:nvPr/>
        </p:nvSpPr>
        <p:spPr>
          <a:xfrm rot="0">
            <a:off x="3042308" y="6327172"/>
            <a:ext cx="6977062" cy="358775"/>
          </a:xfrm>
          <a:prstGeom prst="rect">
            <a:avLst/>
          </a:prstGeom>
        </p:spPr>
        <p:txBody>
          <a:bodyPr anchor="t" rtlCol="false" tIns="0" lIns="0" bIns="0" rIns="0">
            <a:spAutoFit/>
          </a:bodyPr>
          <a:lstStyle/>
          <a:p>
            <a:pPr algn="l">
              <a:lnSpc>
                <a:spcPts val="2500"/>
              </a:lnSpc>
            </a:pPr>
            <a:r>
              <a:rPr lang="en-US" sz="2500" b="true">
                <a:solidFill>
                  <a:srgbClr val="0D0D0D"/>
                </a:solidFill>
                <a:latin typeface="Poppins Bold"/>
                <a:ea typeface="Poppins Bold"/>
                <a:cs typeface="Poppins Bold"/>
                <a:sym typeface="Poppins Bold"/>
              </a:rPr>
              <a:t>Amazon Web Services</a:t>
            </a:r>
          </a:p>
        </p:txBody>
      </p:sp>
      <p:sp>
        <p:nvSpPr>
          <p:cNvPr name="TextBox 21" id="21"/>
          <p:cNvSpPr txBox="true"/>
          <p:nvPr/>
        </p:nvSpPr>
        <p:spPr>
          <a:xfrm rot="0">
            <a:off x="5272787" y="8417337"/>
            <a:ext cx="1326965" cy="440691"/>
          </a:xfrm>
          <a:prstGeom prst="rect">
            <a:avLst/>
          </a:prstGeom>
        </p:spPr>
        <p:txBody>
          <a:bodyPr anchor="t" rtlCol="false" tIns="0" lIns="0" bIns="0" rIns="0">
            <a:spAutoFit/>
          </a:bodyPr>
          <a:lstStyle/>
          <a:p>
            <a:pPr algn="l">
              <a:lnSpc>
                <a:spcPts val="1700"/>
              </a:lnSpc>
            </a:pPr>
            <a:r>
              <a:rPr lang="en-US" sz="1700" b="true">
                <a:solidFill>
                  <a:srgbClr val="0D0D0D"/>
                </a:solidFill>
                <a:latin typeface="Poppins Bold"/>
                <a:ea typeface="Poppins Bold"/>
                <a:cs typeface="Poppins Bold"/>
                <a:sym typeface="Poppins Bold"/>
              </a:rPr>
              <a:t>BOXLANG</a:t>
            </a:r>
          </a:p>
          <a:p>
            <a:pPr algn="l">
              <a:lnSpc>
                <a:spcPts val="1500"/>
              </a:lnSpc>
            </a:pPr>
            <a:r>
              <a:rPr lang="en-US" sz="1500">
                <a:solidFill>
                  <a:srgbClr val="0D0D0D"/>
                </a:solidFill>
                <a:latin typeface="Poppins Light"/>
                <a:ea typeface="Poppins Light"/>
                <a:cs typeface="Poppins Light"/>
                <a:sym typeface="Poppins Light"/>
              </a:rPr>
              <a:t>Miniserver</a:t>
            </a:r>
          </a:p>
        </p:txBody>
      </p:sp>
      <p:sp>
        <p:nvSpPr>
          <p:cNvPr name="TextBox 22" id="22"/>
          <p:cNvSpPr txBox="true"/>
          <p:nvPr/>
        </p:nvSpPr>
        <p:spPr>
          <a:xfrm rot="0">
            <a:off x="9626114" y="8417337"/>
            <a:ext cx="1948130" cy="440691"/>
          </a:xfrm>
          <a:prstGeom prst="rect">
            <a:avLst/>
          </a:prstGeom>
        </p:spPr>
        <p:txBody>
          <a:bodyPr anchor="t" rtlCol="false" tIns="0" lIns="0" bIns="0" rIns="0">
            <a:spAutoFit/>
          </a:bodyPr>
          <a:lstStyle/>
          <a:p>
            <a:pPr algn="l">
              <a:lnSpc>
                <a:spcPts val="1700"/>
              </a:lnSpc>
            </a:pPr>
            <a:r>
              <a:rPr lang="en-US" sz="1700" b="true">
                <a:solidFill>
                  <a:srgbClr val="0D0D0D"/>
                </a:solidFill>
                <a:latin typeface="Poppins Bold"/>
                <a:ea typeface="Poppins Bold"/>
                <a:cs typeface="Poppins Bold"/>
                <a:sym typeface="Poppins Bold"/>
              </a:rPr>
              <a:t>BOXLANG</a:t>
            </a:r>
          </a:p>
          <a:p>
            <a:pPr algn="l">
              <a:lnSpc>
                <a:spcPts val="1500"/>
              </a:lnSpc>
            </a:pPr>
            <a:r>
              <a:rPr lang="en-US" sz="1500">
                <a:solidFill>
                  <a:srgbClr val="0D0D0D"/>
                </a:solidFill>
                <a:latin typeface="Poppins Light"/>
                <a:ea typeface="Poppins Light"/>
                <a:cs typeface="Poppins Light"/>
                <a:sym typeface="Poppins Light"/>
              </a:rPr>
              <a:t>W</a:t>
            </a:r>
            <a:r>
              <a:rPr lang="en-US" sz="1500">
                <a:solidFill>
                  <a:srgbClr val="0D0D0D"/>
                </a:solidFill>
                <a:latin typeface="Poppins Light"/>
                <a:ea typeface="Poppins Light"/>
                <a:cs typeface="Poppins Light"/>
                <a:sym typeface="Poppins Light"/>
              </a:rPr>
              <a:t>ith CommandBox</a:t>
            </a:r>
          </a:p>
        </p:txBody>
      </p:sp>
      <p:sp>
        <p:nvSpPr>
          <p:cNvPr name="Freeform 23" id="23"/>
          <p:cNvSpPr/>
          <p:nvPr/>
        </p:nvSpPr>
        <p:spPr>
          <a:xfrm flipH="false" flipV="false" rot="0">
            <a:off x="6566175" y="8268931"/>
            <a:ext cx="2140560" cy="737504"/>
          </a:xfrm>
          <a:custGeom>
            <a:avLst/>
            <a:gdLst/>
            <a:ahLst/>
            <a:cxnLst/>
            <a:rect r="r" b="b" t="t" l="l"/>
            <a:pathLst>
              <a:path h="737504" w="2140560">
                <a:moveTo>
                  <a:pt x="0" y="0"/>
                </a:moveTo>
                <a:lnTo>
                  <a:pt x="2140561" y="0"/>
                </a:lnTo>
                <a:lnTo>
                  <a:pt x="2140561" y="737504"/>
                </a:lnTo>
                <a:lnTo>
                  <a:pt x="0" y="737504"/>
                </a:lnTo>
                <a:lnTo>
                  <a:pt x="0" y="0"/>
                </a:lnTo>
                <a:close/>
              </a:path>
            </a:pathLst>
          </a:custGeom>
          <a:blipFill>
            <a:blip r:embed="rId6"/>
            <a:stretch>
              <a:fillRect l="-163314" t="-272947" r="-37871" b="-24761"/>
            </a:stretch>
          </a:blipFill>
        </p:spPr>
      </p:sp>
    </p:spTree>
  </p:cSld>
  <p:clrMapOvr>
    <a:masterClrMapping/>
  </p:clrMapOvr>
  <p:transition spd="fast">
    <p:wipe dir="u"/>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623026" y="1344472"/>
            <a:ext cx="240861" cy="24086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982825" y="1072430"/>
            <a:ext cx="2276475" cy="784945"/>
            <a:chOff x="0" y="0"/>
            <a:chExt cx="599565" cy="206735"/>
          </a:xfrm>
        </p:grpSpPr>
        <p:sp>
          <p:nvSpPr>
            <p:cNvPr name="Freeform 7" id="7"/>
            <p:cNvSpPr/>
            <p:nvPr/>
          </p:nvSpPr>
          <p:spPr>
            <a:xfrm flipH="false" flipV="false" rot="0">
              <a:off x="0" y="0"/>
              <a:ext cx="599565" cy="206735"/>
            </a:xfrm>
            <a:custGeom>
              <a:avLst/>
              <a:gdLst/>
              <a:ahLst/>
              <a:cxnLst/>
              <a:rect r="r" b="b" t="t" l="l"/>
              <a:pathLst>
                <a:path h="206735" w="599565">
                  <a:moveTo>
                    <a:pt x="103367" y="0"/>
                  </a:moveTo>
                  <a:lnTo>
                    <a:pt x="496198" y="0"/>
                  </a:lnTo>
                  <a:cubicBezTo>
                    <a:pt x="523613" y="0"/>
                    <a:pt x="549905" y="10890"/>
                    <a:pt x="569290" y="30276"/>
                  </a:cubicBezTo>
                  <a:cubicBezTo>
                    <a:pt x="588675" y="49661"/>
                    <a:pt x="599565" y="75953"/>
                    <a:pt x="599565" y="103367"/>
                  </a:cubicBezTo>
                  <a:lnTo>
                    <a:pt x="599565" y="103367"/>
                  </a:lnTo>
                  <a:cubicBezTo>
                    <a:pt x="599565" y="130782"/>
                    <a:pt x="588675" y="157074"/>
                    <a:pt x="569290" y="176459"/>
                  </a:cubicBezTo>
                  <a:cubicBezTo>
                    <a:pt x="549905" y="195844"/>
                    <a:pt x="523613" y="206735"/>
                    <a:pt x="496198"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8" id="8"/>
            <p:cNvSpPr txBox="true"/>
            <p:nvPr/>
          </p:nvSpPr>
          <p:spPr>
            <a:xfrm>
              <a:off x="0" y="-38100"/>
              <a:ext cx="599565" cy="244835"/>
            </a:xfrm>
            <a:prstGeom prst="rect">
              <a:avLst/>
            </a:prstGeom>
          </p:spPr>
          <p:txBody>
            <a:bodyPr anchor="ctr" rtlCol="false" tIns="50800" lIns="50800" bIns="50800" rIns="50800"/>
            <a:lstStyle/>
            <a:p>
              <a:pPr algn="ctr">
                <a:lnSpc>
                  <a:spcPts val="2520"/>
                </a:lnSpc>
              </a:pPr>
            </a:p>
          </p:txBody>
        </p:sp>
      </p:grpSp>
      <p:sp>
        <p:nvSpPr>
          <p:cNvPr name="TextBox 9" id="9"/>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10" id="10"/>
          <p:cNvGrpSpPr/>
          <p:nvPr/>
        </p:nvGrpSpPr>
        <p:grpSpPr>
          <a:xfrm rot="0">
            <a:off x="15319698" y="1344472"/>
            <a:ext cx="240861" cy="24086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3" id="13"/>
          <p:cNvSpPr/>
          <p:nvPr/>
        </p:nvSpPr>
        <p:spPr>
          <a:xfrm flipH="false" flipV="false" rot="0">
            <a:off x="9255697" y="4460241"/>
            <a:ext cx="2154646" cy="683259"/>
          </a:xfrm>
          <a:custGeom>
            <a:avLst/>
            <a:gdLst/>
            <a:ahLst/>
            <a:cxnLst/>
            <a:rect r="r" b="b" t="t" l="l"/>
            <a:pathLst>
              <a:path h="683259" w="2154646">
                <a:moveTo>
                  <a:pt x="0" y="0"/>
                </a:moveTo>
                <a:lnTo>
                  <a:pt x="2154646" y="0"/>
                </a:lnTo>
                <a:lnTo>
                  <a:pt x="2154646" y="683259"/>
                </a:lnTo>
                <a:lnTo>
                  <a:pt x="0" y="683259"/>
                </a:lnTo>
                <a:lnTo>
                  <a:pt x="0" y="0"/>
                </a:lnTo>
                <a:close/>
              </a:path>
            </a:pathLst>
          </a:custGeom>
          <a:blipFill>
            <a:blip r:embed="rId4"/>
            <a:stretch>
              <a:fillRect l="0" t="0" r="-335145" b="0"/>
            </a:stretch>
          </a:blipFill>
        </p:spPr>
      </p:sp>
      <p:sp>
        <p:nvSpPr>
          <p:cNvPr name="TextBox 14" id="14"/>
          <p:cNvSpPr txBox="true"/>
          <p:nvPr/>
        </p:nvSpPr>
        <p:spPr>
          <a:xfrm rot="0">
            <a:off x="1028700" y="2509833"/>
            <a:ext cx="9493362" cy="1504960"/>
          </a:xfrm>
          <a:prstGeom prst="rect">
            <a:avLst/>
          </a:prstGeom>
        </p:spPr>
        <p:txBody>
          <a:bodyPr anchor="t" rtlCol="false" tIns="0" lIns="0" bIns="0" rIns="0">
            <a:spAutoFit/>
          </a:bodyPr>
          <a:lstStyle/>
          <a:p>
            <a:pPr algn="l">
              <a:lnSpc>
                <a:spcPts val="10500"/>
              </a:lnSpc>
            </a:pPr>
            <a:r>
              <a:rPr lang="en-US" sz="10500">
                <a:solidFill>
                  <a:srgbClr val="0D0D0D"/>
                </a:solidFill>
                <a:latin typeface="Poppins Light"/>
                <a:ea typeface="Poppins Light"/>
                <a:cs typeface="Poppins Light"/>
                <a:sym typeface="Poppins Light"/>
              </a:rPr>
              <a:t>AI services</a:t>
            </a:r>
          </a:p>
        </p:txBody>
      </p:sp>
      <p:sp>
        <p:nvSpPr>
          <p:cNvPr name="TextBox 15" id="15"/>
          <p:cNvSpPr txBox="true"/>
          <p:nvPr/>
        </p:nvSpPr>
        <p:spPr>
          <a:xfrm rot="0">
            <a:off x="1104414" y="4852558"/>
            <a:ext cx="6721008" cy="640080"/>
          </a:xfrm>
          <a:prstGeom prst="rect">
            <a:avLst/>
          </a:prstGeom>
        </p:spPr>
        <p:txBody>
          <a:bodyPr anchor="t" rtlCol="false" tIns="0" lIns="0" bIns="0" rIns="0">
            <a:spAutoFit/>
          </a:bodyPr>
          <a:lstStyle/>
          <a:p>
            <a:pPr algn="l">
              <a:lnSpc>
                <a:spcPts val="2520"/>
              </a:lnSpc>
              <a:spcBef>
                <a:spcPct val="0"/>
              </a:spcBef>
            </a:pPr>
            <a:r>
              <a:rPr lang="en-US" sz="1800">
                <a:solidFill>
                  <a:srgbClr val="0D0D0D"/>
                </a:solidFill>
                <a:latin typeface="Poppins"/>
                <a:ea typeface="Poppins"/>
                <a:cs typeface="Poppins"/>
                <a:sym typeface="Poppins"/>
              </a:rPr>
              <a:t>Streamline workfl</a:t>
            </a:r>
            <a:r>
              <a:rPr lang="en-US" sz="1800">
                <a:solidFill>
                  <a:srgbClr val="0D0D0D"/>
                </a:solidFill>
                <a:latin typeface="Poppins"/>
                <a:ea typeface="Poppins"/>
                <a:cs typeface="Poppins"/>
                <a:sym typeface="Poppins"/>
              </a:rPr>
              <a:t>ows</a:t>
            </a:r>
            <a:r>
              <a:rPr lang="en-US" sz="1800">
                <a:solidFill>
                  <a:srgbClr val="0D0D0D"/>
                </a:solidFill>
                <a:latin typeface="Poppins"/>
                <a:ea typeface="Poppins"/>
                <a:cs typeface="Poppins"/>
                <a:sym typeface="Poppins"/>
              </a:rPr>
              <a:t>, </a:t>
            </a:r>
            <a:r>
              <a:rPr lang="en-US" sz="1800">
                <a:solidFill>
                  <a:srgbClr val="0D0D0D"/>
                </a:solidFill>
                <a:latin typeface="Poppins"/>
                <a:ea typeface="Poppins"/>
                <a:cs typeface="Poppins"/>
                <a:sym typeface="Poppins"/>
              </a:rPr>
              <a:t>a</a:t>
            </a:r>
            <a:r>
              <a:rPr lang="en-US" sz="1800">
                <a:solidFill>
                  <a:srgbClr val="0D0D0D"/>
                </a:solidFill>
                <a:latin typeface="Poppins"/>
                <a:ea typeface="Poppins"/>
                <a:cs typeface="Poppins"/>
                <a:sym typeface="Poppins"/>
              </a:rPr>
              <a:t>utomate </a:t>
            </a:r>
            <a:r>
              <a:rPr lang="en-US" sz="1800">
                <a:solidFill>
                  <a:srgbClr val="0D0D0D"/>
                </a:solidFill>
                <a:latin typeface="Poppins"/>
                <a:ea typeface="Poppins"/>
                <a:cs typeface="Poppins"/>
                <a:sym typeface="Poppins"/>
              </a:rPr>
              <a:t>t</a:t>
            </a:r>
            <a:r>
              <a:rPr lang="en-US" sz="1800">
                <a:solidFill>
                  <a:srgbClr val="0D0D0D"/>
                </a:solidFill>
                <a:latin typeface="Poppins"/>
                <a:ea typeface="Poppins"/>
                <a:cs typeface="Poppins"/>
                <a:sym typeface="Poppins"/>
              </a:rPr>
              <a:t>a</a:t>
            </a:r>
            <a:r>
              <a:rPr lang="en-US" sz="1800">
                <a:solidFill>
                  <a:srgbClr val="0D0D0D"/>
                </a:solidFill>
                <a:latin typeface="Poppins"/>
                <a:ea typeface="Poppins"/>
                <a:cs typeface="Poppins"/>
                <a:sym typeface="Poppins"/>
              </a:rPr>
              <a:t>s</a:t>
            </a:r>
            <a:r>
              <a:rPr lang="en-US" sz="1800">
                <a:solidFill>
                  <a:srgbClr val="0D0D0D"/>
                </a:solidFill>
                <a:latin typeface="Poppins"/>
                <a:ea typeface="Poppins"/>
                <a:cs typeface="Poppins"/>
                <a:sym typeface="Poppins"/>
              </a:rPr>
              <a:t>k</a:t>
            </a:r>
            <a:r>
              <a:rPr lang="en-US" sz="1800">
                <a:solidFill>
                  <a:srgbClr val="0D0D0D"/>
                </a:solidFill>
                <a:latin typeface="Poppins"/>
                <a:ea typeface="Poppins"/>
                <a:cs typeface="Poppins"/>
                <a:sym typeface="Poppins"/>
              </a:rPr>
              <a:t>s</a:t>
            </a:r>
            <a:r>
              <a:rPr lang="en-US" sz="1800">
                <a:solidFill>
                  <a:srgbClr val="0D0D0D"/>
                </a:solidFill>
                <a:latin typeface="Poppins"/>
                <a:ea typeface="Poppins"/>
                <a:cs typeface="Poppins"/>
                <a:sym typeface="Poppins"/>
              </a:rPr>
              <a:t>,</a:t>
            </a:r>
            <a:r>
              <a:rPr lang="en-US" sz="1800">
                <a:solidFill>
                  <a:srgbClr val="0D0D0D"/>
                </a:solidFill>
                <a:latin typeface="Poppins"/>
                <a:ea typeface="Poppins"/>
                <a:cs typeface="Poppins"/>
                <a:sym typeface="Poppins"/>
              </a:rPr>
              <a:t> and </a:t>
            </a:r>
            <a:r>
              <a:rPr lang="en-US" sz="1800">
                <a:solidFill>
                  <a:srgbClr val="0D0D0D"/>
                </a:solidFill>
                <a:latin typeface="Poppins"/>
                <a:ea typeface="Poppins"/>
                <a:cs typeface="Poppins"/>
                <a:sym typeface="Poppins"/>
              </a:rPr>
              <a:t>unlock insights with AI solutions tailored to your business.</a:t>
            </a:r>
          </a:p>
        </p:txBody>
      </p:sp>
      <p:sp>
        <p:nvSpPr>
          <p:cNvPr name="TextBox 16" id="16"/>
          <p:cNvSpPr txBox="true"/>
          <p:nvPr/>
        </p:nvSpPr>
        <p:spPr>
          <a:xfrm rot="0">
            <a:off x="1104414" y="4308587"/>
            <a:ext cx="6977062" cy="428625"/>
          </a:xfrm>
          <a:prstGeom prst="rect">
            <a:avLst/>
          </a:prstGeom>
        </p:spPr>
        <p:txBody>
          <a:bodyPr anchor="t" rtlCol="false" tIns="0" lIns="0" bIns="0" rIns="0">
            <a:spAutoFit/>
          </a:bodyPr>
          <a:lstStyle/>
          <a:p>
            <a:pPr algn="l">
              <a:lnSpc>
                <a:spcPts val="3000"/>
              </a:lnSpc>
            </a:pPr>
            <a:r>
              <a:rPr lang="en-US" sz="3000" b="true">
                <a:solidFill>
                  <a:srgbClr val="0D0D0D"/>
                </a:solidFill>
                <a:latin typeface="Poppins Medium"/>
                <a:ea typeface="Poppins Medium"/>
                <a:cs typeface="Poppins Medium"/>
                <a:sym typeface="Poppins Medium"/>
              </a:rPr>
              <a:t>Smarter Software with AI Insight</a:t>
            </a:r>
          </a:p>
        </p:txBody>
      </p:sp>
      <p:sp>
        <p:nvSpPr>
          <p:cNvPr name="Freeform 17" id="17"/>
          <p:cNvSpPr/>
          <p:nvPr/>
        </p:nvSpPr>
        <p:spPr>
          <a:xfrm flipH="false" flipV="false" rot="0">
            <a:off x="12171142" y="4460241"/>
            <a:ext cx="2338578" cy="683259"/>
          </a:xfrm>
          <a:custGeom>
            <a:avLst/>
            <a:gdLst/>
            <a:ahLst/>
            <a:cxnLst/>
            <a:rect r="r" b="b" t="t" l="l"/>
            <a:pathLst>
              <a:path h="683259" w="2338578">
                <a:moveTo>
                  <a:pt x="0" y="0"/>
                </a:moveTo>
                <a:lnTo>
                  <a:pt x="2338577" y="0"/>
                </a:lnTo>
                <a:lnTo>
                  <a:pt x="2338577" y="683259"/>
                </a:lnTo>
                <a:lnTo>
                  <a:pt x="0" y="683259"/>
                </a:lnTo>
                <a:lnTo>
                  <a:pt x="0" y="0"/>
                </a:lnTo>
                <a:close/>
              </a:path>
            </a:pathLst>
          </a:custGeom>
          <a:blipFill>
            <a:blip r:embed="rId4"/>
            <a:stretch>
              <a:fillRect l="-156194" t="0" r="-144725" b="0"/>
            </a:stretch>
          </a:blipFill>
        </p:spPr>
      </p:sp>
      <p:sp>
        <p:nvSpPr>
          <p:cNvPr name="Freeform 18" id="18"/>
          <p:cNvSpPr/>
          <p:nvPr/>
        </p:nvSpPr>
        <p:spPr>
          <a:xfrm flipH="false" flipV="false" rot="0">
            <a:off x="15270518" y="4468027"/>
            <a:ext cx="1837355" cy="667687"/>
          </a:xfrm>
          <a:custGeom>
            <a:avLst/>
            <a:gdLst/>
            <a:ahLst/>
            <a:cxnLst/>
            <a:rect r="r" b="b" t="t" l="l"/>
            <a:pathLst>
              <a:path h="667687" w="1837355">
                <a:moveTo>
                  <a:pt x="0" y="0"/>
                </a:moveTo>
                <a:lnTo>
                  <a:pt x="1837355" y="0"/>
                </a:lnTo>
                <a:lnTo>
                  <a:pt x="1837355" y="667687"/>
                </a:lnTo>
                <a:lnTo>
                  <a:pt x="0" y="667687"/>
                </a:lnTo>
                <a:lnTo>
                  <a:pt x="0" y="0"/>
                </a:lnTo>
                <a:close/>
              </a:path>
            </a:pathLst>
          </a:custGeom>
          <a:blipFill>
            <a:blip r:embed="rId4"/>
            <a:stretch>
              <a:fillRect l="-410290" t="0" r="0" b="-2332"/>
            </a:stretch>
          </a:blipFill>
        </p:spPr>
      </p:sp>
      <p:sp>
        <p:nvSpPr>
          <p:cNvPr name="TextBox 19" id="19"/>
          <p:cNvSpPr txBox="true"/>
          <p:nvPr/>
        </p:nvSpPr>
        <p:spPr>
          <a:xfrm rot="0">
            <a:off x="5655469" y="6168969"/>
            <a:ext cx="6977062" cy="361315"/>
          </a:xfrm>
          <a:prstGeom prst="rect">
            <a:avLst/>
          </a:prstGeom>
        </p:spPr>
        <p:txBody>
          <a:bodyPr anchor="t" rtlCol="false" tIns="0" lIns="0" bIns="0" rIns="0">
            <a:spAutoFit/>
          </a:bodyPr>
          <a:lstStyle/>
          <a:p>
            <a:pPr algn="ctr">
              <a:lnSpc>
                <a:spcPts val="2600"/>
              </a:lnSpc>
            </a:pPr>
            <a:r>
              <a:rPr lang="en-US" b="true" sz="2600">
                <a:solidFill>
                  <a:srgbClr val="0D0D0D"/>
                </a:solidFill>
                <a:latin typeface="Poppins Semi-Bold"/>
                <a:ea typeface="Poppins Semi-Bold"/>
                <a:cs typeface="Poppins Semi-Bold"/>
                <a:sym typeface="Poppins Semi-Bold"/>
              </a:rPr>
              <a:t>OUR SIMPLE 3-STEP PLAN</a:t>
            </a:r>
          </a:p>
        </p:txBody>
      </p:sp>
      <p:grpSp>
        <p:nvGrpSpPr>
          <p:cNvPr name="Group 20" id="20"/>
          <p:cNvGrpSpPr/>
          <p:nvPr/>
        </p:nvGrpSpPr>
        <p:grpSpPr>
          <a:xfrm rot="0">
            <a:off x="1028700" y="7181934"/>
            <a:ext cx="1395412" cy="784945"/>
            <a:chOff x="0" y="0"/>
            <a:chExt cx="1860550" cy="1046593"/>
          </a:xfrm>
        </p:grpSpPr>
        <p:grpSp>
          <p:nvGrpSpPr>
            <p:cNvPr name="Group 21" id="21"/>
            <p:cNvGrpSpPr/>
            <p:nvPr/>
          </p:nvGrpSpPr>
          <p:grpSpPr>
            <a:xfrm rot="0">
              <a:off x="0" y="0"/>
              <a:ext cx="1860550" cy="1046593"/>
              <a:chOff x="0" y="0"/>
              <a:chExt cx="367516" cy="206735"/>
            </a:xfrm>
          </p:grpSpPr>
          <p:sp>
            <p:nvSpPr>
              <p:cNvPr name="Freeform 22" id="22"/>
              <p:cNvSpPr/>
              <p:nvPr/>
            </p:nvSpPr>
            <p:spPr>
              <a:xfrm flipH="false" flipV="false" rot="0">
                <a:off x="0" y="0"/>
                <a:ext cx="367516" cy="206735"/>
              </a:xfrm>
              <a:custGeom>
                <a:avLst/>
                <a:gdLst/>
                <a:ahLst/>
                <a:cxnLst/>
                <a:rect r="r" b="b" t="t" l="l"/>
                <a:pathLst>
                  <a:path h="206735" w="367516">
                    <a:moveTo>
                      <a:pt x="103367" y="0"/>
                    </a:moveTo>
                    <a:lnTo>
                      <a:pt x="264149" y="0"/>
                    </a:lnTo>
                    <a:cubicBezTo>
                      <a:pt x="291564" y="0"/>
                      <a:pt x="317855" y="10890"/>
                      <a:pt x="337240" y="30276"/>
                    </a:cubicBezTo>
                    <a:cubicBezTo>
                      <a:pt x="356626" y="49661"/>
                      <a:pt x="367516" y="75953"/>
                      <a:pt x="367516" y="103367"/>
                    </a:cubicBezTo>
                    <a:lnTo>
                      <a:pt x="367516" y="103367"/>
                    </a:lnTo>
                    <a:cubicBezTo>
                      <a:pt x="367516" y="130782"/>
                      <a:pt x="356626" y="157074"/>
                      <a:pt x="337240" y="176459"/>
                    </a:cubicBezTo>
                    <a:cubicBezTo>
                      <a:pt x="317855" y="195844"/>
                      <a:pt x="291564" y="206735"/>
                      <a:pt x="26414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3" id="23"/>
              <p:cNvSpPr txBox="true"/>
              <p:nvPr/>
            </p:nvSpPr>
            <p:spPr>
              <a:xfrm>
                <a:off x="0" y="-38100"/>
                <a:ext cx="367516" cy="244835"/>
              </a:xfrm>
              <a:prstGeom prst="rect">
                <a:avLst/>
              </a:prstGeom>
            </p:spPr>
            <p:txBody>
              <a:bodyPr anchor="ctr" rtlCol="false" tIns="50800" lIns="50800" bIns="50800" rIns="50800"/>
              <a:lstStyle/>
              <a:p>
                <a:pPr algn="ctr">
                  <a:lnSpc>
                    <a:spcPts val="2520"/>
                  </a:lnSpc>
                </a:pPr>
              </a:p>
            </p:txBody>
          </p:sp>
        </p:grpSp>
        <p:sp>
          <p:nvSpPr>
            <p:cNvPr name="TextBox 24" id="24"/>
            <p:cNvSpPr txBox="true"/>
            <p:nvPr/>
          </p:nvSpPr>
          <p:spPr>
            <a:xfrm rot="0">
              <a:off x="696495" y="74563"/>
              <a:ext cx="467561" cy="802217"/>
            </a:xfrm>
            <a:prstGeom prst="rect">
              <a:avLst/>
            </a:prstGeom>
          </p:spPr>
          <p:txBody>
            <a:bodyPr anchor="t" rtlCol="false" tIns="0" lIns="0" bIns="0" rIns="0">
              <a:spAutoFit/>
            </a:bodyPr>
            <a:lstStyle/>
            <a:p>
              <a:pPr algn="ctr">
                <a:lnSpc>
                  <a:spcPts val="4899"/>
                </a:lnSpc>
              </a:pPr>
              <a:r>
                <a:rPr lang="en-US" b="true" sz="3499">
                  <a:solidFill>
                    <a:srgbClr val="0D0D0D"/>
                  </a:solidFill>
                  <a:latin typeface="Poppins Bold"/>
                  <a:ea typeface="Poppins Bold"/>
                  <a:cs typeface="Poppins Bold"/>
                  <a:sym typeface="Poppins Bold"/>
                </a:rPr>
                <a:t>1</a:t>
              </a:r>
            </a:p>
          </p:txBody>
        </p:sp>
      </p:grpSp>
      <p:grpSp>
        <p:nvGrpSpPr>
          <p:cNvPr name="Group 25" id="25"/>
          <p:cNvGrpSpPr/>
          <p:nvPr/>
        </p:nvGrpSpPr>
        <p:grpSpPr>
          <a:xfrm rot="0">
            <a:off x="6407536" y="7181934"/>
            <a:ext cx="1395412" cy="784945"/>
            <a:chOff x="0" y="0"/>
            <a:chExt cx="1860550" cy="1046593"/>
          </a:xfrm>
        </p:grpSpPr>
        <p:grpSp>
          <p:nvGrpSpPr>
            <p:cNvPr name="Group 26" id="26"/>
            <p:cNvGrpSpPr/>
            <p:nvPr/>
          </p:nvGrpSpPr>
          <p:grpSpPr>
            <a:xfrm rot="0">
              <a:off x="0" y="0"/>
              <a:ext cx="1860550" cy="1046593"/>
              <a:chOff x="0" y="0"/>
              <a:chExt cx="367516" cy="206735"/>
            </a:xfrm>
          </p:grpSpPr>
          <p:sp>
            <p:nvSpPr>
              <p:cNvPr name="Freeform 27" id="27"/>
              <p:cNvSpPr/>
              <p:nvPr/>
            </p:nvSpPr>
            <p:spPr>
              <a:xfrm flipH="false" flipV="false" rot="0">
                <a:off x="0" y="0"/>
                <a:ext cx="367516" cy="206735"/>
              </a:xfrm>
              <a:custGeom>
                <a:avLst/>
                <a:gdLst/>
                <a:ahLst/>
                <a:cxnLst/>
                <a:rect r="r" b="b" t="t" l="l"/>
                <a:pathLst>
                  <a:path h="206735" w="367516">
                    <a:moveTo>
                      <a:pt x="103367" y="0"/>
                    </a:moveTo>
                    <a:lnTo>
                      <a:pt x="264149" y="0"/>
                    </a:lnTo>
                    <a:cubicBezTo>
                      <a:pt x="291564" y="0"/>
                      <a:pt x="317855" y="10890"/>
                      <a:pt x="337240" y="30276"/>
                    </a:cubicBezTo>
                    <a:cubicBezTo>
                      <a:pt x="356626" y="49661"/>
                      <a:pt x="367516" y="75953"/>
                      <a:pt x="367516" y="103367"/>
                    </a:cubicBezTo>
                    <a:lnTo>
                      <a:pt x="367516" y="103367"/>
                    </a:lnTo>
                    <a:cubicBezTo>
                      <a:pt x="367516" y="130782"/>
                      <a:pt x="356626" y="157074"/>
                      <a:pt x="337240" y="176459"/>
                    </a:cubicBezTo>
                    <a:cubicBezTo>
                      <a:pt x="317855" y="195844"/>
                      <a:pt x="291564" y="206735"/>
                      <a:pt x="26414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8" id="28"/>
              <p:cNvSpPr txBox="true"/>
              <p:nvPr/>
            </p:nvSpPr>
            <p:spPr>
              <a:xfrm>
                <a:off x="0" y="-38100"/>
                <a:ext cx="367516" cy="244835"/>
              </a:xfrm>
              <a:prstGeom prst="rect">
                <a:avLst/>
              </a:prstGeom>
            </p:spPr>
            <p:txBody>
              <a:bodyPr anchor="ctr" rtlCol="false" tIns="50800" lIns="50800" bIns="50800" rIns="50800"/>
              <a:lstStyle/>
              <a:p>
                <a:pPr algn="ctr">
                  <a:lnSpc>
                    <a:spcPts val="2520"/>
                  </a:lnSpc>
                </a:pPr>
              </a:p>
            </p:txBody>
          </p:sp>
        </p:grpSp>
        <p:sp>
          <p:nvSpPr>
            <p:cNvPr name="TextBox 29" id="29"/>
            <p:cNvSpPr txBox="true"/>
            <p:nvPr/>
          </p:nvSpPr>
          <p:spPr>
            <a:xfrm rot="0">
              <a:off x="696495" y="74563"/>
              <a:ext cx="467561" cy="802217"/>
            </a:xfrm>
            <a:prstGeom prst="rect">
              <a:avLst/>
            </a:prstGeom>
          </p:spPr>
          <p:txBody>
            <a:bodyPr anchor="t" rtlCol="false" tIns="0" lIns="0" bIns="0" rIns="0">
              <a:spAutoFit/>
            </a:bodyPr>
            <a:lstStyle/>
            <a:p>
              <a:pPr algn="ctr">
                <a:lnSpc>
                  <a:spcPts val="4899"/>
                </a:lnSpc>
              </a:pPr>
              <a:r>
                <a:rPr lang="en-US" b="true" sz="3499">
                  <a:solidFill>
                    <a:srgbClr val="0D0D0D"/>
                  </a:solidFill>
                  <a:latin typeface="Poppins Bold"/>
                  <a:ea typeface="Poppins Bold"/>
                  <a:cs typeface="Poppins Bold"/>
                  <a:sym typeface="Poppins Bold"/>
                </a:rPr>
                <a:t>2</a:t>
              </a:r>
            </a:p>
          </p:txBody>
        </p:sp>
      </p:grpSp>
      <p:grpSp>
        <p:nvGrpSpPr>
          <p:cNvPr name="Group 30" id="30"/>
          <p:cNvGrpSpPr/>
          <p:nvPr/>
        </p:nvGrpSpPr>
        <p:grpSpPr>
          <a:xfrm rot="0">
            <a:off x="11786372" y="7181934"/>
            <a:ext cx="1395412" cy="784945"/>
            <a:chOff x="0" y="0"/>
            <a:chExt cx="1860550" cy="1046593"/>
          </a:xfrm>
        </p:grpSpPr>
        <p:grpSp>
          <p:nvGrpSpPr>
            <p:cNvPr name="Group 31" id="31"/>
            <p:cNvGrpSpPr/>
            <p:nvPr/>
          </p:nvGrpSpPr>
          <p:grpSpPr>
            <a:xfrm rot="0">
              <a:off x="0" y="0"/>
              <a:ext cx="1860550" cy="1046593"/>
              <a:chOff x="0" y="0"/>
              <a:chExt cx="367516" cy="206735"/>
            </a:xfrm>
          </p:grpSpPr>
          <p:sp>
            <p:nvSpPr>
              <p:cNvPr name="Freeform 32" id="32"/>
              <p:cNvSpPr/>
              <p:nvPr/>
            </p:nvSpPr>
            <p:spPr>
              <a:xfrm flipH="false" flipV="false" rot="0">
                <a:off x="0" y="0"/>
                <a:ext cx="367516" cy="206735"/>
              </a:xfrm>
              <a:custGeom>
                <a:avLst/>
                <a:gdLst/>
                <a:ahLst/>
                <a:cxnLst/>
                <a:rect r="r" b="b" t="t" l="l"/>
                <a:pathLst>
                  <a:path h="206735" w="367516">
                    <a:moveTo>
                      <a:pt x="103367" y="0"/>
                    </a:moveTo>
                    <a:lnTo>
                      <a:pt x="264149" y="0"/>
                    </a:lnTo>
                    <a:cubicBezTo>
                      <a:pt x="291564" y="0"/>
                      <a:pt x="317855" y="10890"/>
                      <a:pt x="337240" y="30276"/>
                    </a:cubicBezTo>
                    <a:cubicBezTo>
                      <a:pt x="356626" y="49661"/>
                      <a:pt x="367516" y="75953"/>
                      <a:pt x="367516" y="103367"/>
                    </a:cubicBezTo>
                    <a:lnTo>
                      <a:pt x="367516" y="103367"/>
                    </a:lnTo>
                    <a:cubicBezTo>
                      <a:pt x="367516" y="130782"/>
                      <a:pt x="356626" y="157074"/>
                      <a:pt x="337240" y="176459"/>
                    </a:cubicBezTo>
                    <a:cubicBezTo>
                      <a:pt x="317855" y="195844"/>
                      <a:pt x="291564" y="206735"/>
                      <a:pt x="26414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33" id="33"/>
              <p:cNvSpPr txBox="true"/>
              <p:nvPr/>
            </p:nvSpPr>
            <p:spPr>
              <a:xfrm>
                <a:off x="0" y="-38100"/>
                <a:ext cx="367516" cy="244835"/>
              </a:xfrm>
              <a:prstGeom prst="rect">
                <a:avLst/>
              </a:prstGeom>
            </p:spPr>
            <p:txBody>
              <a:bodyPr anchor="ctr" rtlCol="false" tIns="50800" lIns="50800" bIns="50800" rIns="50800"/>
              <a:lstStyle/>
              <a:p>
                <a:pPr algn="ctr">
                  <a:lnSpc>
                    <a:spcPts val="2520"/>
                  </a:lnSpc>
                </a:pPr>
              </a:p>
            </p:txBody>
          </p:sp>
        </p:grpSp>
        <p:sp>
          <p:nvSpPr>
            <p:cNvPr name="TextBox 34" id="34"/>
            <p:cNvSpPr txBox="true"/>
            <p:nvPr/>
          </p:nvSpPr>
          <p:spPr>
            <a:xfrm rot="0">
              <a:off x="696495" y="74563"/>
              <a:ext cx="467561" cy="802217"/>
            </a:xfrm>
            <a:prstGeom prst="rect">
              <a:avLst/>
            </a:prstGeom>
          </p:spPr>
          <p:txBody>
            <a:bodyPr anchor="t" rtlCol="false" tIns="0" lIns="0" bIns="0" rIns="0">
              <a:spAutoFit/>
            </a:bodyPr>
            <a:lstStyle/>
            <a:p>
              <a:pPr algn="ctr">
                <a:lnSpc>
                  <a:spcPts val="4899"/>
                </a:lnSpc>
              </a:pPr>
              <a:r>
                <a:rPr lang="en-US" b="true" sz="3499">
                  <a:solidFill>
                    <a:srgbClr val="0D0D0D"/>
                  </a:solidFill>
                  <a:latin typeface="Poppins Bold"/>
                  <a:ea typeface="Poppins Bold"/>
                  <a:cs typeface="Poppins Bold"/>
                  <a:sym typeface="Poppins Bold"/>
                </a:rPr>
                <a:t>3</a:t>
              </a:r>
            </a:p>
          </p:txBody>
        </p:sp>
      </p:grpSp>
      <p:sp>
        <p:nvSpPr>
          <p:cNvPr name="TextBox 35" id="35"/>
          <p:cNvSpPr txBox="true"/>
          <p:nvPr/>
        </p:nvSpPr>
        <p:spPr>
          <a:xfrm rot="0">
            <a:off x="2654399" y="7124784"/>
            <a:ext cx="3120982" cy="1583055"/>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Semi-Bold"/>
                <a:ea typeface="Poppins Semi-Bold"/>
                <a:cs typeface="Poppins Semi-Bold"/>
                <a:sym typeface="Poppins Semi-Bold"/>
              </a:rPr>
              <a:t>Schedule a Discovery Call</a:t>
            </a:r>
          </a:p>
          <a:p>
            <a:pPr algn="l">
              <a:lnSpc>
                <a:spcPts val="2520"/>
              </a:lnSpc>
              <a:spcBef>
                <a:spcPct val="0"/>
              </a:spcBef>
            </a:pPr>
            <a:r>
              <a:rPr lang="en-US" sz="1800">
                <a:solidFill>
                  <a:srgbClr val="0D0D0D"/>
                </a:solidFill>
                <a:latin typeface="Poppins Light"/>
                <a:ea typeface="Poppins Light"/>
                <a:cs typeface="Poppins Light"/>
                <a:sym typeface="Poppins Light"/>
              </a:rPr>
              <a:t>Tell us about your challenges and goals so we can understand where AI can deliver real impact.</a:t>
            </a:r>
          </a:p>
        </p:txBody>
      </p:sp>
      <p:sp>
        <p:nvSpPr>
          <p:cNvPr name="TextBox 36" id="36"/>
          <p:cNvSpPr txBox="true"/>
          <p:nvPr/>
        </p:nvSpPr>
        <p:spPr>
          <a:xfrm rot="0">
            <a:off x="13452687" y="7124784"/>
            <a:ext cx="3806613" cy="1583055"/>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Semi-Bold"/>
                <a:ea typeface="Poppins Semi-Bold"/>
                <a:cs typeface="Poppins Semi-Bold"/>
                <a:sym typeface="Poppins Semi-Bold"/>
              </a:rPr>
              <a:t>Build and Scale with Confidence</a:t>
            </a:r>
          </a:p>
          <a:p>
            <a:pPr algn="l">
              <a:lnSpc>
                <a:spcPts val="2520"/>
              </a:lnSpc>
              <a:spcBef>
                <a:spcPct val="0"/>
              </a:spcBef>
            </a:pPr>
            <a:r>
              <a:rPr lang="en-US" sz="1800">
                <a:solidFill>
                  <a:srgbClr val="0D0D0D"/>
                </a:solidFill>
                <a:latin typeface="Poppins Light"/>
                <a:ea typeface="Poppins Light"/>
                <a:cs typeface="Poppins Light"/>
                <a:sym typeface="Poppins Light"/>
              </a:rPr>
              <a:t>We implement intelligent solutions that grow with your needs — and support you every step of the way.</a:t>
            </a:r>
          </a:p>
        </p:txBody>
      </p:sp>
      <p:sp>
        <p:nvSpPr>
          <p:cNvPr name="TextBox 37" id="37"/>
          <p:cNvSpPr txBox="true"/>
          <p:nvPr/>
        </p:nvSpPr>
        <p:spPr>
          <a:xfrm rot="0">
            <a:off x="8053543" y="7124784"/>
            <a:ext cx="3120982" cy="1583055"/>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Semi-Bold"/>
                <a:ea typeface="Poppins Semi-Bold"/>
                <a:cs typeface="Poppins Semi-Bold"/>
                <a:sym typeface="Poppins Semi-Bold"/>
              </a:rPr>
              <a:t>Get a Custom AI Strategy</a:t>
            </a:r>
          </a:p>
          <a:p>
            <a:pPr algn="l">
              <a:lnSpc>
                <a:spcPts val="2520"/>
              </a:lnSpc>
              <a:spcBef>
                <a:spcPct val="0"/>
              </a:spcBef>
            </a:pPr>
            <a:r>
              <a:rPr lang="en-US" sz="1800">
                <a:solidFill>
                  <a:srgbClr val="0D0D0D"/>
                </a:solidFill>
                <a:latin typeface="Poppins Light"/>
                <a:ea typeface="Poppins Light"/>
                <a:cs typeface="Poppins Light"/>
                <a:sym typeface="Poppins Light"/>
              </a:rPr>
              <a:t>We design a tailored plan that fits your workflows, data, and business priorities.</a:t>
            </a:r>
          </a:p>
        </p:txBody>
      </p:sp>
    </p:spTree>
  </p:cSld>
  <p:clrMapOvr>
    <a:masterClrMapping/>
  </p:clrMapOvr>
  <p:transition spd="fast">
    <p:wipe dir="u"/>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982825" y="1072430"/>
            <a:ext cx="2276475" cy="784945"/>
            <a:chOff x="0" y="0"/>
            <a:chExt cx="599565" cy="206735"/>
          </a:xfrm>
        </p:grpSpPr>
        <p:sp>
          <p:nvSpPr>
            <p:cNvPr name="Freeform 4" id="4"/>
            <p:cNvSpPr/>
            <p:nvPr/>
          </p:nvSpPr>
          <p:spPr>
            <a:xfrm flipH="false" flipV="false" rot="0">
              <a:off x="0" y="0"/>
              <a:ext cx="599565" cy="206735"/>
            </a:xfrm>
            <a:custGeom>
              <a:avLst/>
              <a:gdLst/>
              <a:ahLst/>
              <a:cxnLst/>
              <a:rect r="r" b="b" t="t" l="l"/>
              <a:pathLst>
                <a:path h="206735" w="599565">
                  <a:moveTo>
                    <a:pt x="103367" y="0"/>
                  </a:moveTo>
                  <a:lnTo>
                    <a:pt x="496198" y="0"/>
                  </a:lnTo>
                  <a:cubicBezTo>
                    <a:pt x="523613" y="0"/>
                    <a:pt x="549905" y="10890"/>
                    <a:pt x="569290" y="30276"/>
                  </a:cubicBezTo>
                  <a:cubicBezTo>
                    <a:pt x="588675" y="49661"/>
                    <a:pt x="599565" y="75953"/>
                    <a:pt x="599565" y="103367"/>
                  </a:cubicBezTo>
                  <a:lnTo>
                    <a:pt x="599565" y="103367"/>
                  </a:lnTo>
                  <a:cubicBezTo>
                    <a:pt x="599565" y="130782"/>
                    <a:pt x="588675" y="157074"/>
                    <a:pt x="569290" y="176459"/>
                  </a:cubicBezTo>
                  <a:cubicBezTo>
                    <a:pt x="549905" y="195844"/>
                    <a:pt x="523613" y="206735"/>
                    <a:pt x="496198"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5" id="5"/>
            <p:cNvSpPr txBox="true"/>
            <p:nvPr/>
          </p:nvSpPr>
          <p:spPr>
            <a:xfrm>
              <a:off x="0" y="-38100"/>
              <a:ext cx="599565" cy="244835"/>
            </a:xfrm>
            <a:prstGeom prst="rect">
              <a:avLst/>
            </a:prstGeom>
          </p:spPr>
          <p:txBody>
            <a:bodyPr anchor="ctr" rtlCol="false" tIns="50800" lIns="50800" bIns="50800" rIns="50800"/>
            <a:lstStyle/>
            <a:p>
              <a:pPr algn="ctr">
                <a:lnSpc>
                  <a:spcPts val="2520"/>
                </a:lnSpc>
              </a:pPr>
            </a:p>
          </p:txBody>
        </p:sp>
      </p:grpSp>
      <p:sp>
        <p:nvSpPr>
          <p:cNvPr name="TextBox 6" id="6"/>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7" id="7"/>
          <p:cNvGrpSpPr/>
          <p:nvPr/>
        </p:nvGrpSpPr>
        <p:grpSpPr>
          <a:xfrm rot="0">
            <a:off x="15319698" y="1344472"/>
            <a:ext cx="240861" cy="24086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0">
            <a:off x="9280744" y="4443013"/>
            <a:ext cx="6159385" cy="784945"/>
            <a:chOff x="0" y="0"/>
            <a:chExt cx="8212513" cy="1046593"/>
          </a:xfrm>
        </p:grpSpPr>
        <p:grpSp>
          <p:nvGrpSpPr>
            <p:cNvPr name="Group 11" id="11"/>
            <p:cNvGrpSpPr/>
            <p:nvPr/>
          </p:nvGrpSpPr>
          <p:grpSpPr>
            <a:xfrm rot="0">
              <a:off x="0" y="0"/>
              <a:ext cx="8212513" cy="1046593"/>
              <a:chOff x="0" y="0"/>
              <a:chExt cx="1622225" cy="206735"/>
            </a:xfrm>
          </p:grpSpPr>
          <p:sp>
            <p:nvSpPr>
              <p:cNvPr name="Freeform 12" id="12"/>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3" id="13"/>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980011" y="197330"/>
              <a:ext cx="6425605"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Online private ticketing system</a:t>
              </a:r>
            </a:p>
          </p:txBody>
        </p:sp>
        <p:grpSp>
          <p:nvGrpSpPr>
            <p:cNvPr name="Group 15" id="15"/>
            <p:cNvGrpSpPr/>
            <p:nvPr/>
          </p:nvGrpSpPr>
          <p:grpSpPr>
            <a:xfrm rot="0">
              <a:off x="376982" y="362723"/>
              <a:ext cx="321148" cy="32114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18" id="18"/>
          <p:cNvGrpSpPr/>
          <p:nvPr/>
        </p:nvGrpSpPr>
        <p:grpSpPr>
          <a:xfrm rot="0">
            <a:off x="9280744" y="7256699"/>
            <a:ext cx="3560763" cy="784945"/>
            <a:chOff x="0" y="0"/>
            <a:chExt cx="4747684" cy="1046593"/>
          </a:xfrm>
        </p:grpSpPr>
        <p:grpSp>
          <p:nvGrpSpPr>
            <p:cNvPr name="Group 19" id="19"/>
            <p:cNvGrpSpPr/>
            <p:nvPr/>
          </p:nvGrpSpPr>
          <p:grpSpPr>
            <a:xfrm rot="0">
              <a:off x="0" y="0"/>
              <a:ext cx="4747684" cy="1046593"/>
              <a:chOff x="0" y="0"/>
              <a:chExt cx="937814" cy="206735"/>
            </a:xfrm>
          </p:grpSpPr>
          <p:sp>
            <p:nvSpPr>
              <p:cNvPr name="Freeform 20" id="20"/>
              <p:cNvSpPr/>
              <p:nvPr/>
            </p:nvSpPr>
            <p:spPr>
              <a:xfrm flipH="false" flipV="false" rot="0">
                <a:off x="0" y="0"/>
                <a:ext cx="937814" cy="206735"/>
              </a:xfrm>
              <a:custGeom>
                <a:avLst/>
                <a:gdLst/>
                <a:ahLst/>
                <a:cxnLst/>
                <a:rect r="r" b="b" t="t" l="l"/>
                <a:pathLst>
                  <a:path h="206735" w="937814">
                    <a:moveTo>
                      <a:pt x="103367" y="0"/>
                    </a:moveTo>
                    <a:lnTo>
                      <a:pt x="834447" y="0"/>
                    </a:lnTo>
                    <a:cubicBezTo>
                      <a:pt x="861862" y="0"/>
                      <a:pt x="888153" y="10890"/>
                      <a:pt x="907539" y="30276"/>
                    </a:cubicBezTo>
                    <a:cubicBezTo>
                      <a:pt x="926924" y="49661"/>
                      <a:pt x="937814" y="75953"/>
                      <a:pt x="937814" y="103367"/>
                    </a:cubicBezTo>
                    <a:lnTo>
                      <a:pt x="937814" y="103367"/>
                    </a:lnTo>
                    <a:cubicBezTo>
                      <a:pt x="937814" y="130782"/>
                      <a:pt x="926924" y="157074"/>
                      <a:pt x="907539" y="176459"/>
                    </a:cubicBezTo>
                    <a:cubicBezTo>
                      <a:pt x="888153" y="195844"/>
                      <a:pt x="861862" y="206735"/>
                      <a:pt x="83444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1" id="21"/>
              <p:cNvSpPr txBox="true"/>
              <p:nvPr/>
            </p:nvSpPr>
            <p:spPr>
              <a:xfrm>
                <a:off x="0" y="-38100"/>
                <a:ext cx="937814" cy="244835"/>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980011" y="197330"/>
              <a:ext cx="3126246"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Custom builds</a:t>
              </a:r>
            </a:p>
          </p:txBody>
        </p:sp>
        <p:grpSp>
          <p:nvGrpSpPr>
            <p:cNvPr name="Group 23" id="23"/>
            <p:cNvGrpSpPr/>
            <p:nvPr/>
          </p:nvGrpSpPr>
          <p:grpSpPr>
            <a:xfrm rot="0">
              <a:off x="376982" y="362723"/>
              <a:ext cx="321148" cy="321148"/>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6" id="26"/>
          <p:cNvGrpSpPr/>
          <p:nvPr/>
        </p:nvGrpSpPr>
        <p:grpSpPr>
          <a:xfrm rot="0">
            <a:off x="9280744" y="5380908"/>
            <a:ext cx="6159385" cy="784945"/>
            <a:chOff x="0" y="0"/>
            <a:chExt cx="8212513" cy="1046593"/>
          </a:xfrm>
        </p:grpSpPr>
        <p:grpSp>
          <p:nvGrpSpPr>
            <p:cNvPr name="Group 27" id="27"/>
            <p:cNvGrpSpPr/>
            <p:nvPr/>
          </p:nvGrpSpPr>
          <p:grpSpPr>
            <a:xfrm rot="0">
              <a:off x="0" y="0"/>
              <a:ext cx="8212513" cy="1046593"/>
              <a:chOff x="0" y="0"/>
              <a:chExt cx="1622225" cy="206735"/>
            </a:xfrm>
          </p:grpSpPr>
          <p:sp>
            <p:nvSpPr>
              <p:cNvPr name="Freeform 28" id="28"/>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9" id="29"/>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30" id="30"/>
            <p:cNvSpPr txBox="true"/>
            <p:nvPr/>
          </p:nvSpPr>
          <p:spPr>
            <a:xfrm rot="0">
              <a:off x="980011" y="197330"/>
              <a:ext cx="6492081"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Development discounted rates</a:t>
              </a:r>
            </a:p>
          </p:txBody>
        </p:sp>
        <p:grpSp>
          <p:nvGrpSpPr>
            <p:cNvPr name="Group 31" id="31"/>
            <p:cNvGrpSpPr/>
            <p:nvPr/>
          </p:nvGrpSpPr>
          <p:grpSpPr>
            <a:xfrm rot="0">
              <a:off x="376982" y="362723"/>
              <a:ext cx="321148" cy="32114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34" id="34"/>
          <p:cNvGrpSpPr/>
          <p:nvPr/>
        </p:nvGrpSpPr>
        <p:grpSpPr>
          <a:xfrm rot="0">
            <a:off x="9280744" y="8194594"/>
            <a:ext cx="6159385" cy="784945"/>
            <a:chOff x="0" y="0"/>
            <a:chExt cx="8212513" cy="1046593"/>
          </a:xfrm>
        </p:grpSpPr>
        <p:grpSp>
          <p:nvGrpSpPr>
            <p:cNvPr name="Group 35" id="35"/>
            <p:cNvGrpSpPr/>
            <p:nvPr/>
          </p:nvGrpSpPr>
          <p:grpSpPr>
            <a:xfrm rot="0">
              <a:off x="0" y="0"/>
              <a:ext cx="8212513" cy="1046593"/>
              <a:chOff x="0" y="0"/>
              <a:chExt cx="1622225" cy="206735"/>
            </a:xfrm>
          </p:grpSpPr>
          <p:sp>
            <p:nvSpPr>
              <p:cNvPr name="Freeform 36" id="36"/>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37" id="37"/>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38" id="38"/>
            <p:cNvSpPr txBox="true"/>
            <p:nvPr/>
          </p:nvSpPr>
          <p:spPr>
            <a:xfrm rot="0">
              <a:off x="980011" y="197330"/>
              <a:ext cx="6883764"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Up to 20% off training discounts</a:t>
              </a:r>
            </a:p>
          </p:txBody>
        </p:sp>
        <p:grpSp>
          <p:nvGrpSpPr>
            <p:cNvPr name="Group 39" id="39"/>
            <p:cNvGrpSpPr/>
            <p:nvPr/>
          </p:nvGrpSpPr>
          <p:grpSpPr>
            <a:xfrm rot="0">
              <a:off x="376982" y="362723"/>
              <a:ext cx="321148" cy="321148"/>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42" id="42"/>
          <p:cNvGrpSpPr/>
          <p:nvPr/>
        </p:nvGrpSpPr>
        <p:grpSpPr>
          <a:xfrm rot="0">
            <a:off x="9280744" y="6318803"/>
            <a:ext cx="5187731" cy="784945"/>
            <a:chOff x="0" y="0"/>
            <a:chExt cx="6916974" cy="1046593"/>
          </a:xfrm>
        </p:grpSpPr>
        <p:grpSp>
          <p:nvGrpSpPr>
            <p:cNvPr name="Group 43" id="43"/>
            <p:cNvGrpSpPr/>
            <p:nvPr/>
          </p:nvGrpSpPr>
          <p:grpSpPr>
            <a:xfrm rot="0">
              <a:off x="0" y="0"/>
              <a:ext cx="6916974" cy="1046593"/>
              <a:chOff x="0" y="0"/>
              <a:chExt cx="1366316" cy="206735"/>
            </a:xfrm>
          </p:grpSpPr>
          <p:sp>
            <p:nvSpPr>
              <p:cNvPr name="Freeform 44" id="44"/>
              <p:cNvSpPr/>
              <p:nvPr/>
            </p:nvSpPr>
            <p:spPr>
              <a:xfrm flipH="false" flipV="false" rot="0">
                <a:off x="0" y="0"/>
                <a:ext cx="1366316" cy="206735"/>
              </a:xfrm>
              <a:custGeom>
                <a:avLst/>
                <a:gdLst/>
                <a:ahLst/>
                <a:cxnLst/>
                <a:rect r="r" b="b" t="t" l="l"/>
                <a:pathLst>
                  <a:path h="206735" w="1366316">
                    <a:moveTo>
                      <a:pt x="103367" y="0"/>
                    </a:moveTo>
                    <a:lnTo>
                      <a:pt x="1262949" y="0"/>
                    </a:lnTo>
                    <a:cubicBezTo>
                      <a:pt x="1290363" y="0"/>
                      <a:pt x="1316655" y="10890"/>
                      <a:pt x="1336040" y="30276"/>
                    </a:cubicBezTo>
                    <a:cubicBezTo>
                      <a:pt x="1355426" y="49661"/>
                      <a:pt x="1366316" y="75953"/>
                      <a:pt x="1366316" y="103367"/>
                    </a:cubicBezTo>
                    <a:lnTo>
                      <a:pt x="1366316" y="103367"/>
                    </a:lnTo>
                    <a:cubicBezTo>
                      <a:pt x="1366316" y="130782"/>
                      <a:pt x="1355426" y="157074"/>
                      <a:pt x="1336040" y="176459"/>
                    </a:cubicBezTo>
                    <a:cubicBezTo>
                      <a:pt x="1316655" y="195844"/>
                      <a:pt x="1290363" y="206735"/>
                      <a:pt x="126294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45" id="45"/>
              <p:cNvSpPr txBox="true"/>
              <p:nvPr/>
            </p:nvSpPr>
            <p:spPr>
              <a:xfrm>
                <a:off x="0" y="-38100"/>
                <a:ext cx="1366316" cy="244835"/>
              </a:xfrm>
              <a:prstGeom prst="rect">
                <a:avLst/>
              </a:prstGeom>
            </p:spPr>
            <p:txBody>
              <a:bodyPr anchor="ctr" rtlCol="false" tIns="50800" lIns="50800" bIns="50800" rIns="50800"/>
              <a:lstStyle/>
              <a:p>
                <a:pPr algn="ctr">
                  <a:lnSpc>
                    <a:spcPts val="2520"/>
                  </a:lnSpc>
                </a:pPr>
              </a:p>
            </p:txBody>
          </p:sp>
        </p:grpSp>
        <p:sp>
          <p:nvSpPr>
            <p:cNvPr name="TextBox 46" id="46"/>
            <p:cNvSpPr txBox="true"/>
            <p:nvPr/>
          </p:nvSpPr>
          <p:spPr>
            <a:xfrm rot="0">
              <a:off x="980011" y="197330"/>
              <a:ext cx="5528270"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Priority patches &amp; updates</a:t>
              </a:r>
            </a:p>
          </p:txBody>
        </p:sp>
        <p:grpSp>
          <p:nvGrpSpPr>
            <p:cNvPr name="Group 47" id="47"/>
            <p:cNvGrpSpPr/>
            <p:nvPr/>
          </p:nvGrpSpPr>
          <p:grpSpPr>
            <a:xfrm rot="0">
              <a:off x="376982" y="362723"/>
              <a:ext cx="321148" cy="321148"/>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9" id="4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TextBox 50" id="50"/>
          <p:cNvSpPr txBox="true"/>
          <p:nvPr/>
        </p:nvSpPr>
        <p:spPr>
          <a:xfrm rot="0">
            <a:off x="971550" y="3078715"/>
            <a:ext cx="6025368" cy="1873250"/>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Professional Support</a:t>
            </a:r>
          </a:p>
        </p:txBody>
      </p:sp>
      <p:sp>
        <p:nvSpPr>
          <p:cNvPr name="TextBox 51" id="51"/>
          <p:cNvSpPr txBox="true"/>
          <p:nvPr/>
        </p:nvSpPr>
        <p:spPr>
          <a:xfrm rot="0">
            <a:off x="971550" y="5150995"/>
            <a:ext cx="6456478" cy="97726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Servicing our open-source community since 2006!</a:t>
            </a:r>
          </a:p>
        </p:txBody>
      </p:sp>
      <p:sp>
        <p:nvSpPr>
          <p:cNvPr name="TextBox 52" id="52"/>
          <p:cNvSpPr txBox="true"/>
          <p:nvPr/>
        </p:nvSpPr>
        <p:spPr>
          <a:xfrm rot="0">
            <a:off x="9280744" y="3257931"/>
            <a:ext cx="4443412" cy="826008"/>
          </a:xfrm>
          <a:prstGeom prst="rect">
            <a:avLst/>
          </a:prstGeom>
        </p:spPr>
        <p:txBody>
          <a:bodyPr anchor="t" rtlCol="false" tIns="0" lIns="0" bIns="0" rIns="0">
            <a:spAutoFit/>
          </a:bodyPr>
          <a:lstStyle/>
          <a:p>
            <a:pPr algn="l">
              <a:lnSpc>
                <a:spcPts val="3185"/>
              </a:lnSpc>
            </a:pPr>
            <a:r>
              <a:rPr lang="en-US" sz="2699">
                <a:solidFill>
                  <a:srgbClr val="0D0D0D"/>
                </a:solidFill>
                <a:latin typeface="Poppins"/>
                <a:ea typeface="Poppins"/>
                <a:cs typeface="Poppins"/>
                <a:sym typeface="Poppins"/>
              </a:rPr>
              <a:t>Our support programs cover the following areas:</a:t>
            </a:r>
          </a:p>
        </p:txBody>
      </p:sp>
      <p:sp>
        <p:nvSpPr>
          <p:cNvPr name="Freeform 53" id="53"/>
          <p:cNvSpPr/>
          <p:nvPr/>
        </p:nvSpPr>
        <p:spPr>
          <a:xfrm flipH="false" flipV="false" rot="0">
            <a:off x="971550" y="6508609"/>
            <a:ext cx="2424341" cy="2424341"/>
          </a:xfrm>
          <a:custGeom>
            <a:avLst/>
            <a:gdLst/>
            <a:ahLst/>
            <a:cxnLst/>
            <a:rect r="r" b="b" t="t" l="l"/>
            <a:pathLst>
              <a:path h="2424341" w="2424341">
                <a:moveTo>
                  <a:pt x="0" y="0"/>
                </a:moveTo>
                <a:lnTo>
                  <a:pt x="2424341" y="0"/>
                </a:lnTo>
                <a:lnTo>
                  <a:pt x="2424341" y="2424341"/>
                </a:lnTo>
                <a:lnTo>
                  <a:pt x="0" y="24243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u"/>
  </p:transition>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982825" y="1072430"/>
            <a:ext cx="2276475" cy="784945"/>
            <a:chOff x="0" y="0"/>
            <a:chExt cx="599565" cy="206735"/>
          </a:xfrm>
        </p:grpSpPr>
        <p:sp>
          <p:nvSpPr>
            <p:cNvPr name="Freeform 4" id="4"/>
            <p:cNvSpPr/>
            <p:nvPr/>
          </p:nvSpPr>
          <p:spPr>
            <a:xfrm flipH="false" flipV="false" rot="0">
              <a:off x="0" y="0"/>
              <a:ext cx="599565" cy="206735"/>
            </a:xfrm>
            <a:custGeom>
              <a:avLst/>
              <a:gdLst/>
              <a:ahLst/>
              <a:cxnLst/>
              <a:rect r="r" b="b" t="t" l="l"/>
              <a:pathLst>
                <a:path h="206735" w="599565">
                  <a:moveTo>
                    <a:pt x="103367" y="0"/>
                  </a:moveTo>
                  <a:lnTo>
                    <a:pt x="496198" y="0"/>
                  </a:lnTo>
                  <a:cubicBezTo>
                    <a:pt x="523613" y="0"/>
                    <a:pt x="549905" y="10890"/>
                    <a:pt x="569290" y="30276"/>
                  </a:cubicBezTo>
                  <a:cubicBezTo>
                    <a:pt x="588675" y="49661"/>
                    <a:pt x="599565" y="75953"/>
                    <a:pt x="599565" y="103367"/>
                  </a:cubicBezTo>
                  <a:lnTo>
                    <a:pt x="599565" y="103367"/>
                  </a:lnTo>
                  <a:cubicBezTo>
                    <a:pt x="599565" y="130782"/>
                    <a:pt x="588675" y="157074"/>
                    <a:pt x="569290" y="176459"/>
                  </a:cubicBezTo>
                  <a:cubicBezTo>
                    <a:pt x="549905" y="195844"/>
                    <a:pt x="523613" y="206735"/>
                    <a:pt x="496198"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5" id="5"/>
            <p:cNvSpPr txBox="true"/>
            <p:nvPr/>
          </p:nvSpPr>
          <p:spPr>
            <a:xfrm>
              <a:off x="0" y="-38100"/>
              <a:ext cx="599565" cy="244835"/>
            </a:xfrm>
            <a:prstGeom prst="rect">
              <a:avLst/>
            </a:prstGeom>
          </p:spPr>
          <p:txBody>
            <a:bodyPr anchor="ctr" rtlCol="false" tIns="50800" lIns="50800" bIns="50800" rIns="50800"/>
            <a:lstStyle/>
            <a:p>
              <a:pPr algn="ctr">
                <a:lnSpc>
                  <a:spcPts val="2520"/>
                </a:lnSpc>
              </a:pPr>
            </a:p>
          </p:txBody>
        </p:sp>
      </p:grpSp>
      <p:sp>
        <p:nvSpPr>
          <p:cNvPr name="TextBox 6" id="6"/>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7" id="7"/>
          <p:cNvGrpSpPr/>
          <p:nvPr/>
        </p:nvGrpSpPr>
        <p:grpSpPr>
          <a:xfrm rot="0">
            <a:off x="15319698" y="1344472"/>
            <a:ext cx="240861" cy="24086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0">
            <a:off x="9280744" y="4438421"/>
            <a:ext cx="6159385" cy="784945"/>
            <a:chOff x="0" y="0"/>
            <a:chExt cx="8212513" cy="1046593"/>
          </a:xfrm>
        </p:grpSpPr>
        <p:grpSp>
          <p:nvGrpSpPr>
            <p:cNvPr name="Group 11" id="11"/>
            <p:cNvGrpSpPr/>
            <p:nvPr/>
          </p:nvGrpSpPr>
          <p:grpSpPr>
            <a:xfrm rot="0">
              <a:off x="0" y="0"/>
              <a:ext cx="8212513" cy="1046593"/>
              <a:chOff x="0" y="0"/>
              <a:chExt cx="1622225" cy="206735"/>
            </a:xfrm>
          </p:grpSpPr>
          <p:sp>
            <p:nvSpPr>
              <p:cNvPr name="Freeform 12" id="12"/>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3" id="13"/>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980011" y="197330"/>
              <a:ext cx="6425605"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Up to 20% off book discounts</a:t>
              </a:r>
            </a:p>
          </p:txBody>
        </p:sp>
        <p:grpSp>
          <p:nvGrpSpPr>
            <p:cNvPr name="Group 15" id="15"/>
            <p:cNvGrpSpPr/>
            <p:nvPr/>
          </p:nvGrpSpPr>
          <p:grpSpPr>
            <a:xfrm rot="0">
              <a:off x="376982" y="362723"/>
              <a:ext cx="321148" cy="32114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18" id="18"/>
          <p:cNvGrpSpPr/>
          <p:nvPr/>
        </p:nvGrpSpPr>
        <p:grpSpPr>
          <a:xfrm rot="0">
            <a:off x="9280744" y="7252107"/>
            <a:ext cx="7978556" cy="784945"/>
            <a:chOff x="0" y="0"/>
            <a:chExt cx="10638074" cy="1046593"/>
          </a:xfrm>
        </p:grpSpPr>
        <p:grpSp>
          <p:nvGrpSpPr>
            <p:cNvPr name="Group 19" id="19"/>
            <p:cNvGrpSpPr/>
            <p:nvPr/>
          </p:nvGrpSpPr>
          <p:grpSpPr>
            <a:xfrm rot="0">
              <a:off x="0" y="0"/>
              <a:ext cx="10638074" cy="1046593"/>
              <a:chOff x="0" y="0"/>
              <a:chExt cx="2101348" cy="206735"/>
            </a:xfrm>
          </p:grpSpPr>
          <p:sp>
            <p:nvSpPr>
              <p:cNvPr name="Freeform 20" id="20"/>
              <p:cNvSpPr/>
              <p:nvPr/>
            </p:nvSpPr>
            <p:spPr>
              <a:xfrm flipH="false" flipV="false" rot="0">
                <a:off x="0" y="0"/>
                <a:ext cx="2101348" cy="206735"/>
              </a:xfrm>
              <a:custGeom>
                <a:avLst/>
                <a:gdLst/>
                <a:ahLst/>
                <a:cxnLst/>
                <a:rect r="r" b="b" t="t" l="l"/>
                <a:pathLst>
                  <a:path h="206735" w="2101348">
                    <a:moveTo>
                      <a:pt x="97034" y="0"/>
                    </a:moveTo>
                    <a:lnTo>
                      <a:pt x="2004314" y="0"/>
                    </a:lnTo>
                    <a:cubicBezTo>
                      <a:pt x="2057904" y="0"/>
                      <a:pt x="2101348" y="43444"/>
                      <a:pt x="2101348" y="97034"/>
                    </a:cubicBezTo>
                    <a:lnTo>
                      <a:pt x="2101348" y="109700"/>
                    </a:lnTo>
                    <a:cubicBezTo>
                      <a:pt x="2101348" y="163291"/>
                      <a:pt x="2057904" y="206735"/>
                      <a:pt x="2004314" y="206735"/>
                    </a:cubicBezTo>
                    <a:lnTo>
                      <a:pt x="97034" y="206735"/>
                    </a:lnTo>
                    <a:cubicBezTo>
                      <a:pt x="43444" y="206735"/>
                      <a:pt x="0" y="163291"/>
                      <a:pt x="0" y="109700"/>
                    </a:cubicBezTo>
                    <a:lnTo>
                      <a:pt x="0" y="97034"/>
                    </a:lnTo>
                    <a:cubicBezTo>
                      <a:pt x="0" y="43444"/>
                      <a:pt x="43444" y="0"/>
                      <a:pt x="97034" y="0"/>
                    </a:cubicBezTo>
                    <a:close/>
                  </a:path>
                </a:pathLst>
              </a:custGeom>
              <a:solidFill>
                <a:srgbClr val="68DE68"/>
              </a:solidFill>
            </p:spPr>
          </p:sp>
          <p:sp>
            <p:nvSpPr>
              <p:cNvPr name="TextBox 21" id="21"/>
              <p:cNvSpPr txBox="true"/>
              <p:nvPr/>
            </p:nvSpPr>
            <p:spPr>
              <a:xfrm>
                <a:off x="0" y="-38100"/>
                <a:ext cx="2101348" cy="244835"/>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980011" y="197330"/>
              <a:ext cx="9483204"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Phone/Online support by appointment only</a:t>
              </a:r>
            </a:p>
          </p:txBody>
        </p:sp>
        <p:grpSp>
          <p:nvGrpSpPr>
            <p:cNvPr name="Group 23" id="23"/>
            <p:cNvGrpSpPr/>
            <p:nvPr/>
          </p:nvGrpSpPr>
          <p:grpSpPr>
            <a:xfrm rot="0">
              <a:off x="376982" y="362723"/>
              <a:ext cx="321148" cy="321148"/>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6" id="26"/>
          <p:cNvGrpSpPr/>
          <p:nvPr/>
        </p:nvGrpSpPr>
        <p:grpSpPr>
          <a:xfrm rot="0">
            <a:off x="9280744" y="5376316"/>
            <a:ext cx="7469433" cy="784945"/>
            <a:chOff x="0" y="0"/>
            <a:chExt cx="9959245" cy="1046593"/>
          </a:xfrm>
        </p:grpSpPr>
        <p:grpSp>
          <p:nvGrpSpPr>
            <p:cNvPr name="Group 27" id="27"/>
            <p:cNvGrpSpPr/>
            <p:nvPr/>
          </p:nvGrpSpPr>
          <p:grpSpPr>
            <a:xfrm rot="0">
              <a:off x="0" y="0"/>
              <a:ext cx="9959245" cy="1046593"/>
              <a:chOff x="0" y="0"/>
              <a:chExt cx="1967258" cy="206735"/>
            </a:xfrm>
          </p:grpSpPr>
          <p:sp>
            <p:nvSpPr>
              <p:cNvPr name="Freeform 28" id="28"/>
              <p:cNvSpPr/>
              <p:nvPr/>
            </p:nvSpPr>
            <p:spPr>
              <a:xfrm flipH="false" flipV="false" rot="0">
                <a:off x="0" y="0"/>
                <a:ext cx="1967258" cy="206735"/>
              </a:xfrm>
              <a:custGeom>
                <a:avLst/>
                <a:gdLst/>
                <a:ahLst/>
                <a:cxnLst/>
                <a:rect r="r" b="b" t="t" l="l"/>
                <a:pathLst>
                  <a:path h="206735" w="1967258">
                    <a:moveTo>
                      <a:pt x="103367" y="0"/>
                    </a:moveTo>
                    <a:lnTo>
                      <a:pt x="1863891" y="0"/>
                    </a:lnTo>
                    <a:cubicBezTo>
                      <a:pt x="1891306" y="0"/>
                      <a:pt x="1917597" y="10890"/>
                      <a:pt x="1936983" y="30276"/>
                    </a:cubicBezTo>
                    <a:cubicBezTo>
                      <a:pt x="1956368" y="49661"/>
                      <a:pt x="1967258" y="75953"/>
                      <a:pt x="1967258" y="103367"/>
                    </a:cubicBezTo>
                    <a:lnTo>
                      <a:pt x="1967258" y="103367"/>
                    </a:lnTo>
                    <a:cubicBezTo>
                      <a:pt x="1967258" y="130782"/>
                      <a:pt x="1956368" y="157074"/>
                      <a:pt x="1936983" y="176459"/>
                    </a:cubicBezTo>
                    <a:cubicBezTo>
                      <a:pt x="1917597" y="195844"/>
                      <a:pt x="1891306" y="206735"/>
                      <a:pt x="1863891"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9" id="29"/>
              <p:cNvSpPr txBox="true"/>
              <p:nvPr/>
            </p:nvSpPr>
            <p:spPr>
              <a:xfrm>
                <a:off x="0" y="-38100"/>
                <a:ext cx="1967258" cy="244835"/>
              </a:xfrm>
              <a:prstGeom prst="rect">
                <a:avLst/>
              </a:prstGeom>
            </p:spPr>
            <p:txBody>
              <a:bodyPr anchor="ctr" rtlCol="false" tIns="50800" lIns="50800" bIns="50800" rIns="50800"/>
              <a:lstStyle/>
              <a:p>
                <a:pPr algn="ctr">
                  <a:lnSpc>
                    <a:spcPts val="2520"/>
                  </a:lnSpc>
                </a:pPr>
              </a:p>
            </p:txBody>
          </p:sp>
        </p:grpSp>
        <p:sp>
          <p:nvSpPr>
            <p:cNvPr name="TextBox 30" id="30"/>
            <p:cNvSpPr txBox="true"/>
            <p:nvPr/>
          </p:nvSpPr>
          <p:spPr>
            <a:xfrm rot="0">
              <a:off x="980011" y="197330"/>
              <a:ext cx="8782877"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Up to 20% off Ortus commercial product</a:t>
              </a:r>
            </a:p>
          </p:txBody>
        </p:sp>
        <p:grpSp>
          <p:nvGrpSpPr>
            <p:cNvPr name="Group 31" id="31"/>
            <p:cNvGrpSpPr/>
            <p:nvPr/>
          </p:nvGrpSpPr>
          <p:grpSpPr>
            <a:xfrm rot="0">
              <a:off x="376982" y="362723"/>
              <a:ext cx="321148" cy="32114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34" id="34"/>
          <p:cNvGrpSpPr/>
          <p:nvPr/>
        </p:nvGrpSpPr>
        <p:grpSpPr>
          <a:xfrm rot="0">
            <a:off x="9280744" y="6314212"/>
            <a:ext cx="3792318" cy="784945"/>
            <a:chOff x="0" y="0"/>
            <a:chExt cx="5056424" cy="1046593"/>
          </a:xfrm>
        </p:grpSpPr>
        <p:grpSp>
          <p:nvGrpSpPr>
            <p:cNvPr name="Group 35" id="35"/>
            <p:cNvGrpSpPr/>
            <p:nvPr/>
          </p:nvGrpSpPr>
          <p:grpSpPr>
            <a:xfrm rot="0">
              <a:off x="0" y="0"/>
              <a:ext cx="5056424" cy="1046593"/>
              <a:chOff x="0" y="0"/>
              <a:chExt cx="998800" cy="206735"/>
            </a:xfrm>
          </p:grpSpPr>
          <p:sp>
            <p:nvSpPr>
              <p:cNvPr name="Freeform 36" id="36"/>
              <p:cNvSpPr/>
              <p:nvPr/>
            </p:nvSpPr>
            <p:spPr>
              <a:xfrm flipH="false" flipV="false" rot="0">
                <a:off x="0" y="0"/>
                <a:ext cx="998800" cy="206735"/>
              </a:xfrm>
              <a:custGeom>
                <a:avLst/>
                <a:gdLst/>
                <a:ahLst/>
                <a:cxnLst/>
                <a:rect r="r" b="b" t="t" l="l"/>
                <a:pathLst>
                  <a:path h="206735" w="998800">
                    <a:moveTo>
                      <a:pt x="103367" y="0"/>
                    </a:moveTo>
                    <a:lnTo>
                      <a:pt x="895433" y="0"/>
                    </a:lnTo>
                    <a:cubicBezTo>
                      <a:pt x="922847" y="0"/>
                      <a:pt x="949139" y="10890"/>
                      <a:pt x="968524" y="30276"/>
                    </a:cubicBezTo>
                    <a:cubicBezTo>
                      <a:pt x="987909" y="49661"/>
                      <a:pt x="998800" y="75953"/>
                      <a:pt x="998800" y="103367"/>
                    </a:cubicBezTo>
                    <a:lnTo>
                      <a:pt x="998800" y="103367"/>
                    </a:lnTo>
                    <a:cubicBezTo>
                      <a:pt x="998800" y="130782"/>
                      <a:pt x="987909" y="157074"/>
                      <a:pt x="968524" y="176459"/>
                    </a:cubicBezTo>
                    <a:cubicBezTo>
                      <a:pt x="949139" y="195844"/>
                      <a:pt x="922847" y="206735"/>
                      <a:pt x="8954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37" id="37"/>
              <p:cNvSpPr txBox="true"/>
              <p:nvPr/>
            </p:nvSpPr>
            <p:spPr>
              <a:xfrm>
                <a:off x="0" y="-38100"/>
                <a:ext cx="998800" cy="244835"/>
              </a:xfrm>
              <a:prstGeom prst="rect">
                <a:avLst/>
              </a:prstGeom>
            </p:spPr>
            <p:txBody>
              <a:bodyPr anchor="ctr" rtlCol="false" tIns="50800" lIns="50800" bIns="50800" rIns="50800"/>
              <a:lstStyle/>
              <a:p>
                <a:pPr algn="ctr">
                  <a:lnSpc>
                    <a:spcPts val="2520"/>
                  </a:lnSpc>
                </a:pPr>
              </a:p>
            </p:txBody>
          </p:sp>
        </p:grpSp>
        <p:sp>
          <p:nvSpPr>
            <p:cNvPr name="TextBox 38" id="38"/>
            <p:cNvSpPr txBox="true"/>
            <p:nvPr/>
          </p:nvSpPr>
          <p:spPr>
            <a:xfrm rot="0">
              <a:off x="980011" y="197330"/>
              <a:ext cx="3767673"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Custom modules</a:t>
              </a:r>
            </a:p>
          </p:txBody>
        </p:sp>
        <p:grpSp>
          <p:nvGrpSpPr>
            <p:cNvPr name="Group 39" id="39"/>
            <p:cNvGrpSpPr/>
            <p:nvPr/>
          </p:nvGrpSpPr>
          <p:grpSpPr>
            <a:xfrm rot="0">
              <a:off x="376982" y="362723"/>
              <a:ext cx="321148" cy="321148"/>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Freeform 42" id="42"/>
          <p:cNvSpPr/>
          <p:nvPr/>
        </p:nvSpPr>
        <p:spPr>
          <a:xfrm flipH="false" flipV="false" rot="0">
            <a:off x="971550" y="6508609"/>
            <a:ext cx="2424341" cy="2424341"/>
          </a:xfrm>
          <a:custGeom>
            <a:avLst/>
            <a:gdLst/>
            <a:ahLst/>
            <a:cxnLst/>
            <a:rect r="r" b="b" t="t" l="l"/>
            <a:pathLst>
              <a:path h="2424341" w="2424341">
                <a:moveTo>
                  <a:pt x="0" y="0"/>
                </a:moveTo>
                <a:lnTo>
                  <a:pt x="2424341" y="0"/>
                </a:lnTo>
                <a:lnTo>
                  <a:pt x="2424341" y="2424341"/>
                </a:lnTo>
                <a:lnTo>
                  <a:pt x="0" y="24243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3" id="43"/>
          <p:cNvSpPr txBox="true"/>
          <p:nvPr/>
        </p:nvSpPr>
        <p:spPr>
          <a:xfrm rot="0">
            <a:off x="971550" y="3078715"/>
            <a:ext cx="6025368" cy="1873250"/>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Professional Support</a:t>
            </a:r>
          </a:p>
        </p:txBody>
      </p:sp>
      <p:sp>
        <p:nvSpPr>
          <p:cNvPr name="TextBox 44" id="44"/>
          <p:cNvSpPr txBox="true"/>
          <p:nvPr/>
        </p:nvSpPr>
        <p:spPr>
          <a:xfrm rot="0">
            <a:off x="971550" y="5150995"/>
            <a:ext cx="6456478" cy="97726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Servicing our open-source community since 2006!</a:t>
            </a:r>
          </a:p>
        </p:txBody>
      </p:sp>
      <p:sp>
        <p:nvSpPr>
          <p:cNvPr name="TextBox 45" id="45"/>
          <p:cNvSpPr txBox="true"/>
          <p:nvPr/>
        </p:nvSpPr>
        <p:spPr>
          <a:xfrm rot="0">
            <a:off x="9280744" y="3253340"/>
            <a:ext cx="4443412" cy="826008"/>
          </a:xfrm>
          <a:prstGeom prst="rect">
            <a:avLst/>
          </a:prstGeom>
        </p:spPr>
        <p:txBody>
          <a:bodyPr anchor="t" rtlCol="false" tIns="0" lIns="0" bIns="0" rIns="0">
            <a:spAutoFit/>
          </a:bodyPr>
          <a:lstStyle/>
          <a:p>
            <a:pPr algn="l">
              <a:lnSpc>
                <a:spcPts val="3185"/>
              </a:lnSpc>
            </a:pPr>
            <a:r>
              <a:rPr lang="en-US" sz="2699">
                <a:solidFill>
                  <a:srgbClr val="0D0D0D"/>
                </a:solidFill>
                <a:latin typeface="Poppins"/>
                <a:ea typeface="Poppins"/>
                <a:cs typeface="Poppins"/>
                <a:sym typeface="Poppins"/>
              </a:rPr>
              <a:t>Our support programs cover the following areas:</a:t>
            </a:r>
          </a:p>
        </p:txBody>
      </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447765" y="1651635"/>
            <a:ext cx="3467100" cy="685800"/>
            <a:chOff x="0" y="0"/>
            <a:chExt cx="913146" cy="180622"/>
          </a:xfrm>
        </p:grpSpPr>
        <p:sp>
          <p:nvSpPr>
            <p:cNvPr name="Freeform 3" id="3"/>
            <p:cNvSpPr/>
            <p:nvPr/>
          </p:nvSpPr>
          <p:spPr>
            <a:xfrm flipH="false" flipV="false" rot="0">
              <a:off x="0" y="0"/>
              <a:ext cx="913146" cy="180622"/>
            </a:xfrm>
            <a:custGeom>
              <a:avLst/>
              <a:gdLst/>
              <a:ahLst/>
              <a:cxnLst/>
              <a:rect r="r" b="b" t="t" l="l"/>
              <a:pathLst>
                <a:path h="180622" w="913146">
                  <a:moveTo>
                    <a:pt x="90311" y="0"/>
                  </a:moveTo>
                  <a:lnTo>
                    <a:pt x="822835" y="0"/>
                  </a:lnTo>
                  <a:cubicBezTo>
                    <a:pt x="846787" y="0"/>
                    <a:pt x="869758" y="9515"/>
                    <a:pt x="886694" y="26452"/>
                  </a:cubicBezTo>
                  <a:cubicBezTo>
                    <a:pt x="903631" y="43388"/>
                    <a:pt x="913146" y="66359"/>
                    <a:pt x="913146" y="90311"/>
                  </a:cubicBezTo>
                  <a:lnTo>
                    <a:pt x="913146" y="90311"/>
                  </a:lnTo>
                  <a:cubicBezTo>
                    <a:pt x="913146" y="114263"/>
                    <a:pt x="903631" y="137234"/>
                    <a:pt x="886694" y="154171"/>
                  </a:cubicBezTo>
                  <a:cubicBezTo>
                    <a:pt x="869758" y="171107"/>
                    <a:pt x="846787" y="180622"/>
                    <a:pt x="822835"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4" id="4"/>
            <p:cNvSpPr txBox="true"/>
            <p:nvPr/>
          </p:nvSpPr>
          <p:spPr>
            <a:xfrm>
              <a:off x="0" y="-57150"/>
              <a:ext cx="913146"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Senior Software Architect</a:t>
              </a:r>
            </a:p>
          </p:txBody>
        </p:sp>
      </p:grpSp>
      <p:grpSp>
        <p:nvGrpSpPr>
          <p:cNvPr name="Group 5" id="5"/>
          <p:cNvGrpSpPr/>
          <p:nvPr/>
        </p:nvGrpSpPr>
        <p:grpSpPr>
          <a:xfrm rot="0">
            <a:off x="9447765" y="4297680"/>
            <a:ext cx="3105150" cy="685800"/>
            <a:chOff x="0" y="0"/>
            <a:chExt cx="817817" cy="180622"/>
          </a:xfrm>
        </p:grpSpPr>
        <p:sp>
          <p:nvSpPr>
            <p:cNvPr name="Freeform 6" id="6"/>
            <p:cNvSpPr/>
            <p:nvPr/>
          </p:nvSpPr>
          <p:spPr>
            <a:xfrm flipH="false" flipV="false" rot="0">
              <a:off x="0" y="0"/>
              <a:ext cx="817817" cy="180622"/>
            </a:xfrm>
            <a:custGeom>
              <a:avLst/>
              <a:gdLst/>
              <a:ahLst/>
              <a:cxnLst/>
              <a:rect r="r" b="b" t="t" l="l"/>
              <a:pathLst>
                <a:path h="180622" w="817817">
                  <a:moveTo>
                    <a:pt x="90311" y="0"/>
                  </a:moveTo>
                  <a:lnTo>
                    <a:pt x="727506" y="0"/>
                  </a:lnTo>
                  <a:cubicBezTo>
                    <a:pt x="751458" y="0"/>
                    <a:pt x="774429" y="9515"/>
                    <a:pt x="791366" y="26452"/>
                  </a:cubicBezTo>
                  <a:cubicBezTo>
                    <a:pt x="808302" y="43388"/>
                    <a:pt x="817817" y="66359"/>
                    <a:pt x="817817" y="90311"/>
                  </a:cubicBezTo>
                  <a:lnTo>
                    <a:pt x="817817" y="90311"/>
                  </a:lnTo>
                  <a:cubicBezTo>
                    <a:pt x="817817" y="114263"/>
                    <a:pt x="808302" y="137234"/>
                    <a:pt x="791366" y="154171"/>
                  </a:cubicBezTo>
                  <a:cubicBezTo>
                    <a:pt x="774429" y="171107"/>
                    <a:pt x="751458" y="180622"/>
                    <a:pt x="727506"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7" id="7"/>
            <p:cNvSpPr txBox="true"/>
            <p:nvPr/>
          </p:nvSpPr>
          <p:spPr>
            <a:xfrm>
              <a:off x="0" y="-57150"/>
              <a:ext cx="817817"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Senior Web Developer</a:t>
              </a:r>
            </a:p>
          </p:txBody>
        </p:sp>
      </p:grpSp>
      <p:grpSp>
        <p:nvGrpSpPr>
          <p:cNvPr name="Group 8" id="8"/>
          <p:cNvGrpSpPr/>
          <p:nvPr/>
        </p:nvGrpSpPr>
        <p:grpSpPr>
          <a:xfrm rot="0">
            <a:off x="9447765" y="6880860"/>
            <a:ext cx="3105150" cy="685800"/>
            <a:chOff x="0" y="0"/>
            <a:chExt cx="817817" cy="180622"/>
          </a:xfrm>
        </p:grpSpPr>
        <p:sp>
          <p:nvSpPr>
            <p:cNvPr name="Freeform 9" id="9"/>
            <p:cNvSpPr/>
            <p:nvPr/>
          </p:nvSpPr>
          <p:spPr>
            <a:xfrm flipH="false" flipV="false" rot="0">
              <a:off x="0" y="0"/>
              <a:ext cx="817817" cy="180622"/>
            </a:xfrm>
            <a:custGeom>
              <a:avLst/>
              <a:gdLst/>
              <a:ahLst/>
              <a:cxnLst/>
              <a:rect r="r" b="b" t="t" l="l"/>
              <a:pathLst>
                <a:path h="180622" w="817817">
                  <a:moveTo>
                    <a:pt x="90311" y="0"/>
                  </a:moveTo>
                  <a:lnTo>
                    <a:pt x="727506" y="0"/>
                  </a:lnTo>
                  <a:cubicBezTo>
                    <a:pt x="751458" y="0"/>
                    <a:pt x="774429" y="9515"/>
                    <a:pt x="791366" y="26452"/>
                  </a:cubicBezTo>
                  <a:cubicBezTo>
                    <a:pt x="808302" y="43388"/>
                    <a:pt x="817817" y="66359"/>
                    <a:pt x="817817" y="90311"/>
                  </a:cubicBezTo>
                  <a:lnTo>
                    <a:pt x="817817" y="90311"/>
                  </a:lnTo>
                  <a:cubicBezTo>
                    <a:pt x="817817" y="114263"/>
                    <a:pt x="808302" y="137234"/>
                    <a:pt x="791366" y="154171"/>
                  </a:cubicBezTo>
                  <a:cubicBezTo>
                    <a:pt x="774429" y="171107"/>
                    <a:pt x="751458" y="180622"/>
                    <a:pt x="727506"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10" id="10"/>
            <p:cNvSpPr txBox="true"/>
            <p:nvPr/>
          </p:nvSpPr>
          <p:spPr>
            <a:xfrm>
              <a:off x="0" y="-57150"/>
              <a:ext cx="817817"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Junior Web Developer</a:t>
              </a:r>
            </a:p>
          </p:txBody>
        </p:sp>
      </p:grpSp>
      <p:grpSp>
        <p:nvGrpSpPr>
          <p:cNvPr name="Group 11" id="11"/>
          <p:cNvGrpSpPr/>
          <p:nvPr/>
        </p:nvGrpSpPr>
        <p:grpSpPr>
          <a:xfrm rot="0">
            <a:off x="13410165" y="1651635"/>
            <a:ext cx="2590800" cy="685800"/>
            <a:chOff x="0" y="0"/>
            <a:chExt cx="682351" cy="180622"/>
          </a:xfrm>
        </p:grpSpPr>
        <p:sp>
          <p:nvSpPr>
            <p:cNvPr name="Freeform 12" id="12"/>
            <p:cNvSpPr/>
            <p:nvPr/>
          </p:nvSpPr>
          <p:spPr>
            <a:xfrm flipH="false" flipV="false" rot="0">
              <a:off x="0" y="0"/>
              <a:ext cx="682351" cy="180622"/>
            </a:xfrm>
            <a:custGeom>
              <a:avLst/>
              <a:gdLst/>
              <a:ahLst/>
              <a:cxnLst/>
              <a:rect r="r" b="b" t="t" l="l"/>
              <a:pathLst>
                <a:path h="180622" w="682351">
                  <a:moveTo>
                    <a:pt x="90311" y="0"/>
                  </a:moveTo>
                  <a:lnTo>
                    <a:pt x="592039" y="0"/>
                  </a:lnTo>
                  <a:cubicBezTo>
                    <a:pt x="641917" y="0"/>
                    <a:pt x="682351" y="40434"/>
                    <a:pt x="682351" y="90311"/>
                  </a:cubicBezTo>
                  <a:lnTo>
                    <a:pt x="682351" y="90311"/>
                  </a:lnTo>
                  <a:cubicBezTo>
                    <a:pt x="682351" y="114263"/>
                    <a:pt x="672836" y="137234"/>
                    <a:pt x="655899" y="154171"/>
                  </a:cubicBezTo>
                  <a:cubicBezTo>
                    <a:pt x="638962" y="171107"/>
                    <a:pt x="615991" y="180622"/>
                    <a:pt x="592039"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13" id="13"/>
            <p:cNvSpPr txBox="true"/>
            <p:nvPr/>
          </p:nvSpPr>
          <p:spPr>
            <a:xfrm>
              <a:off x="0" y="-57150"/>
              <a:ext cx="682351"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Software Architect</a:t>
              </a:r>
            </a:p>
          </p:txBody>
        </p:sp>
      </p:grpSp>
      <p:grpSp>
        <p:nvGrpSpPr>
          <p:cNvPr name="Group 14" id="14"/>
          <p:cNvGrpSpPr/>
          <p:nvPr/>
        </p:nvGrpSpPr>
        <p:grpSpPr>
          <a:xfrm rot="0">
            <a:off x="13410165" y="4297680"/>
            <a:ext cx="2247900" cy="685800"/>
            <a:chOff x="0" y="0"/>
            <a:chExt cx="592040" cy="180622"/>
          </a:xfrm>
        </p:grpSpPr>
        <p:sp>
          <p:nvSpPr>
            <p:cNvPr name="Freeform 15" id="15"/>
            <p:cNvSpPr/>
            <p:nvPr/>
          </p:nvSpPr>
          <p:spPr>
            <a:xfrm flipH="false" flipV="false" rot="0">
              <a:off x="0" y="0"/>
              <a:ext cx="592039" cy="180622"/>
            </a:xfrm>
            <a:custGeom>
              <a:avLst/>
              <a:gdLst/>
              <a:ahLst/>
              <a:cxnLst/>
              <a:rect r="r" b="b" t="t" l="l"/>
              <a:pathLst>
                <a:path h="180622" w="592039">
                  <a:moveTo>
                    <a:pt x="90311" y="0"/>
                  </a:moveTo>
                  <a:lnTo>
                    <a:pt x="501728" y="0"/>
                  </a:lnTo>
                  <a:cubicBezTo>
                    <a:pt x="525680" y="0"/>
                    <a:pt x="548651" y="9515"/>
                    <a:pt x="565588" y="26452"/>
                  </a:cubicBezTo>
                  <a:cubicBezTo>
                    <a:pt x="582525" y="43388"/>
                    <a:pt x="592039" y="66359"/>
                    <a:pt x="592039" y="90311"/>
                  </a:cubicBezTo>
                  <a:lnTo>
                    <a:pt x="592039" y="90311"/>
                  </a:lnTo>
                  <a:cubicBezTo>
                    <a:pt x="592039" y="114263"/>
                    <a:pt x="582525" y="137234"/>
                    <a:pt x="565588" y="154171"/>
                  </a:cubicBezTo>
                  <a:cubicBezTo>
                    <a:pt x="548651" y="171107"/>
                    <a:pt x="525680" y="180622"/>
                    <a:pt x="501728"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16" id="16"/>
            <p:cNvSpPr txBox="true"/>
            <p:nvPr/>
          </p:nvSpPr>
          <p:spPr>
            <a:xfrm>
              <a:off x="0" y="-57150"/>
              <a:ext cx="592040"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Web Developer</a:t>
              </a:r>
            </a:p>
          </p:txBody>
        </p:sp>
      </p:grpSp>
      <p:grpSp>
        <p:nvGrpSpPr>
          <p:cNvPr name="Group 17" id="17"/>
          <p:cNvGrpSpPr/>
          <p:nvPr/>
        </p:nvGrpSpPr>
        <p:grpSpPr>
          <a:xfrm rot="0">
            <a:off x="13410165" y="6880860"/>
            <a:ext cx="2247900" cy="685800"/>
            <a:chOff x="0" y="0"/>
            <a:chExt cx="592040" cy="180622"/>
          </a:xfrm>
        </p:grpSpPr>
        <p:sp>
          <p:nvSpPr>
            <p:cNvPr name="Freeform 18" id="18"/>
            <p:cNvSpPr/>
            <p:nvPr/>
          </p:nvSpPr>
          <p:spPr>
            <a:xfrm flipH="false" flipV="false" rot="0">
              <a:off x="0" y="0"/>
              <a:ext cx="592039" cy="180622"/>
            </a:xfrm>
            <a:custGeom>
              <a:avLst/>
              <a:gdLst/>
              <a:ahLst/>
              <a:cxnLst/>
              <a:rect r="r" b="b" t="t" l="l"/>
              <a:pathLst>
                <a:path h="180622" w="592039">
                  <a:moveTo>
                    <a:pt x="90311" y="0"/>
                  </a:moveTo>
                  <a:lnTo>
                    <a:pt x="501728" y="0"/>
                  </a:lnTo>
                  <a:cubicBezTo>
                    <a:pt x="525680" y="0"/>
                    <a:pt x="548651" y="9515"/>
                    <a:pt x="565588" y="26452"/>
                  </a:cubicBezTo>
                  <a:cubicBezTo>
                    <a:pt x="582525" y="43388"/>
                    <a:pt x="592039" y="66359"/>
                    <a:pt x="592039" y="90311"/>
                  </a:cubicBezTo>
                  <a:lnTo>
                    <a:pt x="592039" y="90311"/>
                  </a:lnTo>
                  <a:cubicBezTo>
                    <a:pt x="592039" y="114263"/>
                    <a:pt x="582525" y="137234"/>
                    <a:pt x="565588" y="154171"/>
                  </a:cubicBezTo>
                  <a:cubicBezTo>
                    <a:pt x="548651" y="171107"/>
                    <a:pt x="525680" y="180622"/>
                    <a:pt x="501728"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19" id="19"/>
            <p:cNvSpPr txBox="true"/>
            <p:nvPr/>
          </p:nvSpPr>
          <p:spPr>
            <a:xfrm>
              <a:off x="0" y="-57150"/>
              <a:ext cx="592040"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UI/UX Designer</a:t>
              </a:r>
            </a:p>
          </p:txBody>
        </p:sp>
      </p:grpSp>
      <p:sp>
        <p:nvSpPr>
          <p:cNvPr name="TextBox 20" id="20"/>
          <p:cNvSpPr txBox="true"/>
          <p:nvPr/>
        </p:nvSpPr>
        <p:spPr>
          <a:xfrm rot="0">
            <a:off x="971550" y="2474955"/>
            <a:ext cx="7677150"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Labor Categories</a:t>
            </a:r>
          </a:p>
        </p:txBody>
      </p:sp>
      <p:sp>
        <p:nvSpPr>
          <p:cNvPr name="TextBox 21" id="21"/>
          <p:cNvSpPr txBox="true"/>
          <p:nvPr/>
        </p:nvSpPr>
        <p:spPr>
          <a:xfrm rot="0">
            <a:off x="971550" y="5380991"/>
            <a:ext cx="7034212" cy="580391"/>
          </a:xfrm>
          <a:prstGeom prst="rect">
            <a:avLst/>
          </a:prstGeom>
        </p:spPr>
        <p:txBody>
          <a:bodyPr anchor="t" rtlCol="false" tIns="0" lIns="0" bIns="0" rIns="0">
            <a:spAutoFit/>
          </a:bodyPr>
          <a:lstStyle/>
          <a:p>
            <a:pPr algn="l">
              <a:lnSpc>
                <a:spcPts val="4100"/>
              </a:lnSpc>
            </a:pPr>
            <a:r>
              <a:rPr lang="en-US" sz="4100">
                <a:solidFill>
                  <a:srgbClr val="0D0D0D"/>
                </a:solidFill>
                <a:latin typeface="Poppins Light"/>
                <a:ea typeface="Poppins Light"/>
                <a:cs typeface="Poppins Light"/>
                <a:sym typeface="Poppins Light"/>
              </a:rPr>
              <a:t>Available through the GSA.</a:t>
            </a:r>
          </a:p>
        </p:txBody>
      </p:sp>
      <p:sp>
        <p:nvSpPr>
          <p:cNvPr name="TextBox 22" id="22"/>
          <p:cNvSpPr txBox="true"/>
          <p:nvPr/>
        </p:nvSpPr>
        <p:spPr>
          <a:xfrm rot="0">
            <a:off x="9447765" y="2451735"/>
            <a:ext cx="3625298" cy="1268730"/>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Leads software innovation, designs web applications, supervises and mentors architects.</a:t>
            </a:r>
          </a:p>
        </p:txBody>
      </p:sp>
      <p:sp>
        <p:nvSpPr>
          <p:cNvPr name="TextBox 23" id="23"/>
          <p:cNvSpPr txBox="true"/>
          <p:nvPr/>
        </p:nvSpPr>
        <p:spPr>
          <a:xfrm rot="0">
            <a:off x="9447765" y="5097780"/>
            <a:ext cx="3625298" cy="95440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Leads full-stack development, creates, extends, maintains apps, supervises, and mentors.</a:t>
            </a:r>
          </a:p>
        </p:txBody>
      </p:sp>
      <p:sp>
        <p:nvSpPr>
          <p:cNvPr name="TextBox 24" id="24"/>
          <p:cNvSpPr txBox="true"/>
          <p:nvPr/>
        </p:nvSpPr>
        <p:spPr>
          <a:xfrm rot="0">
            <a:off x="9447765" y="7680960"/>
            <a:ext cx="3625298" cy="95440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Codes front-end or back-end tasks, extends functionality, under senior guidance.</a:t>
            </a:r>
          </a:p>
        </p:txBody>
      </p:sp>
      <p:sp>
        <p:nvSpPr>
          <p:cNvPr name="TextBox 25" id="25"/>
          <p:cNvSpPr txBox="true"/>
          <p:nvPr/>
        </p:nvSpPr>
        <p:spPr>
          <a:xfrm rot="0">
            <a:off x="13410165" y="2451735"/>
            <a:ext cx="3625298" cy="95440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Designs enterprise software, web applications, and ensures seamless user experience.</a:t>
            </a:r>
          </a:p>
        </p:txBody>
      </p:sp>
      <p:sp>
        <p:nvSpPr>
          <p:cNvPr name="TextBox 26" id="26"/>
          <p:cNvSpPr txBox="true"/>
          <p:nvPr/>
        </p:nvSpPr>
        <p:spPr>
          <a:xfrm rot="0">
            <a:off x="13410165" y="5097780"/>
            <a:ext cx="3625298" cy="95440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Develops full-stack web apps, extends functionality, and maintains under supervision.</a:t>
            </a:r>
          </a:p>
        </p:txBody>
      </p:sp>
      <p:sp>
        <p:nvSpPr>
          <p:cNvPr name="TextBox 27" id="27"/>
          <p:cNvSpPr txBox="true"/>
          <p:nvPr/>
        </p:nvSpPr>
        <p:spPr>
          <a:xfrm rot="0">
            <a:off x="13410165" y="7680960"/>
            <a:ext cx="3625298" cy="95440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Designs web UX/UI for intuitive navigation under senior designer's supervision.</a:t>
            </a:r>
          </a:p>
        </p:txBody>
      </p:sp>
      <p:sp>
        <p:nvSpPr>
          <p:cNvPr name="Freeform 28" id="28"/>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9" id="29"/>
          <p:cNvGrpSpPr/>
          <p:nvPr/>
        </p:nvGrpSpPr>
        <p:grpSpPr>
          <a:xfrm rot="0">
            <a:off x="971550" y="6287367"/>
            <a:ext cx="2524125" cy="784945"/>
            <a:chOff x="0" y="0"/>
            <a:chExt cx="664790" cy="206735"/>
          </a:xfrm>
        </p:grpSpPr>
        <p:sp>
          <p:nvSpPr>
            <p:cNvPr name="Freeform 30" id="30"/>
            <p:cNvSpPr/>
            <p:nvPr/>
          </p:nvSpPr>
          <p:spPr>
            <a:xfrm flipH="false" flipV="false" rot="0">
              <a:off x="0" y="0"/>
              <a:ext cx="664790" cy="206735"/>
            </a:xfrm>
            <a:custGeom>
              <a:avLst/>
              <a:gdLst/>
              <a:ahLst/>
              <a:cxnLst/>
              <a:rect r="r" b="b" t="t" l="l"/>
              <a:pathLst>
                <a:path h="206735" w="664790">
                  <a:moveTo>
                    <a:pt x="103367" y="0"/>
                  </a:moveTo>
                  <a:lnTo>
                    <a:pt x="561423" y="0"/>
                  </a:lnTo>
                  <a:cubicBezTo>
                    <a:pt x="588838" y="0"/>
                    <a:pt x="615129" y="10890"/>
                    <a:pt x="634515" y="30276"/>
                  </a:cubicBezTo>
                  <a:cubicBezTo>
                    <a:pt x="653900" y="49661"/>
                    <a:pt x="664790" y="75953"/>
                    <a:pt x="664790" y="103367"/>
                  </a:cubicBezTo>
                  <a:lnTo>
                    <a:pt x="664790" y="103367"/>
                  </a:lnTo>
                  <a:cubicBezTo>
                    <a:pt x="664790" y="130782"/>
                    <a:pt x="653900" y="157074"/>
                    <a:pt x="634515" y="176459"/>
                  </a:cubicBezTo>
                  <a:cubicBezTo>
                    <a:pt x="615129" y="195844"/>
                    <a:pt x="588838" y="206735"/>
                    <a:pt x="56142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31" id="31"/>
            <p:cNvSpPr txBox="true"/>
            <p:nvPr/>
          </p:nvSpPr>
          <p:spPr>
            <a:xfrm>
              <a:off x="0" y="-38100"/>
              <a:ext cx="664790" cy="244835"/>
            </a:xfrm>
            <a:prstGeom prst="rect">
              <a:avLst/>
            </a:prstGeom>
          </p:spPr>
          <p:txBody>
            <a:bodyPr anchor="ctr" rtlCol="false" tIns="50800" lIns="50800" bIns="50800" rIns="50800"/>
            <a:lstStyle/>
            <a:p>
              <a:pPr algn="ctr">
                <a:lnSpc>
                  <a:spcPts val="2520"/>
                </a:lnSpc>
              </a:pPr>
            </a:p>
          </p:txBody>
        </p:sp>
      </p:grpSp>
      <p:sp>
        <p:nvSpPr>
          <p:cNvPr name="TextBox 32" id="32"/>
          <p:cNvSpPr txBox="true"/>
          <p:nvPr/>
        </p:nvSpPr>
        <p:spPr>
          <a:xfrm rot="0">
            <a:off x="1638523" y="6416315"/>
            <a:ext cx="1571179"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SIN: 54151S</a:t>
            </a:r>
          </a:p>
        </p:txBody>
      </p:sp>
      <p:grpSp>
        <p:nvGrpSpPr>
          <p:cNvPr name="Group 33" id="33"/>
          <p:cNvGrpSpPr/>
          <p:nvPr/>
        </p:nvGrpSpPr>
        <p:grpSpPr>
          <a:xfrm rot="0">
            <a:off x="1238250" y="6559409"/>
            <a:ext cx="240861" cy="240861"/>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transition spd="fast">
    <p:wipe dir="u"/>
  </p:transition>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447765" y="1651635"/>
            <a:ext cx="3105150" cy="685800"/>
            <a:chOff x="0" y="0"/>
            <a:chExt cx="817817" cy="180622"/>
          </a:xfrm>
        </p:grpSpPr>
        <p:sp>
          <p:nvSpPr>
            <p:cNvPr name="Freeform 3" id="3"/>
            <p:cNvSpPr/>
            <p:nvPr/>
          </p:nvSpPr>
          <p:spPr>
            <a:xfrm flipH="false" flipV="false" rot="0">
              <a:off x="0" y="0"/>
              <a:ext cx="817817" cy="180622"/>
            </a:xfrm>
            <a:custGeom>
              <a:avLst/>
              <a:gdLst/>
              <a:ahLst/>
              <a:cxnLst/>
              <a:rect r="r" b="b" t="t" l="l"/>
              <a:pathLst>
                <a:path h="180622" w="817817">
                  <a:moveTo>
                    <a:pt x="90311" y="0"/>
                  </a:moveTo>
                  <a:lnTo>
                    <a:pt x="727506" y="0"/>
                  </a:lnTo>
                  <a:cubicBezTo>
                    <a:pt x="751458" y="0"/>
                    <a:pt x="774429" y="9515"/>
                    <a:pt x="791366" y="26452"/>
                  </a:cubicBezTo>
                  <a:cubicBezTo>
                    <a:pt x="808302" y="43388"/>
                    <a:pt x="817817" y="66359"/>
                    <a:pt x="817817" y="90311"/>
                  </a:cubicBezTo>
                  <a:lnTo>
                    <a:pt x="817817" y="90311"/>
                  </a:lnTo>
                  <a:cubicBezTo>
                    <a:pt x="817817" y="114263"/>
                    <a:pt x="808302" y="137234"/>
                    <a:pt x="791366" y="154171"/>
                  </a:cubicBezTo>
                  <a:cubicBezTo>
                    <a:pt x="774429" y="171107"/>
                    <a:pt x="751458" y="180622"/>
                    <a:pt x="727506"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4" id="4"/>
            <p:cNvSpPr txBox="true"/>
            <p:nvPr/>
          </p:nvSpPr>
          <p:spPr>
            <a:xfrm>
              <a:off x="0" y="-57150"/>
              <a:ext cx="817817"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Junior UI/UX Designer</a:t>
              </a:r>
            </a:p>
          </p:txBody>
        </p:sp>
      </p:grpSp>
      <p:grpSp>
        <p:nvGrpSpPr>
          <p:cNvPr name="Group 5" id="5"/>
          <p:cNvGrpSpPr/>
          <p:nvPr/>
        </p:nvGrpSpPr>
        <p:grpSpPr>
          <a:xfrm rot="0">
            <a:off x="9447765" y="4297680"/>
            <a:ext cx="2571750" cy="685800"/>
            <a:chOff x="0" y="0"/>
            <a:chExt cx="677333" cy="180622"/>
          </a:xfrm>
        </p:grpSpPr>
        <p:sp>
          <p:nvSpPr>
            <p:cNvPr name="Freeform 6" id="6"/>
            <p:cNvSpPr/>
            <p:nvPr/>
          </p:nvSpPr>
          <p:spPr>
            <a:xfrm flipH="false" flipV="false" rot="0">
              <a:off x="0" y="0"/>
              <a:ext cx="677333" cy="180622"/>
            </a:xfrm>
            <a:custGeom>
              <a:avLst/>
              <a:gdLst/>
              <a:ahLst/>
              <a:cxnLst/>
              <a:rect r="r" b="b" t="t" l="l"/>
              <a:pathLst>
                <a:path h="180622" w="677333">
                  <a:moveTo>
                    <a:pt x="90311" y="0"/>
                  </a:moveTo>
                  <a:lnTo>
                    <a:pt x="587022" y="0"/>
                  </a:lnTo>
                  <a:cubicBezTo>
                    <a:pt x="610974" y="0"/>
                    <a:pt x="633945" y="9515"/>
                    <a:pt x="650882" y="26452"/>
                  </a:cubicBezTo>
                  <a:cubicBezTo>
                    <a:pt x="667818" y="43388"/>
                    <a:pt x="677333" y="66359"/>
                    <a:pt x="677333" y="90311"/>
                  </a:cubicBezTo>
                  <a:lnTo>
                    <a:pt x="677333" y="90311"/>
                  </a:lnTo>
                  <a:cubicBezTo>
                    <a:pt x="677333" y="114263"/>
                    <a:pt x="667818" y="137234"/>
                    <a:pt x="650882" y="154171"/>
                  </a:cubicBezTo>
                  <a:cubicBezTo>
                    <a:pt x="633945" y="171107"/>
                    <a:pt x="610974" y="180622"/>
                    <a:pt x="587022"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7" id="7"/>
            <p:cNvSpPr txBox="true"/>
            <p:nvPr/>
          </p:nvSpPr>
          <p:spPr>
            <a:xfrm>
              <a:off x="0" y="-57150"/>
              <a:ext cx="677333"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DevOps Engineer</a:t>
              </a:r>
            </a:p>
          </p:txBody>
        </p:sp>
      </p:grpSp>
      <p:grpSp>
        <p:nvGrpSpPr>
          <p:cNvPr name="Group 8" id="8"/>
          <p:cNvGrpSpPr/>
          <p:nvPr/>
        </p:nvGrpSpPr>
        <p:grpSpPr>
          <a:xfrm rot="0">
            <a:off x="9447765" y="6880860"/>
            <a:ext cx="2571750" cy="685800"/>
            <a:chOff x="0" y="0"/>
            <a:chExt cx="677333" cy="180622"/>
          </a:xfrm>
        </p:grpSpPr>
        <p:sp>
          <p:nvSpPr>
            <p:cNvPr name="Freeform 9" id="9"/>
            <p:cNvSpPr/>
            <p:nvPr/>
          </p:nvSpPr>
          <p:spPr>
            <a:xfrm flipH="false" flipV="false" rot="0">
              <a:off x="0" y="0"/>
              <a:ext cx="677333" cy="180622"/>
            </a:xfrm>
            <a:custGeom>
              <a:avLst/>
              <a:gdLst/>
              <a:ahLst/>
              <a:cxnLst/>
              <a:rect r="r" b="b" t="t" l="l"/>
              <a:pathLst>
                <a:path h="180622" w="677333">
                  <a:moveTo>
                    <a:pt x="90311" y="0"/>
                  </a:moveTo>
                  <a:lnTo>
                    <a:pt x="587022" y="0"/>
                  </a:lnTo>
                  <a:cubicBezTo>
                    <a:pt x="610974" y="0"/>
                    <a:pt x="633945" y="9515"/>
                    <a:pt x="650882" y="26452"/>
                  </a:cubicBezTo>
                  <a:cubicBezTo>
                    <a:pt x="667818" y="43388"/>
                    <a:pt x="677333" y="66359"/>
                    <a:pt x="677333" y="90311"/>
                  </a:cubicBezTo>
                  <a:lnTo>
                    <a:pt x="677333" y="90311"/>
                  </a:lnTo>
                  <a:cubicBezTo>
                    <a:pt x="677333" y="114263"/>
                    <a:pt x="667818" y="137234"/>
                    <a:pt x="650882" y="154171"/>
                  </a:cubicBezTo>
                  <a:cubicBezTo>
                    <a:pt x="633945" y="171107"/>
                    <a:pt x="610974" y="180622"/>
                    <a:pt x="587022"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10" id="10"/>
            <p:cNvSpPr txBox="true"/>
            <p:nvPr/>
          </p:nvSpPr>
          <p:spPr>
            <a:xfrm>
              <a:off x="0" y="-57150"/>
              <a:ext cx="677333"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Software Tester</a:t>
              </a:r>
            </a:p>
          </p:txBody>
        </p:sp>
      </p:grpSp>
      <p:grpSp>
        <p:nvGrpSpPr>
          <p:cNvPr name="Group 11" id="11"/>
          <p:cNvGrpSpPr/>
          <p:nvPr/>
        </p:nvGrpSpPr>
        <p:grpSpPr>
          <a:xfrm rot="0">
            <a:off x="13410165" y="1651635"/>
            <a:ext cx="3200400" cy="685800"/>
            <a:chOff x="0" y="0"/>
            <a:chExt cx="842904" cy="180622"/>
          </a:xfrm>
        </p:grpSpPr>
        <p:sp>
          <p:nvSpPr>
            <p:cNvPr name="Freeform 12" id="12"/>
            <p:cNvSpPr/>
            <p:nvPr/>
          </p:nvSpPr>
          <p:spPr>
            <a:xfrm flipH="false" flipV="false" rot="0">
              <a:off x="0" y="0"/>
              <a:ext cx="842904" cy="180622"/>
            </a:xfrm>
            <a:custGeom>
              <a:avLst/>
              <a:gdLst/>
              <a:ahLst/>
              <a:cxnLst/>
              <a:rect r="r" b="b" t="t" l="l"/>
              <a:pathLst>
                <a:path h="180622" w="842904">
                  <a:moveTo>
                    <a:pt x="90311" y="0"/>
                  </a:moveTo>
                  <a:lnTo>
                    <a:pt x="752593" y="0"/>
                  </a:lnTo>
                  <a:cubicBezTo>
                    <a:pt x="776545" y="0"/>
                    <a:pt x="799516" y="9515"/>
                    <a:pt x="816452" y="26452"/>
                  </a:cubicBezTo>
                  <a:cubicBezTo>
                    <a:pt x="833389" y="43388"/>
                    <a:pt x="842904" y="66359"/>
                    <a:pt x="842904" y="90311"/>
                  </a:cubicBezTo>
                  <a:lnTo>
                    <a:pt x="842904" y="90311"/>
                  </a:lnTo>
                  <a:cubicBezTo>
                    <a:pt x="842904" y="114263"/>
                    <a:pt x="833389" y="137234"/>
                    <a:pt x="816452" y="154171"/>
                  </a:cubicBezTo>
                  <a:cubicBezTo>
                    <a:pt x="799516" y="171107"/>
                    <a:pt x="776545" y="180622"/>
                    <a:pt x="752593"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13" id="13"/>
            <p:cNvSpPr txBox="true"/>
            <p:nvPr/>
          </p:nvSpPr>
          <p:spPr>
            <a:xfrm>
              <a:off x="0" y="-57150"/>
              <a:ext cx="842904"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Senior DevOps Engineer</a:t>
              </a:r>
            </a:p>
          </p:txBody>
        </p:sp>
      </p:grpSp>
      <p:grpSp>
        <p:nvGrpSpPr>
          <p:cNvPr name="Group 14" id="14"/>
          <p:cNvGrpSpPr/>
          <p:nvPr/>
        </p:nvGrpSpPr>
        <p:grpSpPr>
          <a:xfrm rot="0">
            <a:off x="13410165" y="4297680"/>
            <a:ext cx="1943100" cy="685800"/>
            <a:chOff x="0" y="0"/>
            <a:chExt cx="511763" cy="180622"/>
          </a:xfrm>
        </p:grpSpPr>
        <p:sp>
          <p:nvSpPr>
            <p:cNvPr name="Freeform 15" id="15"/>
            <p:cNvSpPr/>
            <p:nvPr/>
          </p:nvSpPr>
          <p:spPr>
            <a:xfrm flipH="false" flipV="false" rot="0">
              <a:off x="0" y="0"/>
              <a:ext cx="511763" cy="180622"/>
            </a:xfrm>
            <a:custGeom>
              <a:avLst/>
              <a:gdLst/>
              <a:ahLst/>
              <a:cxnLst/>
              <a:rect r="r" b="b" t="t" l="l"/>
              <a:pathLst>
                <a:path h="180622" w="511763">
                  <a:moveTo>
                    <a:pt x="90311" y="0"/>
                  </a:moveTo>
                  <a:lnTo>
                    <a:pt x="421452" y="0"/>
                  </a:lnTo>
                  <a:cubicBezTo>
                    <a:pt x="445404" y="0"/>
                    <a:pt x="468375" y="9515"/>
                    <a:pt x="485311" y="26452"/>
                  </a:cubicBezTo>
                  <a:cubicBezTo>
                    <a:pt x="502248" y="43388"/>
                    <a:pt x="511763" y="66359"/>
                    <a:pt x="511763" y="90311"/>
                  </a:cubicBezTo>
                  <a:lnTo>
                    <a:pt x="511763" y="90311"/>
                  </a:lnTo>
                  <a:cubicBezTo>
                    <a:pt x="511763" y="114263"/>
                    <a:pt x="502248" y="137234"/>
                    <a:pt x="485311" y="154171"/>
                  </a:cubicBezTo>
                  <a:cubicBezTo>
                    <a:pt x="468375" y="171107"/>
                    <a:pt x="445404" y="180622"/>
                    <a:pt x="421452"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16" id="16"/>
            <p:cNvSpPr txBox="true"/>
            <p:nvPr/>
          </p:nvSpPr>
          <p:spPr>
            <a:xfrm>
              <a:off x="0" y="-57150"/>
              <a:ext cx="511763"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Senior DBA</a:t>
              </a:r>
            </a:p>
          </p:txBody>
        </p:sp>
      </p:grpSp>
      <p:grpSp>
        <p:nvGrpSpPr>
          <p:cNvPr name="Group 17" id="17"/>
          <p:cNvGrpSpPr/>
          <p:nvPr/>
        </p:nvGrpSpPr>
        <p:grpSpPr>
          <a:xfrm rot="0">
            <a:off x="13410165" y="6954622"/>
            <a:ext cx="3314700" cy="685800"/>
            <a:chOff x="0" y="0"/>
            <a:chExt cx="873007" cy="180622"/>
          </a:xfrm>
        </p:grpSpPr>
        <p:sp>
          <p:nvSpPr>
            <p:cNvPr name="Freeform 18" id="18"/>
            <p:cNvSpPr/>
            <p:nvPr/>
          </p:nvSpPr>
          <p:spPr>
            <a:xfrm flipH="false" flipV="false" rot="0">
              <a:off x="0" y="0"/>
              <a:ext cx="873007" cy="180622"/>
            </a:xfrm>
            <a:custGeom>
              <a:avLst/>
              <a:gdLst/>
              <a:ahLst/>
              <a:cxnLst/>
              <a:rect r="r" b="b" t="t" l="l"/>
              <a:pathLst>
                <a:path h="180622" w="873007">
                  <a:moveTo>
                    <a:pt x="90311" y="0"/>
                  </a:moveTo>
                  <a:lnTo>
                    <a:pt x="782696" y="0"/>
                  </a:lnTo>
                  <a:cubicBezTo>
                    <a:pt x="806648" y="0"/>
                    <a:pt x="829619" y="9515"/>
                    <a:pt x="846556" y="26452"/>
                  </a:cubicBezTo>
                  <a:cubicBezTo>
                    <a:pt x="863492" y="43388"/>
                    <a:pt x="873007" y="66359"/>
                    <a:pt x="873007" y="90311"/>
                  </a:cubicBezTo>
                  <a:lnTo>
                    <a:pt x="873007" y="90311"/>
                  </a:lnTo>
                  <a:cubicBezTo>
                    <a:pt x="873007" y="114263"/>
                    <a:pt x="863492" y="137234"/>
                    <a:pt x="846556" y="154171"/>
                  </a:cubicBezTo>
                  <a:cubicBezTo>
                    <a:pt x="829619" y="171107"/>
                    <a:pt x="806648" y="180622"/>
                    <a:pt x="782696"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19" id="19"/>
            <p:cNvSpPr txBox="true"/>
            <p:nvPr/>
          </p:nvSpPr>
          <p:spPr>
            <a:xfrm>
              <a:off x="0" y="-57150"/>
              <a:ext cx="873007"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Senior Project Manager</a:t>
              </a:r>
            </a:p>
          </p:txBody>
        </p:sp>
      </p:grpSp>
      <p:sp>
        <p:nvSpPr>
          <p:cNvPr name="TextBox 20" id="20"/>
          <p:cNvSpPr txBox="true"/>
          <p:nvPr/>
        </p:nvSpPr>
        <p:spPr>
          <a:xfrm rot="0">
            <a:off x="971550" y="2474955"/>
            <a:ext cx="7677150"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Labor Categories</a:t>
            </a:r>
          </a:p>
        </p:txBody>
      </p:sp>
      <p:sp>
        <p:nvSpPr>
          <p:cNvPr name="TextBox 21" id="21"/>
          <p:cNvSpPr txBox="true"/>
          <p:nvPr/>
        </p:nvSpPr>
        <p:spPr>
          <a:xfrm rot="0">
            <a:off x="971550" y="5380991"/>
            <a:ext cx="7034212" cy="580391"/>
          </a:xfrm>
          <a:prstGeom prst="rect">
            <a:avLst/>
          </a:prstGeom>
        </p:spPr>
        <p:txBody>
          <a:bodyPr anchor="t" rtlCol="false" tIns="0" lIns="0" bIns="0" rIns="0">
            <a:spAutoFit/>
          </a:bodyPr>
          <a:lstStyle/>
          <a:p>
            <a:pPr algn="l">
              <a:lnSpc>
                <a:spcPts val="4100"/>
              </a:lnSpc>
            </a:pPr>
            <a:r>
              <a:rPr lang="en-US" sz="4100">
                <a:solidFill>
                  <a:srgbClr val="0D0D0D"/>
                </a:solidFill>
                <a:latin typeface="Poppins Light"/>
                <a:ea typeface="Poppins Light"/>
                <a:cs typeface="Poppins Light"/>
                <a:sym typeface="Poppins Light"/>
              </a:rPr>
              <a:t>Available through the GSA.</a:t>
            </a:r>
          </a:p>
        </p:txBody>
      </p:sp>
      <p:sp>
        <p:nvSpPr>
          <p:cNvPr name="TextBox 22" id="22"/>
          <p:cNvSpPr txBox="true"/>
          <p:nvPr/>
        </p:nvSpPr>
        <p:spPr>
          <a:xfrm rot="0">
            <a:off x="9447765" y="2451735"/>
            <a:ext cx="3625298" cy="95440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Designs web UX/UI elements for intuitive navigation under senior guidance.</a:t>
            </a:r>
          </a:p>
        </p:txBody>
      </p:sp>
      <p:sp>
        <p:nvSpPr>
          <p:cNvPr name="TextBox 23" id="23"/>
          <p:cNvSpPr txBox="true"/>
          <p:nvPr/>
        </p:nvSpPr>
        <p:spPr>
          <a:xfrm rot="0">
            <a:off x="9447765" y="5097780"/>
            <a:ext cx="3625298" cy="95440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Automates testing, release, deployment of web apps under DevOps supervision.</a:t>
            </a:r>
          </a:p>
        </p:txBody>
      </p:sp>
      <p:sp>
        <p:nvSpPr>
          <p:cNvPr name="TextBox 24" id="24"/>
          <p:cNvSpPr txBox="true"/>
          <p:nvPr/>
        </p:nvSpPr>
        <p:spPr>
          <a:xfrm rot="0">
            <a:off x="9447765" y="7680960"/>
            <a:ext cx="3625298" cy="95440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Tests software to detect defects and ensure high quality before release.</a:t>
            </a:r>
          </a:p>
        </p:txBody>
      </p:sp>
      <p:sp>
        <p:nvSpPr>
          <p:cNvPr name="TextBox 25" id="25"/>
          <p:cNvSpPr txBox="true"/>
          <p:nvPr/>
        </p:nvSpPr>
        <p:spPr>
          <a:xfrm rot="0">
            <a:off x="13410165" y="2451735"/>
            <a:ext cx="3625298" cy="1268730"/>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Leads DevOps, automates deployments, ensures reliability, supervises, and mentors engineers.</a:t>
            </a:r>
          </a:p>
        </p:txBody>
      </p:sp>
      <p:sp>
        <p:nvSpPr>
          <p:cNvPr name="TextBox 26" id="26"/>
          <p:cNvSpPr txBox="true"/>
          <p:nvPr/>
        </p:nvSpPr>
        <p:spPr>
          <a:xfrm rot="0">
            <a:off x="13410165" y="5097780"/>
            <a:ext cx="3625298" cy="95440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Manages, implements, and maintains databases, ensuring efficiency and security.</a:t>
            </a:r>
          </a:p>
        </p:txBody>
      </p:sp>
      <p:sp>
        <p:nvSpPr>
          <p:cNvPr name="TextBox 27" id="27"/>
          <p:cNvSpPr txBox="true"/>
          <p:nvPr/>
        </p:nvSpPr>
        <p:spPr>
          <a:xfrm rot="0">
            <a:off x="13410165" y="7680960"/>
            <a:ext cx="3625298" cy="95440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Leads, plans, executes software projects, oversees and supervises managers.</a:t>
            </a:r>
          </a:p>
        </p:txBody>
      </p:sp>
      <p:sp>
        <p:nvSpPr>
          <p:cNvPr name="Freeform 28" id="28"/>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9" id="29"/>
          <p:cNvGrpSpPr/>
          <p:nvPr/>
        </p:nvGrpSpPr>
        <p:grpSpPr>
          <a:xfrm rot="0">
            <a:off x="971550" y="6287367"/>
            <a:ext cx="2524125" cy="784945"/>
            <a:chOff x="0" y="0"/>
            <a:chExt cx="664790" cy="206735"/>
          </a:xfrm>
        </p:grpSpPr>
        <p:sp>
          <p:nvSpPr>
            <p:cNvPr name="Freeform 30" id="30"/>
            <p:cNvSpPr/>
            <p:nvPr/>
          </p:nvSpPr>
          <p:spPr>
            <a:xfrm flipH="false" flipV="false" rot="0">
              <a:off x="0" y="0"/>
              <a:ext cx="664790" cy="206735"/>
            </a:xfrm>
            <a:custGeom>
              <a:avLst/>
              <a:gdLst/>
              <a:ahLst/>
              <a:cxnLst/>
              <a:rect r="r" b="b" t="t" l="l"/>
              <a:pathLst>
                <a:path h="206735" w="664790">
                  <a:moveTo>
                    <a:pt x="103367" y="0"/>
                  </a:moveTo>
                  <a:lnTo>
                    <a:pt x="561423" y="0"/>
                  </a:lnTo>
                  <a:cubicBezTo>
                    <a:pt x="588838" y="0"/>
                    <a:pt x="615129" y="10890"/>
                    <a:pt x="634515" y="30276"/>
                  </a:cubicBezTo>
                  <a:cubicBezTo>
                    <a:pt x="653900" y="49661"/>
                    <a:pt x="664790" y="75953"/>
                    <a:pt x="664790" y="103367"/>
                  </a:cubicBezTo>
                  <a:lnTo>
                    <a:pt x="664790" y="103367"/>
                  </a:lnTo>
                  <a:cubicBezTo>
                    <a:pt x="664790" y="130782"/>
                    <a:pt x="653900" y="157074"/>
                    <a:pt x="634515" y="176459"/>
                  </a:cubicBezTo>
                  <a:cubicBezTo>
                    <a:pt x="615129" y="195844"/>
                    <a:pt x="588838" y="206735"/>
                    <a:pt x="56142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31" id="31"/>
            <p:cNvSpPr txBox="true"/>
            <p:nvPr/>
          </p:nvSpPr>
          <p:spPr>
            <a:xfrm>
              <a:off x="0" y="-38100"/>
              <a:ext cx="664790" cy="244835"/>
            </a:xfrm>
            <a:prstGeom prst="rect">
              <a:avLst/>
            </a:prstGeom>
          </p:spPr>
          <p:txBody>
            <a:bodyPr anchor="ctr" rtlCol="false" tIns="50800" lIns="50800" bIns="50800" rIns="50800"/>
            <a:lstStyle/>
            <a:p>
              <a:pPr algn="ctr">
                <a:lnSpc>
                  <a:spcPts val="2520"/>
                </a:lnSpc>
              </a:pPr>
            </a:p>
          </p:txBody>
        </p:sp>
      </p:grpSp>
      <p:sp>
        <p:nvSpPr>
          <p:cNvPr name="TextBox 32" id="32"/>
          <p:cNvSpPr txBox="true"/>
          <p:nvPr/>
        </p:nvSpPr>
        <p:spPr>
          <a:xfrm rot="0">
            <a:off x="1638523" y="6416315"/>
            <a:ext cx="1571179"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SIN: 54151S</a:t>
            </a:r>
          </a:p>
        </p:txBody>
      </p:sp>
      <p:grpSp>
        <p:nvGrpSpPr>
          <p:cNvPr name="Group 33" id="33"/>
          <p:cNvGrpSpPr/>
          <p:nvPr/>
        </p:nvGrpSpPr>
        <p:grpSpPr>
          <a:xfrm rot="0">
            <a:off x="1238250" y="6559409"/>
            <a:ext cx="240861" cy="240861"/>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transition spd="fast">
    <p:fade/>
  </p:transition>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71550" y="2423686"/>
            <a:ext cx="9486900"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GSA Schedule Offering </a:t>
            </a:r>
          </a:p>
        </p:txBody>
      </p:sp>
      <p:grpSp>
        <p:nvGrpSpPr>
          <p:cNvPr name="Group 3" id="3"/>
          <p:cNvGrpSpPr/>
          <p:nvPr/>
        </p:nvGrpSpPr>
        <p:grpSpPr>
          <a:xfrm rot="0">
            <a:off x="15623026" y="1344472"/>
            <a:ext cx="240861" cy="2408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false" flipV="false" rot="0">
            <a:off x="1028700" y="5764422"/>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3243160" y="8106314"/>
            <a:ext cx="4016140" cy="1151986"/>
            <a:chOff x="0" y="0"/>
            <a:chExt cx="5354853" cy="1535981"/>
          </a:xfrm>
        </p:grpSpPr>
        <p:sp>
          <p:nvSpPr>
            <p:cNvPr name="TextBox 8" id="8"/>
            <p:cNvSpPr txBox="true"/>
            <p:nvPr/>
          </p:nvSpPr>
          <p:spPr>
            <a:xfrm rot="0">
              <a:off x="1860498" y="352701"/>
              <a:ext cx="3494356" cy="415290"/>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Bold"/>
                  <a:ea typeface="Poppins Bold"/>
                  <a:cs typeface="Poppins Bold"/>
                  <a:sym typeface="Poppins Bold"/>
                </a:rPr>
                <a:t>GSA Contract Number</a:t>
              </a:r>
            </a:p>
          </p:txBody>
        </p:sp>
        <p:sp>
          <p:nvSpPr>
            <p:cNvPr name="TextBox 9" id="9"/>
            <p:cNvSpPr txBox="true"/>
            <p:nvPr/>
          </p:nvSpPr>
          <p:spPr>
            <a:xfrm rot="0">
              <a:off x="1860498" y="802394"/>
              <a:ext cx="3035352" cy="415290"/>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47QTCA23D00DH</a:t>
              </a:r>
            </a:p>
          </p:txBody>
        </p:sp>
        <p:sp>
          <p:nvSpPr>
            <p:cNvPr name="Freeform 10" id="10"/>
            <p:cNvSpPr/>
            <p:nvPr/>
          </p:nvSpPr>
          <p:spPr>
            <a:xfrm flipH="false" flipV="false" rot="0">
              <a:off x="0" y="0"/>
              <a:ext cx="1533421" cy="1535981"/>
            </a:xfrm>
            <a:custGeom>
              <a:avLst/>
              <a:gdLst/>
              <a:ahLst/>
              <a:cxnLst/>
              <a:rect r="r" b="b" t="t" l="l"/>
              <a:pathLst>
                <a:path h="1535981" w="1533421">
                  <a:moveTo>
                    <a:pt x="0" y="0"/>
                  </a:moveTo>
                  <a:lnTo>
                    <a:pt x="1533421" y="0"/>
                  </a:lnTo>
                  <a:lnTo>
                    <a:pt x="1533421" y="1535981"/>
                  </a:lnTo>
                  <a:lnTo>
                    <a:pt x="0" y="1535981"/>
                  </a:lnTo>
                  <a:lnTo>
                    <a:pt x="0" y="0"/>
                  </a:lnTo>
                  <a:close/>
                </a:path>
              </a:pathLst>
            </a:custGeom>
            <a:blipFill>
              <a:blip r:embed="rId4"/>
              <a:stretch>
                <a:fillRect l="0" t="0" r="0" b="0"/>
              </a:stretch>
            </a:blipFill>
          </p:spPr>
        </p:sp>
      </p:grpSp>
      <p:sp>
        <p:nvSpPr>
          <p:cNvPr name="Freeform 11" id="11"/>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028700" y="7100887"/>
            <a:ext cx="1086445" cy="428625"/>
          </a:xfrm>
          <a:prstGeom prst="rect">
            <a:avLst/>
          </a:prstGeom>
        </p:spPr>
        <p:txBody>
          <a:bodyPr anchor="t" rtlCol="false" tIns="0" lIns="0" bIns="0" rIns="0">
            <a:spAutoFit/>
          </a:bodyPr>
          <a:lstStyle/>
          <a:p>
            <a:pPr algn="l">
              <a:lnSpc>
                <a:spcPts val="3000"/>
              </a:lnSpc>
            </a:pPr>
            <a:r>
              <a:rPr lang="en-US" sz="3000" b="true">
                <a:solidFill>
                  <a:srgbClr val="0D0D0D"/>
                </a:solidFill>
                <a:latin typeface="Poppins Semi-Bold"/>
                <a:ea typeface="Poppins Semi-Bold"/>
                <a:cs typeface="Poppins Semi-Bold"/>
                <a:sym typeface="Poppins Semi-Bold"/>
              </a:rPr>
              <a:t>SINs</a:t>
            </a:r>
          </a:p>
        </p:txBody>
      </p:sp>
      <p:sp>
        <p:nvSpPr>
          <p:cNvPr name="TextBox 13" id="13"/>
          <p:cNvSpPr txBox="true"/>
          <p:nvPr/>
        </p:nvSpPr>
        <p:spPr>
          <a:xfrm rot="0">
            <a:off x="1085850" y="7785101"/>
            <a:ext cx="711547" cy="325755"/>
          </a:xfrm>
          <a:prstGeom prst="rect">
            <a:avLst/>
          </a:prstGeom>
        </p:spPr>
        <p:txBody>
          <a:bodyPr anchor="t" rtlCol="false" tIns="0" lIns="0" bIns="0" rIns="0">
            <a:spAutoFit/>
          </a:bodyPr>
          <a:lstStyle/>
          <a:p>
            <a:pPr algn="l">
              <a:lnSpc>
                <a:spcPts val="2520"/>
              </a:lnSpc>
              <a:spcBef>
                <a:spcPct val="0"/>
              </a:spcBef>
            </a:pPr>
            <a:r>
              <a:rPr lang="en-US" sz="1800">
                <a:solidFill>
                  <a:srgbClr val="0D0D0D"/>
                </a:solidFill>
                <a:latin typeface="Poppins"/>
                <a:ea typeface="Poppins"/>
                <a:cs typeface="Poppins"/>
                <a:sym typeface="Poppins"/>
              </a:rPr>
              <a:t>54151S</a:t>
            </a:r>
          </a:p>
        </p:txBody>
      </p:sp>
      <p:sp>
        <p:nvSpPr>
          <p:cNvPr name="TextBox 14" id="14"/>
          <p:cNvSpPr txBox="true"/>
          <p:nvPr/>
        </p:nvSpPr>
        <p:spPr>
          <a:xfrm rot="0">
            <a:off x="1085850" y="8279448"/>
            <a:ext cx="710357" cy="325755"/>
          </a:xfrm>
          <a:prstGeom prst="rect">
            <a:avLst/>
          </a:prstGeom>
        </p:spPr>
        <p:txBody>
          <a:bodyPr anchor="t" rtlCol="false" tIns="0" lIns="0" bIns="0" rIns="0">
            <a:spAutoFit/>
          </a:bodyPr>
          <a:lstStyle/>
          <a:p>
            <a:pPr algn="l">
              <a:lnSpc>
                <a:spcPts val="2520"/>
              </a:lnSpc>
              <a:spcBef>
                <a:spcPct val="0"/>
              </a:spcBef>
            </a:pPr>
            <a:r>
              <a:rPr lang="en-US" sz="1800">
                <a:solidFill>
                  <a:srgbClr val="0D0D0D"/>
                </a:solidFill>
                <a:latin typeface="Poppins"/>
                <a:ea typeface="Poppins"/>
                <a:cs typeface="Poppins"/>
                <a:sym typeface="Poppins"/>
              </a:rPr>
              <a:t>611420</a:t>
            </a:r>
          </a:p>
        </p:txBody>
      </p:sp>
      <p:sp>
        <p:nvSpPr>
          <p:cNvPr name="TextBox 15" id="15"/>
          <p:cNvSpPr txBox="true"/>
          <p:nvPr/>
        </p:nvSpPr>
        <p:spPr>
          <a:xfrm rot="0">
            <a:off x="1085850" y="8776653"/>
            <a:ext cx="638026" cy="325755"/>
          </a:xfrm>
          <a:prstGeom prst="rect">
            <a:avLst/>
          </a:prstGeom>
        </p:spPr>
        <p:txBody>
          <a:bodyPr anchor="t" rtlCol="false" tIns="0" lIns="0" bIns="0" rIns="0">
            <a:spAutoFit/>
          </a:bodyPr>
          <a:lstStyle/>
          <a:p>
            <a:pPr algn="l">
              <a:lnSpc>
                <a:spcPts val="2520"/>
              </a:lnSpc>
              <a:spcBef>
                <a:spcPct val="0"/>
              </a:spcBef>
            </a:pPr>
            <a:r>
              <a:rPr lang="en-US" sz="1800">
                <a:solidFill>
                  <a:srgbClr val="0D0D0D"/>
                </a:solidFill>
                <a:latin typeface="Poppins"/>
                <a:ea typeface="Poppins"/>
                <a:cs typeface="Poppins"/>
                <a:sym typeface="Poppins"/>
              </a:rPr>
              <a:t>511210</a:t>
            </a:r>
          </a:p>
        </p:txBody>
      </p:sp>
      <p:sp>
        <p:nvSpPr>
          <p:cNvPr name="TextBox 16" id="16"/>
          <p:cNvSpPr txBox="true"/>
          <p:nvPr/>
        </p:nvSpPr>
        <p:spPr>
          <a:xfrm rot="0">
            <a:off x="2115145" y="7785101"/>
            <a:ext cx="5168057" cy="325755"/>
          </a:xfrm>
          <a:prstGeom prst="rect">
            <a:avLst/>
          </a:prstGeom>
        </p:spPr>
        <p:txBody>
          <a:bodyPr anchor="t" rtlCol="false" tIns="0" lIns="0" bIns="0" rIns="0">
            <a:spAutoFit/>
          </a:bodyPr>
          <a:lstStyle/>
          <a:p>
            <a:pPr algn="l">
              <a:lnSpc>
                <a:spcPts val="2520"/>
              </a:lnSpc>
              <a:spcBef>
                <a:spcPct val="0"/>
              </a:spcBef>
            </a:pPr>
            <a:r>
              <a:rPr lang="en-US" sz="1800">
                <a:solidFill>
                  <a:srgbClr val="0D0D0D"/>
                </a:solidFill>
                <a:latin typeface="Poppins"/>
                <a:ea typeface="Poppins"/>
                <a:cs typeface="Poppins"/>
                <a:sym typeface="Poppins"/>
              </a:rPr>
              <a:t>Information Technology Professional Services</a:t>
            </a:r>
          </a:p>
        </p:txBody>
      </p:sp>
      <p:sp>
        <p:nvSpPr>
          <p:cNvPr name="TextBox 17" id="17"/>
          <p:cNvSpPr txBox="true"/>
          <p:nvPr/>
        </p:nvSpPr>
        <p:spPr>
          <a:xfrm rot="0">
            <a:off x="2115145" y="8279448"/>
            <a:ext cx="3705523" cy="325755"/>
          </a:xfrm>
          <a:prstGeom prst="rect">
            <a:avLst/>
          </a:prstGeom>
        </p:spPr>
        <p:txBody>
          <a:bodyPr anchor="t" rtlCol="false" tIns="0" lIns="0" bIns="0" rIns="0">
            <a:spAutoFit/>
          </a:bodyPr>
          <a:lstStyle/>
          <a:p>
            <a:pPr algn="l">
              <a:lnSpc>
                <a:spcPts val="2520"/>
              </a:lnSpc>
              <a:spcBef>
                <a:spcPct val="0"/>
              </a:spcBef>
            </a:pPr>
            <a:r>
              <a:rPr lang="en-US" sz="1800">
                <a:solidFill>
                  <a:srgbClr val="0D0D0D"/>
                </a:solidFill>
                <a:latin typeface="Poppins"/>
                <a:ea typeface="Poppins"/>
                <a:cs typeface="Poppins"/>
                <a:sym typeface="Poppins"/>
              </a:rPr>
              <a:t>Information Technology Training</a:t>
            </a:r>
          </a:p>
        </p:txBody>
      </p:sp>
      <p:sp>
        <p:nvSpPr>
          <p:cNvPr name="TextBox 18" id="18"/>
          <p:cNvSpPr txBox="true"/>
          <p:nvPr/>
        </p:nvSpPr>
        <p:spPr>
          <a:xfrm rot="0">
            <a:off x="2115145" y="8776653"/>
            <a:ext cx="2031206" cy="325755"/>
          </a:xfrm>
          <a:prstGeom prst="rect">
            <a:avLst/>
          </a:prstGeom>
        </p:spPr>
        <p:txBody>
          <a:bodyPr anchor="t" rtlCol="false" tIns="0" lIns="0" bIns="0" rIns="0">
            <a:spAutoFit/>
          </a:bodyPr>
          <a:lstStyle/>
          <a:p>
            <a:pPr algn="l">
              <a:lnSpc>
                <a:spcPts val="2520"/>
              </a:lnSpc>
              <a:spcBef>
                <a:spcPct val="0"/>
              </a:spcBef>
            </a:pPr>
            <a:r>
              <a:rPr lang="en-US" sz="1800">
                <a:solidFill>
                  <a:srgbClr val="0D0D0D"/>
                </a:solidFill>
                <a:latin typeface="Poppins"/>
                <a:ea typeface="Poppins"/>
                <a:cs typeface="Poppins"/>
                <a:sym typeface="Poppins"/>
              </a:rPr>
              <a:t>Software Licenses</a:t>
            </a:r>
          </a:p>
        </p:txBody>
      </p:sp>
    </p:spTree>
  </p:cSld>
  <p:clrMapOvr>
    <a:masterClrMapping/>
  </p:clrMapOvr>
  <p:transition spd="fast">
    <p:wipe dir="d"/>
  </p:transition>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912052"/>
            <a:ext cx="10480051" cy="1878964"/>
          </a:xfrm>
          <a:prstGeom prst="rect">
            <a:avLst/>
          </a:prstGeom>
        </p:spPr>
        <p:txBody>
          <a:bodyPr anchor="t" rtlCol="false" tIns="0" lIns="0" bIns="0" rIns="0">
            <a:spAutoFit/>
          </a:bodyPr>
          <a:lstStyle/>
          <a:p>
            <a:pPr algn="l">
              <a:lnSpc>
                <a:spcPts val="14560"/>
              </a:lnSpc>
            </a:pPr>
            <a:r>
              <a:rPr lang="en-US" sz="10400">
                <a:solidFill>
                  <a:srgbClr val="0D0D0D"/>
                </a:solidFill>
                <a:latin typeface="Poppins Light"/>
                <a:ea typeface="Poppins Light"/>
                <a:cs typeface="Poppins Light"/>
                <a:sym typeface="Poppins Light"/>
              </a:rPr>
              <a:t>Training</a:t>
            </a:r>
          </a:p>
        </p:txBody>
      </p:sp>
      <p:grpSp>
        <p:nvGrpSpPr>
          <p:cNvPr name="Group 4" id="4"/>
          <p:cNvGrpSpPr/>
          <p:nvPr/>
        </p:nvGrpSpPr>
        <p:grpSpPr>
          <a:xfrm rot="0">
            <a:off x="9144000" y="4886325"/>
            <a:ext cx="7649972" cy="318135"/>
            <a:chOff x="0" y="0"/>
            <a:chExt cx="10199963" cy="424179"/>
          </a:xfrm>
        </p:grpSpPr>
        <p:sp>
          <p:nvSpPr>
            <p:cNvPr name="TextBox 5" id="5"/>
            <p:cNvSpPr txBox="true"/>
            <p:nvPr/>
          </p:nvSpPr>
          <p:spPr>
            <a:xfrm rot="0">
              <a:off x="717772" y="-57150"/>
              <a:ext cx="9482191"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CBElsatic Search</a:t>
              </a:r>
              <a:r>
                <a:rPr lang="en-US" b="true" sz="2100" spc="-63">
                  <a:solidFill>
                    <a:srgbClr val="0D0D0D"/>
                  </a:solidFill>
                  <a:latin typeface="Poppins Semi-Bold"/>
                  <a:ea typeface="Poppins Semi-Bold"/>
                  <a:cs typeface="Poppins Semi-Bold"/>
                  <a:sym typeface="Poppins Semi-Bold"/>
                </a:rPr>
                <a:t> On -site</a:t>
              </a:r>
            </a:p>
          </p:txBody>
        </p:sp>
        <p:grpSp>
          <p:nvGrpSpPr>
            <p:cNvPr name="Group 6" id="6"/>
            <p:cNvGrpSpPr/>
            <p:nvPr/>
          </p:nvGrpSpPr>
          <p:grpSpPr>
            <a:xfrm rot="0">
              <a:off x="0" y="51516"/>
              <a:ext cx="341562" cy="321148"/>
              <a:chOff x="0" y="0"/>
              <a:chExt cx="864465" cy="812800"/>
            </a:xfrm>
          </p:grpSpPr>
          <p:sp>
            <p:nvSpPr>
              <p:cNvPr name="Freeform 7" id="7"/>
              <p:cNvSpPr/>
              <p:nvPr/>
            </p:nvSpPr>
            <p:spPr>
              <a:xfrm flipH="false" flipV="false" rot="0">
                <a:off x="0" y="0"/>
                <a:ext cx="864465" cy="812800"/>
              </a:xfrm>
              <a:custGeom>
                <a:avLst/>
                <a:gdLst/>
                <a:ahLst/>
                <a:cxnLst/>
                <a:rect r="r" b="b" t="t" l="l"/>
                <a:pathLst>
                  <a:path h="812800" w="864465">
                    <a:moveTo>
                      <a:pt x="432232" y="0"/>
                    </a:moveTo>
                    <a:cubicBezTo>
                      <a:pt x="193517" y="0"/>
                      <a:pt x="0" y="181951"/>
                      <a:pt x="0" y="406400"/>
                    </a:cubicBezTo>
                    <a:cubicBezTo>
                      <a:pt x="0" y="630849"/>
                      <a:pt x="193517" y="812800"/>
                      <a:pt x="432232" y="812800"/>
                    </a:cubicBezTo>
                    <a:cubicBezTo>
                      <a:pt x="670948" y="812800"/>
                      <a:pt x="864465" y="630849"/>
                      <a:pt x="864465" y="406400"/>
                    </a:cubicBezTo>
                    <a:cubicBezTo>
                      <a:pt x="864465" y="181951"/>
                      <a:pt x="670948" y="0"/>
                      <a:pt x="432232" y="0"/>
                    </a:cubicBezTo>
                    <a:close/>
                  </a:path>
                </a:pathLst>
              </a:custGeom>
              <a:solidFill>
                <a:srgbClr val="0D0D0D"/>
              </a:solidFill>
            </p:spPr>
          </p:sp>
          <p:sp>
            <p:nvSpPr>
              <p:cNvPr name="TextBox 8" id="8"/>
              <p:cNvSpPr txBox="true"/>
              <p:nvPr/>
            </p:nvSpPr>
            <p:spPr>
              <a:xfrm>
                <a:off x="81044" y="38100"/>
                <a:ext cx="702378" cy="698500"/>
              </a:xfrm>
              <a:prstGeom prst="rect">
                <a:avLst/>
              </a:prstGeom>
            </p:spPr>
            <p:txBody>
              <a:bodyPr anchor="ctr" rtlCol="false" tIns="50800" lIns="50800" bIns="50800" rIns="50800"/>
              <a:lstStyle/>
              <a:p>
                <a:pPr algn="ctr">
                  <a:lnSpc>
                    <a:spcPts val="2520"/>
                  </a:lnSpc>
                </a:pPr>
              </a:p>
            </p:txBody>
          </p:sp>
        </p:grpSp>
      </p:grpSp>
      <p:grpSp>
        <p:nvGrpSpPr>
          <p:cNvPr name="Group 9" id="9"/>
          <p:cNvGrpSpPr/>
          <p:nvPr/>
        </p:nvGrpSpPr>
        <p:grpSpPr>
          <a:xfrm rot="0">
            <a:off x="9144000" y="5501251"/>
            <a:ext cx="7916672" cy="318135"/>
            <a:chOff x="0" y="0"/>
            <a:chExt cx="10555563" cy="424179"/>
          </a:xfrm>
        </p:grpSpPr>
        <p:sp>
          <p:nvSpPr>
            <p:cNvPr name="TextBox 10" id="10"/>
            <p:cNvSpPr txBox="true"/>
            <p:nvPr/>
          </p:nvSpPr>
          <p:spPr>
            <a:xfrm rot="0">
              <a:off x="767178" y="-57150"/>
              <a:ext cx="9788385"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CBElsatic Search</a:t>
              </a:r>
              <a:r>
                <a:rPr lang="en-US" b="true" sz="2100" spc="-63">
                  <a:solidFill>
                    <a:srgbClr val="0D0D0D"/>
                  </a:solidFill>
                  <a:latin typeface="Poppins Semi-Bold"/>
                  <a:ea typeface="Poppins Semi-Bold"/>
                  <a:cs typeface="Poppins Semi-Bold"/>
                  <a:sym typeface="Poppins Semi-Bold"/>
                </a:rPr>
                <a:t> Virtual</a:t>
              </a:r>
            </a:p>
          </p:txBody>
        </p:sp>
        <p:grpSp>
          <p:nvGrpSpPr>
            <p:cNvPr name="Group 11" id="11"/>
            <p:cNvGrpSpPr/>
            <p:nvPr/>
          </p:nvGrpSpPr>
          <p:grpSpPr>
            <a:xfrm rot="0">
              <a:off x="0" y="51516"/>
              <a:ext cx="365072" cy="321148"/>
              <a:chOff x="0" y="0"/>
              <a:chExt cx="923968" cy="812800"/>
            </a:xfrm>
          </p:grpSpPr>
          <p:sp>
            <p:nvSpPr>
              <p:cNvPr name="Freeform 12" id="12"/>
              <p:cNvSpPr/>
              <p:nvPr/>
            </p:nvSpPr>
            <p:spPr>
              <a:xfrm flipH="false" flipV="false" rot="0">
                <a:off x="0" y="0"/>
                <a:ext cx="923968" cy="812800"/>
              </a:xfrm>
              <a:custGeom>
                <a:avLst/>
                <a:gdLst/>
                <a:ahLst/>
                <a:cxnLst/>
                <a:rect r="r" b="b" t="t" l="l"/>
                <a:pathLst>
                  <a:path h="812800" w="923968">
                    <a:moveTo>
                      <a:pt x="461984" y="0"/>
                    </a:moveTo>
                    <a:cubicBezTo>
                      <a:pt x="206837" y="0"/>
                      <a:pt x="0" y="181951"/>
                      <a:pt x="0" y="406400"/>
                    </a:cubicBezTo>
                    <a:cubicBezTo>
                      <a:pt x="0" y="630849"/>
                      <a:pt x="206837" y="812800"/>
                      <a:pt x="461984" y="812800"/>
                    </a:cubicBezTo>
                    <a:cubicBezTo>
                      <a:pt x="717131" y="812800"/>
                      <a:pt x="923968" y="630849"/>
                      <a:pt x="923968" y="406400"/>
                    </a:cubicBezTo>
                    <a:cubicBezTo>
                      <a:pt x="923968" y="181951"/>
                      <a:pt x="717131" y="0"/>
                      <a:pt x="461984" y="0"/>
                    </a:cubicBezTo>
                    <a:close/>
                  </a:path>
                </a:pathLst>
              </a:custGeom>
              <a:solidFill>
                <a:srgbClr val="0D0D0D"/>
              </a:solidFill>
            </p:spPr>
          </p:sp>
          <p:sp>
            <p:nvSpPr>
              <p:cNvPr name="TextBox 13" id="13"/>
              <p:cNvSpPr txBox="true"/>
              <p:nvPr/>
            </p:nvSpPr>
            <p:spPr>
              <a:xfrm>
                <a:off x="86622" y="38100"/>
                <a:ext cx="750724" cy="698500"/>
              </a:xfrm>
              <a:prstGeom prst="rect">
                <a:avLst/>
              </a:prstGeom>
            </p:spPr>
            <p:txBody>
              <a:bodyPr anchor="ctr" rtlCol="false" tIns="50800" lIns="50800" bIns="50800" rIns="50800"/>
              <a:lstStyle/>
              <a:p>
                <a:pPr algn="ctr">
                  <a:lnSpc>
                    <a:spcPts val="2520"/>
                  </a:lnSpc>
                </a:pPr>
              </a:p>
            </p:txBody>
          </p:sp>
        </p:grpSp>
      </p:grpSp>
      <p:grpSp>
        <p:nvGrpSpPr>
          <p:cNvPr name="Group 14" id="14"/>
          <p:cNvGrpSpPr/>
          <p:nvPr/>
        </p:nvGrpSpPr>
        <p:grpSpPr>
          <a:xfrm rot="0">
            <a:off x="1248431" y="4886325"/>
            <a:ext cx="6964172" cy="318135"/>
            <a:chOff x="0" y="0"/>
            <a:chExt cx="9285563" cy="424179"/>
          </a:xfrm>
        </p:grpSpPr>
        <p:sp>
          <p:nvSpPr>
            <p:cNvPr name="TextBox 15" id="15"/>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ColdB</a:t>
              </a:r>
              <a:r>
                <a:rPr lang="en-US" b="true" sz="2100" spc="-63">
                  <a:solidFill>
                    <a:srgbClr val="0D0D0D"/>
                  </a:solidFill>
                  <a:latin typeface="Poppins Semi-Bold"/>
                  <a:ea typeface="Poppins Semi-Bold"/>
                  <a:cs typeface="Poppins Semi-Bold"/>
                  <a:sym typeface="Poppins Semi-Bold"/>
                </a:rPr>
                <a:t>ox Master Class On-site</a:t>
              </a:r>
            </a:p>
          </p:txBody>
        </p:sp>
        <p:grpSp>
          <p:nvGrpSpPr>
            <p:cNvPr name="Group 16" id="16"/>
            <p:cNvGrpSpPr/>
            <p:nvPr/>
          </p:nvGrpSpPr>
          <p:grpSpPr>
            <a:xfrm rot="0">
              <a:off x="0" y="51516"/>
              <a:ext cx="321148" cy="32114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19" id="19"/>
          <p:cNvGrpSpPr/>
          <p:nvPr/>
        </p:nvGrpSpPr>
        <p:grpSpPr>
          <a:xfrm rot="0">
            <a:off x="9144000" y="6116177"/>
            <a:ext cx="6964172" cy="318135"/>
            <a:chOff x="0" y="0"/>
            <a:chExt cx="9285563" cy="424179"/>
          </a:xfrm>
        </p:grpSpPr>
        <p:sp>
          <p:nvSpPr>
            <p:cNvPr name="TextBox 20" id="20"/>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Intr</a:t>
              </a:r>
              <a:r>
                <a:rPr lang="en-US" b="true" sz="2100" spc="-63">
                  <a:solidFill>
                    <a:srgbClr val="0D0D0D"/>
                  </a:solidFill>
                  <a:latin typeface="Poppins Semi-Bold"/>
                  <a:ea typeface="Poppins Semi-Bold"/>
                  <a:cs typeface="Poppins Semi-Bold"/>
                  <a:sym typeface="Poppins Semi-Bold"/>
                </a:rPr>
                <a:t>o to COLDBOX On-site </a:t>
              </a:r>
            </a:p>
          </p:txBody>
        </p:sp>
        <p:grpSp>
          <p:nvGrpSpPr>
            <p:cNvPr name="Group 21" id="21"/>
            <p:cNvGrpSpPr/>
            <p:nvPr/>
          </p:nvGrpSpPr>
          <p:grpSpPr>
            <a:xfrm rot="0">
              <a:off x="0" y="51516"/>
              <a:ext cx="321148" cy="321148"/>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4" id="24"/>
          <p:cNvGrpSpPr/>
          <p:nvPr/>
        </p:nvGrpSpPr>
        <p:grpSpPr>
          <a:xfrm rot="0">
            <a:off x="1248431" y="5501251"/>
            <a:ext cx="6964172" cy="318135"/>
            <a:chOff x="0" y="0"/>
            <a:chExt cx="9285563" cy="424179"/>
          </a:xfrm>
        </p:grpSpPr>
        <p:sp>
          <p:nvSpPr>
            <p:cNvPr name="TextBox 25" id="25"/>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ColdB</a:t>
              </a:r>
              <a:r>
                <a:rPr lang="en-US" b="true" sz="2100" spc="-63">
                  <a:solidFill>
                    <a:srgbClr val="0D0D0D"/>
                  </a:solidFill>
                  <a:latin typeface="Poppins Semi-Bold"/>
                  <a:ea typeface="Poppins Semi-Bold"/>
                  <a:cs typeface="Poppins Semi-Bold"/>
                  <a:sym typeface="Poppins Semi-Bold"/>
                </a:rPr>
                <a:t>ox Master Class Virtual</a:t>
              </a:r>
            </a:p>
          </p:txBody>
        </p:sp>
        <p:grpSp>
          <p:nvGrpSpPr>
            <p:cNvPr name="Group 26" id="26"/>
            <p:cNvGrpSpPr/>
            <p:nvPr/>
          </p:nvGrpSpPr>
          <p:grpSpPr>
            <a:xfrm rot="0">
              <a:off x="0" y="51516"/>
              <a:ext cx="321148" cy="321148"/>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9" id="29"/>
          <p:cNvGrpSpPr/>
          <p:nvPr/>
        </p:nvGrpSpPr>
        <p:grpSpPr>
          <a:xfrm rot="0">
            <a:off x="9144000" y="6731103"/>
            <a:ext cx="6964172" cy="318135"/>
            <a:chOff x="0" y="0"/>
            <a:chExt cx="9285563" cy="424179"/>
          </a:xfrm>
        </p:grpSpPr>
        <p:sp>
          <p:nvSpPr>
            <p:cNvPr name="TextBox 30" id="30"/>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Intro</a:t>
              </a:r>
              <a:r>
                <a:rPr lang="en-US" b="true" sz="2100" spc="-63">
                  <a:solidFill>
                    <a:srgbClr val="0D0D0D"/>
                  </a:solidFill>
                  <a:latin typeface="Poppins Semi-Bold"/>
                  <a:ea typeface="Poppins Semi-Bold"/>
                  <a:cs typeface="Poppins Semi-Bold"/>
                  <a:sym typeface="Poppins Semi-Bold"/>
                </a:rPr>
                <a:t> to COLDBOX Virtual</a:t>
              </a:r>
            </a:p>
          </p:txBody>
        </p:sp>
        <p:grpSp>
          <p:nvGrpSpPr>
            <p:cNvPr name="Group 31" id="31"/>
            <p:cNvGrpSpPr/>
            <p:nvPr/>
          </p:nvGrpSpPr>
          <p:grpSpPr>
            <a:xfrm rot="0">
              <a:off x="0" y="51516"/>
              <a:ext cx="321148" cy="32114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34" id="34"/>
          <p:cNvGrpSpPr/>
          <p:nvPr/>
        </p:nvGrpSpPr>
        <p:grpSpPr>
          <a:xfrm rot="0">
            <a:off x="1248431" y="6116177"/>
            <a:ext cx="6964172" cy="318135"/>
            <a:chOff x="0" y="0"/>
            <a:chExt cx="9285563" cy="424179"/>
          </a:xfrm>
        </p:grpSpPr>
        <p:sp>
          <p:nvSpPr>
            <p:cNvPr name="TextBox 35" id="35"/>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ColdB</a:t>
              </a:r>
              <a:r>
                <a:rPr lang="en-US" b="true" sz="2100" spc="-63">
                  <a:solidFill>
                    <a:srgbClr val="0D0D0D"/>
                  </a:solidFill>
                  <a:latin typeface="Poppins Semi-Bold"/>
                  <a:ea typeface="Poppins Semi-Bold"/>
                  <a:cs typeface="Poppins Semi-Bold"/>
                  <a:sym typeface="Poppins Semi-Bold"/>
                </a:rPr>
                <a:t>ox Zero to Hero On-Site</a:t>
              </a:r>
            </a:p>
          </p:txBody>
        </p:sp>
        <p:grpSp>
          <p:nvGrpSpPr>
            <p:cNvPr name="Group 36" id="36"/>
            <p:cNvGrpSpPr/>
            <p:nvPr/>
          </p:nvGrpSpPr>
          <p:grpSpPr>
            <a:xfrm rot="0">
              <a:off x="0" y="51516"/>
              <a:ext cx="321148" cy="321148"/>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39" id="39"/>
          <p:cNvGrpSpPr/>
          <p:nvPr/>
        </p:nvGrpSpPr>
        <p:grpSpPr>
          <a:xfrm rot="0">
            <a:off x="9144000" y="7346029"/>
            <a:ext cx="6964172" cy="318135"/>
            <a:chOff x="0" y="0"/>
            <a:chExt cx="9285563" cy="424179"/>
          </a:xfrm>
        </p:grpSpPr>
        <p:sp>
          <p:nvSpPr>
            <p:cNvPr name="TextBox 40" id="40"/>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a:t>
              </a:r>
              <a:r>
                <a:rPr lang="en-US" b="true" sz="2100" spc="-63">
                  <a:solidFill>
                    <a:srgbClr val="0D0D0D"/>
                  </a:solidFill>
                  <a:latin typeface="Poppins Semi-Bold"/>
                  <a:ea typeface="Poppins Semi-Bold"/>
                  <a:cs typeface="Poppins Semi-Bold"/>
                  <a:sym typeface="Poppins Semi-Bold"/>
                </a:rPr>
                <a:t>re COLDBOX On-site </a:t>
              </a:r>
            </a:p>
          </p:txBody>
        </p:sp>
        <p:grpSp>
          <p:nvGrpSpPr>
            <p:cNvPr name="Group 41" id="41"/>
            <p:cNvGrpSpPr/>
            <p:nvPr/>
          </p:nvGrpSpPr>
          <p:grpSpPr>
            <a:xfrm rot="0">
              <a:off x="0" y="51516"/>
              <a:ext cx="321148" cy="321148"/>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3" id="4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44" id="44"/>
          <p:cNvGrpSpPr/>
          <p:nvPr/>
        </p:nvGrpSpPr>
        <p:grpSpPr>
          <a:xfrm rot="0">
            <a:off x="1248431" y="6731103"/>
            <a:ext cx="6964172" cy="318135"/>
            <a:chOff x="0" y="0"/>
            <a:chExt cx="9285563" cy="424179"/>
          </a:xfrm>
        </p:grpSpPr>
        <p:sp>
          <p:nvSpPr>
            <p:cNvPr name="TextBox 45" id="45"/>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ColdB</a:t>
              </a:r>
              <a:r>
                <a:rPr lang="en-US" b="true" sz="2100" spc="-63">
                  <a:solidFill>
                    <a:srgbClr val="0D0D0D"/>
                  </a:solidFill>
                  <a:latin typeface="Poppins Semi-Bold"/>
                  <a:ea typeface="Poppins Semi-Bold"/>
                  <a:cs typeface="Poppins Semi-Bold"/>
                  <a:sym typeface="Poppins Semi-Bold"/>
                </a:rPr>
                <a:t>ox Zero to Hero Virtual </a:t>
              </a:r>
            </a:p>
          </p:txBody>
        </p:sp>
        <p:grpSp>
          <p:nvGrpSpPr>
            <p:cNvPr name="Group 46" id="46"/>
            <p:cNvGrpSpPr/>
            <p:nvPr/>
          </p:nvGrpSpPr>
          <p:grpSpPr>
            <a:xfrm rot="0">
              <a:off x="0" y="51516"/>
              <a:ext cx="321148" cy="321148"/>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8" id="4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49" id="49"/>
          <p:cNvGrpSpPr/>
          <p:nvPr/>
        </p:nvGrpSpPr>
        <p:grpSpPr>
          <a:xfrm rot="0">
            <a:off x="9144000" y="7960955"/>
            <a:ext cx="6964172" cy="318135"/>
            <a:chOff x="0" y="0"/>
            <a:chExt cx="9285563" cy="424179"/>
          </a:xfrm>
        </p:grpSpPr>
        <p:sp>
          <p:nvSpPr>
            <p:cNvPr name="TextBox 50" id="50"/>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Cor</a:t>
              </a:r>
              <a:r>
                <a:rPr lang="en-US" b="true" sz="2100" spc="-63">
                  <a:solidFill>
                    <a:srgbClr val="0D0D0D"/>
                  </a:solidFill>
                  <a:latin typeface="Poppins Semi-Bold"/>
                  <a:ea typeface="Poppins Semi-Bold"/>
                  <a:cs typeface="Poppins Semi-Bold"/>
                  <a:sym typeface="Poppins Semi-Bold"/>
                </a:rPr>
                <a:t>e COLDBOX Virtual</a:t>
              </a:r>
            </a:p>
          </p:txBody>
        </p:sp>
        <p:grpSp>
          <p:nvGrpSpPr>
            <p:cNvPr name="Group 51" id="51"/>
            <p:cNvGrpSpPr/>
            <p:nvPr/>
          </p:nvGrpSpPr>
          <p:grpSpPr>
            <a:xfrm rot="0">
              <a:off x="0" y="51516"/>
              <a:ext cx="321148" cy="321148"/>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53" id="5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54" id="54"/>
          <p:cNvGrpSpPr/>
          <p:nvPr/>
        </p:nvGrpSpPr>
        <p:grpSpPr>
          <a:xfrm rot="0">
            <a:off x="1248431" y="7346029"/>
            <a:ext cx="6964172" cy="318135"/>
            <a:chOff x="0" y="0"/>
            <a:chExt cx="9285563" cy="424179"/>
          </a:xfrm>
        </p:grpSpPr>
        <p:sp>
          <p:nvSpPr>
            <p:cNvPr name="TextBox 55" id="55"/>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ColdB</a:t>
              </a:r>
              <a:r>
                <a:rPr lang="en-US" b="true" sz="2100" spc="-63">
                  <a:solidFill>
                    <a:srgbClr val="0D0D0D"/>
                  </a:solidFill>
                  <a:latin typeface="Poppins Semi-Bold"/>
                  <a:ea typeface="Poppins Semi-Bold"/>
                  <a:cs typeface="Poppins Semi-Bold"/>
                  <a:sym typeface="Poppins Semi-Bold"/>
                </a:rPr>
                <a:t>ox Hero to SuperHero On-site </a:t>
              </a:r>
            </a:p>
          </p:txBody>
        </p:sp>
        <p:grpSp>
          <p:nvGrpSpPr>
            <p:cNvPr name="Group 56" id="56"/>
            <p:cNvGrpSpPr/>
            <p:nvPr/>
          </p:nvGrpSpPr>
          <p:grpSpPr>
            <a:xfrm rot="0">
              <a:off x="0" y="51516"/>
              <a:ext cx="321148" cy="321148"/>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58" id="5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59" id="59"/>
          <p:cNvGrpSpPr/>
          <p:nvPr/>
        </p:nvGrpSpPr>
        <p:grpSpPr>
          <a:xfrm rot="0">
            <a:off x="1248431" y="8575881"/>
            <a:ext cx="7638394" cy="318135"/>
            <a:chOff x="0" y="0"/>
            <a:chExt cx="10184525" cy="424179"/>
          </a:xfrm>
        </p:grpSpPr>
        <p:sp>
          <p:nvSpPr>
            <p:cNvPr name="TextBox 60" id="60"/>
            <p:cNvSpPr txBox="true"/>
            <p:nvPr/>
          </p:nvSpPr>
          <p:spPr>
            <a:xfrm rot="0">
              <a:off x="740211" y="-57150"/>
              <a:ext cx="9444314"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ColdB</a:t>
              </a:r>
              <a:r>
                <a:rPr lang="en-US" b="true" sz="2100" spc="-63">
                  <a:solidFill>
                    <a:srgbClr val="0D0D0D"/>
                  </a:solidFill>
                  <a:latin typeface="Poppins Semi-Bold"/>
                  <a:ea typeface="Poppins Semi-Bold"/>
                  <a:cs typeface="Poppins Semi-Bold"/>
                  <a:sym typeface="Poppins Semi-Bold"/>
                </a:rPr>
                <a:t>ox Zero to MegaHero: REST APIs + VueJS On-site P</a:t>
              </a:r>
            </a:p>
          </p:txBody>
        </p:sp>
        <p:grpSp>
          <p:nvGrpSpPr>
            <p:cNvPr name="Group 61" id="61"/>
            <p:cNvGrpSpPr/>
            <p:nvPr/>
          </p:nvGrpSpPr>
          <p:grpSpPr>
            <a:xfrm rot="0">
              <a:off x="0" y="51516"/>
              <a:ext cx="352240" cy="321148"/>
              <a:chOff x="0" y="0"/>
              <a:chExt cx="891490" cy="812800"/>
            </a:xfrm>
          </p:grpSpPr>
          <p:sp>
            <p:nvSpPr>
              <p:cNvPr name="Freeform 62" id="62"/>
              <p:cNvSpPr/>
              <p:nvPr/>
            </p:nvSpPr>
            <p:spPr>
              <a:xfrm flipH="false" flipV="false" rot="0">
                <a:off x="0" y="0"/>
                <a:ext cx="891490" cy="812800"/>
              </a:xfrm>
              <a:custGeom>
                <a:avLst/>
                <a:gdLst/>
                <a:ahLst/>
                <a:cxnLst/>
                <a:rect r="r" b="b" t="t" l="l"/>
                <a:pathLst>
                  <a:path h="812800" w="891490">
                    <a:moveTo>
                      <a:pt x="445745" y="0"/>
                    </a:moveTo>
                    <a:cubicBezTo>
                      <a:pt x="199567" y="0"/>
                      <a:pt x="0" y="181951"/>
                      <a:pt x="0" y="406400"/>
                    </a:cubicBezTo>
                    <a:cubicBezTo>
                      <a:pt x="0" y="630849"/>
                      <a:pt x="199567" y="812800"/>
                      <a:pt x="445745" y="812800"/>
                    </a:cubicBezTo>
                    <a:cubicBezTo>
                      <a:pt x="691923" y="812800"/>
                      <a:pt x="891490" y="630849"/>
                      <a:pt x="891490" y="406400"/>
                    </a:cubicBezTo>
                    <a:cubicBezTo>
                      <a:pt x="891490" y="181951"/>
                      <a:pt x="691923" y="0"/>
                      <a:pt x="445745" y="0"/>
                    </a:cubicBezTo>
                    <a:close/>
                  </a:path>
                </a:pathLst>
              </a:custGeom>
              <a:solidFill>
                <a:srgbClr val="0D0D0D"/>
              </a:solidFill>
            </p:spPr>
          </p:sp>
          <p:sp>
            <p:nvSpPr>
              <p:cNvPr name="TextBox 63" id="63"/>
              <p:cNvSpPr txBox="true"/>
              <p:nvPr/>
            </p:nvSpPr>
            <p:spPr>
              <a:xfrm>
                <a:off x="83577" y="38100"/>
                <a:ext cx="724335" cy="698500"/>
              </a:xfrm>
              <a:prstGeom prst="rect">
                <a:avLst/>
              </a:prstGeom>
            </p:spPr>
            <p:txBody>
              <a:bodyPr anchor="ctr" rtlCol="false" tIns="50800" lIns="50800" bIns="50800" rIns="50800"/>
              <a:lstStyle/>
              <a:p>
                <a:pPr algn="ctr">
                  <a:lnSpc>
                    <a:spcPts val="2520"/>
                  </a:lnSpc>
                </a:pPr>
              </a:p>
            </p:txBody>
          </p:sp>
        </p:grpSp>
      </p:grpSp>
      <p:grpSp>
        <p:nvGrpSpPr>
          <p:cNvPr name="Group 64" id="64"/>
          <p:cNvGrpSpPr/>
          <p:nvPr/>
        </p:nvGrpSpPr>
        <p:grpSpPr>
          <a:xfrm rot="0">
            <a:off x="9144000" y="8575881"/>
            <a:ext cx="6964172" cy="318135"/>
            <a:chOff x="0" y="0"/>
            <a:chExt cx="9285563" cy="424179"/>
          </a:xfrm>
        </p:grpSpPr>
        <p:sp>
          <p:nvSpPr>
            <p:cNvPr name="TextBox 65" id="65"/>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COLDBOX</a:t>
              </a:r>
              <a:r>
                <a:rPr lang="en-US" b="true" sz="2100" spc="-63">
                  <a:solidFill>
                    <a:srgbClr val="0D0D0D"/>
                  </a:solidFill>
                  <a:latin typeface="Poppins Semi-Bold"/>
                  <a:ea typeface="Poppins Semi-Bold"/>
                  <a:cs typeface="Poppins Semi-Bold"/>
                  <a:sym typeface="Poppins Semi-Bold"/>
                </a:rPr>
                <a:t> Modules On-site</a:t>
              </a:r>
            </a:p>
          </p:txBody>
        </p:sp>
        <p:grpSp>
          <p:nvGrpSpPr>
            <p:cNvPr name="Group 66" id="66"/>
            <p:cNvGrpSpPr/>
            <p:nvPr/>
          </p:nvGrpSpPr>
          <p:grpSpPr>
            <a:xfrm rot="0">
              <a:off x="0" y="51516"/>
              <a:ext cx="321148" cy="321148"/>
              <a:chOff x="0" y="0"/>
              <a:chExt cx="812800" cy="812800"/>
            </a:xfrm>
          </p:grpSpPr>
          <p:sp>
            <p:nvSpPr>
              <p:cNvPr name="Freeform 67" id="6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68" id="6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69" id="69"/>
          <p:cNvGrpSpPr/>
          <p:nvPr/>
        </p:nvGrpSpPr>
        <p:grpSpPr>
          <a:xfrm rot="0">
            <a:off x="1248431" y="7960955"/>
            <a:ext cx="6964172" cy="318135"/>
            <a:chOff x="0" y="0"/>
            <a:chExt cx="9285563" cy="424179"/>
          </a:xfrm>
        </p:grpSpPr>
        <p:sp>
          <p:nvSpPr>
            <p:cNvPr name="TextBox 70" id="70"/>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ColdB</a:t>
              </a:r>
              <a:r>
                <a:rPr lang="en-US" b="true" sz="2100" spc="-63">
                  <a:solidFill>
                    <a:srgbClr val="0D0D0D"/>
                  </a:solidFill>
                  <a:latin typeface="Poppins Semi-Bold"/>
                  <a:ea typeface="Poppins Semi-Bold"/>
                  <a:cs typeface="Poppins Semi-Bold"/>
                  <a:sym typeface="Poppins Semi-Bold"/>
                </a:rPr>
                <a:t>ox Hero to SuperHero Virtual </a:t>
              </a:r>
            </a:p>
          </p:txBody>
        </p:sp>
        <p:grpSp>
          <p:nvGrpSpPr>
            <p:cNvPr name="Group 71" id="71"/>
            <p:cNvGrpSpPr/>
            <p:nvPr/>
          </p:nvGrpSpPr>
          <p:grpSpPr>
            <a:xfrm rot="0">
              <a:off x="0" y="51516"/>
              <a:ext cx="321148" cy="321148"/>
              <a:chOff x="0" y="0"/>
              <a:chExt cx="812800" cy="812800"/>
            </a:xfrm>
          </p:grpSpPr>
          <p:sp>
            <p:nvSpPr>
              <p:cNvPr name="Freeform 72" id="7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73" id="7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74" id="74"/>
          <p:cNvGrpSpPr/>
          <p:nvPr/>
        </p:nvGrpSpPr>
        <p:grpSpPr>
          <a:xfrm rot="0">
            <a:off x="1248431" y="9190807"/>
            <a:ext cx="7638394" cy="318135"/>
            <a:chOff x="0" y="0"/>
            <a:chExt cx="10184525" cy="424179"/>
          </a:xfrm>
        </p:grpSpPr>
        <p:sp>
          <p:nvSpPr>
            <p:cNvPr name="TextBox 75" id="75"/>
            <p:cNvSpPr txBox="true"/>
            <p:nvPr/>
          </p:nvSpPr>
          <p:spPr>
            <a:xfrm rot="0">
              <a:off x="740211" y="-57150"/>
              <a:ext cx="9444314"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ColdB</a:t>
              </a:r>
              <a:r>
                <a:rPr lang="en-US" b="true" sz="2100" spc="-63">
                  <a:solidFill>
                    <a:srgbClr val="0D0D0D"/>
                  </a:solidFill>
                  <a:latin typeface="Poppins Semi-Bold"/>
                  <a:ea typeface="Poppins Semi-Bold"/>
                  <a:cs typeface="Poppins Semi-Bold"/>
                  <a:sym typeface="Poppins Semi-Bold"/>
                </a:rPr>
                <a:t>ox Zero to MegaHero: REST APIs + VueJS Virtual</a:t>
              </a:r>
            </a:p>
          </p:txBody>
        </p:sp>
        <p:grpSp>
          <p:nvGrpSpPr>
            <p:cNvPr name="Group 76" id="76"/>
            <p:cNvGrpSpPr/>
            <p:nvPr/>
          </p:nvGrpSpPr>
          <p:grpSpPr>
            <a:xfrm rot="0">
              <a:off x="0" y="51516"/>
              <a:ext cx="352240" cy="321148"/>
              <a:chOff x="0" y="0"/>
              <a:chExt cx="891490" cy="812800"/>
            </a:xfrm>
          </p:grpSpPr>
          <p:sp>
            <p:nvSpPr>
              <p:cNvPr name="Freeform 77" id="77"/>
              <p:cNvSpPr/>
              <p:nvPr/>
            </p:nvSpPr>
            <p:spPr>
              <a:xfrm flipH="false" flipV="false" rot="0">
                <a:off x="0" y="0"/>
                <a:ext cx="891490" cy="812800"/>
              </a:xfrm>
              <a:custGeom>
                <a:avLst/>
                <a:gdLst/>
                <a:ahLst/>
                <a:cxnLst/>
                <a:rect r="r" b="b" t="t" l="l"/>
                <a:pathLst>
                  <a:path h="812800" w="891490">
                    <a:moveTo>
                      <a:pt x="445745" y="0"/>
                    </a:moveTo>
                    <a:cubicBezTo>
                      <a:pt x="199567" y="0"/>
                      <a:pt x="0" y="181951"/>
                      <a:pt x="0" y="406400"/>
                    </a:cubicBezTo>
                    <a:cubicBezTo>
                      <a:pt x="0" y="630849"/>
                      <a:pt x="199567" y="812800"/>
                      <a:pt x="445745" y="812800"/>
                    </a:cubicBezTo>
                    <a:cubicBezTo>
                      <a:pt x="691923" y="812800"/>
                      <a:pt x="891490" y="630849"/>
                      <a:pt x="891490" y="406400"/>
                    </a:cubicBezTo>
                    <a:cubicBezTo>
                      <a:pt x="891490" y="181951"/>
                      <a:pt x="691923" y="0"/>
                      <a:pt x="445745" y="0"/>
                    </a:cubicBezTo>
                    <a:close/>
                  </a:path>
                </a:pathLst>
              </a:custGeom>
              <a:solidFill>
                <a:srgbClr val="0D0D0D"/>
              </a:solidFill>
            </p:spPr>
          </p:sp>
          <p:sp>
            <p:nvSpPr>
              <p:cNvPr name="TextBox 78" id="78"/>
              <p:cNvSpPr txBox="true"/>
              <p:nvPr/>
            </p:nvSpPr>
            <p:spPr>
              <a:xfrm>
                <a:off x="83577" y="38100"/>
                <a:ext cx="724335" cy="698500"/>
              </a:xfrm>
              <a:prstGeom prst="rect">
                <a:avLst/>
              </a:prstGeom>
            </p:spPr>
            <p:txBody>
              <a:bodyPr anchor="ctr" rtlCol="false" tIns="50800" lIns="50800" bIns="50800" rIns="50800"/>
              <a:lstStyle/>
              <a:p>
                <a:pPr algn="ctr">
                  <a:lnSpc>
                    <a:spcPts val="2520"/>
                  </a:lnSpc>
                </a:pPr>
              </a:p>
            </p:txBody>
          </p:sp>
        </p:grpSp>
      </p:grpSp>
      <p:grpSp>
        <p:nvGrpSpPr>
          <p:cNvPr name="Group 79" id="79"/>
          <p:cNvGrpSpPr/>
          <p:nvPr/>
        </p:nvGrpSpPr>
        <p:grpSpPr>
          <a:xfrm rot="0">
            <a:off x="9144000" y="9190807"/>
            <a:ext cx="6964172" cy="318135"/>
            <a:chOff x="0" y="0"/>
            <a:chExt cx="9285563" cy="424179"/>
          </a:xfrm>
        </p:grpSpPr>
        <p:sp>
          <p:nvSpPr>
            <p:cNvPr name="TextBox 80" id="80"/>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COLDBOX</a:t>
              </a:r>
              <a:r>
                <a:rPr lang="en-US" b="true" sz="2100" spc="-63">
                  <a:solidFill>
                    <a:srgbClr val="0D0D0D"/>
                  </a:solidFill>
                  <a:latin typeface="Poppins Semi-Bold"/>
                  <a:ea typeface="Poppins Semi-Bold"/>
                  <a:cs typeface="Poppins Semi-Bold"/>
                  <a:sym typeface="Poppins Semi-Bold"/>
                </a:rPr>
                <a:t> Modules Virtual </a:t>
              </a:r>
            </a:p>
          </p:txBody>
        </p:sp>
        <p:grpSp>
          <p:nvGrpSpPr>
            <p:cNvPr name="Group 81" id="81"/>
            <p:cNvGrpSpPr/>
            <p:nvPr/>
          </p:nvGrpSpPr>
          <p:grpSpPr>
            <a:xfrm rot="0">
              <a:off x="0" y="51516"/>
              <a:ext cx="321148" cy="321148"/>
              <a:chOff x="0" y="0"/>
              <a:chExt cx="812800" cy="812800"/>
            </a:xfrm>
          </p:grpSpPr>
          <p:sp>
            <p:nvSpPr>
              <p:cNvPr name="Freeform 82" id="8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83" id="8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Freeform 84" id="84"/>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5" id="85"/>
          <p:cNvGrpSpPr/>
          <p:nvPr/>
        </p:nvGrpSpPr>
        <p:grpSpPr>
          <a:xfrm rot="0">
            <a:off x="14735175" y="1069255"/>
            <a:ext cx="2524125" cy="784945"/>
            <a:chOff x="0" y="0"/>
            <a:chExt cx="664790" cy="206735"/>
          </a:xfrm>
        </p:grpSpPr>
        <p:sp>
          <p:nvSpPr>
            <p:cNvPr name="Freeform 86" id="86"/>
            <p:cNvSpPr/>
            <p:nvPr/>
          </p:nvSpPr>
          <p:spPr>
            <a:xfrm flipH="false" flipV="false" rot="0">
              <a:off x="0" y="0"/>
              <a:ext cx="664790" cy="206735"/>
            </a:xfrm>
            <a:custGeom>
              <a:avLst/>
              <a:gdLst/>
              <a:ahLst/>
              <a:cxnLst/>
              <a:rect r="r" b="b" t="t" l="l"/>
              <a:pathLst>
                <a:path h="206735" w="664790">
                  <a:moveTo>
                    <a:pt x="103367" y="0"/>
                  </a:moveTo>
                  <a:lnTo>
                    <a:pt x="561423" y="0"/>
                  </a:lnTo>
                  <a:cubicBezTo>
                    <a:pt x="588838" y="0"/>
                    <a:pt x="615129" y="10890"/>
                    <a:pt x="634515" y="30276"/>
                  </a:cubicBezTo>
                  <a:cubicBezTo>
                    <a:pt x="653900" y="49661"/>
                    <a:pt x="664790" y="75953"/>
                    <a:pt x="664790" y="103367"/>
                  </a:cubicBezTo>
                  <a:lnTo>
                    <a:pt x="664790" y="103367"/>
                  </a:lnTo>
                  <a:cubicBezTo>
                    <a:pt x="664790" y="130782"/>
                    <a:pt x="653900" y="157074"/>
                    <a:pt x="634515" y="176459"/>
                  </a:cubicBezTo>
                  <a:cubicBezTo>
                    <a:pt x="615129" y="195844"/>
                    <a:pt x="588838" y="206735"/>
                    <a:pt x="56142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87" id="87"/>
            <p:cNvSpPr txBox="true"/>
            <p:nvPr/>
          </p:nvSpPr>
          <p:spPr>
            <a:xfrm>
              <a:off x="0" y="-38100"/>
              <a:ext cx="664790" cy="244835"/>
            </a:xfrm>
            <a:prstGeom prst="rect">
              <a:avLst/>
            </a:prstGeom>
          </p:spPr>
          <p:txBody>
            <a:bodyPr anchor="ctr" rtlCol="false" tIns="50800" lIns="50800" bIns="50800" rIns="50800"/>
            <a:lstStyle/>
            <a:p>
              <a:pPr algn="ctr">
                <a:lnSpc>
                  <a:spcPts val="2520"/>
                </a:lnSpc>
              </a:pPr>
            </a:p>
          </p:txBody>
        </p:sp>
      </p:grpSp>
      <p:sp>
        <p:nvSpPr>
          <p:cNvPr name="TextBox 88" id="88"/>
          <p:cNvSpPr txBox="true"/>
          <p:nvPr/>
        </p:nvSpPr>
        <p:spPr>
          <a:xfrm rot="0">
            <a:off x="15398576" y="1198202"/>
            <a:ext cx="1574750"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SIN: 611420</a:t>
            </a:r>
          </a:p>
        </p:txBody>
      </p:sp>
      <p:grpSp>
        <p:nvGrpSpPr>
          <p:cNvPr name="Group 89" id="89"/>
          <p:cNvGrpSpPr/>
          <p:nvPr/>
        </p:nvGrpSpPr>
        <p:grpSpPr>
          <a:xfrm rot="0">
            <a:off x="15001875" y="1341297"/>
            <a:ext cx="240861" cy="240861"/>
            <a:chOff x="0" y="0"/>
            <a:chExt cx="812800" cy="812800"/>
          </a:xfrm>
        </p:grpSpPr>
        <p:sp>
          <p:nvSpPr>
            <p:cNvPr name="Freeform 90" id="9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91" id="9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transition spd="fast">
    <p:wipe dir="u"/>
  </p:transition>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48431" y="4886325"/>
            <a:ext cx="7192772" cy="318135"/>
            <a:chOff x="0" y="0"/>
            <a:chExt cx="9590363" cy="424179"/>
          </a:xfrm>
        </p:grpSpPr>
        <p:sp>
          <p:nvSpPr>
            <p:cNvPr name="TextBox 4" id="4"/>
            <p:cNvSpPr txBox="true"/>
            <p:nvPr/>
          </p:nvSpPr>
          <p:spPr>
            <a:xfrm rot="0">
              <a:off x="674874" y="-57150"/>
              <a:ext cx="89154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WIREBOX Dependency Injecti</a:t>
              </a:r>
              <a:r>
                <a:rPr lang="en-US" b="true" sz="2100" spc="-63">
                  <a:solidFill>
                    <a:srgbClr val="0D0D0D"/>
                  </a:solidFill>
                  <a:latin typeface="Poppins Semi-Bold"/>
                  <a:ea typeface="Poppins Semi-Bold"/>
                  <a:cs typeface="Poppins Semi-Bold"/>
                  <a:sym typeface="Poppins Semi-Bold"/>
                </a:rPr>
                <a:t>on &amp; AOP On-site</a:t>
              </a:r>
            </a:p>
          </p:txBody>
        </p:sp>
        <p:grpSp>
          <p:nvGrpSpPr>
            <p:cNvPr name="Group 5" id="5"/>
            <p:cNvGrpSpPr/>
            <p:nvPr/>
          </p:nvGrpSpPr>
          <p:grpSpPr>
            <a:xfrm rot="0">
              <a:off x="0" y="51516"/>
              <a:ext cx="321148" cy="32114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8" id="8"/>
          <p:cNvGrpSpPr/>
          <p:nvPr/>
        </p:nvGrpSpPr>
        <p:grpSpPr>
          <a:xfrm rot="0">
            <a:off x="9144000" y="4886325"/>
            <a:ext cx="7649972" cy="318135"/>
            <a:chOff x="0" y="0"/>
            <a:chExt cx="10199963" cy="424179"/>
          </a:xfrm>
        </p:grpSpPr>
        <p:sp>
          <p:nvSpPr>
            <p:cNvPr name="TextBox 9" id="9"/>
            <p:cNvSpPr txBox="true"/>
            <p:nvPr/>
          </p:nvSpPr>
          <p:spPr>
            <a:xfrm rot="0">
              <a:off x="717772" y="-57150"/>
              <a:ext cx="9482191"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CONTENTBOX Modular</a:t>
              </a:r>
              <a:r>
                <a:rPr lang="en-US" b="true" sz="2100" spc="-63">
                  <a:solidFill>
                    <a:srgbClr val="0D0D0D"/>
                  </a:solidFill>
                  <a:latin typeface="Poppins Semi-Bold"/>
                  <a:ea typeface="Poppins Semi-Bold"/>
                  <a:cs typeface="Poppins Semi-Bold"/>
                  <a:sym typeface="Poppins Semi-Bold"/>
                </a:rPr>
                <a:t> CMS On-site</a:t>
              </a:r>
            </a:p>
          </p:txBody>
        </p:sp>
        <p:grpSp>
          <p:nvGrpSpPr>
            <p:cNvPr name="Group 10" id="10"/>
            <p:cNvGrpSpPr/>
            <p:nvPr/>
          </p:nvGrpSpPr>
          <p:grpSpPr>
            <a:xfrm rot="0">
              <a:off x="0" y="51516"/>
              <a:ext cx="341562" cy="321148"/>
              <a:chOff x="0" y="0"/>
              <a:chExt cx="864465" cy="812800"/>
            </a:xfrm>
          </p:grpSpPr>
          <p:sp>
            <p:nvSpPr>
              <p:cNvPr name="Freeform 11" id="11"/>
              <p:cNvSpPr/>
              <p:nvPr/>
            </p:nvSpPr>
            <p:spPr>
              <a:xfrm flipH="false" flipV="false" rot="0">
                <a:off x="0" y="0"/>
                <a:ext cx="864465" cy="812800"/>
              </a:xfrm>
              <a:custGeom>
                <a:avLst/>
                <a:gdLst/>
                <a:ahLst/>
                <a:cxnLst/>
                <a:rect r="r" b="b" t="t" l="l"/>
                <a:pathLst>
                  <a:path h="812800" w="864465">
                    <a:moveTo>
                      <a:pt x="432232" y="0"/>
                    </a:moveTo>
                    <a:cubicBezTo>
                      <a:pt x="193517" y="0"/>
                      <a:pt x="0" y="181951"/>
                      <a:pt x="0" y="406400"/>
                    </a:cubicBezTo>
                    <a:cubicBezTo>
                      <a:pt x="0" y="630849"/>
                      <a:pt x="193517" y="812800"/>
                      <a:pt x="432232" y="812800"/>
                    </a:cubicBezTo>
                    <a:cubicBezTo>
                      <a:pt x="670948" y="812800"/>
                      <a:pt x="864465" y="630849"/>
                      <a:pt x="864465" y="406400"/>
                    </a:cubicBezTo>
                    <a:cubicBezTo>
                      <a:pt x="864465" y="181951"/>
                      <a:pt x="670948" y="0"/>
                      <a:pt x="432232" y="0"/>
                    </a:cubicBezTo>
                    <a:close/>
                  </a:path>
                </a:pathLst>
              </a:custGeom>
              <a:solidFill>
                <a:srgbClr val="0D0D0D"/>
              </a:solidFill>
            </p:spPr>
          </p:sp>
          <p:sp>
            <p:nvSpPr>
              <p:cNvPr name="TextBox 12" id="12"/>
              <p:cNvSpPr txBox="true"/>
              <p:nvPr/>
            </p:nvSpPr>
            <p:spPr>
              <a:xfrm>
                <a:off x="81044" y="38100"/>
                <a:ext cx="702378" cy="698500"/>
              </a:xfrm>
              <a:prstGeom prst="rect">
                <a:avLst/>
              </a:prstGeom>
            </p:spPr>
            <p:txBody>
              <a:bodyPr anchor="ctr" rtlCol="false" tIns="50800" lIns="50800" bIns="50800" rIns="50800"/>
              <a:lstStyle/>
              <a:p>
                <a:pPr algn="ctr">
                  <a:lnSpc>
                    <a:spcPts val="2520"/>
                  </a:lnSpc>
                </a:pPr>
              </a:p>
            </p:txBody>
          </p:sp>
        </p:grpSp>
      </p:grpSp>
      <p:grpSp>
        <p:nvGrpSpPr>
          <p:cNvPr name="Group 13" id="13"/>
          <p:cNvGrpSpPr/>
          <p:nvPr/>
        </p:nvGrpSpPr>
        <p:grpSpPr>
          <a:xfrm rot="0">
            <a:off x="1248431" y="5501368"/>
            <a:ext cx="6964172" cy="318135"/>
            <a:chOff x="0" y="0"/>
            <a:chExt cx="9285563" cy="424179"/>
          </a:xfrm>
        </p:grpSpPr>
        <p:sp>
          <p:nvSpPr>
            <p:cNvPr name="TextBox 14" id="14"/>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WIREBOX Dependency Inject</a:t>
              </a:r>
              <a:r>
                <a:rPr lang="en-US" b="true" sz="2100" spc="-63">
                  <a:solidFill>
                    <a:srgbClr val="0D0D0D"/>
                  </a:solidFill>
                  <a:latin typeface="Poppins Semi-Bold"/>
                  <a:ea typeface="Poppins Semi-Bold"/>
                  <a:cs typeface="Poppins Semi-Bold"/>
                  <a:sym typeface="Poppins Semi-Bold"/>
                </a:rPr>
                <a:t>ion &amp; AOP Virtual</a:t>
              </a:r>
            </a:p>
          </p:txBody>
        </p:sp>
        <p:grpSp>
          <p:nvGrpSpPr>
            <p:cNvPr name="Group 15" id="15"/>
            <p:cNvGrpSpPr/>
            <p:nvPr/>
          </p:nvGrpSpPr>
          <p:grpSpPr>
            <a:xfrm rot="0">
              <a:off x="0" y="51516"/>
              <a:ext cx="321148" cy="32114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18" id="18"/>
          <p:cNvGrpSpPr/>
          <p:nvPr/>
        </p:nvGrpSpPr>
        <p:grpSpPr>
          <a:xfrm rot="0">
            <a:off x="9144000" y="5501368"/>
            <a:ext cx="7916672" cy="318135"/>
            <a:chOff x="0" y="0"/>
            <a:chExt cx="10555563" cy="424179"/>
          </a:xfrm>
        </p:grpSpPr>
        <p:sp>
          <p:nvSpPr>
            <p:cNvPr name="TextBox 19" id="19"/>
            <p:cNvSpPr txBox="true"/>
            <p:nvPr/>
          </p:nvSpPr>
          <p:spPr>
            <a:xfrm rot="0">
              <a:off x="767178" y="-57150"/>
              <a:ext cx="9788385"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CONTENTBOX Modular CM</a:t>
              </a:r>
              <a:r>
                <a:rPr lang="en-US" b="true" sz="2100" spc="-63">
                  <a:solidFill>
                    <a:srgbClr val="0D0D0D"/>
                  </a:solidFill>
                  <a:latin typeface="Poppins Semi-Bold"/>
                  <a:ea typeface="Poppins Semi-Bold"/>
                  <a:cs typeface="Poppins Semi-Bold"/>
                  <a:sym typeface="Poppins Semi-Bold"/>
                </a:rPr>
                <a:t>S Virtual</a:t>
              </a:r>
            </a:p>
          </p:txBody>
        </p:sp>
        <p:grpSp>
          <p:nvGrpSpPr>
            <p:cNvPr name="Group 20" id="20"/>
            <p:cNvGrpSpPr/>
            <p:nvPr/>
          </p:nvGrpSpPr>
          <p:grpSpPr>
            <a:xfrm rot="0">
              <a:off x="0" y="51516"/>
              <a:ext cx="365072" cy="321148"/>
              <a:chOff x="0" y="0"/>
              <a:chExt cx="923968" cy="812800"/>
            </a:xfrm>
          </p:grpSpPr>
          <p:sp>
            <p:nvSpPr>
              <p:cNvPr name="Freeform 21" id="21"/>
              <p:cNvSpPr/>
              <p:nvPr/>
            </p:nvSpPr>
            <p:spPr>
              <a:xfrm flipH="false" flipV="false" rot="0">
                <a:off x="0" y="0"/>
                <a:ext cx="923968" cy="812800"/>
              </a:xfrm>
              <a:custGeom>
                <a:avLst/>
                <a:gdLst/>
                <a:ahLst/>
                <a:cxnLst/>
                <a:rect r="r" b="b" t="t" l="l"/>
                <a:pathLst>
                  <a:path h="812800" w="923968">
                    <a:moveTo>
                      <a:pt x="461984" y="0"/>
                    </a:moveTo>
                    <a:cubicBezTo>
                      <a:pt x="206837" y="0"/>
                      <a:pt x="0" y="181951"/>
                      <a:pt x="0" y="406400"/>
                    </a:cubicBezTo>
                    <a:cubicBezTo>
                      <a:pt x="0" y="630849"/>
                      <a:pt x="206837" y="812800"/>
                      <a:pt x="461984" y="812800"/>
                    </a:cubicBezTo>
                    <a:cubicBezTo>
                      <a:pt x="717131" y="812800"/>
                      <a:pt x="923968" y="630849"/>
                      <a:pt x="923968" y="406400"/>
                    </a:cubicBezTo>
                    <a:cubicBezTo>
                      <a:pt x="923968" y="181951"/>
                      <a:pt x="717131" y="0"/>
                      <a:pt x="461984" y="0"/>
                    </a:cubicBezTo>
                    <a:close/>
                  </a:path>
                </a:pathLst>
              </a:custGeom>
              <a:solidFill>
                <a:srgbClr val="0D0D0D"/>
              </a:solidFill>
            </p:spPr>
          </p:sp>
          <p:sp>
            <p:nvSpPr>
              <p:cNvPr name="TextBox 22" id="22"/>
              <p:cNvSpPr txBox="true"/>
              <p:nvPr/>
            </p:nvSpPr>
            <p:spPr>
              <a:xfrm>
                <a:off x="86622" y="38100"/>
                <a:ext cx="750724" cy="698500"/>
              </a:xfrm>
              <a:prstGeom prst="rect">
                <a:avLst/>
              </a:prstGeom>
            </p:spPr>
            <p:txBody>
              <a:bodyPr anchor="ctr" rtlCol="false" tIns="50800" lIns="50800" bIns="50800" rIns="50800"/>
              <a:lstStyle/>
              <a:p>
                <a:pPr algn="ctr">
                  <a:lnSpc>
                    <a:spcPts val="2520"/>
                  </a:lnSpc>
                </a:pPr>
              </a:p>
            </p:txBody>
          </p:sp>
        </p:grpSp>
      </p:grpSp>
      <p:grpSp>
        <p:nvGrpSpPr>
          <p:cNvPr name="Group 23" id="23"/>
          <p:cNvGrpSpPr/>
          <p:nvPr/>
        </p:nvGrpSpPr>
        <p:grpSpPr>
          <a:xfrm rot="0">
            <a:off x="1248431" y="6116410"/>
            <a:ext cx="6964172" cy="318135"/>
            <a:chOff x="0" y="0"/>
            <a:chExt cx="9285563" cy="424179"/>
          </a:xfrm>
        </p:grpSpPr>
        <p:sp>
          <p:nvSpPr>
            <p:cNvPr name="TextBox 24" id="24"/>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BDD</a:t>
              </a:r>
              <a:r>
                <a:rPr lang="en-US" b="true" sz="2100" spc="-63">
                  <a:solidFill>
                    <a:srgbClr val="0D0D0D"/>
                  </a:solidFill>
                  <a:latin typeface="Poppins Semi-Bold"/>
                  <a:ea typeface="Poppins Semi-Bold"/>
                  <a:cs typeface="Poppins Semi-Bold"/>
                  <a:sym typeface="Poppins Semi-Bold"/>
                </a:rPr>
                <a:t> &amp; TDD Development On-site </a:t>
              </a:r>
            </a:p>
          </p:txBody>
        </p:sp>
        <p:grpSp>
          <p:nvGrpSpPr>
            <p:cNvPr name="Group 25" id="25"/>
            <p:cNvGrpSpPr/>
            <p:nvPr/>
          </p:nvGrpSpPr>
          <p:grpSpPr>
            <a:xfrm rot="0">
              <a:off x="0" y="51516"/>
              <a:ext cx="321148" cy="321148"/>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8" id="28"/>
          <p:cNvGrpSpPr/>
          <p:nvPr/>
        </p:nvGrpSpPr>
        <p:grpSpPr>
          <a:xfrm rot="0">
            <a:off x="9144000" y="6116410"/>
            <a:ext cx="6964172" cy="318135"/>
            <a:chOff x="0" y="0"/>
            <a:chExt cx="9285563" cy="424179"/>
          </a:xfrm>
        </p:grpSpPr>
        <p:sp>
          <p:nvSpPr>
            <p:cNvPr name="TextBox 29" id="29"/>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a:t>
              </a:r>
              <a:r>
                <a:rPr lang="en-US" b="true" sz="2100" spc="-63">
                  <a:solidFill>
                    <a:srgbClr val="0D0D0D"/>
                  </a:solidFill>
                  <a:latin typeface="Poppins Semi-Bold"/>
                  <a:ea typeface="Poppins Semi-Bold"/>
                  <a:cs typeface="Poppins Semi-Bold"/>
                  <a:sym typeface="Poppins Semi-Bold"/>
                </a:rPr>
                <a:t>oldFusion ORM On-site </a:t>
              </a:r>
            </a:p>
          </p:txBody>
        </p:sp>
        <p:grpSp>
          <p:nvGrpSpPr>
            <p:cNvPr name="Group 30" id="30"/>
            <p:cNvGrpSpPr/>
            <p:nvPr/>
          </p:nvGrpSpPr>
          <p:grpSpPr>
            <a:xfrm rot="0">
              <a:off x="0" y="51516"/>
              <a:ext cx="321148" cy="321148"/>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33" id="33"/>
          <p:cNvGrpSpPr/>
          <p:nvPr/>
        </p:nvGrpSpPr>
        <p:grpSpPr>
          <a:xfrm rot="0">
            <a:off x="1248431" y="6731453"/>
            <a:ext cx="6964172" cy="318135"/>
            <a:chOff x="0" y="0"/>
            <a:chExt cx="9285563" cy="424179"/>
          </a:xfrm>
        </p:grpSpPr>
        <p:sp>
          <p:nvSpPr>
            <p:cNvPr name="TextBox 34" id="34"/>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BDD</a:t>
              </a:r>
              <a:r>
                <a:rPr lang="en-US" b="true" sz="2100" spc="-63">
                  <a:solidFill>
                    <a:srgbClr val="0D0D0D"/>
                  </a:solidFill>
                  <a:latin typeface="Poppins Semi-Bold"/>
                  <a:ea typeface="Poppins Semi-Bold"/>
                  <a:cs typeface="Poppins Semi-Bold"/>
                  <a:sym typeface="Poppins Semi-Bold"/>
                </a:rPr>
                <a:t> &amp; TDD Development Virtual </a:t>
              </a:r>
            </a:p>
          </p:txBody>
        </p:sp>
        <p:grpSp>
          <p:nvGrpSpPr>
            <p:cNvPr name="Group 35" id="35"/>
            <p:cNvGrpSpPr/>
            <p:nvPr/>
          </p:nvGrpSpPr>
          <p:grpSpPr>
            <a:xfrm rot="0">
              <a:off x="0" y="51516"/>
              <a:ext cx="321148" cy="321148"/>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37" id="3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38" id="38"/>
          <p:cNvGrpSpPr/>
          <p:nvPr/>
        </p:nvGrpSpPr>
        <p:grpSpPr>
          <a:xfrm rot="0">
            <a:off x="9144000" y="6731453"/>
            <a:ext cx="6964172" cy="318135"/>
            <a:chOff x="0" y="0"/>
            <a:chExt cx="9285563" cy="424179"/>
          </a:xfrm>
        </p:grpSpPr>
        <p:sp>
          <p:nvSpPr>
            <p:cNvPr name="TextBox 39" id="39"/>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ColdFusi</a:t>
              </a:r>
              <a:r>
                <a:rPr lang="en-US" b="true" sz="2100" spc="-63">
                  <a:solidFill>
                    <a:srgbClr val="0D0D0D"/>
                  </a:solidFill>
                  <a:latin typeface="Poppins Semi-Bold"/>
                  <a:ea typeface="Poppins Semi-Bold"/>
                  <a:cs typeface="Poppins Semi-Bold"/>
                  <a:sym typeface="Poppins Semi-Bold"/>
                </a:rPr>
                <a:t>on ORM Virtual</a:t>
              </a:r>
            </a:p>
          </p:txBody>
        </p:sp>
        <p:grpSp>
          <p:nvGrpSpPr>
            <p:cNvPr name="Group 40" id="40"/>
            <p:cNvGrpSpPr/>
            <p:nvPr/>
          </p:nvGrpSpPr>
          <p:grpSpPr>
            <a:xfrm rot="0">
              <a:off x="0" y="51516"/>
              <a:ext cx="321148" cy="321148"/>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2" id="42"/>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43" id="43"/>
          <p:cNvGrpSpPr/>
          <p:nvPr/>
        </p:nvGrpSpPr>
        <p:grpSpPr>
          <a:xfrm rot="0">
            <a:off x="1248431" y="7346496"/>
            <a:ext cx="6964172" cy="318135"/>
            <a:chOff x="0" y="0"/>
            <a:chExt cx="9285563" cy="424179"/>
          </a:xfrm>
        </p:grpSpPr>
        <p:sp>
          <p:nvSpPr>
            <p:cNvPr name="TextBox 44" id="44"/>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COMMANDBOX</a:t>
              </a:r>
              <a:r>
                <a:rPr lang="en-US" b="true" sz="2100" spc="-63">
                  <a:solidFill>
                    <a:srgbClr val="0D0D0D"/>
                  </a:solidFill>
                  <a:latin typeface="Poppins Semi-Bold"/>
                  <a:ea typeface="Poppins Semi-Bold"/>
                  <a:cs typeface="Poppins Semi-Bold"/>
                  <a:sym typeface="Poppins Semi-Bold"/>
                </a:rPr>
                <a:t> Deep Dive On-site</a:t>
              </a:r>
            </a:p>
          </p:txBody>
        </p:sp>
        <p:grpSp>
          <p:nvGrpSpPr>
            <p:cNvPr name="Group 45" id="45"/>
            <p:cNvGrpSpPr/>
            <p:nvPr/>
          </p:nvGrpSpPr>
          <p:grpSpPr>
            <a:xfrm rot="0">
              <a:off x="0" y="51516"/>
              <a:ext cx="321148" cy="321148"/>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7" id="4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48" id="48"/>
          <p:cNvGrpSpPr/>
          <p:nvPr/>
        </p:nvGrpSpPr>
        <p:grpSpPr>
          <a:xfrm rot="0">
            <a:off x="9144000" y="7346496"/>
            <a:ext cx="6964172" cy="318135"/>
            <a:chOff x="0" y="0"/>
            <a:chExt cx="9285563" cy="424179"/>
          </a:xfrm>
        </p:grpSpPr>
        <p:sp>
          <p:nvSpPr>
            <p:cNvPr name="TextBox 49" id="49"/>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Int</a:t>
              </a:r>
              <a:r>
                <a:rPr lang="en-US" b="true" sz="2100" spc="-63">
                  <a:solidFill>
                    <a:srgbClr val="0D0D0D"/>
                  </a:solidFill>
                  <a:latin typeface="Poppins Semi-Bold"/>
                  <a:ea typeface="Poppins Semi-Bold"/>
                  <a:cs typeface="Poppins Semi-Bold"/>
                  <a:sym typeface="Poppins Semi-Bold"/>
                </a:rPr>
                <a:t>ro to Quick On-site</a:t>
              </a:r>
            </a:p>
          </p:txBody>
        </p:sp>
        <p:grpSp>
          <p:nvGrpSpPr>
            <p:cNvPr name="Group 50" id="50"/>
            <p:cNvGrpSpPr/>
            <p:nvPr/>
          </p:nvGrpSpPr>
          <p:grpSpPr>
            <a:xfrm rot="0">
              <a:off x="0" y="51516"/>
              <a:ext cx="321148" cy="321148"/>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52" id="52"/>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53" id="53"/>
          <p:cNvGrpSpPr/>
          <p:nvPr/>
        </p:nvGrpSpPr>
        <p:grpSpPr>
          <a:xfrm rot="0">
            <a:off x="1248431" y="7961539"/>
            <a:ext cx="6964172" cy="318135"/>
            <a:chOff x="0" y="0"/>
            <a:chExt cx="9285563" cy="424179"/>
          </a:xfrm>
        </p:grpSpPr>
        <p:sp>
          <p:nvSpPr>
            <p:cNvPr name="TextBox 54" id="54"/>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COMMANDBOX</a:t>
              </a:r>
              <a:r>
                <a:rPr lang="en-US" b="true" sz="2100" spc="-63">
                  <a:solidFill>
                    <a:srgbClr val="0D0D0D"/>
                  </a:solidFill>
                  <a:latin typeface="Poppins Semi-Bold"/>
                  <a:ea typeface="Poppins Semi-Bold"/>
                  <a:cs typeface="Poppins Semi-Bold"/>
                  <a:sym typeface="Poppins Semi-Bold"/>
                </a:rPr>
                <a:t> Deep Dive Virtual</a:t>
              </a:r>
            </a:p>
          </p:txBody>
        </p:sp>
        <p:grpSp>
          <p:nvGrpSpPr>
            <p:cNvPr name="Group 55" id="55"/>
            <p:cNvGrpSpPr/>
            <p:nvPr/>
          </p:nvGrpSpPr>
          <p:grpSpPr>
            <a:xfrm rot="0">
              <a:off x="0" y="51516"/>
              <a:ext cx="321148" cy="321148"/>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57" id="5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58" id="58"/>
          <p:cNvGrpSpPr/>
          <p:nvPr/>
        </p:nvGrpSpPr>
        <p:grpSpPr>
          <a:xfrm rot="0">
            <a:off x="9144000" y="7961539"/>
            <a:ext cx="6964172" cy="318135"/>
            <a:chOff x="0" y="0"/>
            <a:chExt cx="9285563" cy="424179"/>
          </a:xfrm>
        </p:grpSpPr>
        <p:sp>
          <p:nvSpPr>
            <p:cNvPr name="TextBox 59" id="59"/>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Intro</a:t>
              </a:r>
              <a:r>
                <a:rPr lang="en-US" b="true" sz="2100" spc="-63">
                  <a:solidFill>
                    <a:srgbClr val="0D0D0D"/>
                  </a:solidFill>
                  <a:latin typeface="Poppins Semi-Bold"/>
                  <a:ea typeface="Poppins Semi-Bold"/>
                  <a:cs typeface="Poppins Semi-Bold"/>
                  <a:sym typeface="Poppins Semi-Bold"/>
                </a:rPr>
                <a:t> to Quick Virtual </a:t>
              </a:r>
            </a:p>
          </p:txBody>
        </p:sp>
        <p:grpSp>
          <p:nvGrpSpPr>
            <p:cNvPr name="Group 60" id="60"/>
            <p:cNvGrpSpPr/>
            <p:nvPr/>
          </p:nvGrpSpPr>
          <p:grpSpPr>
            <a:xfrm rot="0">
              <a:off x="0" y="51516"/>
              <a:ext cx="321148" cy="321148"/>
              <a:chOff x="0" y="0"/>
              <a:chExt cx="812800" cy="812800"/>
            </a:xfrm>
          </p:grpSpPr>
          <p:sp>
            <p:nvSpPr>
              <p:cNvPr name="Freeform 61" id="6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62" id="62"/>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63" id="63"/>
          <p:cNvGrpSpPr/>
          <p:nvPr/>
        </p:nvGrpSpPr>
        <p:grpSpPr>
          <a:xfrm rot="0">
            <a:off x="1248431" y="8576581"/>
            <a:ext cx="6964172" cy="318135"/>
            <a:chOff x="0" y="0"/>
            <a:chExt cx="9285563" cy="424179"/>
          </a:xfrm>
        </p:grpSpPr>
        <p:sp>
          <p:nvSpPr>
            <p:cNvPr name="TextBox 64" id="64"/>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COLDBOX</a:t>
              </a:r>
              <a:r>
                <a:rPr lang="en-US" b="true" sz="2100" spc="-63">
                  <a:solidFill>
                    <a:srgbClr val="0D0D0D"/>
                  </a:solidFill>
                  <a:latin typeface="Poppins Semi-Bold"/>
                  <a:ea typeface="Poppins Semi-Bold"/>
                  <a:cs typeface="Poppins Semi-Bold"/>
                  <a:sym typeface="Poppins Semi-Bold"/>
                </a:rPr>
                <a:t> RESTFul Services On-site</a:t>
              </a:r>
            </a:p>
          </p:txBody>
        </p:sp>
        <p:grpSp>
          <p:nvGrpSpPr>
            <p:cNvPr name="Group 65" id="65"/>
            <p:cNvGrpSpPr/>
            <p:nvPr/>
          </p:nvGrpSpPr>
          <p:grpSpPr>
            <a:xfrm rot="0">
              <a:off x="0" y="51516"/>
              <a:ext cx="321148" cy="321148"/>
              <a:chOff x="0" y="0"/>
              <a:chExt cx="812800" cy="812800"/>
            </a:xfrm>
          </p:grpSpPr>
          <p:sp>
            <p:nvSpPr>
              <p:cNvPr name="Freeform 66" id="6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67" id="6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68" id="68"/>
          <p:cNvGrpSpPr/>
          <p:nvPr/>
        </p:nvGrpSpPr>
        <p:grpSpPr>
          <a:xfrm rot="0">
            <a:off x="9144000" y="8576581"/>
            <a:ext cx="6964172" cy="318135"/>
            <a:chOff x="0" y="0"/>
            <a:chExt cx="9285563" cy="424179"/>
          </a:xfrm>
        </p:grpSpPr>
        <p:sp>
          <p:nvSpPr>
            <p:cNvPr name="TextBox 69" id="69"/>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CFCASTS Subscription 1 Year</a:t>
              </a:r>
            </a:p>
          </p:txBody>
        </p:sp>
        <p:grpSp>
          <p:nvGrpSpPr>
            <p:cNvPr name="Group 70" id="70"/>
            <p:cNvGrpSpPr/>
            <p:nvPr/>
          </p:nvGrpSpPr>
          <p:grpSpPr>
            <a:xfrm rot="0">
              <a:off x="0" y="51516"/>
              <a:ext cx="321148" cy="321148"/>
              <a:chOff x="0" y="0"/>
              <a:chExt cx="812800" cy="812800"/>
            </a:xfrm>
          </p:grpSpPr>
          <p:sp>
            <p:nvSpPr>
              <p:cNvPr name="Freeform 71" id="7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72" id="72"/>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73" id="73"/>
          <p:cNvGrpSpPr/>
          <p:nvPr/>
        </p:nvGrpSpPr>
        <p:grpSpPr>
          <a:xfrm rot="0">
            <a:off x="1248431" y="9191624"/>
            <a:ext cx="6964172" cy="318135"/>
            <a:chOff x="0" y="0"/>
            <a:chExt cx="9285563" cy="424179"/>
          </a:xfrm>
        </p:grpSpPr>
        <p:sp>
          <p:nvSpPr>
            <p:cNvPr name="TextBox 74" id="74"/>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COLDBOX</a:t>
              </a:r>
              <a:r>
                <a:rPr lang="en-US" b="true" sz="2100" spc="-63">
                  <a:solidFill>
                    <a:srgbClr val="0D0D0D"/>
                  </a:solidFill>
                  <a:latin typeface="Poppins Semi-Bold"/>
                  <a:ea typeface="Poppins Semi-Bold"/>
                  <a:cs typeface="Poppins Semi-Bold"/>
                  <a:sym typeface="Poppins Semi-Bold"/>
                </a:rPr>
                <a:t> RESTFul Services Virtual</a:t>
              </a:r>
            </a:p>
          </p:txBody>
        </p:sp>
        <p:grpSp>
          <p:nvGrpSpPr>
            <p:cNvPr name="Group 75" id="75"/>
            <p:cNvGrpSpPr/>
            <p:nvPr/>
          </p:nvGrpSpPr>
          <p:grpSpPr>
            <a:xfrm rot="0">
              <a:off x="0" y="51516"/>
              <a:ext cx="321148" cy="321148"/>
              <a:chOff x="0" y="0"/>
              <a:chExt cx="812800" cy="812800"/>
            </a:xfrm>
          </p:grpSpPr>
          <p:sp>
            <p:nvSpPr>
              <p:cNvPr name="Freeform 76" id="7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77" id="7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78" id="78"/>
          <p:cNvGrpSpPr/>
          <p:nvPr/>
        </p:nvGrpSpPr>
        <p:grpSpPr>
          <a:xfrm rot="0">
            <a:off x="9144000" y="9191624"/>
            <a:ext cx="6964172" cy="318135"/>
            <a:chOff x="0" y="0"/>
            <a:chExt cx="9285563" cy="424179"/>
          </a:xfrm>
        </p:grpSpPr>
        <p:sp>
          <p:nvSpPr>
            <p:cNvPr name="TextBox 79" id="79"/>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CFCASTS Subscription - 1 Month</a:t>
              </a:r>
            </a:p>
          </p:txBody>
        </p:sp>
        <p:grpSp>
          <p:nvGrpSpPr>
            <p:cNvPr name="Group 80" id="80"/>
            <p:cNvGrpSpPr/>
            <p:nvPr/>
          </p:nvGrpSpPr>
          <p:grpSpPr>
            <a:xfrm rot="0">
              <a:off x="0" y="51516"/>
              <a:ext cx="321148" cy="321148"/>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82" id="82"/>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Freeform 83" id="83"/>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4" id="84"/>
          <p:cNvSpPr txBox="true"/>
          <p:nvPr/>
        </p:nvSpPr>
        <p:spPr>
          <a:xfrm rot="0">
            <a:off x="1028700" y="2912052"/>
            <a:ext cx="10480051" cy="1878964"/>
          </a:xfrm>
          <a:prstGeom prst="rect">
            <a:avLst/>
          </a:prstGeom>
        </p:spPr>
        <p:txBody>
          <a:bodyPr anchor="t" rtlCol="false" tIns="0" lIns="0" bIns="0" rIns="0">
            <a:spAutoFit/>
          </a:bodyPr>
          <a:lstStyle/>
          <a:p>
            <a:pPr algn="l">
              <a:lnSpc>
                <a:spcPts val="14560"/>
              </a:lnSpc>
            </a:pPr>
            <a:r>
              <a:rPr lang="en-US" sz="10400">
                <a:solidFill>
                  <a:srgbClr val="0D0D0D"/>
                </a:solidFill>
                <a:latin typeface="Poppins Light"/>
                <a:ea typeface="Poppins Light"/>
                <a:cs typeface="Poppins Light"/>
                <a:sym typeface="Poppins Light"/>
              </a:rPr>
              <a:t>Training</a:t>
            </a:r>
          </a:p>
        </p:txBody>
      </p:sp>
      <p:grpSp>
        <p:nvGrpSpPr>
          <p:cNvPr name="Group 85" id="85"/>
          <p:cNvGrpSpPr/>
          <p:nvPr/>
        </p:nvGrpSpPr>
        <p:grpSpPr>
          <a:xfrm rot="0">
            <a:off x="14735175" y="1069255"/>
            <a:ext cx="2524125" cy="784945"/>
            <a:chOff x="0" y="0"/>
            <a:chExt cx="664790" cy="206735"/>
          </a:xfrm>
        </p:grpSpPr>
        <p:sp>
          <p:nvSpPr>
            <p:cNvPr name="Freeform 86" id="86"/>
            <p:cNvSpPr/>
            <p:nvPr/>
          </p:nvSpPr>
          <p:spPr>
            <a:xfrm flipH="false" flipV="false" rot="0">
              <a:off x="0" y="0"/>
              <a:ext cx="664790" cy="206735"/>
            </a:xfrm>
            <a:custGeom>
              <a:avLst/>
              <a:gdLst/>
              <a:ahLst/>
              <a:cxnLst/>
              <a:rect r="r" b="b" t="t" l="l"/>
              <a:pathLst>
                <a:path h="206735" w="664790">
                  <a:moveTo>
                    <a:pt x="103367" y="0"/>
                  </a:moveTo>
                  <a:lnTo>
                    <a:pt x="561423" y="0"/>
                  </a:lnTo>
                  <a:cubicBezTo>
                    <a:pt x="588838" y="0"/>
                    <a:pt x="615129" y="10890"/>
                    <a:pt x="634515" y="30276"/>
                  </a:cubicBezTo>
                  <a:cubicBezTo>
                    <a:pt x="653900" y="49661"/>
                    <a:pt x="664790" y="75953"/>
                    <a:pt x="664790" y="103367"/>
                  </a:cubicBezTo>
                  <a:lnTo>
                    <a:pt x="664790" y="103367"/>
                  </a:lnTo>
                  <a:cubicBezTo>
                    <a:pt x="664790" y="130782"/>
                    <a:pt x="653900" y="157074"/>
                    <a:pt x="634515" y="176459"/>
                  </a:cubicBezTo>
                  <a:cubicBezTo>
                    <a:pt x="615129" y="195844"/>
                    <a:pt x="588838" y="206735"/>
                    <a:pt x="56142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87" id="87"/>
            <p:cNvSpPr txBox="true"/>
            <p:nvPr/>
          </p:nvSpPr>
          <p:spPr>
            <a:xfrm>
              <a:off x="0" y="-38100"/>
              <a:ext cx="664790" cy="244835"/>
            </a:xfrm>
            <a:prstGeom prst="rect">
              <a:avLst/>
            </a:prstGeom>
          </p:spPr>
          <p:txBody>
            <a:bodyPr anchor="ctr" rtlCol="false" tIns="50800" lIns="50800" bIns="50800" rIns="50800"/>
            <a:lstStyle/>
            <a:p>
              <a:pPr algn="ctr">
                <a:lnSpc>
                  <a:spcPts val="2520"/>
                </a:lnSpc>
              </a:pPr>
            </a:p>
          </p:txBody>
        </p:sp>
      </p:grpSp>
      <p:sp>
        <p:nvSpPr>
          <p:cNvPr name="TextBox 88" id="88"/>
          <p:cNvSpPr txBox="true"/>
          <p:nvPr/>
        </p:nvSpPr>
        <p:spPr>
          <a:xfrm rot="0">
            <a:off x="15398576" y="1198202"/>
            <a:ext cx="1574750"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SIN: 611420</a:t>
            </a:r>
          </a:p>
        </p:txBody>
      </p:sp>
      <p:grpSp>
        <p:nvGrpSpPr>
          <p:cNvPr name="Group 89" id="89"/>
          <p:cNvGrpSpPr/>
          <p:nvPr/>
        </p:nvGrpSpPr>
        <p:grpSpPr>
          <a:xfrm rot="0">
            <a:off x="15001875" y="1341297"/>
            <a:ext cx="240861" cy="240861"/>
            <a:chOff x="0" y="0"/>
            <a:chExt cx="812800" cy="812800"/>
          </a:xfrm>
        </p:grpSpPr>
        <p:sp>
          <p:nvSpPr>
            <p:cNvPr name="Freeform 90" id="9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91" id="9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transition spd="fast">
    <p:fade/>
  </p:transition>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48431" y="4886325"/>
            <a:ext cx="6964172" cy="318135"/>
            <a:chOff x="0" y="0"/>
            <a:chExt cx="9285563" cy="424179"/>
          </a:xfrm>
        </p:grpSpPr>
        <p:sp>
          <p:nvSpPr>
            <p:cNvPr name="TextBox 4" id="4"/>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Containerizing ColdF</a:t>
              </a:r>
              <a:r>
                <a:rPr lang="en-US" b="true" sz="2100" spc="-63">
                  <a:solidFill>
                    <a:srgbClr val="0D0D0D"/>
                  </a:solidFill>
                  <a:latin typeface="Poppins Semi-Bold"/>
                  <a:ea typeface="Poppins Semi-Bold"/>
                  <a:cs typeface="Poppins Semi-Bold"/>
                  <a:sym typeface="Poppins Semi-Bold"/>
                </a:rPr>
                <a:t>usion (CFML) Apps On -site</a:t>
              </a:r>
            </a:p>
          </p:txBody>
        </p:sp>
        <p:grpSp>
          <p:nvGrpSpPr>
            <p:cNvPr name="Group 5" id="5"/>
            <p:cNvGrpSpPr/>
            <p:nvPr/>
          </p:nvGrpSpPr>
          <p:grpSpPr>
            <a:xfrm rot="0">
              <a:off x="0" y="51516"/>
              <a:ext cx="321148" cy="32114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8" id="8"/>
          <p:cNvGrpSpPr/>
          <p:nvPr/>
        </p:nvGrpSpPr>
        <p:grpSpPr>
          <a:xfrm rot="0">
            <a:off x="1248431" y="5496116"/>
            <a:ext cx="6964172" cy="318135"/>
            <a:chOff x="0" y="0"/>
            <a:chExt cx="9285563" cy="424179"/>
          </a:xfrm>
        </p:grpSpPr>
        <p:sp>
          <p:nvSpPr>
            <p:cNvPr name="TextBox 9" id="9"/>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Containerizing ColdF</a:t>
              </a:r>
              <a:r>
                <a:rPr lang="en-US" b="true" sz="2100" spc="-63">
                  <a:solidFill>
                    <a:srgbClr val="0D0D0D"/>
                  </a:solidFill>
                  <a:latin typeface="Poppins Semi-Bold"/>
                  <a:ea typeface="Poppins Semi-Bold"/>
                  <a:cs typeface="Poppins Semi-Bold"/>
                  <a:sym typeface="Poppins Semi-Bold"/>
                </a:rPr>
                <a:t>usion (CFML) Apps Virtual</a:t>
              </a:r>
            </a:p>
          </p:txBody>
        </p:sp>
        <p:grpSp>
          <p:nvGrpSpPr>
            <p:cNvPr name="Group 10" id="10"/>
            <p:cNvGrpSpPr/>
            <p:nvPr/>
          </p:nvGrpSpPr>
          <p:grpSpPr>
            <a:xfrm rot="0">
              <a:off x="0" y="51516"/>
              <a:ext cx="321148" cy="32114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Freeform 13" id="13"/>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1028700" y="2912052"/>
            <a:ext cx="10480051" cy="1878964"/>
          </a:xfrm>
          <a:prstGeom prst="rect">
            <a:avLst/>
          </a:prstGeom>
        </p:spPr>
        <p:txBody>
          <a:bodyPr anchor="t" rtlCol="false" tIns="0" lIns="0" bIns="0" rIns="0">
            <a:spAutoFit/>
          </a:bodyPr>
          <a:lstStyle/>
          <a:p>
            <a:pPr algn="l">
              <a:lnSpc>
                <a:spcPts val="14560"/>
              </a:lnSpc>
            </a:pPr>
            <a:r>
              <a:rPr lang="en-US" sz="10400">
                <a:solidFill>
                  <a:srgbClr val="0D0D0D"/>
                </a:solidFill>
                <a:latin typeface="Poppins Light"/>
                <a:ea typeface="Poppins Light"/>
                <a:cs typeface="Poppins Light"/>
                <a:sym typeface="Poppins Light"/>
              </a:rPr>
              <a:t>Training</a:t>
            </a:r>
          </a:p>
        </p:txBody>
      </p:sp>
      <p:grpSp>
        <p:nvGrpSpPr>
          <p:cNvPr name="Group 15" id="15"/>
          <p:cNvGrpSpPr/>
          <p:nvPr/>
        </p:nvGrpSpPr>
        <p:grpSpPr>
          <a:xfrm rot="0">
            <a:off x="14735175" y="1069255"/>
            <a:ext cx="2524125" cy="784945"/>
            <a:chOff x="0" y="0"/>
            <a:chExt cx="664790" cy="206735"/>
          </a:xfrm>
        </p:grpSpPr>
        <p:sp>
          <p:nvSpPr>
            <p:cNvPr name="Freeform 16" id="16"/>
            <p:cNvSpPr/>
            <p:nvPr/>
          </p:nvSpPr>
          <p:spPr>
            <a:xfrm flipH="false" flipV="false" rot="0">
              <a:off x="0" y="0"/>
              <a:ext cx="664790" cy="206735"/>
            </a:xfrm>
            <a:custGeom>
              <a:avLst/>
              <a:gdLst/>
              <a:ahLst/>
              <a:cxnLst/>
              <a:rect r="r" b="b" t="t" l="l"/>
              <a:pathLst>
                <a:path h="206735" w="664790">
                  <a:moveTo>
                    <a:pt x="103367" y="0"/>
                  </a:moveTo>
                  <a:lnTo>
                    <a:pt x="561423" y="0"/>
                  </a:lnTo>
                  <a:cubicBezTo>
                    <a:pt x="588838" y="0"/>
                    <a:pt x="615129" y="10890"/>
                    <a:pt x="634515" y="30276"/>
                  </a:cubicBezTo>
                  <a:cubicBezTo>
                    <a:pt x="653900" y="49661"/>
                    <a:pt x="664790" y="75953"/>
                    <a:pt x="664790" y="103367"/>
                  </a:cubicBezTo>
                  <a:lnTo>
                    <a:pt x="664790" y="103367"/>
                  </a:lnTo>
                  <a:cubicBezTo>
                    <a:pt x="664790" y="130782"/>
                    <a:pt x="653900" y="157074"/>
                    <a:pt x="634515" y="176459"/>
                  </a:cubicBezTo>
                  <a:cubicBezTo>
                    <a:pt x="615129" y="195844"/>
                    <a:pt x="588838" y="206735"/>
                    <a:pt x="56142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7" id="17"/>
            <p:cNvSpPr txBox="true"/>
            <p:nvPr/>
          </p:nvSpPr>
          <p:spPr>
            <a:xfrm>
              <a:off x="0" y="-38100"/>
              <a:ext cx="664790" cy="244835"/>
            </a:xfrm>
            <a:prstGeom prst="rect">
              <a:avLst/>
            </a:prstGeom>
          </p:spPr>
          <p:txBody>
            <a:bodyPr anchor="ctr" rtlCol="false" tIns="50800" lIns="50800" bIns="50800" rIns="50800"/>
            <a:lstStyle/>
            <a:p>
              <a:pPr algn="ctr">
                <a:lnSpc>
                  <a:spcPts val="2520"/>
                </a:lnSpc>
              </a:pPr>
            </a:p>
          </p:txBody>
        </p:sp>
      </p:grpSp>
      <p:sp>
        <p:nvSpPr>
          <p:cNvPr name="TextBox 18" id="18"/>
          <p:cNvSpPr txBox="true"/>
          <p:nvPr/>
        </p:nvSpPr>
        <p:spPr>
          <a:xfrm rot="0">
            <a:off x="15398576" y="1198202"/>
            <a:ext cx="1574750"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SIN: 611420</a:t>
            </a:r>
          </a:p>
        </p:txBody>
      </p:sp>
      <p:grpSp>
        <p:nvGrpSpPr>
          <p:cNvPr name="Group 19" id="19"/>
          <p:cNvGrpSpPr/>
          <p:nvPr/>
        </p:nvGrpSpPr>
        <p:grpSpPr>
          <a:xfrm rot="0">
            <a:off x="15001875" y="1341297"/>
            <a:ext cx="240861" cy="24086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22" id="22"/>
          <p:cNvGrpSpPr/>
          <p:nvPr/>
        </p:nvGrpSpPr>
        <p:grpSpPr>
          <a:xfrm rot="0">
            <a:off x="1248431" y="6105906"/>
            <a:ext cx="7192772" cy="318135"/>
            <a:chOff x="0" y="0"/>
            <a:chExt cx="9590363" cy="424179"/>
          </a:xfrm>
        </p:grpSpPr>
        <p:sp>
          <p:nvSpPr>
            <p:cNvPr name="TextBox 23" id="23"/>
            <p:cNvSpPr txBox="true"/>
            <p:nvPr/>
          </p:nvSpPr>
          <p:spPr>
            <a:xfrm rot="0">
              <a:off x="674874" y="-57150"/>
              <a:ext cx="89154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Object Oriented Pr</a:t>
              </a:r>
              <a:r>
                <a:rPr lang="en-US" b="true" sz="2100" spc="-63">
                  <a:solidFill>
                    <a:srgbClr val="0D0D0D"/>
                  </a:solidFill>
                  <a:latin typeface="Poppins Semi-Bold"/>
                  <a:ea typeface="Poppins Semi-Bold"/>
                  <a:cs typeface="Poppins Semi-Bold"/>
                  <a:sym typeface="Poppins Semi-Bold"/>
                </a:rPr>
                <a:t>ogramming with CFML On-Site</a:t>
              </a:r>
            </a:p>
          </p:txBody>
        </p:sp>
        <p:grpSp>
          <p:nvGrpSpPr>
            <p:cNvPr name="Group 24" id="24"/>
            <p:cNvGrpSpPr/>
            <p:nvPr/>
          </p:nvGrpSpPr>
          <p:grpSpPr>
            <a:xfrm rot="0">
              <a:off x="0" y="51516"/>
              <a:ext cx="321148" cy="321148"/>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7" id="27"/>
          <p:cNvGrpSpPr/>
          <p:nvPr/>
        </p:nvGrpSpPr>
        <p:grpSpPr>
          <a:xfrm rot="0">
            <a:off x="1248431" y="6715697"/>
            <a:ext cx="6964172" cy="318135"/>
            <a:chOff x="0" y="0"/>
            <a:chExt cx="9285563" cy="424179"/>
          </a:xfrm>
        </p:grpSpPr>
        <p:sp>
          <p:nvSpPr>
            <p:cNvPr name="TextBox 28" id="28"/>
            <p:cNvSpPr txBox="true"/>
            <p:nvPr/>
          </p:nvSpPr>
          <p:spPr>
            <a:xfrm rot="0">
              <a:off x="674874" y="-57150"/>
              <a:ext cx="8610689" cy="481329"/>
            </a:xfrm>
            <a:prstGeom prst="rect">
              <a:avLst/>
            </a:prstGeom>
          </p:spPr>
          <p:txBody>
            <a:bodyPr anchor="t" rtlCol="false" tIns="0" lIns="0" bIns="0" rIns="0">
              <a:spAutoFit/>
            </a:bodyPr>
            <a:lstStyle/>
            <a:p>
              <a:pPr algn="l" marL="0" indent="0" lvl="0">
                <a:lnSpc>
                  <a:spcPts val="2940"/>
                </a:lnSpc>
                <a:spcBef>
                  <a:spcPct val="0"/>
                </a:spcBef>
              </a:pPr>
              <a:r>
                <a:rPr lang="en-US" b="true" sz="2100" spc="-63">
                  <a:solidFill>
                    <a:srgbClr val="0D0D0D"/>
                  </a:solidFill>
                  <a:latin typeface="Poppins Semi-Bold"/>
                  <a:ea typeface="Poppins Semi-Bold"/>
                  <a:cs typeface="Poppins Semi-Bold"/>
                  <a:sym typeface="Poppins Semi-Bold"/>
                </a:rPr>
                <a:t>Object Oriented Pr</a:t>
              </a:r>
              <a:r>
                <a:rPr lang="en-US" b="true" sz="2100" spc="-63">
                  <a:solidFill>
                    <a:srgbClr val="0D0D0D"/>
                  </a:solidFill>
                  <a:latin typeface="Poppins Semi-Bold"/>
                  <a:ea typeface="Poppins Semi-Bold"/>
                  <a:cs typeface="Poppins Semi-Bold"/>
                  <a:sym typeface="Poppins Semi-Bold"/>
                </a:rPr>
                <a:t>ogramming with CFML Virtual </a:t>
              </a:r>
            </a:p>
          </p:txBody>
        </p:sp>
        <p:grpSp>
          <p:nvGrpSpPr>
            <p:cNvPr name="Group 29" id="29"/>
            <p:cNvGrpSpPr/>
            <p:nvPr/>
          </p:nvGrpSpPr>
          <p:grpSpPr>
            <a:xfrm rot="0">
              <a:off x="0" y="51516"/>
              <a:ext cx="321148" cy="321148"/>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Tree>
  </p:cSld>
  <p:clrMapOvr>
    <a:masterClrMapping/>
  </p:clrMapOvr>
  <p:transition spd="fast">
    <p:fade/>
  </p:transition>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5177671"/>
            <a:ext cx="10061009" cy="148336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Virtual training </a:t>
            </a:r>
          </a:p>
        </p:txBody>
      </p:sp>
      <p:sp>
        <p:nvSpPr>
          <p:cNvPr name="Freeform 4" id="4"/>
          <p:cNvSpPr/>
          <p:nvPr/>
        </p:nvSpPr>
        <p:spPr>
          <a:xfrm flipH="false" flipV="false" rot="0">
            <a:off x="1085850" y="7550725"/>
            <a:ext cx="404812" cy="404812"/>
          </a:xfrm>
          <a:custGeom>
            <a:avLst/>
            <a:gdLst/>
            <a:ahLst/>
            <a:cxnLst/>
            <a:rect r="r" b="b" t="t" l="l"/>
            <a:pathLst>
              <a:path h="404812" w="404812">
                <a:moveTo>
                  <a:pt x="0" y="0"/>
                </a:moveTo>
                <a:lnTo>
                  <a:pt x="404812" y="0"/>
                </a:lnTo>
                <a:lnTo>
                  <a:pt x="404812" y="404813"/>
                </a:lnTo>
                <a:lnTo>
                  <a:pt x="0" y="4048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6">
              <a:alphaModFix amt="15000"/>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4735175" y="1069255"/>
            <a:ext cx="2524125" cy="784945"/>
            <a:chOff x="0" y="0"/>
            <a:chExt cx="664790" cy="206735"/>
          </a:xfrm>
        </p:grpSpPr>
        <p:sp>
          <p:nvSpPr>
            <p:cNvPr name="Freeform 7" id="7"/>
            <p:cNvSpPr/>
            <p:nvPr/>
          </p:nvSpPr>
          <p:spPr>
            <a:xfrm flipH="false" flipV="false" rot="0">
              <a:off x="0" y="0"/>
              <a:ext cx="664790" cy="206735"/>
            </a:xfrm>
            <a:custGeom>
              <a:avLst/>
              <a:gdLst/>
              <a:ahLst/>
              <a:cxnLst/>
              <a:rect r="r" b="b" t="t" l="l"/>
              <a:pathLst>
                <a:path h="206735" w="664790">
                  <a:moveTo>
                    <a:pt x="103367" y="0"/>
                  </a:moveTo>
                  <a:lnTo>
                    <a:pt x="561423" y="0"/>
                  </a:lnTo>
                  <a:cubicBezTo>
                    <a:pt x="588838" y="0"/>
                    <a:pt x="615129" y="10890"/>
                    <a:pt x="634515" y="30276"/>
                  </a:cubicBezTo>
                  <a:cubicBezTo>
                    <a:pt x="653900" y="49661"/>
                    <a:pt x="664790" y="75953"/>
                    <a:pt x="664790" y="103367"/>
                  </a:cubicBezTo>
                  <a:lnTo>
                    <a:pt x="664790" y="103367"/>
                  </a:lnTo>
                  <a:cubicBezTo>
                    <a:pt x="664790" y="130782"/>
                    <a:pt x="653900" y="157074"/>
                    <a:pt x="634515" y="176459"/>
                  </a:cubicBezTo>
                  <a:cubicBezTo>
                    <a:pt x="615129" y="195844"/>
                    <a:pt x="588838" y="206735"/>
                    <a:pt x="56142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8" id="8"/>
            <p:cNvSpPr txBox="true"/>
            <p:nvPr/>
          </p:nvSpPr>
          <p:spPr>
            <a:xfrm>
              <a:off x="0" y="-38100"/>
              <a:ext cx="664790" cy="244835"/>
            </a:xfrm>
            <a:prstGeom prst="rect">
              <a:avLst/>
            </a:prstGeom>
          </p:spPr>
          <p:txBody>
            <a:bodyPr anchor="ctr" rtlCol="false" tIns="50800" lIns="50800" bIns="50800" rIns="50800"/>
            <a:lstStyle/>
            <a:p>
              <a:pPr algn="ctr">
                <a:lnSpc>
                  <a:spcPts val="2520"/>
                </a:lnSpc>
              </a:pPr>
            </a:p>
          </p:txBody>
        </p:sp>
      </p:grpSp>
      <p:grpSp>
        <p:nvGrpSpPr>
          <p:cNvPr name="Group 9" id="9"/>
          <p:cNvGrpSpPr/>
          <p:nvPr/>
        </p:nvGrpSpPr>
        <p:grpSpPr>
          <a:xfrm rot="0">
            <a:off x="15001875" y="1341297"/>
            <a:ext cx="240861" cy="24086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2" id="12"/>
          <p:cNvSpPr/>
          <p:nvPr/>
        </p:nvSpPr>
        <p:spPr>
          <a:xfrm flipH="false" flipV="false" rot="0">
            <a:off x="1085850" y="3920702"/>
            <a:ext cx="7520844" cy="1026118"/>
          </a:xfrm>
          <a:custGeom>
            <a:avLst/>
            <a:gdLst/>
            <a:ahLst/>
            <a:cxnLst/>
            <a:rect r="r" b="b" t="t" l="l"/>
            <a:pathLst>
              <a:path h="1026118" w="7520844">
                <a:moveTo>
                  <a:pt x="0" y="0"/>
                </a:moveTo>
                <a:lnTo>
                  <a:pt x="7520844" y="0"/>
                </a:lnTo>
                <a:lnTo>
                  <a:pt x="7520844" y="1026118"/>
                </a:lnTo>
                <a:lnTo>
                  <a:pt x="0" y="1026118"/>
                </a:lnTo>
                <a:lnTo>
                  <a:pt x="0" y="0"/>
                </a:lnTo>
                <a:close/>
              </a:path>
            </a:pathLst>
          </a:custGeom>
          <a:blipFill>
            <a:blip r:embed="rId8"/>
            <a:stretch>
              <a:fillRect l="0" t="0" r="0" b="0"/>
            </a:stretch>
          </a:blipFill>
        </p:spPr>
      </p:sp>
      <p:sp>
        <p:nvSpPr>
          <p:cNvPr name="TextBox 13" id="13"/>
          <p:cNvSpPr txBox="true"/>
          <p:nvPr/>
        </p:nvSpPr>
        <p:spPr>
          <a:xfrm rot="0">
            <a:off x="1028700" y="6834733"/>
            <a:ext cx="7034212" cy="580391"/>
          </a:xfrm>
          <a:prstGeom prst="rect">
            <a:avLst/>
          </a:prstGeom>
        </p:spPr>
        <p:txBody>
          <a:bodyPr anchor="t" rtlCol="false" tIns="0" lIns="0" bIns="0" rIns="0">
            <a:spAutoFit/>
          </a:bodyPr>
          <a:lstStyle/>
          <a:p>
            <a:pPr algn="l">
              <a:lnSpc>
                <a:spcPts val="4100"/>
              </a:lnSpc>
            </a:pPr>
            <a:r>
              <a:rPr lang="en-US" sz="4100">
                <a:solidFill>
                  <a:srgbClr val="0D0D0D"/>
                </a:solidFill>
                <a:latin typeface="Poppins Light"/>
                <a:ea typeface="Poppins Light"/>
                <a:cs typeface="Poppins Light"/>
                <a:sym typeface="Poppins Light"/>
              </a:rPr>
              <a:t>Availabe on demand</a:t>
            </a:r>
          </a:p>
        </p:txBody>
      </p:sp>
      <p:sp>
        <p:nvSpPr>
          <p:cNvPr name="TextBox 14" id="14"/>
          <p:cNvSpPr txBox="true"/>
          <p:nvPr/>
        </p:nvSpPr>
        <p:spPr>
          <a:xfrm rot="0">
            <a:off x="15398576" y="1198202"/>
            <a:ext cx="1574750"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SIN: 611420</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7371716"/>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28700" y="6262921"/>
            <a:ext cx="2524125" cy="784945"/>
            <a:chOff x="0" y="0"/>
            <a:chExt cx="664790" cy="206735"/>
          </a:xfrm>
        </p:grpSpPr>
        <p:sp>
          <p:nvSpPr>
            <p:cNvPr name="Freeform 5" id="5"/>
            <p:cNvSpPr/>
            <p:nvPr/>
          </p:nvSpPr>
          <p:spPr>
            <a:xfrm flipH="false" flipV="false" rot="0">
              <a:off x="0" y="0"/>
              <a:ext cx="664790" cy="206735"/>
            </a:xfrm>
            <a:custGeom>
              <a:avLst/>
              <a:gdLst/>
              <a:ahLst/>
              <a:cxnLst/>
              <a:rect r="r" b="b" t="t" l="l"/>
              <a:pathLst>
                <a:path h="206735" w="664790">
                  <a:moveTo>
                    <a:pt x="103367" y="0"/>
                  </a:moveTo>
                  <a:lnTo>
                    <a:pt x="561423" y="0"/>
                  </a:lnTo>
                  <a:cubicBezTo>
                    <a:pt x="588838" y="0"/>
                    <a:pt x="615129" y="10890"/>
                    <a:pt x="634515" y="30276"/>
                  </a:cubicBezTo>
                  <a:cubicBezTo>
                    <a:pt x="653900" y="49661"/>
                    <a:pt x="664790" y="75953"/>
                    <a:pt x="664790" y="103367"/>
                  </a:cubicBezTo>
                  <a:lnTo>
                    <a:pt x="664790" y="103367"/>
                  </a:lnTo>
                  <a:cubicBezTo>
                    <a:pt x="664790" y="130782"/>
                    <a:pt x="653900" y="157074"/>
                    <a:pt x="634515" y="176459"/>
                  </a:cubicBezTo>
                  <a:cubicBezTo>
                    <a:pt x="615129" y="195844"/>
                    <a:pt x="588838" y="206735"/>
                    <a:pt x="56142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664790" cy="244835"/>
            </a:xfrm>
            <a:prstGeom prst="rect">
              <a:avLst/>
            </a:prstGeom>
          </p:spPr>
          <p:txBody>
            <a:bodyPr anchor="ctr" rtlCol="false" tIns="50800" lIns="50800" bIns="50800" rIns="50800"/>
            <a:lstStyle/>
            <a:p>
              <a:pPr algn="ctr">
                <a:lnSpc>
                  <a:spcPts val="2520"/>
                </a:lnSpc>
              </a:pPr>
            </a:p>
          </p:txBody>
        </p:sp>
      </p:grpSp>
      <p:sp>
        <p:nvSpPr>
          <p:cNvPr name="TextBox 7" id="7"/>
          <p:cNvSpPr txBox="true"/>
          <p:nvPr/>
        </p:nvSpPr>
        <p:spPr>
          <a:xfrm rot="0">
            <a:off x="1797918" y="6391868"/>
            <a:ext cx="1468934"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SIN: 511210</a:t>
            </a:r>
          </a:p>
        </p:txBody>
      </p:sp>
      <p:grpSp>
        <p:nvGrpSpPr>
          <p:cNvPr name="Group 8" id="8"/>
          <p:cNvGrpSpPr/>
          <p:nvPr/>
        </p:nvGrpSpPr>
        <p:grpSpPr>
          <a:xfrm rot="0">
            <a:off x="1295400" y="6534962"/>
            <a:ext cx="240861" cy="24086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0">
            <a:off x="7844101" y="6253396"/>
            <a:ext cx="3533498" cy="784945"/>
            <a:chOff x="0" y="0"/>
            <a:chExt cx="4711330" cy="1046593"/>
          </a:xfrm>
        </p:grpSpPr>
        <p:grpSp>
          <p:nvGrpSpPr>
            <p:cNvPr name="Group 12" id="12"/>
            <p:cNvGrpSpPr/>
            <p:nvPr/>
          </p:nvGrpSpPr>
          <p:grpSpPr>
            <a:xfrm rot="0">
              <a:off x="0" y="0"/>
              <a:ext cx="4711330" cy="1046593"/>
              <a:chOff x="0" y="0"/>
              <a:chExt cx="930633" cy="206735"/>
            </a:xfrm>
          </p:grpSpPr>
          <p:sp>
            <p:nvSpPr>
              <p:cNvPr name="Freeform 13" id="13"/>
              <p:cNvSpPr/>
              <p:nvPr/>
            </p:nvSpPr>
            <p:spPr>
              <a:xfrm flipH="false" flipV="false" rot="0">
                <a:off x="0" y="0"/>
                <a:ext cx="930633" cy="206735"/>
              </a:xfrm>
              <a:custGeom>
                <a:avLst/>
                <a:gdLst/>
                <a:ahLst/>
                <a:cxnLst/>
                <a:rect r="r" b="b" t="t" l="l"/>
                <a:pathLst>
                  <a:path h="206735" w="930633">
                    <a:moveTo>
                      <a:pt x="103367" y="0"/>
                    </a:moveTo>
                    <a:lnTo>
                      <a:pt x="827266" y="0"/>
                    </a:lnTo>
                    <a:cubicBezTo>
                      <a:pt x="854681" y="0"/>
                      <a:pt x="880972" y="10890"/>
                      <a:pt x="900358" y="30276"/>
                    </a:cubicBezTo>
                    <a:cubicBezTo>
                      <a:pt x="919743" y="49661"/>
                      <a:pt x="930633" y="75953"/>
                      <a:pt x="930633" y="103367"/>
                    </a:cubicBezTo>
                    <a:lnTo>
                      <a:pt x="930633" y="103367"/>
                    </a:lnTo>
                    <a:cubicBezTo>
                      <a:pt x="930633" y="130782"/>
                      <a:pt x="919743" y="157074"/>
                      <a:pt x="900358" y="176459"/>
                    </a:cubicBezTo>
                    <a:cubicBezTo>
                      <a:pt x="880972" y="195844"/>
                      <a:pt x="854681" y="206735"/>
                      <a:pt x="827266"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4" id="14"/>
              <p:cNvSpPr txBox="true"/>
              <p:nvPr/>
            </p:nvSpPr>
            <p:spPr>
              <a:xfrm>
                <a:off x="0" y="-38100"/>
                <a:ext cx="930633" cy="244835"/>
              </a:xfrm>
              <a:prstGeom prst="rect">
                <a:avLst/>
              </a:prstGeom>
            </p:spPr>
            <p:txBody>
              <a:bodyPr anchor="ctr" rtlCol="false" tIns="50800" lIns="50800" bIns="50800" rIns="50800"/>
              <a:lstStyle/>
              <a:p>
                <a:pPr algn="ctr">
                  <a:lnSpc>
                    <a:spcPts val="2520"/>
                  </a:lnSpc>
                </a:pPr>
              </a:p>
            </p:txBody>
          </p:sp>
        </p:grpSp>
        <p:sp>
          <p:nvSpPr>
            <p:cNvPr name="TextBox 15" id="15"/>
            <p:cNvSpPr txBox="true"/>
            <p:nvPr/>
          </p:nvSpPr>
          <p:spPr>
            <a:xfrm rot="0">
              <a:off x="980011" y="197330"/>
              <a:ext cx="3350022" cy="575733"/>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0D0D0D"/>
                  </a:solidFill>
                  <a:latin typeface="Poppins Light"/>
                  <a:ea typeface="Poppins Light"/>
                  <a:cs typeface="Poppins Light"/>
                  <a:sym typeface="Poppins Light"/>
                </a:rPr>
                <a:t>LifeTime License</a:t>
              </a:r>
            </a:p>
          </p:txBody>
        </p:sp>
        <p:grpSp>
          <p:nvGrpSpPr>
            <p:cNvPr name="Group 16" id="16"/>
            <p:cNvGrpSpPr/>
            <p:nvPr/>
          </p:nvGrpSpPr>
          <p:grpSpPr>
            <a:xfrm rot="0">
              <a:off x="376982" y="362723"/>
              <a:ext cx="321148" cy="32114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TextBox 19" id="19"/>
          <p:cNvSpPr txBox="true"/>
          <p:nvPr/>
        </p:nvSpPr>
        <p:spPr>
          <a:xfrm rot="0">
            <a:off x="7844101" y="4824053"/>
            <a:ext cx="8534137" cy="1263015"/>
          </a:xfrm>
          <a:prstGeom prst="rect">
            <a:avLst/>
          </a:prstGeom>
        </p:spPr>
        <p:txBody>
          <a:bodyPr anchor="t" rtlCol="false" tIns="0" lIns="0" bIns="0" rIns="0">
            <a:spAutoFit/>
          </a:bodyPr>
          <a:lstStyle/>
          <a:p>
            <a:pPr algn="l">
              <a:lnSpc>
                <a:spcPts val="3359"/>
              </a:lnSpc>
            </a:pPr>
            <a:r>
              <a:rPr lang="en-US" sz="2400">
                <a:solidFill>
                  <a:srgbClr val="0D0D0D"/>
                </a:solidFill>
                <a:latin typeface="Poppins"/>
                <a:ea typeface="Poppins"/>
                <a:cs typeface="Poppins"/>
                <a:sym typeface="Poppins"/>
              </a:rPr>
              <a:t>A software module that can be installed to the CommandBox CLI tool that allows for the servers services to be managed from the command line.</a:t>
            </a:r>
          </a:p>
        </p:txBody>
      </p:sp>
      <p:sp>
        <p:nvSpPr>
          <p:cNvPr name="TextBox 20" id="20"/>
          <p:cNvSpPr txBox="true"/>
          <p:nvPr/>
        </p:nvSpPr>
        <p:spPr>
          <a:xfrm rot="0">
            <a:off x="7844101" y="3662638"/>
            <a:ext cx="7034212" cy="1094741"/>
          </a:xfrm>
          <a:prstGeom prst="rect">
            <a:avLst/>
          </a:prstGeom>
        </p:spPr>
        <p:txBody>
          <a:bodyPr anchor="t" rtlCol="false" tIns="0" lIns="0" bIns="0" rIns="0">
            <a:spAutoFit/>
          </a:bodyPr>
          <a:lstStyle/>
          <a:p>
            <a:pPr algn="l">
              <a:lnSpc>
                <a:spcPts val="4100"/>
              </a:lnSpc>
            </a:pPr>
            <a:r>
              <a:rPr lang="en-US" sz="4100">
                <a:solidFill>
                  <a:srgbClr val="0D0D0D"/>
                </a:solidFill>
                <a:latin typeface="Poppins Light"/>
                <a:ea typeface="Poppins Light"/>
                <a:cs typeface="Poppins Light"/>
                <a:sym typeface="Poppins Light"/>
              </a:rPr>
              <a:t>CommandBox Server Service Manager </a:t>
            </a:r>
          </a:p>
        </p:txBody>
      </p:sp>
      <p:sp>
        <p:nvSpPr>
          <p:cNvPr name="TextBox 21" id="21"/>
          <p:cNvSpPr txBox="true"/>
          <p:nvPr/>
        </p:nvSpPr>
        <p:spPr>
          <a:xfrm rot="0">
            <a:off x="971550" y="3309938"/>
            <a:ext cx="7677150"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Software Licenses</a:t>
            </a:r>
          </a:p>
        </p:txBody>
      </p:sp>
      <p:sp>
        <p:nvSpPr>
          <p:cNvPr name="Freeform 22" id="22"/>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6">
              <a:alphaModFix amt="15000"/>
              <a:extLst>
                <a:ext uri="{96DAC541-7B7A-43D3-8B79-37D633B846F1}">
                  <asvg:svgBlip xmlns:asvg="http://schemas.microsoft.com/office/drawing/2016/SVG/main" r:embed="rId7"/>
                </a:ext>
              </a:extLst>
            </a:blip>
            <a:stretch>
              <a:fillRect l="0" t="0" r="0" b="0"/>
            </a:stretch>
          </a:blipFill>
        </p:spPr>
      </p:sp>
    </p:spTree>
  </p:cSld>
  <p:clrMapOvr>
    <a:masterClrMapping/>
  </p:clrMapOvr>
  <p:transition spd="fast">
    <p:wipe dir="d"/>
  </p:transition>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7371716"/>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28700" y="6262921"/>
            <a:ext cx="2524125" cy="784945"/>
            <a:chOff x="0" y="0"/>
            <a:chExt cx="664790" cy="206735"/>
          </a:xfrm>
        </p:grpSpPr>
        <p:sp>
          <p:nvSpPr>
            <p:cNvPr name="Freeform 5" id="5"/>
            <p:cNvSpPr/>
            <p:nvPr/>
          </p:nvSpPr>
          <p:spPr>
            <a:xfrm flipH="false" flipV="false" rot="0">
              <a:off x="0" y="0"/>
              <a:ext cx="664790" cy="206735"/>
            </a:xfrm>
            <a:custGeom>
              <a:avLst/>
              <a:gdLst/>
              <a:ahLst/>
              <a:cxnLst/>
              <a:rect r="r" b="b" t="t" l="l"/>
              <a:pathLst>
                <a:path h="206735" w="664790">
                  <a:moveTo>
                    <a:pt x="103367" y="0"/>
                  </a:moveTo>
                  <a:lnTo>
                    <a:pt x="561423" y="0"/>
                  </a:lnTo>
                  <a:cubicBezTo>
                    <a:pt x="588838" y="0"/>
                    <a:pt x="615129" y="10890"/>
                    <a:pt x="634515" y="30276"/>
                  </a:cubicBezTo>
                  <a:cubicBezTo>
                    <a:pt x="653900" y="49661"/>
                    <a:pt x="664790" y="75953"/>
                    <a:pt x="664790" y="103367"/>
                  </a:cubicBezTo>
                  <a:lnTo>
                    <a:pt x="664790" y="103367"/>
                  </a:lnTo>
                  <a:cubicBezTo>
                    <a:pt x="664790" y="130782"/>
                    <a:pt x="653900" y="157074"/>
                    <a:pt x="634515" y="176459"/>
                  </a:cubicBezTo>
                  <a:cubicBezTo>
                    <a:pt x="615129" y="195844"/>
                    <a:pt x="588838" y="206735"/>
                    <a:pt x="56142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664790" cy="244835"/>
            </a:xfrm>
            <a:prstGeom prst="rect">
              <a:avLst/>
            </a:prstGeom>
          </p:spPr>
          <p:txBody>
            <a:bodyPr anchor="ctr" rtlCol="false" tIns="50800" lIns="50800" bIns="50800" rIns="50800"/>
            <a:lstStyle/>
            <a:p>
              <a:pPr algn="ctr">
                <a:lnSpc>
                  <a:spcPts val="2520"/>
                </a:lnSpc>
              </a:pPr>
            </a:p>
          </p:txBody>
        </p:sp>
      </p:grpSp>
      <p:sp>
        <p:nvSpPr>
          <p:cNvPr name="Freeform 7" id="7"/>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6">
              <a:alphaModFix amt="15000"/>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797918" y="6391868"/>
            <a:ext cx="1468934"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SIN: 511210</a:t>
            </a:r>
          </a:p>
        </p:txBody>
      </p:sp>
      <p:grpSp>
        <p:nvGrpSpPr>
          <p:cNvPr name="Group 9" id="9"/>
          <p:cNvGrpSpPr/>
          <p:nvPr/>
        </p:nvGrpSpPr>
        <p:grpSpPr>
          <a:xfrm rot="0">
            <a:off x="1295400" y="6534962"/>
            <a:ext cx="240861" cy="24086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12" id="12"/>
          <p:cNvGrpSpPr/>
          <p:nvPr/>
        </p:nvGrpSpPr>
        <p:grpSpPr>
          <a:xfrm rot="0">
            <a:off x="7844101" y="6262921"/>
            <a:ext cx="3125453" cy="784945"/>
            <a:chOff x="0" y="0"/>
            <a:chExt cx="4167271" cy="1046593"/>
          </a:xfrm>
        </p:grpSpPr>
        <p:grpSp>
          <p:nvGrpSpPr>
            <p:cNvPr name="Group 13" id="13"/>
            <p:cNvGrpSpPr/>
            <p:nvPr/>
          </p:nvGrpSpPr>
          <p:grpSpPr>
            <a:xfrm rot="0">
              <a:off x="0" y="0"/>
              <a:ext cx="4167271" cy="1046593"/>
              <a:chOff x="0" y="0"/>
              <a:chExt cx="823165" cy="206735"/>
            </a:xfrm>
          </p:grpSpPr>
          <p:sp>
            <p:nvSpPr>
              <p:cNvPr name="Freeform 14" id="14"/>
              <p:cNvSpPr/>
              <p:nvPr/>
            </p:nvSpPr>
            <p:spPr>
              <a:xfrm flipH="false" flipV="false" rot="0">
                <a:off x="0" y="0"/>
                <a:ext cx="823165" cy="206735"/>
              </a:xfrm>
              <a:custGeom>
                <a:avLst/>
                <a:gdLst/>
                <a:ahLst/>
                <a:cxnLst/>
                <a:rect r="r" b="b" t="t" l="l"/>
                <a:pathLst>
                  <a:path h="206735" w="823165">
                    <a:moveTo>
                      <a:pt x="103367" y="0"/>
                    </a:moveTo>
                    <a:lnTo>
                      <a:pt x="719797" y="0"/>
                    </a:lnTo>
                    <a:cubicBezTo>
                      <a:pt x="747212" y="0"/>
                      <a:pt x="773504" y="10890"/>
                      <a:pt x="792889" y="30276"/>
                    </a:cubicBezTo>
                    <a:cubicBezTo>
                      <a:pt x="812274" y="49661"/>
                      <a:pt x="823165" y="75953"/>
                      <a:pt x="823165" y="103367"/>
                    </a:cubicBezTo>
                    <a:lnTo>
                      <a:pt x="823165" y="103367"/>
                    </a:lnTo>
                    <a:cubicBezTo>
                      <a:pt x="823165" y="130782"/>
                      <a:pt x="812274" y="157074"/>
                      <a:pt x="792889" y="176459"/>
                    </a:cubicBezTo>
                    <a:cubicBezTo>
                      <a:pt x="773504" y="195844"/>
                      <a:pt x="747212" y="206735"/>
                      <a:pt x="71979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5" id="15"/>
              <p:cNvSpPr txBox="true"/>
              <p:nvPr/>
            </p:nvSpPr>
            <p:spPr>
              <a:xfrm>
                <a:off x="0" y="-38100"/>
                <a:ext cx="823165" cy="244835"/>
              </a:xfrm>
              <a:prstGeom prst="rect">
                <a:avLst/>
              </a:prstGeom>
            </p:spPr>
            <p:txBody>
              <a:bodyPr anchor="ctr" rtlCol="false" tIns="50800" lIns="50800" bIns="50800" rIns="50800"/>
              <a:lstStyle/>
              <a:p>
                <a:pPr algn="ctr">
                  <a:lnSpc>
                    <a:spcPts val="2520"/>
                  </a:lnSpc>
                </a:pPr>
              </a:p>
            </p:txBody>
          </p:sp>
        </p:grpSp>
        <p:sp>
          <p:nvSpPr>
            <p:cNvPr name="TextBox 16" id="16"/>
            <p:cNvSpPr txBox="true"/>
            <p:nvPr/>
          </p:nvSpPr>
          <p:spPr>
            <a:xfrm rot="0">
              <a:off x="980408" y="197330"/>
              <a:ext cx="2841625" cy="575733"/>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0D0D0D"/>
                  </a:solidFill>
                  <a:latin typeface="Poppins Light"/>
                  <a:ea typeface="Poppins Light"/>
                  <a:cs typeface="Poppins Light"/>
                  <a:sym typeface="Poppins Light"/>
                </a:rPr>
                <a:t>1 Year License</a:t>
              </a:r>
            </a:p>
          </p:txBody>
        </p:sp>
        <p:grpSp>
          <p:nvGrpSpPr>
            <p:cNvPr name="Group 17" id="17"/>
            <p:cNvGrpSpPr/>
            <p:nvPr/>
          </p:nvGrpSpPr>
          <p:grpSpPr>
            <a:xfrm rot="0">
              <a:off x="376982" y="362723"/>
              <a:ext cx="321148" cy="32114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0" id="20"/>
          <p:cNvGrpSpPr/>
          <p:nvPr/>
        </p:nvGrpSpPr>
        <p:grpSpPr>
          <a:xfrm rot="0">
            <a:off x="11249164" y="6262921"/>
            <a:ext cx="3404642" cy="784945"/>
            <a:chOff x="0" y="0"/>
            <a:chExt cx="4539522" cy="1046593"/>
          </a:xfrm>
        </p:grpSpPr>
        <p:grpSp>
          <p:nvGrpSpPr>
            <p:cNvPr name="Group 21" id="21"/>
            <p:cNvGrpSpPr/>
            <p:nvPr/>
          </p:nvGrpSpPr>
          <p:grpSpPr>
            <a:xfrm rot="0">
              <a:off x="0" y="0"/>
              <a:ext cx="4539522" cy="1046593"/>
              <a:chOff x="0" y="0"/>
              <a:chExt cx="896696" cy="206735"/>
            </a:xfrm>
          </p:grpSpPr>
          <p:sp>
            <p:nvSpPr>
              <p:cNvPr name="Freeform 22" id="22"/>
              <p:cNvSpPr/>
              <p:nvPr/>
            </p:nvSpPr>
            <p:spPr>
              <a:xfrm flipH="false" flipV="false" rot="0">
                <a:off x="0" y="0"/>
                <a:ext cx="896696" cy="206735"/>
              </a:xfrm>
              <a:custGeom>
                <a:avLst/>
                <a:gdLst/>
                <a:ahLst/>
                <a:cxnLst/>
                <a:rect r="r" b="b" t="t" l="l"/>
                <a:pathLst>
                  <a:path h="206735" w="896696">
                    <a:moveTo>
                      <a:pt x="103367" y="0"/>
                    </a:moveTo>
                    <a:lnTo>
                      <a:pt x="793329" y="0"/>
                    </a:lnTo>
                    <a:cubicBezTo>
                      <a:pt x="820743" y="0"/>
                      <a:pt x="847035" y="10890"/>
                      <a:pt x="866420" y="30276"/>
                    </a:cubicBezTo>
                    <a:cubicBezTo>
                      <a:pt x="885805" y="49661"/>
                      <a:pt x="896696" y="75953"/>
                      <a:pt x="896696" y="103367"/>
                    </a:cubicBezTo>
                    <a:lnTo>
                      <a:pt x="896696" y="103367"/>
                    </a:lnTo>
                    <a:cubicBezTo>
                      <a:pt x="896696" y="130782"/>
                      <a:pt x="885805" y="157074"/>
                      <a:pt x="866420" y="176459"/>
                    </a:cubicBezTo>
                    <a:cubicBezTo>
                      <a:pt x="847035" y="195844"/>
                      <a:pt x="820743" y="206735"/>
                      <a:pt x="79332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3" id="23"/>
              <p:cNvSpPr txBox="true"/>
              <p:nvPr/>
            </p:nvSpPr>
            <p:spPr>
              <a:xfrm>
                <a:off x="0" y="-38100"/>
                <a:ext cx="896696" cy="244835"/>
              </a:xfrm>
              <a:prstGeom prst="rect">
                <a:avLst/>
              </a:prstGeom>
            </p:spPr>
            <p:txBody>
              <a:bodyPr anchor="ctr" rtlCol="false" tIns="50800" lIns="50800" bIns="50800" rIns="50800"/>
              <a:lstStyle/>
              <a:p>
                <a:pPr algn="ctr">
                  <a:lnSpc>
                    <a:spcPts val="2520"/>
                  </a:lnSpc>
                </a:pPr>
              </a:p>
            </p:txBody>
          </p:sp>
        </p:grpSp>
        <p:sp>
          <p:nvSpPr>
            <p:cNvPr name="TextBox 24" id="24"/>
            <p:cNvSpPr txBox="true"/>
            <p:nvPr/>
          </p:nvSpPr>
          <p:spPr>
            <a:xfrm rot="0">
              <a:off x="987650" y="197330"/>
              <a:ext cx="3215382" cy="575733"/>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0D0D0D"/>
                  </a:solidFill>
                  <a:latin typeface="Poppins Light"/>
                  <a:ea typeface="Poppins Light"/>
                  <a:cs typeface="Poppins Light"/>
                  <a:sym typeface="Poppins Light"/>
                </a:rPr>
                <a:t>1 Month License</a:t>
              </a:r>
            </a:p>
          </p:txBody>
        </p:sp>
        <p:grpSp>
          <p:nvGrpSpPr>
            <p:cNvPr name="Group 25" id="25"/>
            <p:cNvGrpSpPr/>
            <p:nvPr/>
          </p:nvGrpSpPr>
          <p:grpSpPr>
            <a:xfrm rot="0">
              <a:off x="376982" y="362723"/>
              <a:ext cx="321148" cy="321148"/>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TextBox 28" id="28"/>
          <p:cNvSpPr txBox="true"/>
          <p:nvPr/>
        </p:nvSpPr>
        <p:spPr>
          <a:xfrm rot="0">
            <a:off x="7844101" y="4309703"/>
            <a:ext cx="8534137" cy="1263015"/>
          </a:xfrm>
          <a:prstGeom prst="rect">
            <a:avLst/>
          </a:prstGeom>
        </p:spPr>
        <p:txBody>
          <a:bodyPr anchor="t" rtlCol="false" tIns="0" lIns="0" bIns="0" rIns="0">
            <a:spAutoFit/>
          </a:bodyPr>
          <a:lstStyle/>
          <a:p>
            <a:pPr algn="l">
              <a:lnSpc>
                <a:spcPts val="3359"/>
              </a:lnSpc>
            </a:pPr>
            <a:r>
              <a:rPr lang="en-US" sz="2400">
                <a:solidFill>
                  <a:srgbClr val="0D0D0D"/>
                </a:solidFill>
                <a:latin typeface="Poppins"/>
                <a:ea typeface="Poppins"/>
                <a:cs typeface="Poppins"/>
                <a:sym typeface="Poppins"/>
              </a:rPr>
              <a:t>A software module that can be installed to the CommandBox CLI tool that allows for the servers services to be managed from the command line.</a:t>
            </a:r>
          </a:p>
        </p:txBody>
      </p:sp>
      <p:sp>
        <p:nvSpPr>
          <p:cNvPr name="TextBox 29" id="29"/>
          <p:cNvSpPr txBox="true"/>
          <p:nvPr/>
        </p:nvSpPr>
        <p:spPr>
          <a:xfrm rot="0">
            <a:off x="971550" y="3309938"/>
            <a:ext cx="7677150"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Software Licenses</a:t>
            </a:r>
          </a:p>
        </p:txBody>
      </p:sp>
      <p:sp>
        <p:nvSpPr>
          <p:cNvPr name="TextBox 30" id="30"/>
          <p:cNvSpPr txBox="true"/>
          <p:nvPr/>
        </p:nvSpPr>
        <p:spPr>
          <a:xfrm rot="0">
            <a:off x="7844101" y="3662638"/>
            <a:ext cx="7034212" cy="580391"/>
          </a:xfrm>
          <a:prstGeom prst="rect">
            <a:avLst/>
          </a:prstGeom>
        </p:spPr>
        <p:txBody>
          <a:bodyPr anchor="t" rtlCol="false" tIns="0" lIns="0" bIns="0" rIns="0">
            <a:spAutoFit/>
          </a:bodyPr>
          <a:lstStyle/>
          <a:p>
            <a:pPr algn="l">
              <a:lnSpc>
                <a:spcPts val="4100"/>
              </a:lnSpc>
            </a:pPr>
            <a:r>
              <a:rPr lang="en-US" sz="4100">
                <a:solidFill>
                  <a:srgbClr val="0D0D0D"/>
                </a:solidFill>
                <a:latin typeface="Poppins Light"/>
                <a:ea typeface="Poppins Light"/>
                <a:cs typeface="Poppins Light"/>
                <a:sym typeface="Poppins Light"/>
              </a:rPr>
              <a:t>FORGEBOX Enterprise</a:t>
            </a:r>
          </a:p>
        </p:txBody>
      </p:sp>
    </p:spTree>
  </p:cSld>
  <p:clrMapOvr>
    <a:masterClrMapping/>
  </p:clrMapOvr>
  <p:transition spd="fast">
    <p:fade/>
  </p:transition>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7371716"/>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28700" y="6262921"/>
            <a:ext cx="2524125" cy="784945"/>
            <a:chOff x="0" y="0"/>
            <a:chExt cx="664790" cy="206735"/>
          </a:xfrm>
        </p:grpSpPr>
        <p:sp>
          <p:nvSpPr>
            <p:cNvPr name="Freeform 5" id="5"/>
            <p:cNvSpPr/>
            <p:nvPr/>
          </p:nvSpPr>
          <p:spPr>
            <a:xfrm flipH="false" flipV="false" rot="0">
              <a:off x="0" y="0"/>
              <a:ext cx="664790" cy="206735"/>
            </a:xfrm>
            <a:custGeom>
              <a:avLst/>
              <a:gdLst/>
              <a:ahLst/>
              <a:cxnLst/>
              <a:rect r="r" b="b" t="t" l="l"/>
              <a:pathLst>
                <a:path h="206735" w="664790">
                  <a:moveTo>
                    <a:pt x="103367" y="0"/>
                  </a:moveTo>
                  <a:lnTo>
                    <a:pt x="561423" y="0"/>
                  </a:lnTo>
                  <a:cubicBezTo>
                    <a:pt x="588838" y="0"/>
                    <a:pt x="615129" y="10890"/>
                    <a:pt x="634515" y="30276"/>
                  </a:cubicBezTo>
                  <a:cubicBezTo>
                    <a:pt x="653900" y="49661"/>
                    <a:pt x="664790" y="75953"/>
                    <a:pt x="664790" y="103367"/>
                  </a:cubicBezTo>
                  <a:lnTo>
                    <a:pt x="664790" y="103367"/>
                  </a:lnTo>
                  <a:cubicBezTo>
                    <a:pt x="664790" y="130782"/>
                    <a:pt x="653900" y="157074"/>
                    <a:pt x="634515" y="176459"/>
                  </a:cubicBezTo>
                  <a:cubicBezTo>
                    <a:pt x="615129" y="195844"/>
                    <a:pt x="588838" y="206735"/>
                    <a:pt x="56142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664790" cy="244835"/>
            </a:xfrm>
            <a:prstGeom prst="rect">
              <a:avLst/>
            </a:prstGeom>
          </p:spPr>
          <p:txBody>
            <a:bodyPr anchor="ctr" rtlCol="false" tIns="50800" lIns="50800" bIns="50800" rIns="50800"/>
            <a:lstStyle/>
            <a:p>
              <a:pPr algn="ctr">
                <a:lnSpc>
                  <a:spcPts val="2520"/>
                </a:lnSpc>
              </a:pPr>
            </a:p>
          </p:txBody>
        </p:sp>
      </p:grpSp>
      <p:sp>
        <p:nvSpPr>
          <p:cNvPr name="Freeform 7" id="7"/>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6">
              <a:alphaModFix amt="15000"/>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797918" y="6391868"/>
            <a:ext cx="1468934"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SIN: 511210</a:t>
            </a:r>
          </a:p>
        </p:txBody>
      </p:sp>
      <p:grpSp>
        <p:nvGrpSpPr>
          <p:cNvPr name="Group 9" id="9"/>
          <p:cNvGrpSpPr/>
          <p:nvPr/>
        </p:nvGrpSpPr>
        <p:grpSpPr>
          <a:xfrm rot="0">
            <a:off x="1295400" y="6534962"/>
            <a:ext cx="240861" cy="24086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12" id="12"/>
          <p:cNvGrpSpPr/>
          <p:nvPr/>
        </p:nvGrpSpPr>
        <p:grpSpPr>
          <a:xfrm rot="0">
            <a:off x="7844101" y="6262921"/>
            <a:ext cx="3125453" cy="784945"/>
            <a:chOff x="0" y="0"/>
            <a:chExt cx="4167271" cy="1046593"/>
          </a:xfrm>
        </p:grpSpPr>
        <p:grpSp>
          <p:nvGrpSpPr>
            <p:cNvPr name="Group 13" id="13"/>
            <p:cNvGrpSpPr/>
            <p:nvPr/>
          </p:nvGrpSpPr>
          <p:grpSpPr>
            <a:xfrm rot="0">
              <a:off x="0" y="0"/>
              <a:ext cx="4167271" cy="1046593"/>
              <a:chOff x="0" y="0"/>
              <a:chExt cx="823165" cy="206735"/>
            </a:xfrm>
          </p:grpSpPr>
          <p:sp>
            <p:nvSpPr>
              <p:cNvPr name="Freeform 14" id="14"/>
              <p:cNvSpPr/>
              <p:nvPr/>
            </p:nvSpPr>
            <p:spPr>
              <a:xfrm flipH="false" flipV="false" rot="0">
                <a:off x="0" y="0"/>
                <a:ext cx="823165" cy="206735"/>
              </a:xfrm>
              <a:custGeom>
                <a:avLst/>
                <a:gdLst/>
                <a:ahLst/>
                <a:cxnLst/>
                <a:rect r="r" b="b" t="t" l="l"/>
                <a:pathLst>
                  <a:path h="206735" w="823165">
                    <a:moveTo>
                      <a:pt x="103367" y="0"/>
                    </a:moveTo>
                    <a:lnTo>
                      <a:pt x="719797" y="0"/>
                    </a:lnTo>
                    <a:cubicBezTo>
                      <a:pt x="747212" y="0"/>
                      <a:pt x="773504" y="10890"/>
                      <a:pt x="792889" y="30276"/>
                    </a:cubicBezTo>
                    <a:cubicBezTo>
                      <a:pt x="812274" y="49661"/>
                      <a:pt x="823165" y="75953"/>
                      <a:pt x="823165" y="103367"/>
                    </a:cubicBezTo>
                    <a:lnTo>
                      <a:pt x="823165" y="103367"/>
                    </a:lnTo>
                    <a:cubicBezTo>
                      <a:pt x="823165" y="130782"/>
                      <a:pt x="812274" y="157074"/>
                      <a:pt x="792889" y="176459"/>
                    </a:cubicBezTo>
                    <a:cubicBezTo>
                      <a:pt x="773504" y="195844"/>
                      <a:pt x="747212" y="206735"/>
                      <a:pt x="71979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5" id="15"/>
              <p:cNvSpPr txBox="true"/>
              <p:nvPr/>
            </p:nvSpPr>
            <p:spPr>
              <a:xfrm>
                <a:off x="0" y="-38100"/>
                <a:ext cx="823165" cy="244835"/>
              </a:xfrm>
              <a:prstGeom prst="rect">
                <a:avLst/>
              </a:prstGeom>
            </p:spPr>
            <p:txBody>
              <a:bodyPr anchor="ctr" rtlCol="false" tIns="50800" lIns="50800" bIns="50800" rIns="50800"/>
              <a:lstStyle/>
              <a:p>
                <a:pPr algn="ctr">
                  <a:lnSpc>
                    <a:spcPts val="2520"/>
                  </a:lnSpc>
                </a:pPr>
              </a:p>
            </p:txBody>
          </p:sp>
        </p:grpSp>
        <p:sp>
          <p:nvSpPr>
            <p:cNvPr name="TextBox 16" id="16"/>
            <p:cNvSpPr txBox="true"/>
            <p:nvPr/>
          </p:nvSpPr>
          <p:spPr>
            <a:xfrm rot="0">
              <a:off x="980408" y="197330"/>
              <a:ext cx="2841625" cy="575733"/>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0D0D0D"/>
                  </a:solidFill>
                  <a:latin typeface="Poppins Light"/>
                  <a:ea typeface="Poppins Light"/>
                  <a:cs typeface="Poppins Light"/>
                  <a:sym typeface="Poppins Light"/>
                </a:rPr>
                <a:t>1 Year License</a:t>
              </a:r>
            </a:p>
          </p:txBody>
        </p:sp>
        <p:grpSp>
          <p:nvGrpSpPr>
            <p:cNvPr name="Group 17" id="17"/>
            <p:cNvGrpSpPr/>
            <p:nvPr/>
          </p:nvGrpSpPr>
          <p:grpSpPr>
            <a:xfrm rot="0">
              <a:off x="376982" y="362723"/>
              <a:ext cx="321148" cy="32114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0" id="20"/>
          <p:cNvGrpSpPr/>
          <p:nvPr/>
        </p:nvGrpSpPr>
        <p:grpSpPr>
          <a:xfrm rot="0">
            <a:off x="11249164" y="6262921"/>
            <a:ext cx="3404642" cy="784945"/>
            <a:chOff x="0" y="0"/>
            <a:chExt cx="4539522" cy="1046593"/>
          </a:xfrm>
        </p:grpSpPr>
        <p:grpSp>
          <p:nvGrpSpPr>
            <p:cNvPr name="Group 21" id="21"/>
            <p:cNvGrpSpPr/>
            <p:nvPr/>
          </p:nvGrpSpPr>
          <p:grpSpPr>
            <a:xfrm rot="0">
              <a:off x="0" y="0"/>
              <a:ext cx="4539522" cy="1046593"/>
              <a:chOff x="0" y="0"/>
              <a:chExt cx="896696" cy="206735"/>
            </a:xfrm>
          </p:grpSpPr>
          <p:sp>
            <p:nvSpPr>
              <p:cNvPr name="Freeform 22" id="22"/>
              <p:cNvSpPr/>
              <p:nvPr/>
            </p:nvSpPr>
            <p:spPr>
              <a:xfrm flipH="false" flipV="false" rot="0">
                <a:off x="0" y="0"/>
                <a:ext cx="896696" cy="206735"/>
              </a:xfrm>
              <a:custGeom>
                <a:avLst/>
                <a:gdLst/>
                <a:ahLst/>
                <a:cxnLst/>
                <a:rect r="r" b="b" t="t" l="l"/>
                <a:pathLst>
                  <a:path h="206735" w="896696">
                    <a:moveTo>
                      <a:pt x="103367" y="0"/>
                    </a:moveTo>
                    <a:lnTo>
                      <a:pt x="793329" y="0"/>
                    </a:lnTo>
                    <a:cubicBezTo>
                      <a:pt x="820743" y="0"/>
                      <a:pt x="847035" y="10890"/>
                      <a:pt x="866420" y="30276"/>
                    </a:cubicBezTo>
                    <a:cubicBezTo>
                      <a:pt x="885805" y="49661"/>
                      <a:pt x="896696" y="75953"/>
                      <a:pt x="896696" y="103367"/>
                    </a:cubicBezTo>
                    <a:lnTo>
                      <a:pt x="896696" y="103367"/>
                    </a:lnTo>
                    <a:cubicBezTo>
                      <a:pt x="896696" y="130782"/>
                      <a:pt x="885805" y="157074"/>
                      <a:pt x="866420" y="176459"/>
                    </a:cubicBezTo>
                    <a:cubicBezTo>
                      <a:pt x="847035" y="195844"/>
                      <a:pt x="820743" y="206735"/>
                      <a:pt x="79332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3" id="23"/>
              <p:cNvSpPr txBox="true"/>
              <p:nvPr/>
            </p:nvSpPr>
            <p:spPr>
              <a:xfrm>
                <a:off x="0" y="-38100"/>
                <a:ext cx="896696" cy="244835"/>
              </a:xfrm>
              <a:prstGeom prst="rect">
                <a:avLst/>
              </a:prstGeom>
            </p:spPr>
            <p:txBody>
              <a:bodyPr anchor="ctr" rtlCol="false" tIns="50800" lIns="50800" bIns="50800" rIns="50800"/>
              <a:lstStyle/>
              <a:p>
                <a:pPr algn="ctr">
                  <a:lnSpc>
                    <a:spcPts val="2520"/>
                  </a:lnSpc>
                </a:pPr>
              </a:p>
            </p:txBody>
          </p:sp>
        </p:grpSp>
        <p:sp>
          <p:nvSpPr>
            <p:cNvPr name="TextBox 24" id="24"/>
            <p:cNvSpPr txBox="true"/>
            <p:nvPr/>
          </p:nvSpPr>
          <p:spPr>
            <a:xfrm rot="0">
              <a:off x="987650" y="197330"/>
              <a:ext cx="3215382" cy="575733"/>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0D0D0D"/>
                  </a:solidFill>
                  <a:latin typeface="Poppins Light"/>
                  <a:ea typeface="Poppins Light"/>
                  <a:cs typeface="Poppins Light"/>
                  <a:sym typeface="Poppins Light"/>
                </a:rPr>
                <a:t>1 Month License</a:t>
              </a:r>
            </a:p>
          </p:txBody>
        </p:sp>
        <p:grpSp>
          <p:nvGrpSpPr>
            <p:cNvPr name="Group 25" id="25"/>
            <p:cNvGrpSpPr/>
            <p:nvPr/>
          </p:nvGrpSpPr>
          <p:grpSpPr>
            <a:xfrm rot="0">
              <a:off x="376982" y="362723"/>
              <a:ext cx="321148" cy="321148"/>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TextBox 28" id="28"/>
          <p:cNvSpPr txBox="true"/>
          <p:nvPr/>
        </p:nvSpPr>
        <p:spPr>
          <a:xfrm rot="0">
            <a:off x="7844101" y="4309703"/>
            <a:ext cx="8534137" cy="1263015"/>
          </a:xfrm>
          <a:prstGeom prst="rect">
            <a:avLst/>
          </a:prstGeom>
        </p:spPr>
        <p:txBody>
          <a:bodyPr anchor="t" rtlCol="false" tIns="0" lIns="0" bIns="0" rIns="0">
            <a:spAutoFit/>
          </a:bodyPr>
          <a:lstStyle/>
          <a:p>
            <a:pPr algn="l">
              <a:lnSpc>
                <a:spcPts val="3359"/>
              </a:lnSpc>
            </a:pPr>
            <a:r>
              <a:rPr lang="en-US" sz="2400">
                <a:solidFill>
                  <a:srgbClr val="0D0D0D"/>
                </a:solidFill>
                <a:latin typeface="Poppins"/>
                <a:ea typeface="Poppins"/>
                <a:cs typeface="Poppins"/>
                <a:sym typeface="Poppins"/>
              </a:rPr>
              <a:t>A cloud based softwarepackages repository and software directory for ColdFusion applications with the ability to store private packages and manage teams.</a:t>
            </a:r>
          </a:p>
        </p:txBody>
      </p:sp>
      <p:sp>
        <p:nvSpPr>
          <p:cNvPr name="TextBox 29" id="29"/>
          <p:cNvSpPr txBox="true"/>
          <p:nvPr/>
        </p:nvSpPr>
        <p:spPr>
          <a:xfrm rot="0">
            <a:off x="971550" y="3309938"/>
            <a:ext cx="7677150"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Software Licenses</a:t>
            </a:r>
          </a:p>
        </p:txBody>
      </p:sp>
      <p:sp>
        <p:nvSpPr>
          <p:cNvPr name="TextBox 30" id="30"/>
          <p:cNvSpPr txBox="true"/>
          <p:nvPr/>
        </p:nvSpPr>
        <p:spPr>
          <a:xfrm rot="0">
            <a:off x="7844101" y="3662638"/>
            <a:ext cx="7034212" cy="580391"/>
          </a:xfrm>
          <a:prstGeom prst="rect">
            <a:avLst/>
          </a:prstGeom>
        </p:spPr>
        <p:txBody>
          <a:bodyPr anchor="t" rtlCol="false" tIns="0" lIns="0" bIns="0" rIns="0">
            <a:spAutoFit/>
          </a:bodyPr>
          <a:lstStyle/>
          <a:p>
            <a:pPr algn="l">
              <a:lnSpc>
                <a:spcPts val="4100"/>
              </a:lnSpc>
            </a:pPr>
            <a:r>
              <a:rPr lang="en-US" sz="4100">
                <a:solidFill>
                  <a:srgbClr val="0D0D0D"/>
                </a:solidFill>
                <a:latin typeface="Poppins Light"/>
                <a:ea typeface="Poppins Light"/>
                <a:cs typeface="Poppins Light"/>
                <a:sym typeface="Poppins Light"/>
              </a:rPr>
              <a:t>FORGEBOX Business</a:t>
            </a:r>
          </a:p>
        </p:txBody>
      </p:sp>
    </p:spTree>
  </p:cSld>
  <p:clrMapOvr>
    <a:masterClrMapping/>
  </p:clrMapOvr>
  <p:transition spd="fast">
    <p:fade/>
  </p:transition>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7371716"/>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28700" y="6262921"/>
            <a:ext cx="2524125" cy="784945"/>
            <a:chOff x="0" y="0"/>
            <a:chExt cx="664790" cy="206735"/>
          </a:xfrm>
        </p:grpSpPr>
        <p:sp>
          <p:nvSpPr>
            <p:cNvPr name="Freeform 5" id="5"/>
            <p:cNvSpPr/>
            <p:nvPr/>
          </p:nvSpPr>
          <p:spPr>
            <a:xfrm flipH="false" flipV="false" rot="0">
              <a:off x="0" y="0"/>
              <a:ext cx="664790" cy="206735"/>
            </a:xfrm>
            <a:custGeom>
              <a:avLst/>
              <a:gdLst/>
              <a:ahLst/>
              <a:cxnLst/>
              <a:rect r="r" b="b" t="t" l="l"/>
              <a:pathLst>
                <a:path h="206735" w="664790">
                  <a:moveTo>
                    <a:pt x="103367" y="0"/>
                  </a:moveTo>
                  <a:lnTo>
                    <a:pt x="561423" y="0"/>
                  </a:lnTo>
                  <a:cubicBezTo>
                    <a:pt x="588838" y="0"/>
                    <a:pt x="615129" y="10890"/>
                    <a:pt x="634515" y="30276"/>
                  </a:cubicBezTo>
                  <a:cubicBezTo>
                    <a:pt x="653900" y="49661"/>
                    <a:pt x="664790" y="75953"/>
                    <a:pt x="664790" y="103367"/>
                  </a:cubicBezTo>
                  <a:lnTo>
                    <a:pt x="664790" y="103367"/>
                  </a:lnTo>
                  <a:cubicBezTo>
                    <a:pt x="664790" y="130782"/>
                    <a:pt x="653900" y="157074"/>
                    <a:pt x="634515" y="176459"/>
                  </a:cubicBezTo>
                  <a:cubicBezTo>
                    <a:pt x="615129" y="195844"/>
                    <a:pt x="588838" y="206735"/>
                    <a:pt x="56142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664790" cy="244835"/>
            </a:xfrm>
            <a:prstGeom prst="rect">
              <a:avLst/>
            </a:prstGeom>
          </p:spPr>
          <p:txBody>
            <a:bodyPr anchor="ctr" rtlCol="false" tIns="50800" lIns="50800" bIns="50800" rIns="50800"/>
            <a:lstStyle/>
            <a:p>
              <a:pPr algn="ctr">
                <a:lnSpc>
                  <a:spcPts val="2520"/>
                </a:lnSpc>
              </a:pPr>
            </a:p>
          </p:txBody>
        </p:sp>
      </p:grpSp>
      <p:sp>
        <p:nvSpPr>
          <p:cNvPr name="Freeform 7" id="7"/>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6">
              <a:alphaModFix amt="15000"/>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797918" y="6391868"/>
            <a:ext cx="1468934"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SIN: 511210</a:t>
            </a:r>
          </a:p>
        </p:txBody>
      </p:sp>
      <p:grpSp>
        <p:nvGrpSpPr>
          <p:cNvPr name="Group 9" id="9"/>
          <p:cNvGrpSpPr/>
          <p:nvPr/>
        </p:nvGrpSpPr>
        <p:grpSpPr>
          <a:xfrm rot="0">
            <a:off x="1295400" y="6534962"/>
            <a:ext cx="240861" cy="24086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12" id="12"/>
          <p:cNvGrpSpPr/>
          <p:nvPr/>
        </p:nvGrpSpPr>
        <p:grpSpPr>
          <a:xfrm rot="0">
            <a:off x="7844101" y="6262921"/>
            <a:ext cx="3125453" cy="784945"/>
            <a:chOff x="0" y="0"/>
            <a:chExt cx="4167271" cy="1046593"/>
          </a:xfrm>
        </p:grpSpPr>
        <p:grpSp>
          <p:nvGrpSpPr>
            <p:cNvPr name="Group 13" id="13"/>
            <p:cNvGrpSpPr/>
            <p:nvPr/>
          </p:nvGrpSpPr>
          <p:grpSpPr>
            <a:xfrm rot="0">
              <a:off x="0" y="0"/>
              <a:ext cx="4167271" cy="1046593"/>
              <a:chOff x="0" y="0"/>
              <a:chExt cx="823165" cy="206735"/>
            </a:xfrm>
          </p:grpSpPr>
          <p:sp>
            <p:nvSpPr>
              <p:cNvPr name="Freeform 14" id="14"/>
              <p:cNvSpPr/>
              <p:nvPr/>
            </p:nvSpPr>
            <p:spPr>
              <a:xfrm flipH="false" flipV="false" rot="0">
                <a:off x="0" y="0"/>
                <a:ext cx="823165" cy="206735"/>
              </a:xfrm>
              <a:custGeom>
                <a:avLst/>
                <a:gdLst/>
                <a:ahLst/>
                <a:cxnLst/>
                <a:rect r="r" b="b" t="t" l="l"/>
                <a:pathLst>
                  <a:path h="206735" w="823165">
                    <a:moveTo>
                      <a:pt x="103367" y="0"/>
                    </a:moveTo>
                    <a:lnTo>
                      <a:pt x="719797" y="0"/>
                    </a:lnTo>
                    <a:cubicBezTo>
                      <a:pt x="747212" y="0"/>
                      <a:pt x="773504" y="10890"/>
                      <a:pt x="792889" y="30276"/>
                    </a:cubicBezTo>
                    <a:cubicBezTo>
                      <a:pt x="812274" y="49661"/>
                      <a:pt x="823165" y="75953"/>
                      <a:pt x="823165" y="103367"/>
                    </a:cubicBezTo>
                    <a:lnTo>
                      <a:pt x="823165" y="103367"/>
                    </a:lnTo>
                    <a:cubicBezTo>
                      <a:pt x="823165" y="130782"/>
                      <a:pt x="812274" y="157074"/>
                      <a:pt x="792889" y="176459"/>
                    </a:cubicBezTo>
                    <a:cubicBezTo>
                      <a:pt x="773504" y="195844"/>
                      <a:pt x="747212" y="206735"/>
                      <a:pt x="71979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5" id="15"/>
              <p:cNvSpPr txBox="true"/>
              <p:nvPr/>
            </p:nvSpPr>
            <p:spPr>
              <a:xfrm>
                <a:off x="0" y="-38100"/>
                <a:ext cx="823165" cy="244835"/>
              </a:xfrm>
              <a:prstGeom prst="rect">
                <a:avLst/>
              </a:prstGeom>
            </p:spPr>
            <p:txBody>
              <a:bodyPr anchor="ctr" rtlCol="false" tIns="50800" lIns="50800" bIns="50800" rIns="50800"/>
              <a:lstStyle/>
              <a:p>
                <a:pPr algn="ctr">
                  <a:lnSpc>
                    <a:spcPts val="2520"/>
                  </a:lnSpc>
                </a:pPr>
              </a:p>
            </p:txBody>
          </p:sp>
        </p:grpSp>
        <p:sp>
          <p:nvSpPr>
            <p:cNvPr name="TextBox 16" id="16"/>
            <p:cNvSpPr txBox="true"/>
            <p:nvPr/>
          </p:nvSpPr>
          <p:spPr>
            <a:xfrm rot="0">
              <a:off x="980408" y="197330"/>
              <a:ext cx="2841625" cy="575733"/>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0D0D0D"/>
                  </a:solidFill>
                  <a:latin typeface="Poppins Light"/>
                  <a:ea typeface="Poppins Light"/>
                  <a:cs typeface="Poppins Light"/>
                  <a:sym typeface="Poppins Light"/>
                </a:rPr>
                <a:t>1 Year License</a:t>
              </a:r>
            </a:p>
          </p:txBody>
        </p:sp>
        <p:grpSp>
          <p:nvGrpSpPr>
            <p:cNvPr name="Group 17" id="17"/>
            <p:cNvGrpSpPr/>
            <p:nvPr/>
          </p:nvGrpSpPr>
          <p:grpSpPr>
            <a:xfrm rot="0">
              <a:off x="376982" y="362723"/>
              <a:ext cx="321148" cy="32114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0" id="20"/>
          <p:cNvGrpSpPr/>
          <p:nvPr/>
        </p:nvGrpSpPr>
        <p:grpSpPr>
          <a:xfrm rot="0">
            <a:off x="11249164" y="6262921"/>
            <a:ext cx="3404642" cy="784945"/>
            <a:chOff x="0" y="0"/>
            <a:chExt cx="4539522" cy="1046593"/>
          </a:xfrm>
        </p:grpSpPr>
        <p:grpSp>
          <p:nvGrpSpPr>
            <p:cNvPr name="Group 21" id="21"/>
            <p:cNvGrpSpPr/>
            <p:nvPr/>
          </p:nvGrpSpPr>
          <p:grpSpPr>
            <a:xfrm rot="0">
              <a:off x="0" y="0"/>
              <a:ext cx="4539522" cy="1046593"/>
              <a:chOff x="0" y="0"/>
              <a:chExt cx="896696" cy="206735"/>
            </a:xfrm>
          </p:grpSpPr>
          <p:sp>
            <p:nvSpPr>
              <p:cNvPr name="Freeform 22" id="22"/>
              <p:cNvSpPr/>
              <p:nvPr/>
            </p:nvSpPr>
            <p:spPr>
              <a:xfrm flipH="false" flipV="false" rot="0">
                <a:off x="0" y="0"/>
                <a:ext cx="896696" cy="206735"/>
              </a:xfrm>
              <a:custGeom>
                <a:avLst/>
                <a:gdLst/>
                <a:ahLst/>
                <a:cxnLst/>
                <a:rect r="r" b="b" t="t" l="l"/>
                <a:pathLst>
                  <a:path h="206735" w="896696">
                    <a:moveTo>
                      <a:pt x="103367" y="0"/>
                    </a:moveTo>
                    <a:lnTo>
                      <a:pt x="793329" y="0"/>
                    </a:lnTo>
                    <a:cubicBezTo>
                      <a:pt x="820743" y="0"/>
                      <a:pt x="847035" y="10890"/>
                      <a:pt x="866420" y="30276"/>
                    </a:cubicBezTo>
                    <a:cubicBezTo>
                      <a:pt x="885805" y="49661"/>
                      <a:pt x="896696" y="75953"/>
                      <a:pt x="896696" y="103367"/>
                    </a:cubicBezTo>
                    <a:lnTo>
                      <a:pt x="896696" y="103367"/>
                    </a:lnTo>
                    <a:cubicBezTo>
                      <a:pt x="896696" y="130782"/>
                      <a:pt x="885805" y="157074"/>
                      <a:pt x="866420" y="176459"/>
                    </a:cubicBezTo>
                    <a:cubicBezTo>
                      <a:pt x="847035" y="195844"/>
                      <a:pt x="820743" y="206735"/>
                      <a:pt x="79332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3" id="23"/>
              <p:cNvSpPr txBox="true"/>
              <p:nvPr/>
            </p:nvSpPr>
            <p:spPr>
              <a:xfrm>
                <a:off x="0" y="-38100"/>
                <a:ext cx="896696" cy="244835"/>
              </a:xfrm>
              <a:prstGeom prst="rect">
                <a:avLst/>
              </a:prstGeom>
            </p:spPr>
            <p:txBody>
              <a:bodyPr anchor="ctr" rtlCol="false" tIns="50800" lIns="50800" bIns="50800" rIns="50800"/>
              <a:lstStyle/>
              <a:p>
                <a:pPr algn="ctr">
                  <a:lnSpc>
                    <a:spcPts val="2520"/>
                  </a:lnSpc>
                </a:pPr>
              </a:p>
            </p:txBody>
          </p:sp>
        </p:grpSp>
        <p:sp>
          <p:nvSpPr>
            <p:cNvPr name="TextBox 24" id="24"/>
            <p:cNvSpPr txBox="true"/>
            <p:nvPr/>
          </p:nvSpPr>
          <p:spPr>
            <a:xfrm rot="0">
              <a:off x="987650" y="197330"/>
              <a:ext cx="3215382" cy="575733"/>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0D0D0D"/>
                  </a:solidFill>
                  <a:latin typeface="Poppins Light"/>
                  <a:ea typeface="Poppins Light"/>
                  <a:cs typeface="Poppins Light"/>
                  <a:sym typeface="Poppins Light"/>
                </a:rPr>
                <a:t>1 Month License</a:t>
              </a:r>
            </a:p>
          </p:txBody>
        </p:sp>
        <p:grpSp>
          <p:nvGrpSpPr>
            <p:cNvPr name="Group 25" id="25"/>
            <p:cNvGrpSpPr/>
            <p:nvPr/>
          </p:nvGrpSpPr>
          <p:grpSpPr>
            <a:xfrm rot="0">
              <a:off x="376982" y="362723"/>
              <a:ext cx="321148" cy="321148"/>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TextBox 28" id="28"/>
          <p:cNvSpPr txBox="true"/>
          <p:nvPr/>
        </p:nvSpPr>
        <p:spPr>
          <a:xfrm rot="0">
            <a:off x="7844101" y="4309703"/>
            <a:ext cx="8534137" cy="1263015"/>
          </a:xfrm>
          <a:prstGeom prst="rect">
            <a:avLst/>
          </a:prstGeom>
        </p:spPr>
        <p:txBody>
          <a:bodyPr anchor="t" rtlCol="false" tIns="0" lIns="0" bIns="0" rIns="0">
            <a:spAutoFit/>
          </a:bodyPr>
          <a:lstStyle/>
          <a:p>
            <a:pPr algn="l">
              <a:lnSpc>
                <a:spcPts val="3359"/>
              </a:lnSpc>
            </a:pPr>
            <a:r>
              <a:rPr lang="en-US" sz="2400">
                <a:solidFill>
                  <a:srgbClr val="0D0D0D"/>
                </a:solidFill>
                <a:latin typeface="Poppins"/>
                <a:ea typeface="Poppins"/>
                <a:cs typeface="Poppins"/>
                <a:sym typeface="Poppins"/>
              </a:rPr>
              <a:t>A cloud based softwarepackages repository and software directory for ColdFusion applications with the ability to store private packages.</a:t>
            </a:r>
          </a:p>
        </p:txBody>
      </p:sp>
      <p:sp>
        <p:nvSpPr>
          <p:cNvPr name="TextBox 29" id="29"/>
          <p:cNvSpPr txBox="true"/>
          <p:nvPr/>
        </p:nvSpPr>
        <p:spPr>
          <a:xfrm rot="0">
            <a:off x="971550" y="3309938"/>
            <a:ext cx="7677150"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Software Licenses</a:t>
            </a:r>
          </a:p>
        </p:txBody>
      </p:sp>
      <p:sp>
        <p:nvSpPr>
          <p:cNvPr name="TextBox 30" id="30"/>
          <p:cNvSpPr txBox="true"/>
          <p:nvPr/>
        </p:nvSpPr>
        <p:spPr>
          <a:xfrm rot="0">
            <a:off x="7844101" y="3662638"/>
            <a:ext cx="7034212" cy="580391"/>
          </a:xfrm>
          <a:prstGeom prst="rect">
            <a:avLst/>
          </a:prstGeom>
        </p:spPr>
        <p:txBody>
          <a:bodyPr anchor="t" rtlCol="false" tIns="0" lIns="0" bIns="0" rIns="0">
            <a:spAutoFit/>
          </a:bodyPr>
          <a:lstStyle/>
          <a:p>
            <a:pPr algn="l">
              <a:lnSpc>
                <a:spcPts val="4100"/>
              </a:lnSpc>
            </a:pPr>
            <a:r>
              <a:rPr lang="en-US" sz="4100">
                <a:solidFill>
                  <a:srgbClr val="0D0D0D"/>
                </a:solidFill>
                <a:latin typeface="Poppins Light"/>
                <a:ea typeface="Poppins Light"/>
                <a:cs typeface="Poppins Light"/>
                <a:sym typeface="Poppins Light"/>
              </a:rPr>
              <a:t>FORGEBOX Pro</a:t>
            </a:r>
          </a:p>
        </p:txBody>
      </p:sp>
    </p:spTree>
  </p:cSld>
  <p:clrMapOvr>
    <a:masterClrMapping/>
  </p:clrMapOvr>
  <p:transition spd="fast">
    <p:fade/>
  </p:transition>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7371716"/>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28700" y="6262921"/>
            <a:ext cx="2524125" cy="784945"/>
            <a:chOff x="0" y="0"/>
            <a:chExt cx="664790" cy="206735"/>
          </a:xfrm>
        </p:grpSpPr>
        <p:sp>
          <p:nvSpPr>
            <p:cNvPr name="Freeform 5" id="5"/>
            <p:cNvSpPr/>
            <p:nvPr/>
          </p:nvSpPr>
          <p:spPr>
            <a:xfrm flipH="false" flipV="false" rot="0">
              <a:off x="0" y="0"/>
              <a:ext cx="664790" cy="206735"/>
            </a:xfrm>
            <a:custGeom>
              <a:avLst/>
              <a:gdLst/>
              <a:ahLst/>
              <a:cxnLst/>
              <a:rect r="r" b="b" t="t" l="l"/>
              <a:pathLst>
                <a:path h="206735" w="664790">
                  <a:moveTo>
                    <a:pt x="103367" y="0"/>
                  </a:moveTo>
                  <a:lnTo>
                    <a:pt x="561423" y="0"/>
                  </a:lnTo>
                  <a:cubicBezTo>
                    <a:pt x="588838" y="0"/>
                    <a:pt x="615129" y="10890"/>
                    <a:pt x="634515" y="30276"/>
                  </a:cubicBezTo>
                  <a:cubicBezTo>
                    <a:pt x="653900" y="49661"/>
                    <a:pt x="664790" y="75953"/>
                    <a:pt x="664790" y="103367"/>
                  </a:cubicBezTo>
                  <a:lnTo>
                    <a:pt x="664790" y="103367"/>
                  </a:lnTo>
                  <a:cubicBezTo>
                    <a:pt x="664790" y="130782"/>
                    <a:pt x="653900" y="157074"/>
                    <a:pt x="634515" y="176459"/>
                  </a:cubicBezTo>
                  <a:cubicBezTo>
                    <a:pt x="615129" y="195844"/>
                    <a:pt x="588838" y="206735"/>
                    <a:pt x="56142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664790" cy="244835"/>
            </a:xfrm>
            <a:prstGeom prst="rect">
              <a:avLst/>
            </a:prstGeom>
          </p:spPr>
          <p:txBody>
            <a:bodyPr anchor="ctr" rtlCol="false" tIns="50800" lIns="50800" bIns="50800" rIns="50800"/>
            <a:lstStyle/>
            <a:p>
              <a:pPr algn="ctr">
                <a:lnSpc>
                  <a:spcPts val="2520"/>
                </a:lnSpc>
              </a:pPr>
            </a:p>
          </p:txBody>
        </p:sp>
      </p:grpSp>
      <p:sp>
        <p:nvSpPr>
          <p:cNvPr name="Freeform 7" id="7"/>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6">
              <a:alphaModFix amt="15000"/>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797918" y="6391868"/>
            <a:ext cx="1468934"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SIN: 511210</a:t>
            </a:r>
          </a:p>
        </p:txBody>
      </p:sp>
      <p:grpSp>
        <p:nvGrpSpPr>
          <p:cNvPr name="Group 9" id="9"/>
          <p:cNvGrpSpPr/>
          <p:nvPr/>
        </p:nvGrpSpPr>
        <p:grpSpPr>
          <a:xfrm rot="0">
            <a:off x="1295400" y="6534962"/>
            <a:ext cx="240861" cy="24086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12" id="12"/>
          <p:cNvGrpSpPr/>
          <p:nvPr/>
        </p:nvGrpSpPr>
        <p:grpSpPr>
          <a:xfrm rot="0">
            <a:off x="7844101" y="6262921"/>
            <a:ext cx="3125453" cy="784945"/>
            <a:chOff x="0" y="0"/>
            <a:chExt cx="4167271" cy="1046593"/>
          </a:xfrm>
        </p:grpSpPr>
        <p:grpSp>
          <p:nvGrpSpPr>
            <p:cNvPr name="Group 13" id="13"/>
            <p:cNvGrpSpPr/>
            <p:nvPr/>
          </p:nvGrpSpPr>
          <p:grpSpPr>
            <a:xfrm rot="0">
              <a:off x="0" y="0"/>
              <a:ext cx="4167271" cy="1046593"/>
              <a:chOff x="0" y="0"/>
              <a:chExt cx="823165" cy="206735"/>
            </a:xfrm>
          </p:grpSpPr>
          <p:sp>
            <p:nvSpPr>
              <p:cNvPr name="Freeform 14" id="14"/>
              <p:cNvSpPr/>
              <p:nvPr/>
            </p:nvSpPr>
            <p:spPr>
              <a:xfrm flipH="false" flipV="false" rot="0">
                <a:off x="0" y="0"/>
                <a:ext cx="823165" cy="206735"/>
              </a:xfrm>
              <a:custGeom>
                <a:avLst/>
                <a:gdLst/>
                <a:ahLst/>
                <a:cxnLst/>
                <a:rect r="r" b="b" t="t" l="l"/>
                <a:pathLst>
                  <a:path h="206735" w="823165">
                    <a:moveTo>
                      <a:pt x="103367" y="0"/>
                    </a:moveTo>
                    <a:lnTo>
                      <a:pt x="719797" y="0"/>
                    </a:lnTo>
                    <a:cubicBezTo>
                      <a:pt x="747212" y="0"/>
                      <a:pt x="773504" y="10890"/>
                      <a:pt x="792889" y="30276"/>
                    </a:cubicBezTo>
                    <a:cubicBezTo>
                      <a:pt x="812274" y="49661"/>
                      <a:pt x="823165" y="75953"/>
                      <a:pt x="823165" y="103367"/>
                    </a:cubicBezTo>
                    <a:lnTo>
                      <a:pt x="823165" y="103367"/>
                    </a:lnTo>
                    <a:cubicBezTo>
                      <a:pt x="823165" y="130782"/>
                      <a:pt x="812274" y="157074"/>
                      <a:pt x="792889" y="176459"/>
                    </a:cubicBezTo>
                    <a:cubicBezTo>
                      <a:pt x="773504" y="195844"/>
                      <a:pt x="747212" y="206735"/>
                      <a:pt x="71979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5" id="15"/>
              <p:cNvSpPr txBox="true"/>
              <p:nvPr/>
            </p:nvSpPr>
            <p:spPr>
              <a:xfrm>
                <a:off x="0" y="-38100"/>
                <a:ext cx="823165" cy="244835"/>
              </a:xfrm>
              <a:prstGeom prst="rect">
                <a:avLst/>
              </a:prstGeom>
            </p:spPr>
            <p:txBody>
              <a:bodyPr anchor="ctr" rtlCol="false" tIns="50800" lIns="50800" bIns="50800" rIns="50800"/>
              <a:lstStyle/>
              <a:p>
                <a:pPr algn="ctr">
                  <a:lnSpc>
                    <a:spcPts val="2520"/>
                  </a:lnSpc>
                </a:pPr>
              </a:p>
            </p:txBody>
          </p:sp>
        </p:grpSp>
        <p:sp>
          <p:nvSpPr>
            <p:cNvPr name="TextBox 16" id="16"/>
            <p:cNvSpPr txBox="true"/>
            <p:nvPr/>
          </p:nvSpPr>
          <p:spPr>
            <a:xfrm rot="0">
              <a:off x="980408" y="197330"/>
              <a:ext cx="2841625" cy="575733"/>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0D0D0D"/>
                  </a:solidFill>
                  <a:latin typeface="Poppins Light"/>
                  <a:ea typeface="Poppins Light"/>
                  <a:cs typeface="Poppins Light"/>
                  <a:sym typeface="Poppins Light"/>
                </a:rPr>
                <a:t>1 Year License</a:t>
              </a:r>
            </a:p>
          </p:txBody>
        </p:sp>
        <p:grpSp>
          <p:nvGrpSpPr>
            <p:cNvPr name="Group 17" id="17"/>
            <p:cNvGrpSpPr/>
            <p:nvPr/>
          </p:nvGrpSpPr>
          <p:grpSpPr>
            <a:xfrm rot="0">
              <a:off x="376982" y="362723"/>
              <a:ext cx="321148" cy="32114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0" id="20"/>
          <p:cNvGrpSpPr/>
          <p:nvPr/>
        </p:nvGrpSpPr>
        <p:grpSpPr>
          <a:xfrm rot="0">
            <a:off x="11249164" y="6262921"/>
            <a:ext cx="3404642" cy="784945"/>
            <a:chOff x="0" y="0"/>
            <a:chExt cx="4539522" cy="1046593"/>
          </a:xfrm>
        </p:grpSpPr>
        <p:grpSp>
          <p:nvGrpSpPr>
            <p:cNvPr name="Group 21" id="21"/>
            <p:cNvGrpSpPr/>
            <p:nvPr/>
          </p:nvGrpSpPr>
          <p:grpSpPr>
            <a:xfrm rot="0">
              <a:off x="0" y="0"/>
              <a:ext cx="4539522" cy="1046593"/>
              <a:chOff x="0" y="0"/>
              <a:chExt cx="896696" cy="206735"/>
            </a:xfrm>
          </p:grpSpPr>
          <p:sp>
            <p:nvSpPr>
              <p:cNvPr name="Freeform 22" id="22"/>
              <p:cNvSpPr/>
              <p:nvPr/>
            </p:nvSpPr>
            <p:spPr>
              <a:xfrm flipH="false" flipV="false" rot="0">
                <a:off x="0" y="0"/>
                <a:ext cx="896696" cy="206735"/>
              </a:xfrm>
              <a:custGeom>
                <a:avLst/>
                <a:gdLst/>
                <a:ahLst/>
                <a:cxnLst/>
                <a:rect r="r" b="b" t="t" l="l"/>
                <a:pathLst>
                  <a:path h="206735" w="896696">
                    <a:moveTo>
                      <a:pt x="103367" y="0"/>
                    </a:moveTo>
                    <a:lnTo>
                      <a:pt x="793329" y="0"/>
                    </a:lnTo>
                    <a:cubicBezTo>
                      <a:pt x="820743" y="0"/>
                      <a:pt x="847035" y="10890"/>
                      <a:pt x="866420" y="30276"/>
                    </a:cubicBezTo>
                    <a:cubicBezTo>
                      <a:pt x="885805" y="49661"/>
                      <a:pt x="896696" y="75953"/>
                      <a:pt x="896696" y="103367"/>
                    </a:cubicBezTo>
                    <a:lnTo>
                      <a:pt x="896696" y="103367"/>
                    </a:lnTo>
                    <a:cubicBezTo>
                      <a:pt x="896696" y="130782"/>
                      <a:pt x="885805" y="157074"/>
                      <a:pt x="866420" y="176459"/>
                    </a:cubicBezTo>
                    <a:cubicBezTo>
                      <a:pt x="847035" y="195844"/>
                      <a:pt x="820743" y="206735"/>
                      <a:pt x="79332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3" id="23"/>
              <p:cNvSpPr txBox="true"/>
              <p:nvPr/>
            </p:nvSpPr>
            <p:spPr>
              <a:xfrm>
                <a:off x="0" y="-38100"/>
                <a:ext cx="896696" cy="244835"/>
              </a:xfrm>
              <a:prstGeom prst="rect">
                <a:avLst/>
              </a:prstGeom>
            </p:spPr>
            <p:txBody>
              <a:bodyPr anchor="ctr" rtlCol="false" tIns="50800" lIns="50800" bIns="50800" rIns="50800"/>
              <a:lstStyle/>
              <a:p>
                <a:pPr algn="ctr">
                  <a:lnSpc>
                    <a:spcPts val="2520"/>
                  </a:lnSpc>
                </a:pPr>
              </a:p>
            </p:txBody>
          </p:sp>
        </p:grpSp>
        <p:sp>
          <p:nvSpPr>
            <p:cNvPr name="TextBox 24" id="24"/>
            <p:cNvSpPr txBox="true"/>
            <p:nvPr/>
          </p:nvSpPr>
          <p:spPr>
            <a:xfrm rot="0">
              <a:off x="987650" y="197330"/>
              <a:ext cx="3215382" cy="575733"/>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0D0D0D"/>
                  </a:solidFill>
                  <a:latin typeface="Poppins Light"/>
                  <a:ea typeface="Poppins Light"/>
                  <a:cs typeface="Poppins Light"/>
                  <a:sym typeface="Poppins Light"/>
                </a:rPr>
                <a:t>1 Month License</a:t>
              </a:r>
            </a:p>
          </p:txBody>
        </p:sp>
        <p:grpSp>
          <p:nvGrpSpPr>
            <p:cNvPr name="Group 25" id="25"/>
            <p:cNvGrpSpPr/>
            <p:nvPr/>
          </p:nvGrpSpPr>
          <p:grpSpPr>
            <a:xfrm rot="0">
              <a:off x="376982" y="362723"/>
              <a:ext cx="321148" cy="321148"/>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TextBox 28" id="28"/>
          <p:cNvSpPr txBox="true"/>
          <p:nvPr/>
        </p:nvSpPr>
        <p:spPr>
          <a:xfrm rot="0">
            <a:off x="7844101" y="4309703"/>
            <a:ext cx="8534137" cy="1682115"/>
          </a:xfrm>
          <a:prstGeom prst="rect">
            <a:avLst/>
          </a:prstGeom>
        </p:spPr>
        <p:txBody>
          <a:bodyPr anchor="t" rtlCol="false" tIns="0" lIns="0" bIns="0" rIns="0">
            <a:spAutoFit/>
          </a:bodyPr>
          <a:lstStyle/>
          <a:p>
            <a:pPr algn="l">
              <a:lnSpc>
                <a:spcPts val="3359"/>
              </a:lnSpc>
            </a:pPr>
            <a:r>
              <a:rPr lang="en-US" sz="2400">
                <a:solidFill>
                  <a:srgbClr val="0D0D0D"/>
                </a:solidFill>
                <a:latin typeface="Poppins"/>
                <a:ea typeface="Poppins"/>
                <a:cs typeface="Poppins"/>
                <a:sym typeface="Poppins"/>
              </a:rPr>
              <a:t>CommandBox Pro is a professionally supported version of CommandBox that includes exclusive features such as a Service Manager Module, Multi-server deployment in a single context and automatic JDK management. </a:t>
            </a:r>
          </a:p>
        </p:txBody>
      </p:sp>
      <p:sp>
        <p:nvSpPr>
          <p:cNvPr name="TextBox 29" id="29"/>
          <p:cNvSpPr txBox="true"/>
          <p:nvPr/>
        </p:nvSpPr>
        <p:spPr>
          <a:xfrm rot="0">
            <a:off x="971550" y="3309938"/>
            <a:ext cx="7677150"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Software Licenses</a:t>
            </a:r>
          </a:p>
        </p:txBody>
      </p:sp>
      <p:sp>
        <p:nvSpPr>
          <p:cNvPr name="TextBox 30" id="30"/>
          <p:cNvSpPr txBox="true"/>
          <p:nvPr/>
        </p:nvSpPr>
        <p:spPr>
          <a:xfrm rot="0">
            <a:off x="7844101" y="3662638"/>
            <a:ext cx="7034212" cy="580391"/>
          </a:xfrm>
          <a:prstGeom prst="rect">
            <a:avLst/>
          </a:prstGeom>
        </p:spPr>
        <p:txBody>
          <a:bodyPr anchor="t" rtlCol="false" tIns="0" lIns="0" bIns="0" rIns="0">
            <a:spAutoFit/>
          </a:bodyPr>
          <a:lstStyle/>
          <a:p>
            <a:pPr algn="l">
              <a:lnSpc>
                <a:spcPts val="4100"/>
              </a:lnSpc>
            </a:pPr>
            <a:r>
              <a:rPr lang="en-US" sz="4100">
                <a:solidFill>
                  <a:srgbClr val="0D0D0D"/>
                </a:solidFill>
                <a:latin typeface="Poppins Light"/>
                <a:ea typeface="Poppins Light"/>
                <a:cs typeface="Poppins Light"/>
                <a:sym typeface="Poppins Light"/>
              </a:rPr>
              <a:t>CommandBox Pro </a:t>
            </a:r>
          </a:p>
        </p:txBody>
      </p:sp>
    </p:spTree>
  </p:cSld>
  <p:clrMapOvr>
    <a:masterClrMapping/>
  </p:clrMapOvr>
  <p:transition spd="fast">
    <p:fade/>
  </p:transition>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429315"/>
            <a:ext cx="5841232" cy="1504570"/>
          </a:xfrm>
          <a:prstGeom prst="rect">
            <a:avLst/>
          </a:prstGeom>
        </p:spPr>
        <p:txBody>
          <a:bodyPr anchor="t" rtlCol="false" tIns="0" lIns="0" bIns="0" rIns="0">
            <a:spAutoFit/>
          </a:bodyPr>
          <a:lstStyle/>
          <a:p>
            <a:pPr algn="l">
              <a:lnSpc>
                <a:spcPts val="10608"/>
              </a:lnSpc>
            </a:pPr>
            <a:r>
              <a:rPr lang="en-US" sz="10400">
                <a:solidFill>
                  <a:srgbClr val="0D0D0D"/>
                </a:solidFill>
                <a:latin typeface="Poppins Light"/>
                <a:ea typeface="Poppins Light"/>
                <a:cs typeface="Poppins Light"/>
                <a:sym typeface="Poppins Light"/>
              </a:rPr>
              <a:t>NAICS</a:t>
            </a:r>
          </a:p>
        </p:txBody>
      </p:sp>
      <p:sp>
        <p:nvSpPr>
          <p:cNvPr name="Freeform 4" id="4"/>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Table 5" id="5"/>
          <p:cNvGraphicFramePr>
            <a:graphicFrameLocks noGrp="true"/>
          </p:cNvGraphicFramePr>
          <p:nvPr/>
        </p:nvGraphicFramePr>
        <p:xfrm>
          <a:off x="7491412" y="1738312"/>
          <a:ext cx="9827419" cy="6810375"/>
        </p:xfrm>
        <a:graphic>
          <a:graphicData uri="http://schemas.openxmlformats.org/drawingml/2006/table">
            <a:tbl>
              <a:tblPr/>
              <a:tblGrid>
                <a:gridCol w="1782903"/>
                <a:gridCol w="8044516"/>
              </a:tblGrid>
              <a:tr h="1011064">
                <a:tc>
                  <a:txBody>
                    <a:bodyPr anchor="t" rtlCol="false"/>
                    <a:lstStyle/>
                    <a:p>
                      <a:pPr algn="ctr">
                        <a:lnSpc>
                          <a:spcPts val="2999"/>
                        </a:lnSpc>
                        <a:defRPr/>
                      </a:pPr>
                      <a:r>
                        <a:rPr lang="en-US" sz="2499">
                          <a:solidFill>
                            <a:srgbClr val="0D0D0D"/>
                          </a:solidFill>
                          <a:latin typeface="Poppins"/>
                          <a:ea typeface="Poppins"/>
                          <a:cs typeface="Poppins"/>
                          <a:sym typeface="Poppins"/>
                        </a:rPr>
                        <a:t>511210</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68DE68"/>
                    </a:solidFill>
                  </a:tcPr>
                </a:tc>
                <a:tc>
                  <a:txBody>
                    <a:bodyPr anchor="t" rtlCol="false"/>
                    <a:lstStyle/>
                    <a:p>
                      <a:pPr algn="l">
                        <a:lnSpc>
                          <a:spcPts val="2999"/>
                        </a:lnSpc>
                        <a:defRPr/>
                      </a:pPr>
                      <a:r>
                        <a:rPr lang="en-US" sz="2499">
                          <a:solidFill>
                            <a:srgbClr val="0D0D0D"/>
                          </a:solidFill>
                          <a:latin typeface="Poppins"/>
                          <a:ea typeface="Poppins"/>
                          <a:cs typeface="Poppins"/>
                          <a:sym typeface="Poppins"/>
                        </a:rPr>
                        <a:t>SOFTWARE PUBLISHER</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68DE68"/>
                    </a:solidFill>
                  </a:tcPr>
                </a:tc>
              </a:tr>
              <a:tr h="1383059">
                <a:tc>
                  <a:txBody>
                    <a:bodyPr anchor="t" rtlCol="false"/>
                    <a:lstStyle/>
                    <a:p>
                      <a:pPr algn="ctr">
                        <a:lnSpc>
                          <a:spcPts val="2999"/>
                        </a:lnSpc>
                        <a:defRPr/>
                      </a:pPr>
                      <a:r>
                        <a:rPr lang="en-US" sz="2499">
                          <a:solidFill>
                            <a:srgbClr val="0D0D0D"/>
                          </a:solidFill>
                          <a:latin typeface="Poppins"/>
                          <a:ea typeface="Poppins"/>
                          <a:cs typeface="Poppins"/>
                          <a:sym typeface="Poppins"/>
                        </a:rPr>
                        <a:t>519130</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68DE68"/>
                    </a:solidFill>
                  </a:tcPr>
                </a:tc>
                <a:tc>
                  <a:txBody>
                    <a:bodyPr anchor="t" rtlCol="false"/>
                    <a:lstStyle/>
                    <a:p>
                      <a:pPr algn="l">
                        <a:lnSpc>
                          <a:spcPts val="2999"/>
                        </a:lnSpc>
                        <a:defRPr/>
                      </a:pPr>
                      <a:r>
                        <a:rPr lang="en-US" sz="2499">
                          <a:solidFill>
                            <a:srgbClr val="0D0D0D"/>
                          </a:solidFill>
                          <a:latin typeface="Poppins"/>
                          <a:ea typeface="Poppins"/>
                          <a:cs typeface="Poppins"/>
                          <a:sym typeface="Poppins"/>
                        </a:rPr>
                        <a:t>SOFTWARE PUBLISHERS &amp; BROADCASTING &amp; WEB SEARCH PORTALS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68DE68"/>
                    </a:solidFill>
                  </a:tcPr>
                </a:tc>
              </a:tr>
              <a:tr h="1011064">
                <a:tc>
                  <a:txBody>
                    <a:bodyPr anchor="t" rtlCol="false"/>
                    <a:lstStyle/>
                    <a:p>
                      <a:pPr algn="ctr">
                        <a:lnSpc>
                          <a:spcPts val="2999"/>
                        </a:lnSpc>
                        <a:defRPr/>
                      </a:pPr>
                      <a:r>
                        <a:rPr lang="en-US" sz="2499">
                          <a:solidFill>
                            <a:srgbClr val="0D0D0D"/>
                          </a:solidFill>
                          <a:latin typeface="Poppins"/>
                          <a:ea typeface="Poppins"/>
                          <a:cs typeface="Poppins"/>
                          <a:sym typeface="Poppins"/>
                        </a:rPr>
                        <a:t>541330</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68DE68"/>
                    </a:solidFill>
                  </a:tcPr>
                </a:tc>
                <a:tc>
                  <a:txBody>
                    <a:bodyPr anchor="t" rtlCol="false"/>
                    <a:lstStyle/>
                    <a:p>
                      <a:pPr algn="l">
                        <a:lnSpc>
                          <a:spcPts val="2999"/>
                        </a:lnSpc>
                        <a:defRPr/>
                      </a:pPr>
                      <a:r>
                        <a:rPr lang="en-US" sz="2499">
                          <a:solidFill>
                            <a:srgbClr val="0D0D0D"/>
                          </a:solidFill>
                          <a:latin typeface="Poppins"/>
                          <a:ea typeface="Poppins"/>
                          <a:cs typeface="Poppins"/>
                          <a:sym typeface="Poppins"/>
                        </a:rPr>
                        <a:t>ENGINEERING SERVICES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68DE68"/>
                    </a:solidFill>
                  </a:tcPr>
                </a:tc>
              </a:tr>
              <a:tr h="1011064">
                <a:tc>
                  <a:txBody>
                    <a:bodyPr anchor="t" rtlCol="false"/>
                    <a:lstStyle/>
                    <a:p>
                      <a:pPr algn="ctr">
                        <a:lnSpc>
                          <a:spcPts val="2999"/>
                        </a:lnSpc>
                        <a:defRPr/>
                      </a:pPr>
                      <a:r>
                        <a:rPr lang="en-US" sz="2499">
                          <a:solidFill>
                            <a:srgbClr val="0D0D0D"/>
                          </a:solidFill>
                          <a:latin typeface="Poppins"/>
                          <a:ea typeface="Poppins"/>
                          <a:cs typeface="Poppins"/>
                          <a:sym typeface="Poppins"/>
                        </a:rPr>
                        <a:t>541511</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68DE68"/>
                    </a:solidFill>
                  </a:tcPr>
                </a:tc>
                <a:tc>
                  <a:txBody>
                    <a:bodyPr anchor="t" rtlCol="false"/>
                    <a:lstStyle/>
                    <a:p>
                      <a:pPr algn="l">
                        <a:lnSpc>
                          <a:spcPts val="2999"/>
                        </a:lnSpc>
                        <a:defRPr/>
                      </a:pPr>
                      <a:r>
                        <a:rPr lang="en-US" sz="2499">
                          <a:solidFill>
                            <a:srgbClr val="0D0D0D"/>
                          </a:solidFill>
                          <a:latin typeface="Poppins"/>
                          <a:ea typeface="Poppins"/>
                          <a:cs typeface="Poppins"/>
                          <a:sym typeface="Poppins"/>
                        </a:rPr>
                        <a:t>CUSTOM COMPUTER PROGRAMMING SERVICES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68DE68"/>
                    </a:solidFill>
                  </a:tcPr>
                </a:tc>
              </a:tr>
              <a:tr h="1011064">
                <a:tc>
                  <a:txBody>
                    <a:bodyPr anchor="t" rtlCol="false"/>
                    <a:lstStyle/>
                    <a:p>
                      <a:pPr algn="ctr">
                        <a:lnSpc>
                          <a:spcPts val="2999"/>
                        </a:lnSpc>
                        <a:defRPr/>
                      </a:pPr>
                      <a:r>
                        <a:rPr lang="en-US" sz="2499">
                          <a:solidFill>
                            <a:srgbClr val="0D0D0D"/>
                          </a:solidFill>
                          <a:latin typeface="Poppins"/>
                          <a:ea typeface="Poppins"/>
                          <a:cs typeface="Poppins"/>
                          <a:sym typeface="Poppins"/>
                        </a:rPr>
                        <a:t>541512</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68DE68"/>
                    </a:solidFill>
                  </a:tcPr>
                </a:tc>
                <a:tc>
                  <a:txBody>
                    <a:bodyPr anchor="t" rtlCol="false"/>
                    <a:lstStyle/>
                    <a:p>
                      <a:pPr algn="l">
                        <a:lnSpc>
                          <a:spcPts val="2999"/>
                        </a:lnSpc>
                        <a:defRPr/>
                      </a:pPr>
                      <a:r>
                        <a:rPr lang="en-US" sz="2499">
                          <a:solidFill>
                            <a:srgbClr val="0D0D0D"/>
                          </a:solidFill>
                          <a:latin typeface="Poppins"/>
                          <a:ea typeface="Poppins"/>
                          <a:cs typeface="Poppins"/>
                          <a:sym typeface="Poppins"/>
                        </a:rPr>
                        <a:t>COMPUTER SYSTEMS DESIGN SERVICES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68DE68"/>
                    </a:solidFill>
                  </a:tcPr>
                </a:tc>
              </a:tr>
              <a:tr h="1383059">
                <a:tc>
                  <a:txBody>
                    <a:bodyPr anchor="t" rtlCol="false"/>
                    <a:lstStyle/>
                    <a:p>
                      <a:pPr algn="ctr">
                        <a:lnSpc>
                          <a:spcPts val="2999"/>
                        </a:lnSpc>
                        <a:defRPr/>
                      </a:pPr>
                      <a:r>
                        <a:rPr lang="en-US" sz="2499">
                          <a:solidFill>
                            <a:srgbClr val="0D0D0D"/>
                          </a:solidFill>
                          <a:latin typeface="Poppins"/>
                          <a:ea typeface="Poppins"/>
                          <a:cs typeface="Poppins"/>
                          <a:sym typeface="Poppins"/>
                        </a:rPr>
                        <a:t>541519</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68DE68"/>
                    </a:solidFill>
                  </a:tcPr>
                </a:tc>
                <a:tc>
                  <a:txBody>
                    <a:bodyPr anchor="t" rtlCol="false"/>
                    <a:lstStyle/>
                    <a:p>
                      <a:pPr algn="l">
                        <a:lnSpc>
                          <a:spcPts val="2999"/>
                        </a:lnSpc>
                        <a:defRPr/>
                      </a:pPr>
                      <a:r>
                        <a:rPr lang="en-US" sz="2499">
                          <a:solidFill>
                            <a:srgbClr val="0D0D0D"/>
                          </a:solidFill>
                          <a:latin typeface="Poppins"/>
                          <a:ea typeface="Poppins"/>
                          <a:cs typeface="Poppins"/>
                          <a:sym typeface="Poppins"/>
                        </a:rPr>
                        <a:t>INFORMATION TECHNOLOGY VALUE ADDED RESELLERS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68DE68"/>
                    </a:solidFill>
                  </a:tcPr>
                </a:tc>
              </a:tr>
            </a:tbl>
          </a:graphicData>
        </a:graphic>
      </p:graphicFrame>
    </p:spTree>
  </p:cSld>
  <p:clrMapOvr>
    <a:masterClrMapping/>
  </p:clrMapOvr>
  <p:transition spd="fast">
    <p:wipe dir="d"/>
  </p:transition>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757803"/>
            <a:ext cx="9019682" cy="2847595"/>
          </a:xfrm>
          <a:prstGeom prst="rect">
            <a:avLst/>
          </a:prstGeom>
        </p:spPr>
        <p:txBody>
          <a:bodyPr anchor="t" rtlCol="false" tIns="0" lIns="0" bIns="0" rIns="0">
            <a:spAutoFit/>
          </a:bodyPr>
          <a:lstStyle/>
          <a:p>
            <a:pPr algn="l">
              <a:lnSpc>
                <a:spcPts val="10608"/>
              </a:lnSpc>
            </a:pPr>
            <a:r>
              <a:rPr lang="en-US" sz="10400">
                <a:solidFill>
                  <a:srgbClr val="0D0D0D"/>
                </a:solidFill>
                <a:latin typeface="Poppins Light"/>
                <a:ea typeface="Poppins Light"/>
                <a:cs typeface="Poppins Light"/>
                <a:sym typeface="Poppins Light"/>
              </a:rPr>
              <a:t>Past Performance</a:t>
            </a:r>
          </a:p>
        </p:txBody>
      </p:sp>
      <p:sp>
        <p:nvSpPr>
          <p:cNvPr name="Freeform 4" id="4"/>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5962" y="3958315"/>
            <a:ext cx="3467100" cy="685800"/>
            <a:chOff x="0" y="0"/>
            <a:chExt cx="913146" cy="180622"/>
          </a:xfrm>
        </p:grpSpPr>
        <p:sp>
          <p:nvSpPr>
            <p:cNvPr name="Freeform 3" id="3"/>
            <p:cNvSpPr/>
            <p:nvPr/>
          </p:nvSpPr>
          <p:spPr>
            <a:xfrm flipH="false" flipV="false" rot="0">
              <a:off x="0" y="0"/>
              <a:ext cx="913146" cy="180622"/>
            </a:xfrm>
            <a:custGeom>
              <a:avLst/>
              <a:gdLst/>
              <a:ahLst/>
              <a:cxnLst/>
              <a:rect r="r" b="b" t="t" l="l"/>
              <a:pathLst>
                <a:path h="180622" w="913146">
                  <a:moveTo>
                    <a:pt x="90311" y="0"/>
                  </a:moveTo>
                  <a:lnTo>
                    <a:pt x="822835" y="0"/>
                  </a:lnTo>
                  <a:cubicBezTo>
                    <a:pt x="846787" y="0"/>
                    <a:pt x="869758" y="9515"/>
                    <a:pt x="886694" y="26452"/>
                  </a:cubicBezTo>
                  <a:cubicBezTo>
                    <a:pt x="903631" y="43388"/>
                    <a:pt x="913146" y="66359"/>
                    <a:pt x="913146" y="90311"/>
                  </a:cubicBezTo>
                  <a:lnTo>
                    <a:pt x="913146" y="90311"/>
                  </a:lnTo>
                  <a:cubicBezTo>
                    <a:pt x="913146" y="114263"/>
                    <a:pt x="903631" y="137234"/>
                    <a:pt x="886694" y="154171"/>
                  </a:cubicBezTo>
                  <a:cubicBezTo>
                    <a:pt x="869758" y="171107"/>
                    <a:pt x="846787" y="180622"/>
                    <a:pt x="822835"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4" id="4"/>
            <p:cNvSpPr txBox="true"/>
            <p:nvPr/>
          </p:nvSpPr>
          <p:spPr>
            <a:xfrm>
              <a:off x="0" y="-57150"/>
              <a:ext cx="913146"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Service/Technologies</a:t>
              </a:r>
            </a:p>
          </p:txBody>
        </p:sp>
      </p:grpSp>
      <p:sp>
        <p:nvSpPr>
          <p:cNvPr name="Freeform 5" id="5"/>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982825" y="6981825"/>
            <a:ext cx="2276475" cy="2276475"/>
          </a:xfrm>
          <a:custGeom>
            <a:avLst/>
            <a:gdLst/>
            <a:ahLst/>
            <a:cxnLst/>
            <a:rect r="r" b="b" t="t" l="l"/>
            <a:pathLst>
              <a:path h="2276475" w="2276475">
                <a:moveTo>
                  <a:pt x="0" y="0"/>
                </a:moveTo>
                <a:lnTo>
                  <a:pt x="2276475" y="0"/>
                </a:lnTo>
                <a:lnTo>
                  <a:pt x="2276475" y="2276475"/>
                </a:lnTo>
                <a:lnTo>
                  <a:pt x="0" y="2276475"/>
                </a:lnTo>
                <a:lnTo>
                  <a:pt x="0" y="0"/>
                </a:lnTo>
                <a:close/>
              </a:path>
            </a:pathLst>
          </a:custGeom>
          <a:blipFill>
            <a:blip r:embed="rId4"/>
            <a:stretch>
              <a:fillRect l="0" t="0" r="0" b="0"/>
            </a:stretch>
          </a:blipFill>
        </p:spPr>
      </p:sp>
      <p:sp>
        <p:nvSpPr>
          <p:cNvPr name="TextBox 7" id="7"/>
          <p:cNvSpPr txBox="true"/>
          <p:nvPr/>
        </p:nvSpPr>
        <p:spPr>
          <a:xfrm rot="0">
            <a:off x="1028700" y="5165408"/>
            <a:ext cx="7620000" cy="1268730"/>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Ortus Solutions has supported the Naval Expeditionary Forensics and Biometrics (NEFB) task order as a subcontractor since 2018. Since then, Ortus has led program efforts related to the WEAT web application development, testing and deployment. </a:t>
            </a:r>
          </a:p>
        </p:txBody>
      </p:sp>
      <p:sp>
        <p:nvSpPr>
          <p:cNvPr name="TextBox 8" id="8"/>
          <p:cNvSpPr txBox="true"/>
          <p:nvPr/>
        </p:nvSpPr>
        <p:spPr>
          <a:xfrm rot="0">
            <a:off x="9605962" y="4844140"/>
            <a:ext cx="3795712" cy="3154680"/>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D0D0D"/>
                </a:solidFill>
                <a:latin typeface="Poppins"/>
                <a:ea typeface="Poppins"/>
                <a:cs typeface="Poppins"/>
                <a:sym typeface="Poppins"/>
              </a:rPr>
              <a:t>Custom Development</a:t>
            </a:r>
          </a:p>
          <a:p>
            <a:pPr algn="l" marL="388622" indent="-194311" lvl="1">
              <a:lnSpc>
                <a:spcPts val="2520"/>
              </a:lnSpc>
              <a:buFont typeface="Arial"/>
              <a:buChar char="•"/>
            </a:pPr>
            <a:r>
              <a:rPr lang="en-US" sz="1800">
                <a:solidFill>
                  <a:srgbClr val="0D0D0D"/>
                </a:solidFill>
                <a:latin typeface="Poppins"/>
                <a:ea typeface="Poppins"/>
                <a:cs typeface="Poppins"/>
                <a:sym typeface="Poppins"/>
              </a:rPr>
              <a:t>ElasticSearch</a:t>
            </a:r>
          </a:p>
          <a:p>
            <a:pPr algn="l" marL="388622" indent="-194311" lvl="1">
              <a:lnSpc>
                <a:spcPts val="2520"/>
              </a:lnSpc>
              <a:buFont typeface="Arial"/>
              <a:buChar char="•"/>
            </a:pPr>
            <a:r>
              <a:rPr lang="en-US" sz="1800">
                <a:solidFill>
                  <a:srgbClr val="0D0D0D"/>
                </a:solidFill>
                <a:latin typeface="Poppins"/>
                <a:ea typeface="Poppins"/>
                <a:cs typeface="Poppins"/>
                <a:sym typeface="Poppins"/>
              </a:rPr>
              <a:t>Cloud Migrations</a:t>
            </a:r>
          </a:p>
          <a:p>
            <a:pPr algn="l" marL="388622" indent="-194311" lvl="1">
              <a:lnSpc>
                <a:spcPts val="2520"/>
              </a:lnSpc>
              <a:buFont typeface="Arial"/>
              <a:buChar char="•"/>
            </a:pPr>
            <a:r>
              <a:rPr lang="en-US" sz="1800">
                <a:solidFill>
                  <a:srgbClr val="0D0D0D"/>
                </a:solidFill>
                <a:latin typeface="Poppins"/>
                <a:ea typeface="Poppins"/>
                <a:cs typeface="Poppins"/>
                <a:sym typeface="Poppins"/>
              </a:rPr>
              <a:t>Security Hardening</a:t>
            </a:r>
          </a:p>
          <a:p>
            <a:pPr algn="l" marL="388622" indent="-194311" lvl="1">
              <a:lnSpc>
                <a:spcPts val="2520"/>
              </a:lnSpc>
              <a:buFont typeface="Arial"/>
              <a:buChar char="•"/>
            </a:pPr>
            <a:r>
              <a:rPr lang="en-US" sz="1800">
                <a:solidFill>
                  <a:srgbClr val="0D0D0D"/>
                </a:solidFill>
                <a:latin typeface="Poppins"/>
                <a:ea typeface="Poppins"/>
                <a:cs typeface="Poppins"/>
                <a:sym typeface="Poppins"/>
              </a:rPr>
              <a:t>Training</a:t>
            </a:r>
          </a:p>
          <a:p>
            <a:pPr algn="l" marL="388622" indent="-194311" lvl="1">
              <a:lnSpc>
                <a:spcPts val="2520"/>
              </a:lnSpc>
              <a:buFont typeface="Arial"/>
              <a:buChar char="•"/>
            </a:pPr>
            <a:r>
              <a:rPr lang="en-US" sz="1800">
                <a:solidFill>
                  <a:srgbClr val="0D0D0D"/>
                </a:solidFill>
                <a:latin typeface="Poppins"/>
                <a:ea typeface="Poppins"/>
                <a:cs typeface="Poppins"/>
                <a:sym typeface="Poppins"/>
              </a:rPr>
              <a:t>Software Architecture</a:t>
            </a:r>
          </a:p>
          <a:p>
            <a:pPr algn="l" marL="388622" indent="-194311" lvl="1">
              <a:lnSpc>
                <a:spcPts val="2520"/>
              </a:lnSpc>
              <a:buFont typeface="Arial"/>
              <a:buChar char="•"/>
            </a:pPr>
            <a:r>
              <a:rPr lang="en-US" sz="1800">
                <a:solidFill>
                  <a:srgbClr val="0D0D0D"/>
                </a:solidFill>
                <a:latin typeface="Poppins"/>
                <a:ea typeface="Poppins"/>
                <a:cs typeface="Poppins"/>
                <a:sym typeface="Poppins"/>
              </a:rPr>
              <a:t>Agile Team Management</a:t>
            </a:r>
          </a:p>
          <a:p>
            <a:pPr algn="l" marL="388622" indent="-194311" lvl="1">
              <a:lnSpc>
                <a:spcPts val="2520"/>
              </a:lnSpc>
              <a:buFont typeface="Arial"/>
              <a:buChar char="•"/>
            </a:pPr>
            <a:r>
              <a:rPr lang="en-US" sz="1800">
                <a:solidFill>
                  <a:srgbClr val="0D0D0D"/>
                </a:solidFill>
                <a:latin typeface="Poppins"/>
                <a:ea typeface="Poppins"/>
                <a:cs typeface="Poppins"/>
                <a:sym typeface="Poppins"/>
              </a:rPr>
              <a:t>ColdBox</a:t>
            </a:r>
          </a:p>
          <a:p>
            <a:pPr algn="l" marL="388622" indent="-194311" lvl="1">
              <a:lnSpc>
                <a:spcPts val="2520"/>
              </a:lnSpc>
              <a:buFont typeface="Arial"/>
              <a:buChar char="•"/>
            </a:pPr>
            <a:r>
              <a:rPr lang="en-US" sz="1800">
                <a:solidFill>
                  <a:srgbClr val="0D0D0D"/>
                </a:solidFill>
                <a:latin typeface="Poppins"/>
                <a:ea typeface="Poppins"/>
                <a:cs typeface="Poppins"/>
                <a:sym typeface="Poppins"/>
              </a:rPr>
              <a:t>CommandBox</a:t>
            </a:r>
          </a:p>
          <a:p>
            <a:pPr algn="l">
              <a:lnSpc>
                <a:spcPts val="2520"/>
              </a:lnSpc>
            </a:pPr>
          </a:p>
        </p:txBody>
      </p:sp>
      <p:sp>
        <p:nvSpPr>
          <p:cNvPr name="TextBox 9" id="9"/>
          <p:cNvSpPr txBox="true"/>
          <p:nvPr/>
        </p:nvSpPr>
        <p:spPr>
          <a:xfrm rot="0">
            <a:off x="13821662" y="4844140"/>
            <a:ext cx="3795712" cy="1897380"/>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D0D0D"/>
                </a:solidFill>
                <a:latin typeface="Poppins"/>
                <a:ea typeface="Poppins"/>
                <a:cs typeface="Poppins"/>
                <a:sym typeface="Poppins"/>
              </a:rPr>
              <a:t>REST APIs</a:t>
            </a:r>
          </a:p>
          <a:p>
            <a:pPr algn="l" marL="388622" indent="-194311" lvl="1">
              <a:lnSpc>
                <a:spcPts val="2520"/>
              </a:lnSpc>
              <a:buFont typeface="Arial"/>
              <a:buChar char="•"/>
            </a:pPr>
            <a:r>
              <a:rPr lang="en-US" sz="1800">
                <a:solidFill>
                  <a:srgbClr val="0D0D0D"/>
                </a:solidFill>
                <a:latin typeface="Poppins"/>
                <a:ea typeface="Poppins"/>
                <a:cs typeface="Poppins"/>
                <a:sym typeface="Poppins"/>
              </a:rPr>
              <a:t>Vue JS</a:t>
            </a:r>
          </a:p>
          <a:p>
            <a:pPr algn="l" marL="388622" indent="-194311" lvl="1">
              <a:lnSpc>
                <a:spcPts val="2520"/>
              </a:lnSpc>
              <a:buFont typeface="Arial"/>
              <a:buChar char="•"/>
            </a:pPr>
            <a:r>
              <a:rPr lang="en-US" sz="1800">
                <a:solidFill>
                  <a:srgbClr val="0D0D0D"/>
                </a:solidFill>
                <a:latin typeface="Poppins"/>
                <a:ea typeface="Poppins"/>
                <a:cs typeface="Poppins"/>
                <a:sym typeface="Poppins"/>
              </a:rPr>
              <a:t>MSSQL</a:t>
            </a:r>
          </a:p>
          <a:p>
            <a:pPr algn="l" marL="388622" indent="-194311" lvl="1">
              <a:lnSpc>
                <a:spcPts val="2520"/>
              </a:lnSpc>
              <a:buFont typeface="Arial"/>
              <a:buChar char="•"/>
            </a:pPr>
            <a:r>
              <a:rPr lang="en-US" sz="1800">
                <a:solidFill>
                  <a:srgbClr val="0D0D0D"/>
                </a:solidFill>
                <a:latin typeface="Poppins"/>
                <a:ea typeface="Poppins"/>
                <a:cs typeface="Poppins"/>
                <a:sym typeface="Poppins"/>
              </a:rPr>
              <a:t>Performance tuning </a:t>
            </a:r>
          </a:p>
          <a:p>
            <a:pPr algn="l" marL="388622" indent="-194311" lvl="1">
              <a:lnSpc>
                <a:spcPts val="2520"/>
              </a:lnSpc>
              <a:buFont typeface="Arial"/>
              <a:buChar char="•"/>
            </a:pPr>
            <a:r>
              <a:rPr lang="en-US" sz="1800">
                <a:solidFill>
                  <a:srgbClr val="0D0D0D"/>
                </a:solidFill>
                <a:latin typeface="Poppins"/>
                <a:ea typeface="Poppins"/>
                <a:cs typeface="Poppins"/>
                <a:sym typeface="Poppins"/>
              </a:rPr>
              <a:t>Web accessibility</a:t>
            </a:r>
          </a:p>
          <a:p>
            <a:pPr algn="l">
              <a:lnSpc>
                <a:spcPts val="2520"/>
              </a:lnSpc>
            </a:pPr>
          </a:p>
        </p:txBody>
      </p:sp>
      <p:sp>
        <p:nvSpPr>
          <p:cNvPr name="TextBox 10" id="10"/>
          <p:cNvSpPr txBox="true"/>
          <p:nvPr/>
        </p:nvSpPr>
        <p:spPr>
          <a:xfrm rot="0">
            <a:off x="1028700" y="6710363"/>
            <a:ext cx="7620000" cy="1897380"/>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Bold"/>
                <a:ea typeface="Poppins Bold"/>
                <a:cs typeface="Poppins Bold"/>
                <a:sym typeface="Poppins Bold"/>
              </a:rPr>
              <a:t>Customer survey review: </a:t>
            </a:r>
          </a:p>
          <a:p>
            <a:pPr algn="l">
              <a:lnSpc>
                <a:spcPts val="2520"/>
              </a:lnSpc>
            </a:pPr>
          </a:p>
          <a:p>
            <a:pPr algn="l">
              <a:lnSpc>
                <a:spcPts val="2520"/>
              </a:lnSpc>
            </a:pPr>
            <a:r>
              <a:rPr lang="en-US" sz="1800">
                <a:solidFill>
                  <a:srgbClr val="0D0D0D"/>
                </a:solidFill>
                <a:latin typeface="Poppins"/>
                <a:ea typeface="Poppins"/>
                <a:cs typeface="Poppins"/>
                <a:sym typeface="Poppins"/>
              </a:rPr>
              <a:t>“Performance met and exceeded scope/project expectations. Ortus went above and beyond in resolving critical issues in a timely manner and demonstrated capable leadership and project ownership.”</a:t>
            </a:r>
          </a:p>
        </p:txBody>
      </p:sp>
      <p:sp>
        <p:nvSpPr>
          <p:cNvPr name="TextBox 11" id="11"/>
          <p:cNvSpPr txBox="true"/>
          <p:nvPr/>
        </p:nvSpPr>
        <p:spPr>
          <a:xfrm rot="0">
            <a:off x="971550" y="2474955"/>
            <a:ext cx="7677150" cy="148336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NEFB</a:t>
            </a:r>
          </a:p>
        </p:txBody>
      </p:sp>
      <p:sp>
        <p:nvSpPr>
          <p:cNvPr name="TextBox 12" id="12"/>
          <p:cNvSpPr txBox="true"/>
          <p:nvPr/>
        </p:nvSpPr>
        <p:spPr>
          <a:xfrm rot="0">
            <a:off x="1028700" y="3789848"/>
            <a:ext cx="7034212" cy="1094741"/>
          </a:xfrm>
          <a:prstGeom prst="rect">
            <a:avLst/>
          </a:prstGeom>
        </p:spPr>
        <p:txBody>
          <a:bodyPr anchor="t" rtlCol="false" tIns="0" lIns="0" bIns="0" rIns="0">
            <a:spAutoFit/>
          </a:bodyPr>
          <a:lstStyle/>
          <a:p>
            <a:pPr algn="l">
              <a:lnSpc>
                <a:spcPts val="4100"/>
              </a:lnSpc>
            </a:pPr>
            <a:r>
              <a:rPr lang="en-US" sz="4100">
                <a:solidFill>
                  <a:srgbClr val="0D0D0D"/>
                </a:solidFill>
                <a:latin typeface="Poppins Light"/>
                <a:ea typeface="Poppins Light"/>
                <a:cs typeface="Poppins Light"/>
                <a:sym typeface="Poppins Light"/>
              </a:rPr>
              <a:t>Naval Expeditionary Forensics and Biometrics</a:t>
            </a:r>
          </a:p>
        </p:txBody>
      </p:sp>
      <p:grpSp>
        <p:nvGrpSpPr>
          <p:cNvPr name="Group 13" id="13"/>
          <p:cNvGrpSpPr/>
          <p:nvPr/>
        </p:nvGrpSpPr>
        <p:grpSpPr>
          <a:xfrm rot="0">
            <a:off x="13401675" y="1069255"/>
            <a:ext cx="3857625" cy="784945"/>
            <a:chOff x="0" y="0"/>
            <a:chExt cx="1016000" cy="206735"/>
          </a:xfrm>
        </p:grpSpPr>
        <p:sp>
          <p:nvSpPr>
            <p:cNvPr name="Freeform 14" id="14"/>
            <p:cNvSpPr/>
            <p:nvPr/>
          </p:nvSpPr>
          <p:spPr>
            <a:xfrm flipH="false" flipV="false" rot="0">
              <a:off x="0" y="0"/>
              <a:ext cx="1016000" cy="206735"/>
            </a:xfrm>
            <a:custGeom>
              <a:avLst/>
              <a:gdLst/>
              <a:ahLst/>
              <a:cxnLst/>
              <a:rect r="r" b="b" t="t" l="l"/>
              <a:pathLst>
                <a:path h="206735" w="1016000">
                  <a:moveTo>
                    <a:pt x="103367" y="0"/>
                  </a:moveTo>
                  <a:lnTo>
                    <a:pt x="912633" y="0"/>
                  </a:lnTo>
                  <a:cubicBezTo>
                    <a:pt x="940047" y="0"/>
                    <a:pt x="966339" y="10890"/>
                    <a:pt x="985724" y="30276"/>
                  </a:cubicBezTo>
                  <a:cubicBezTo>
                    <a:pt x="1005110" y="49661"/>
                    <a:pt x="1016000" y="75953"/>
                    <a:pt x="1016000" y="103367"/>
                  </a:cubicBezTo>
                  <a:lnTo>
                    <a:pt x="1016000" y="103367"/>
                  </a:lnTo>
                  <a:cubicBezTo>
                    <a:pt x="1016000" y="130782"/>
                    <a:pt x="1005110" y="157074"/>
                    <a:pt x="985724" y="176459"/>
                  </a:cubicBezTo>
                  <a:cubicBezTo>
                    <a:pt x="966339" y="195844"/>
                    <a:pt x="940047" y="206735"/>
                    <a:pt x="9126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5" id="15"/>
            <p:cNvSpPr txBox="true"/>
            <p:nvPr/>
          </p:nvSpPr>
          <p:spPr>
            <a:xfrm>
              <a:off x="0" y="-38100"/>
              <a:ext cx="1016000" cy="244835"/>
            </a:xfrm>
            <a:prstGeom prst="rect">
              <a:avLst/>
            </a:prstGeom>
          </p:spPr>
          <p:txBody>
            <a:bodyPr anchor="ctr" rtlCol="false" tIns="50800" lIns="50800" bIns="50800" rIns="50800"/>
            <a:lstStyle/>
            <a:p>
              <a:pPr algn="ctr">
                <a:lnSpc>
                  <a:spcPts val="2520"/>
                </a:lnSpc>
              </a:pPr>
            </a:p>
          </p:txBody>
        </p:sp>
      </p:grpSp>
      <p:sp>
        <p:nvSpPr>
          <p:cNvPr name="TextBox 16" id="16"/>
          <p:cNvSpPr txBox="true"/>
          <p:nvPr/>
        </p:nvSpPr>
        <p:spPr>
          <a:xfrm rot="0">
            <a:off x="14172828" y="1198202"/>
            <a:ext cx="2800499"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Past Performance</a:t>
            </a:r>
          </a:p>
        </p:txBody>
      </p:sp>
      <p:grpSp>
        <p:nvGrpSpPr>
          <p:cNvPr name="Group 17" id="17"/>
          <p:cNvGrpSpPr/>
          <p:nvPr/>
        </p:nvGrpSpPr>
        <p:grpSpPr>
          <a:xfrm rot="0">
            <a:off x="13701232" y="1341297"/>
            <a:ext cx="240861" cy="24086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4167833"/>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605962" y="4915545"/>
            <a:ext cx="3467100" cy="685800"/>
            <a:chOff x="0" y="0"/>
            <a:chExt cx="913146" cy="180622"/>
          </a:xfrm>
        </p:grpSpPr>
        <p:sp>
          <p:nvSpPr>
            <p:cNvPr name="Freeform 4" id="4"/>
            <p:cNvSpPr/>
            <p:nvPr/>
          </p:nvSpPr>
          <p:spPr>
            <a:xfrm flipH="false" flipV="false" rot="0">
              <a:off x="0" y="0"/>
              <a:ext cx="913146" cy="180622"/>
            </a:xfrm>
            <a:custGeom>
              <a:avLst/>
              <a:gdLst/>
              <a:ahLst/>
              <a:cxnLst/>
              <a:rect r="r" b="b" t="t" l="l"/>
              <a:pathLst>
                <a:path h="180622" w="913146">
                  <a:moveTo>
                    <a:pt x="90311" y="0"/>
                  </a:moveTo>
                  <a:lnTo>
                    <a:pt x="822835" y="0"/>
                  </a:lnTo>
                  <a:cubicBezTo>
                    <a:pt x="846787" y="0"/>
                    <a:pt x="869758" y="9515"/>
                    <a:pt x="886694" y="26452"/>
                  </a:cubicBezTo>
                  <a:cubicBezTo>
                    <a:pt x="903631" y="43388"/>
                    <a:pt x="913146" y="66359"/>
                    <a:pt x="913146" y="90311"/>
                  </a:cubicBezTo>
                  <a:lnTo>
                    <a:pt x="913146" y="90311"/>
                  </a:lnTo>
                  <a:cubicBezTo>
                    <a:pt x="913146" y="114263"/>
                    <a:pt x="903631" y="137234"/>
                    <a:pt x="886694" y="154171"/>
                  </a:cubicBezTo>
                  <a:cubicBezTo>
                    <a:pt x="869758" y="171107"/>
                    <a:pt x="846787" y="180622"/>
                    <a:pt x="822835"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5" id="5"/>
            <p:cNvSpPr txBox="true"/>
            <p:nvPr/>
          </p:nvSpPr>
          <p:spPr>
            <a:xfrm>
              <a:off x="0" y="-57150"/>
              <a:ext cx="913146"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Service/Technologies</a:t>
              </a:r>
            </a:p>
          </p:txBody>
        </p:sp>
      </p:grpSp>
      <p:sp>
        <p:nvSpPr>
          <p:cNvPr name="Freeform 6" id="6"/>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468475" y="6886099"/>
            <a:ext cx="2790825" cy="2372201"/>
          </a:xfrm>
          <a:custGeom>
            <a:avLst/>
            <a:gdLst/>
            <a:ahLst/>
            <a:cxnLst/>
            <a:rect r="r" b="b" t="t" l="l"/>
            <a:pathLst>
              <a:path h="2372201" w="2790825">
                <a:moveTo>
                  <a:pt x="0" y="0"/>
                </a:moveTo>
                <a:lnTo>
                  <a:pt x="2790825" y="0"/>
                </a:lnTo>
                <a:lnTo>
                  <a:pt x="2790825" y="2372201"/>
                </a:lnTo>
                <a:lnTo>
                  <a:pt x="0" y="2372201"/>
                </a:lnTo>
                <a:lnTo>
                  <a:pt x="0" y="0"/>
                </a:lnTo>
                <a:close/>
              </a:path>
            </a:pathLst>
          </a:custGeom>
          <a:blipFill>
            <a:blip r:embed="rId6"/>
            <a:stretch>
              <a:fillRect l="0" t="0" r="0" b="0"/>
            </a:stretch>
          </a:blipFill>
        </p:spPr>
      </p:sp>
      <p:sp>
        <p:nvSpPr>
          <p:cNvPr name="TextBox 8" id="8"/>
          <p:cNvSpPr txBox="true"/>
          <p:nvPr/>
        </p:nvSpPr>
        <p:spPr>
          <a:xfrm rot="0">
            <a:off x="1028700" y="4858395"/>
            <a:ext cx="6462712" cy="2526030"/>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Ortus Solutions has supported NASA with on-site training and consulting for their web implementations using powered by Ortus software. Ortus has also trained them on modern web development architecture and methodologies such as behavior- and test-driven development (BDD + TDD), object-oriented design and MVC architecture.</a:t>
            </a:r>
          </a:p>
          <a:p>
            <a:pPr algn="l">
              <a:lnSpc>
                <a:spcPts val="2520"/>
              </a:lnSpc>
            </a:pPr>
          </a:p>
        </p:txBody>
      </p:sp>
      <p:sp>
        <p:nvSpPr>
          <p:cNvPr name="TextBox 9" id="9"/>
          <p:cNvSpPr txBox="true"/>
          <p:nvPr/>
        </p:nvSpPr>
        <p:spPr>
          <a:xfrm rot="0">
            <a:off x="9605962" y="5801370"/>
            <a:ext cx="3795712" cy="1897380"/>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D0D0D"/>
                </a:solidFill>
                <a:latin typeface="Poppins"/>
                <a:ea typeface="Poppins"/>
                <a:cs typeface="Poppins"/>
                <a:sym typeface="Poppins"/>
              </a:rPr>
              <a:t>Software Architecture</a:t>
            </a:r>
          </a:p>
          <a:p>
            <a:pPr algn="l" marL="388622" indent="-194311" lvl="1">
              <a:lnSpc>
                <a:spcPts val="2520"/>
              </a:lnSpc>
              <a:buFont typeface="Arial"/>
              <a:buChar char="•"/>
            </a:pPr>
            <a:r>
              <a:rPr lang="en-US" sz="1800">
                <a:solidFill>
                  <a:srgbClr val="0D0D0D"/>
                </a:solidFill>
                <a:latin typeface="Poppins"/>
                <a:ea typeface="Poppins"/>
                <a:cs typeface="Poppins"/>
                <a:sym typeface="Poppins"/>
              </a:rPr>
              <a:t>ColdBox</a:t>
            </a:r>
          </a:p>
          <a:p>
            <a:pPr algn="l" marL="388622" indent="-194311" lvl="1">
              <a:lnSpc>
                <a:spcPts val="2520"/>
              </a:lnSpc>
              <a:buFont typeface="Arial"/>
              <a:buChar char="•"/>
            </a:pPr>
            <a:r>
              <a:rPr lang="en-US" sz="1800">
                <a:solidFill>
                  <a:srgbClr val="0D0D0D"/>
                </a:solidFill>
                <a:latin typeface="Poppins"/>
                <a:ea typeface="Poppins"/>
                <a:cs typeface="Poppins"/>
                <a:sym typeface="Poppins"/>
              </a:rPr>
              <a:t>TextBox</a:t>
            </a:r>
          </a:p>
          <a:p>
            <a:pPr algn="l" marL="388622" indent="-194311" lvl="1">
              <a:lnSpc>
                <a:spcPts val="2520"/>
              </a:lnSpc>
              <a:buFont typeface="Arial"/>
              <a:buChar char="•"/>
            </a:pPr>
            <a:r>
              <a:rPr lang="en-US" sz="1800">
                <a:solidFill>
                  <a:srgbClr val="0D0D0D"/>
                </a:solidFill>
                <a:latin typeface="Poppins"/>
                <a:ea typeface="Poppins"/>
                <a:cs typeface="Poppins"/>
                <a:sym typeface="Poppins"/>
              </a:rPr>
              <a:t>CommandBox</a:t>
            </a:r>
          </a:p>
          <a:p>
            <a:pPr algn="l" marL="388622" indent="-194311" lvl="1">
              <a:lnSpc>
                <a:spcPts val="2520"/>
              </a:lnSpc>
              <a:buFont typeface="Arial"/>
              <a:buChar char="•"/>
            </a:pPr>
            <a:r>
              <a:rPr lang="en-US" sz="1800">
                <a:solidFill>
                  <a:srgbClr val="0D0D0D"/>
                </a:solidFill>
                <a:latin typeface="Poppins"/>
                <a:ea typeface="Poppins"/>
                <a:cs typeface="Poppins"/>
                <a:sym typeface="Poppins"/>
              </a:rPr>
              <a:t>Training</a:t>
            </a:r>
          </a:p>
          <a:p>
            <a:pPr algn="l">
              <a:lnSpc>
                <a:spcPts val="2520"/>
              </a:lnSpc>
            </a:pPr>
          </a:p>
        </p:txBody>
      </p:sp>
      <p:sp>
        <p:nvSpPr>
          <p:cNvPr name="TextBox 10" id="10"/>
          <p:cNvSpPr txBox="true"/>
          <p:nvPr/>
        </p:nvSpPr>
        <p:spPr>
          <a:xfrm rot="0">
            <a:off x="971550" y="2472357"/>
            <a:ext cx="8172450" cy="148336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NASA</a:t>
            </a:r>
          </a:p>
        </p:txBody>
      </p:sp>
      <p:grpSp>
        <p:nvGrpSpPr>
          <p:cNvPr name="Group 11" id="11"/>
          <p:cNvGrpSpPr/>
          <p:nvPr/>
        </p:nvGrpSpPr>
        <p:grpSpPr>
          <a:xfrm rot="0">
            <a:off x="13401675" y="1069255"/>
            <a:ext cx="3857625" cy="784945"/>
            <a:chOff x="0" y="0"/>
            <a:chExt cx="1016000" cy="206735"/>
          </a:xfrm>
        </p:grpSpPr>
        <p:sp>
          <p:nvSpPr>
            <p:cNvPr name="Freeform 12" id="12"/>
            <p:cNvSpPr/>
            <p:nvPr/>
          </p:nvSpPr>
          <p:spPr>
            <a:xfrm flipH="false" flipV="false" rot="0">
              <a:off x="0" y="0"/>
              <a:ext cx="1016000" cy="206735"/>
            </a:xfrm>
            <a:custGeom>
              <a:avLst/>
              <a:gdLst/>
              <a:ahLst/>
              <a:cxnLst/>
              <a:rect r="r" b="b" t="t" l="l"/>
              <a:pathLst>
                <a:path h="206735" w="1016000">
                  <a:moveTo>
                    <a:pt x="103367" y="0"/>
                  </a:moveTo>
                  <a:lnTo>
                    <a:pt x="912633" y="0"/>
                  </a:lnTo>
                  <a:cubicBezTo>
                    <a:pt x="940047" y="0"/>
                    <a:pt x="966339" y="10890"/>
                    <a:pt x="985724" y="30276"/>
                  </a:cubicBezTo>
                  <a:cubicBezTo>
                    <a:pt x="1005110" y="49661"/>
                    <a:pt x="1016000" y="75953"/>
                    <a:pt x="1016000" y="103367"/>
                  </a:cubicBezTo>
                  <a:lnTo>
                    <a:pt x="1016000" y="103367"/>
                  </a:lnTo>
                  <a:cubicBezTo>
                    <a:pt x="1016000" y="130782"/>
                    <a:pt x="1005110" y="157074"/>
                    <a:pt x="985724" y="176459"/>
                  </a:cubicBezTo>
                  <a:cubicBezTo>
                    <a:pt x="966339" y="195844"/>
                    <a:pt x="940047" y="206735"/>
                    <a:pt x="9126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3" id="13"/>
            <p:cNvSpPr txBox="true"/>
            <p:nvPr/>
          </p:nvSpPr>
          <p:spPr>
            <a:xfrm>
              <a:off x="0" y="-38100"/>
              <a:ext cx="1016000"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4172828" y="1198202"/>
            <a:ext cx="2800499"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Past Performance</a:t>
            </a:r>
          </a:p>
        </p:txBody>
      </p:sp>
      <p:grpSp>
        <p:nvGrpSpPr>
          <p:cNvPr name="Group 15" id="15"/>
          <p:cNvGrpSpPr/>
          <p:nvPr/>
        </p:nvGrpSpPr>
        <p:grpSpPr>
          <a:xfrm rot="0">
            <a:off x="13701232" y="1341297"/>
            <a:ext cx="240861" cy="2408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transition spd="fast">
    <p:fade/>
  </p:transition>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5400675"/>
            <a:ext cx="404812" cy="404812"/>
          </a:xfrm>
          <a:custGeom>
            <a:avLst/>
            <a:gdLst/>
            <a:ahLst/>
            <a:cxnLst/>
            <a:rect r="r" b="b" t="t" l="l"/>
            <a:pathLst>
              <a:path h="404812" w="404812">
                <a:moveTo>
                  <a:pt x="0" y="0"/>
                </a:moveTo>
                <a:lnTo>
                  <a:pt x="404812" y="0"/>
                </a:lnTo>
                <a:lnTo>
                  <a:pt x="404812" y="404813"/>
                </a:lnTo>
                <a:lnTo>
                  <a:pt x="0" y="4048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605962" y="6148387"/>
            <a:ext cx="3467100" cy="685800"/>
            <a:chOff x="0" y="0"/>
            <a:chExt cx="913146" cy="180622"/>
          </a:xfrm>
        </p:grpSpPr>
        <p:sp>
          <p:nvSpPr>
            <p:cNvPr name="Freeform 4" id="4"/>
            <p:cNvSpPr/>
            <p:nvPr/>
          </p:nvSpPr>
          <p:spPr>
            <a:xfrm flipH="false" flipV="false" rot="0">
              <a:off x="0" y="0"/>
              <a:ext cx="913146" cy="180622"/>
            </a:xfrm>
            <a:custGeom>
              <a:avLst/>
              <a:gdLst/>
              <a:ahLst/>
              <a:cxnLst/>
              <a:rect r="r" b="b" t="t" l="l"/>
              <a:pathLst>
                <a:path h="180622" w="913146">
                  <a:moveTo>
                    <a:pt x="90311" y="0"/>
                  </a:moveTo>
                  <a:lnTo>
                    <a:pt x="822835" y="0"/>
                  </a:lnTo>
                  <a:cubicBezTo>
                    <a:pt x="846787" y="0"/>
                    <a:pt x="869758" y="9515"/>
                    <a:pt x="886694" y="26452"/>
                  </a:cubicBezTo>
                  <a:cubicBezTo>
                    <a:pt x="903631" y="43388"/>
                    <a:pt x="913146" y="66359"/>
                    <a:pt x="913146" y="90311"/>
                  </a:cubicBezTo>
                  <a:lnTo>
                    <a:pt x="913146" y="90311"/>
                  </a:lnTo>
                  <a:cubicBezTo>
                    <a:pt x="913146" y="114263"/>
                    <a:pt x="903631" y="137234"/>
                    <a:pt x="886694" y="154171"/>
                  </a:cubicBezTo>
                  <a:cubicBezTo>
                    <a:pt x="869758" y="171107"/>
                    <a:pt x="846787" y="180622"/>
                    <a:pt x="822835"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5" id="5"/>
            <p:cNvSpPr txBox="true"/>
            <p:nvPr/>
          </p:nvSpPr>
          <p:spPr>
            <a:xfrm>
              <a:off x="0" y="-57150"/>
              <a:ext cx="913146"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Service/Technologies</a:t>
              </a:r>
            </a:p>
          </p:txBody>
        </p:sp>
      </p:grpSp>
      <p:sp>
        <p:nvSpPr>
          <p:cNvPr name="Freeform 6" id="6"/>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866144" y="6865144"/>
            <a:ext cx="2393156" cy="2393156"/>
          </a:xfrm>
          <a:custGeom>
            <a:avLst/>
            <a:gdLst/>
            <a:ahLst/>
            <a:cxnLst/>
            <a:rect r="r" b="b" t="t" l="l"/>
            <a:pathLst>
              <a:path h="2393156" w="2393156">
                <a:moveTo>
                  <a:pt x="0" y="0"/>
                </a:moveTo>
                <a:lnTo>
                  <a:pt x="2393156" y="0"/>
                </a:lnTo>
                <a:lnTo>
                  <a:pt x="2393156" y="2393156"/>
                </a:lnTo>
                <a:lnTo>
                  <a:pt x="0" y="2393156"/>
                </a:lnTo>
                <a:lnTo>
                  <a:pt x="0" y="0"/>
                </a:lnTo>
                <a:close/>
              </a:path>
            </a:pathLst>
          </a:custGeom>
          <a:blipFill>
            <a:blip r:embed="rId6"/>
            <a:stretch>
              <a:fillRect l="0" t="0" r="0" b="0"/>
            </a:stretch>
          </a:blipFill>
        </p:spPr>
      </p:sp>
      <p:sp>
        <p:nvSpPr>
          <p:cNvPr name="TextBox 8" id="8"/>
          <p:cNvSpPr txBox="true"/>
          <p:nvPr/>
        </p:nvSpPr>
        <p:spPr>
          <a:xfrm rot="0">
            <a:off x="1028700" y="6091237"/>
            <a:ext cx="6462712" cy="95440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Ortus Solutions has supported the Department of Labor with on-site training and support for ColdBox application development and MVC architecture.</a:t>
            </a:r>
          </a:p>
        </p:txBody>
      </p:sp>
      <p:sp>
        <p:nvSpPr>
          <p:cNvPr name="TextBox 9" id="9"/>
          <p:cNvSpPr txBox="true"/>
          <p:nvPr/>
        </p:nvSpPr>
        <p:spPr>
          <a:xfrm rot="0">
            <a:off x="9605962" y="7034212"/>
            <a:ext cx="3795712" cy="1897380"/>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D0D0D"/>
                </a:solidFill>
                <a:latin typeface="Poppins"/>
                <a:ea typeface="Poppins"/>
                <a:cs typeface="Poppins"/>
                <a:sym typeface="Poppins"/>
              </a:rPr>
              <a:t>Training</a:t>
            </a:r>
          </a:p>
          <a:p>
            <a:pPr algn="l" marL="388622" indent="-194311" lvl="1">
              <a:lnSpc>
                <a:spcPts val="2520"/>
              </a:lnSpc>
              <a:buFont typeface="Arial"/>
              <a:buChar char="•"/>
            </a:pPr>
            <a:r>
              <a:rPr lang="en-US" sz="1800">
                <a:solidFill>
                  <a:srgbClr val="0D0D0D"/>
                </a:solidFill>
                <a:latin typeface="Poppins"/>
                <a:ea typeface="Poppins"/>
                <a:cs typeface="Poppins"/>
                <a:sym typeface="Poppins"/>
              </a:rPr>
              <a:t>ColdBox</a:t>
            </a:r>
          </a:p>
          <a:p>
            <a:pPr algn="l" marL="388622" indent="-194311" lvl="1">
              <a:lnSpc>
                <a:spcPts val="2520"/>
              </a:lnSpc>
              <a:buFont typeface="Arial"/>
              <a:buChar char="•"/>
            </a:pPr>
            <a:r>
              <a:rPr lang="en-US" sz="1800">
                <a:solidFill>
                  <a:srgbClr val="0D0D0D"/>
                </a:solidFill>
                <a:latin typeface="Poppins"/>
                <a:ea typeface="Poppins"/>
                <a:cs typeface="Poppins"/>
                <a:sym typeface="Poppins"/>
              </a:rPr>
              <a:t>TextBox</a:t>
            </a:r>
          </a:p>
          <a:p>
            <a:pPr algn="l" marL="388622" indent="-194311" lvl="1">
              <a:lnSpc>
                <a:spcPts val="2520"/>
              </a:lnSpc>
              <a:buFont typeface="Arial"/>
              <a:buChar char="•"/>
            </a:pPr>
            <a:r>
              <a:rPr lang="en-US" sz="1800">
                <a:solidFill>
                  <a:srgbClr val="0D0D0D"/>
                </a:solidFill>
                <a:latin typeface="Poppins"/>
                <a:ea typeface="Poppins"/>
                <a:cs typeface="Poppins"/>
                <a:sym typeface="Poppins"/>
              </a:rPr>
              <a:t>CommandBox</a:t>
            </a:r>
          </a:p>
          <a:p>
            <a:pPr algn="l" marL="388622" indent="-194311" lvl="1">
              <a:lnSpc>
                <a:spcPts val="2520"/>
              </a:lnSpc>
              <a:buFont typeface="Arial"/>
              <a:buChar char="•"/>
            </a:pPr>
            <a:r>
              <a:rPr lang="en-US" sz="1800">
                <a:solidFill>
                  <a:srgbClr val="0D0D0D"/>
                </a:solidFill>
                <a:latin typeface="Poppins"/>
                <a:ea typeface="Poppins"/>
                <a:cs typeface="Poppins"/>
                <a:sym typeface="Poppins"/>
              </a:rPr>
              <a:t>Security hardening</a:t>
            </a:r>
          </a:p>
          <a:p>
            <a:pPr algn="l">
              <a:lnSpc>
                <a:spcPts val="2520"/>
              </a:lnSpc>
            </a:pPr>
          </a:p>
        </p:txBody>
      </p:sp>
      <p:sp>
        <p:nvSpPr>
          <p:cNvPr name="TextBox 10" id="10"/>
          <p:cNvSpPr txBox="true"/>
          <p:nvPr/>
        </p:nvSpPr>
        <p:spPr>
          <a:xfrm rot="0">
            <a:off x="971550" y="2472357"/>
            <a:ext cx="8172450"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Department of Labor</a:t>
            </a:r>
          </a:p>
        </p:txBody>
      </p:sp>
      <p:grpSp>
        <p:nvGrpSpPr>
          <p:cNvPr name="Group 11" id="11"/>
          <p:cNvGrpSpPr/>
          <p:nvPr/>
        </p:nvGrpSpPr>
        <p:grpSpPr>
          <a:xfrm rot="0">
            <a:off x="13401675" y="1069255"/>
            <a:ext cx="3857625" cy="784945"/>
            <a:chOff x="0" y="0"/>
            <a:chExt cx="1016000" cy="206735"/>
          </a:xfrm>
        </p:grpSpPr>
        <p:sp>
          <p:nvSpPr>
            <p:cNvPr name="Freeform 12" id="12"/>
            <p:cNvSpPr/>
            <p:nvPr/>
          </p:nvSpPr>
          <p:spPr>
            <a:xfrm flipH="false" flipV="false" rot="0">
              <a:off x="0" y="0"/>
              <a:ext cx="1016000" cy="206735"/>
            </a:xfrm>
            <a:custGeom>
              <a:avLst/>
              <a:gdLst/>
              <a:ahLst/>
              <a:cxnLst/>
              <a:rect r="r" b="b" t="t" l="l"/>
              <a:pathLst>
                <a:path h="206735" w="1016000">
                  <a:moveTo>
                    <a:pt x="103367" y="0"/>
                  </a:moveTo>
                  <a:lnTo>
                    <a:pt x="912633" y="0"/>
                  </a:lnTo>
                  <a:cubicBezTo>
                    <a:pt x="940047" y="0"/>
                    <a:pt x="966339" y="10890"/>
                    <a:pt x="985724" y="30276"/>
                  </a:cubicBezTo>
                  <a:cubicBezTo>
                    <a:pt x="1005110" y="49661"/>
                    <a:pt x="1016000" y="75953"/>
                    <a:pt x="1016000" y="103367"/>
                  </a:cubicBezTo>
                  <a:lnTo>
                    <a:pt x="1016000" y="103367"/>
                  </a:lnTo>
                  <a:cubicBezTo>
                    <a:pt x="1016000" y="130782"/>
                    <a:pt x="1005110" y="157074"/>
                    <a:pt x="985724" y="176459"/>
                  </a:cubicBezTo>
                  <a:cubicBezTo>
                    <a:pt x="966339" y="195844"/>
                    <a:pt x="940047" y="206735"/>
                    <a:pt x="9126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3" id="13"/>
            <p:cNvSpPr txBox="true"/>
            <p:nvPr/>
          </p:nvSpPr>
          <p:spPr>
            <a:xfrm>
              <a:off x="0" y="-38100"/>
              <a:ext cx="1016000"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4172828" y="1198202"/>
            <a:ext cx="2800499"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Past Performance</a:t>
            </a:r>
          </a:p>
        </p:txBody>
      </p:sp>
      <p:grpSp>
        <p:nvGrpSpPr>
          <p:cNvPr name="Group 15" id="15"/>
          <p:cNvGrpSpPr/>
          <p:nvPr/>
        </p:nvGrpSpPr>
        <p:grpSpPr>
          <a:xfrm rot="0">
            <a:off x="13701232" y="1341297"/>
            <a:ext cx="240861" cy="2408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transition spd="fast">
    <p:fade/>
  </p:transition>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5400675"/>
            <a:ext cx="404812" cy="404812"/>
          </a:xfrm>
          <a:custGeom>
            <a:avLst/>
            <a:gdLst/>
            <a:ahLst/>
            <a:cxnLst/>
            <a:rect r="r" b="b" t="t" l="l"/>
            <a:pathLst>
              <a:path h="404812" w="404812">
                <a:moveTo>
                  <a:pt x="0" y="0"/>
                </a:moveTo>
                <a:lnTo>
                  <a:pt x="404812" y="0"/>
                </a:lnTo>
                <a:lnTo>
                  <a:pt x="404812" y="404813"/>
                </a:lnTo>
                <a:lnTo>
                  <a:pt x="0" y="4048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605962" y="6148387"/>
            <a:ext cx="3467100" cy="685800"/>
            <a:chOff x="0" y="0"/>
            <a:chExt cx="913146" cy="180622"/>
          </a:xfrm>
        </p:grpSpPr>
        <p:sp>
          <p:nvSpPr>
            <p:cNvPr name="Freeform 4" id="4"/>
            <p:cNvSpPr/>
            <p:nvPr/>
          </p:nvSpPr>
          <p:spPr>
            <a:xfrm flipH="false" flipV="false" rot="0">
              <a:off x="0" y="0"/>
              <a:ext cx="913146" cy="180622"/>
            </a:xfrm>
            <a:custGeom>
              <a:avLst/>
              <a:gdLst/>
              <a:ahLst/>
              <a:cxnLst/>
              <a:rect r="r" b="b" t="t" l="l"/>
              <a:pathLst>
                <a:path h="180622" w="913146">
                  <a:moveTo>
                    <a:pt x="90311" y="0"/>
                  </a:moveTo>
                  <a:lnTo>
                    <a:pt x="822835" y="0"/>
                  </a:lnTo>
                  <a:cubicBezTo>
                    <a:pt x="846787" y="0"/>
                    <a:pt x="869758" y="9515"/>
                    <a:pt x="886694" y="26452"/>
                  </a:cubicBezTo>
                  <a:cubicBezTo>
                    <a:pt x="903631" y="43388"/>
                    <a:pt x="913146" y="66359"/>
                    <a:pt x="913146" y="90311"/>
                  </a:cubicBezTo>
                  <a:lnTo>
                    <a:pt x="913146" y="90311"/>
                  </a:lnTo>
                  <a:cubicBezTo>
                    <a:pt x="913146" y="114263"/>
                    <a:pt x="903631" y="137234"/>
                    <a:pt x="886694" y="154171"/>
                  </a:cubicBezTo>
                  <a:cubicBezTo>
                    <a:pt x="869758" y="171107"/>
                    <a:pt x="846787" y="180622"/>
                    <a:pt x="822835"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5" id="5"/>
            <p:cNvSpPr txBox="true"/>
            <p:nvPr/>
          </p:nvSpPr>
          <p:spPr>
            <a:xfrm>
              <a:off x="0" y="-57150"/>
              <a:ext cx="913146"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Service/Technologies</a:t>
              </a:r>
            </a:p>
          </p:txBody>
        </p:sp>
      </p:grpSp>
      <p:sp>
        <p:nvSpPr>
          <p:cNvPr name="Freeform 6" id="6"/>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6091237"/>
            <a:ext cx="6462712" cy="221170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Ortus was in charge of migrating their main website and all its components to Ortus Open Source Content Management System: ContentBox CMS. The migration included a redesign of the IOC’s entire Software development life cycle, the introduction to agile methodologies for delivering code and the automation of deployments and tests.</a:t>
            </a:r>
          </a:p>
        </p:txBody>
      </p:sp>
      <p:sp>
        <p:nvSpPr>
          <p:cNvPr name="TextBox 8" id="8"/>
          <p:cNvSpPr txBox="true"/>
          <p:nvPr/>
        </p:nvSpPr>
        <p:spPr>
          <a:xfrm rot="0">
            <a:off x="9605962" y="7034212"/>
            <a:ext cx="3795712" cy="1583055"/>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D0D0D"/>
                </a:solidFill>
                <a:latin typeface="Poppins"/>
                <a:ea typeface="Poppins"/>
                <a:cs typeface="Poppins"/>
                <a:sym typeface="Poppins"/>
              </a:rPr>
              <a:t>ContentBox CMS</a:t>
            </a:r>
          </a:p>
          <a:p>
            <a:pPr algn="l" marL="388622" indent="-194311" lvl="1">
              <a:lnSpc>
                <a:spcPts val="2520"/>
              </a:lnSpc>
              <a:buFont typeface="Arial"/>
              <a:buChar char="•"/>
            </a:pPr>
            <a:r>
              <a:rPr lang="en-US" sz="1800">
                <a:solidFill>
                  <a:srgbClr val="0D0D0D"/>
                </a:solidFill>
                <a:latin typeface="Poppins"/>
                <a:ea typeface="Poppins"/>
                <a:cs typeface="Poppins"/>
                <a:sym typeface="Poppins"/>
              </a:rPr>
              <a:t>Custom Development</a:t>
            </a:r>
          </a:p>
          <a:p>
            <a:pPr algn="l" marL="388622" indent="-194311" lvl="1">
              <a:lnSpc>
                <a:spcPts val="2520"/>
              </a:lnSpc>
              <a:buFont typeface="Arial"/>
              <a:buChar char="•"/>
            </a:pPr>
            <a:r>
              <a:rPr lang="en-US" sz="1800">
                <a:solidFill>
                  <a:srgbClr val="0D0D0D"/>
                </a:solidFill>
                <a:latin typeface="Poppins"/>
                <a:ea typeface="Poppins"/>
                <a:cs typeface="Poppins"/>
                <a:sym typeface="Poppins"/>
              </a:rPr>
              <a:t>Infrastructure Development</a:t>
            </a:r>
          </a:p>
          <a:p>
            <a:pPr algn="l" marL="388622" indent="-194311" lvl="1">
              <a:lnSpc>
                <a:spcPts val="2520"/>
              </a:lnSpc>
              <a:buFont typeface="Arial"/>
              <a:buChar char="•"/>
            </a:pPr>
            <a:r>
              <a:rPr lang="en-US" sz="1800">
                <a:solidFill>
                  <a:srgbClr val="0D0D0D"/>
                </a:solidFill>
                <a:latin typeface="Poppins"/>
                <a:ea typeface="Poppins"/>
                <a:cs typeface="Poppins"/>
                <a:sym typeface="Poppins"/>
              </a:rPr>
              <a:t>DevOps</a:t>
            </a:r>
          </a:p>
          <a:p>
            <a:pPr algn="l">
              <a:lnSpc>
                <a:spcPts val="2520"/>
              </a:lnSpc>
            </a:pPr>
          </a:p>
        </p:txBody>
      </p:sp>
      <p:sp>
        <p:nvSpPr>
          <p:cNvPr name="TextBox 9" id="9"/>
          <p:cNvSpPr txBox="true"/>
          <p:nvPr/>
        </p:nvSpPr>
        <p:spPr>
          <a:xfrm rot="0">
            <a:off x="971550" y="2472357"/>
            <a:ext cx="9601200"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Illinois Office of Comptroller</a:t>
            </a:r>
          </a:p>
        </p:txBody>
      </p:sp>
      <p:sp>
        <p:nvSpPr>
          <p:cNvPr name="Freeform 10" id="10"/>
          <p:cNvSpPr/>
          <p:nvPr/>
        </p:nvSpPr>
        <p:spPr>
          <a:xfrm flipH="false" flipV="false" rot="0">
            <a:off x="14863149" y="6865144"/>
            <a:ext cx="2396151" cy="2393156"/>
          </a:xfrm>
          <a:custGeom>
            <a:avLst/>
            <a:gdLst/>
            <a:ahLst/>
            <a:cxnLst/>
            <a:rect r="r" b="b" t="t" l="l"/>
            <a:pathLst>
              <a:path h="2393156" w="2396151">
                <a:moveTo>
                  <a:pt x="0" y="0"/>
                </a:moveTo>
                <a:lnTo>
                  <a:pt x="2396151" y="0"/>
                </a:lnTo>
                <a:lnTo>
                  <a:pt x="2396151" y="2393156"/>
                </a:lnTo>
                <a:lnTo>
                  <a:pt x="0" y="2393156"/>
                </a:lnTo>
                <a:lnTo>
                  <a:pt x="0" y="0"/>
                </a:lnTo>
                <a:close/>
              </a:path>
            </a:pathLst>
          </a:custGeom>
          <a:blipFill>
            <a:blip r:embed="rId6"/>
            <a:stretch>
              <a:fillRect l="0" t="0" r="0" b="0"/>
            </a:stretch>
          </a:blipFill>
        </p:spPr>
      </p:sp>
      <p:grpSp>
        <p:nvGrpSpPr>
          <p:cNvPr name="Group 11" id="11"/>
          <p:cNvGrpSpPr/>
          <p:nvPr/>
        </p:nvGrpSpPr>
        <p:grpSpPr>
          <a:xfrm rot="0">
            <a:off x="13401675" y="1069255"/>
            <a:ext cx="3857625" cy="784945"/>
            <a:chOff x="0" y="0"/>
            <a:chExt cx="1016000" cy="206735"/>
          </a:xfrm>
        </p:grpSpPr>
        <p:sp>
          <p:nvSpPr>
            <p:cNvPr name="Freeform 12" id="12"/>
            <p:cNvSpPr/>
            <p:nvPr/>
          </p:nvSpPr>
          <p:spPr>
            <a:xfrm flipH="false" flipV="false" rot="0">
              <a:off x="0" y="0"/>
              <a:ext cx="1016000" cy="206735"/>
            </a:xfrm>
            <a:custGeom>
              <a:avLst/>
              <a:gdLst/>
              <a:ahLst/>
              <a:cxnLst/>
              <a:rect r="r" b="b" t="t" l="l"/>
              <a:pathLst>
                <a:path h="206735" w="1016000">
                  <a:moveTo>
                    <a:pt x="103367" y="0"/>
                  </a:moveTo>
                  <a:lnTo>
                    <a:pt x="912633" y="0"/>
                  </a:lnTo>
                  <a:cubicBezTo>
                    <a:pt x="940047" y="0"/>
                    <a:pt x="966339" y="10890"/>
                    <a:pt x="985724" y="30276"/>
                  </a:cubicBezTo>
                  <a:cubicBezTo>
                    <a:pt x="1005110" y="49661"/>
                    <a:pt x="1016000" y="75953"/>
                    <a:pt x="1016000" y="103367"/>
                  </a:cubicBezTo>
                  <a:lnTo>
                    <a:pt x="1016000" y="103367"/>
                  </a:lnTo>
                  <a:cubicBezTo>
                    <a:pt x="1016000" y="130782"/>
                    <a:pt x="1005110" y="157074"/>
                    <a:pt x="985724" y="176459"/>
                  </a:cubicBezTo>
                  <a:cubicBezTo>
                    <a:pt x="966339" y="195844"/>
                    <a:pt x="940047" y="206735"/>
                    <a:pt x="9126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3" id="13"/>
            <p:cNvSpPr txBox="true"/>
            <p:nvPr/>
          </p:nvSpPr>
          <p:spPr>
            <a:xfrm>
              <a:off x="0" y="-38100"/>
              <a:ext cx="1016000"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4172828" y="1198202"/>
            <a:ext cx="2800499"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Past Performance</a:t>
            </a:r>
          </a:p>
        </p:txBody>
      </p:sp>
      <p:grpSp>
        <p:nvGrpSpPr>
          <p:cNvPr name="Group 15" id="15"/>
          <p:cNvGrpSpPr/>
          <p:nvPr/>
        </p:nvGrpSpPr>
        <p:grpSpPr>
          <a:xfrm rot="0">
            <a:off x="13701232" y="1341297"/>
            <a:ext cx="240861" cy="2408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transition spd="fast">
    <p:fade/>
  </p:transition>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4411504"/>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605962" y="5159216"/>
            <a:ext cx="3467100" cy="685800"/>
            <a:chOff x="0" y="0"/>
            <a:chExt cx="913146" cy="180622"/>
          </a:xfrm>
        </p:grpSpPr>
        <p:sp>
          <p:nvSpPr>
            <p:cNvPr name="Freeform 4" id="4"/>
            <p:cNvSpPr/>
            <p:nvPr/>
          </p:nvSpPr>
          <p:spPr>
            <a:xfrm flipH="false" flipV="false" rot="0">
              <a:off x="0" y="0"/>
              <a:ext cx="913146" cy="180622"/>
            </a:xfrm>
            <a:custGeom>
              <a:avLst/>
              <a:gdLst/>
              <a:ahLst/>
              <a:cxnLst/>
              <a:rect r="r" b="b" t="t" l="l"/>
              <a:pathLst>
                <a:path h="180622" w="913146">
                  <a:moveTo>
                    <a:pt x="90311" y="0"/>
                  </a:moveTo>
                  <a:lnTo>
                    <a:pt x="822835" y="0"/>
                  </a:lnTo>
                  <a:cubicBezTo>
                    <a:pt x="846787" y="0"/>
                    <a:pt x="869758" y="9515"/>
                    <a:pt x="886694" y="26452"/>
                  </a:cubicBezTo>
                  <a:cubicBezTo>
                    <a:pt x="903631" y="43388"/>
                    <a:pt x="913146" y="66359"/>
                    <a:pt x="913146" y="90311"/>
                  </a:cubicBezTo>
                  <a:lnTo>
                    <a:pt x="913146" y="90311"/>
                  </a:lnTo>
                  <a:cubicBezTo>
                    <a:pt x="913146" y="114263"/>
                    <a:pt x="903631" y="137234"/>
                    <a:pt x="886694" y="154171"/>
                  </a:cubicBezTo>
                  <a:cubicBezTo>
                    <a:pt x="869758" y="171107"/>
                    <a:pt x="846787" y="180622"/>
                    <a:pt x="822835"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5" id="5"/>
            <p:cNvSpPr txBox="true"/>
            <p:nvPr/>
          </p:nvSpPr>
          <p:spPr>
            <a:xfrm>
              <a:off x="0" y="-57150"/>
              <a:ext cx="913146"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Service/Technologies</a:t>
              </a:r>
            </a:p>
          </p:txBody>
        </p:sp>
      </p:grpSp>
      <p:sp>
        <p:nvSpPr>
          <p:cNvPr name="Freeform 6" id="6"/>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843767" y="6865144"/>
            <a:ext cx="2415533" cy="2415533"/>
          </a:xfrm>
          <a:custGeom>
            <a:avLst/>
            <a:gdLst/>
            <a:ahLst/>
            <a:cxnLst/>
            <a:rect r="r" b="b" t="t" l="l"/>
            <a:pathLst>
              <a:path h="2415533" w="2415533">
                <a:moveTo>
                  <a:pt x="0" y="0"/>
                </a:moveTo>
                <a:lnTo>
                  <a:pt x="2415533" y="0"/>
                </a:lnTo>
                <a:lnTo>
                  <a:pt x="2415533" y="2415533"/>
                </a:lnTo>
                <a:lnTo>
                  <a:pt x="0" y="2415533"/>
                </a:lnTo>
                <a:lnTo>
                  <a:pt x="0" y="0"/>
                </a:lnTo>
                <a:close/>
              </a:path>
            </a:pathLst>
          </a:custGeom>
          <a:blipFill>
            <a:blip r:embed="rId6"/>
            <a:stretch>
              <a:fillRect l="0" t="0" r="0" b="0"/>
            </a:stretch>
          </a:blipFill>
        </p:spPr>
      </p:sp>
      <p:sp>
        <p:nvSpPr>
          <p:cNvPr name="TextBox 8" id="8"/>
          <p:cNvSpPr txBox="true"/>
          <p:nvPr/>
        </p:nvSpPr>
        <p:spPr>
          <a:xfrm rot="0">
            <a:off x="1028700" y="5102066"/>
            <a:ext cx="6462712" cy="346900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Sole Source Acquisition to deliver new API and new modules, Weat LAB and Meestro for the WEAT 3.0 web application; developing transfer mechanisms for migrating data from the legacy system and deploying the app at Fort Gillem Atlanta, GA.</a:t>
            </a:r>
          </a:p>
          <a:p>
            <a:pPr algn="l">
              <a:lnSpc>
                <a:spcPts val="2520"/>
              </a:lnSpc>
            </a:pPr>
          </a:p>
          <a:p>
            <a:pPr algn="l">
              <a:lnSpc>
                <a:spcPts val="2520"/>
              </a:lnSpc>
            </a:pPr>
            <a:r>
              <a:rPr lang="en-US" sz="1800">
                <a:solidFill>
                  <a:srgbClr val="0D0D0D"/>
                </a:solidFill>
                <a:latin typeface="Poppins"/>
                <a:ea typeface="Poppins"/>
                <a:cs typeface="Poppins"/>
                <a:sym typeface="Poppins"/>
              </a:rPr>
              <a:t>On-site Training of modern web development practices and technologies namely developing web application with a MVC design pattern and behavior-driven development</a:t>
            </a:r>
          </a:p>
          <a:p>
            <a:pPr algn="l">
              <a:lnSpc>
                <a:spcPts val="2520"/>
              </a:lnSpc>
            </a:pPr>
          </a:p>
        </p:txBody>
      </p:sp>
      <p:sp>
        <p:nvSpPr>
          <p:cNvPr name="TextBox 9" id="9"/>
          <p:cNvSpPr txBox="true"/>
          <p:nvPr/>
        </p:nvSpPr>
        <p:spPr>
          <a:xfrm rot="0">
            <a:off x="9605962" y="6045041"/>
            <a:ext cx="4614862" cy="640080"/>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D0D0D"/>
                </a:solidFill>
                <a:latin typeface="Poppins"/>
                <a:ea typeface="Poppins"/>
                <a:cs typeface="Poppins"/>
                <a:sym typeface="Poppins"/>
              </a:rPr>
              <a:t>Custom module development</a:t>
            </a:r>
          </a:p>
          <a:p>
            <a:pPr algn="l">
              <a:lnSpc>
                <a:spcPts val="2520"/>
              </a:lnSpc>
            </a:pPr>
          </a:p>
        </p:txBody>
      </p:sp>
      <p:sp>
        <p:nvSpPr>
          <p:cNvPr name="TextBox 10" id="10"/>
          <p:cNvSpPr txBox="true"/>
          <p:nvPr/>
        </p:nvSpPr>
        <p:spPr>
          <a:xfrm rot="0">
            <a:off x="971550" y="2472357"/>
            <a:ext cx="9601200" cy="148336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US Navy</a:t>
            </a:r>
          </a:p>
        </p:txBody>
      </p:sp>
      <p:grpSp>
        <p:nvGrpSpPr>
          <p:cNvPr name="Group 11" id="11"/>
          <p:cNvGrpSpPr/>
          <p:nvPr/>
        </p:nvGrpSpPr>
        <p:grpSpPr>
          <a:xfrm rot="0">
            <a:off x="13401675" y="1069255"/>
            <a:ext cx="3857625" cy="784945"/>
            <a:chOff x="0" y="0"/>
            <a:chExt cx="1016000" cy="206735"/>
          </a:xfrm>
        </p:grpSpPr>
        <p:sp>
          <p:nvSpPr>
            <p:cNvPr name="Freeform 12" id="12"/>
            <p:cNvSpPr/>
            <p:nvPr/>
          </p:nvSpPr>
          <p:spPr>
            <a:xfrm flipH="false" flipV="false" rot="0">
              <a:off x="0" y="0"/>
              <a:ext cx="1016000" cy="206735"/>
            </a:xfrm>
            <a:custGeom>
              <a:avLst/>
              <a:gdLst/>
              <a:ahLst/>
              <a:cxnLst/>
              <a:rect r="r" b="b" t="t" l="l"/>
              <a:pathLst>
                <a:path h="206735" w="1016000">
                  <a:moveTo>
                    <a:pt x="103367" y="0"/>
                  </a:moveTo>
                  <a:lnTo>
                    <a:pt x="912633" y="0"/>
                  </a:lnTo>
                  <a:cubicBezTo>
                    <a:pt x="940047" y="0"/>
                    <a:pt x="966339" y="10890"/>
                    <a:pt x="985724" y="30276"/>
                  </a:cubicBezTo>
                  <a:cubicBezTo>
                    <a:pt x="1005110" y="49661"/>
                    <a:pt x="1016000" y="75953"/>
                    <a:pt x="1016000" y="103367"/>
                  </a:cubicBezTo>
                  <a:lnTo>
                    <a:pt x="1016000" y="103367"/>
                  </a:lnTo>
                  <a:cubicBezTo>
                    <a:pt x="1016000" y="130782"/>
                    <a:pt x="1005110" y="157074"/>
                    <a:pt x="985724" y="176459"/>
                  </a:cubicBezTo>
                  <a:cubicBezTo>
                    <a:pt x="966339" y="195844"/>
                    <a:pt x="940047" y="206735"/>
                    <a:pt x="9126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3" id="13"/>
            <p:cNvSpPr txBox="true"/>
            <p:nvPr/>
          </p:nvSpPr>
          <p:spPr>
            <a:xfrm>
              <a:off x="0" y="-38100"/>
              <a:ext cx="1016000"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4172828" y="1198202"/>
            <a:ext cx="2800499"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Past Performance</a:t>
            </a:r>
          </a:p>
        </p:txBody>
      </p:sp>
      <p:grpSp>
        <p:nvGrpSpPr>
          <p:cNvPr name="Group 15" id="15"/>
          <p:cNvGrpSpPr/>
          <p:nvPr/>
        </p:nvGrpSpPr>
        <p:grpSpPr>
          <a:xfrm rot="0">
            <a:off x="13701232" y="1341297"/>
            <a:ext cx="240861" cy="2408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transition spd="fast">
    <p:fade/>
  </p:transition>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4411504"/>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605962" y="5159216"/>
            <a:ext cx="3467100" cy="685800"/>
            <a:chOff x="0" y="0"/>
            <a:chExt cx="913146" cy="180622"/>
          </a:xfrm>
        </p:grpSpPr>
        <p:sp>
          <p:nvSpPr>
            <p:cNvPr name="Freeform 4" id="4"/>
            <p:cNvSpPr/>
            <p:nvPr/>
          </p:nvSpPr>
          <p:spPr>
            <a:xfrm flipH="false" flipV="false" rot="0">
              <a:off x="0" y="0"/>
              <a:ext cx="913146" cy="180622"/>
            </a:xfrm>
            <a:custGeom>
              <a:avLst/>
              <a:gdLst/>
              <a:ahLst/>
              <a:cxnLst/>
              <a:rect r="r" b="b" t="t" l="l"/>
              <a:pathLst>
                <a:path h="180622" w="913146">
                  <a:moveTo>
                    <a:pt x="90311" y="0"/>
                  </a:moveTo>
                  <a:lnTo>
                    <a:pt x="822835" y="0"/>
                  </a:lnTo>
                  <a:cubicBezTo>
                    <a:pt x="846787" y="0"/>
                    <a:pt x="869758" y="9515"/>
                    <a:pt x="886694" y="26452"/>
                  </a:cubicBezTo>
                  <a:cubicBezTo>
                    <a:pt x="903631" y="43388"/>
                    <a:pt x="913146" y="66359"/>
                    <a:pt x="913146" y="90311"/>
                  </a:cubicBezTo>
                  <a:lnTo>
                    <a:pt x="913146" y="90311"/>
                  </a:lnTo>
                  <a:cubicBezTo>
                    <a:pt x="913146" y="114263"/>
                    <a:pt x="903631" y="137234"/>
                    <a:pt x="886694" y="154171"/>
                  </a:cubicBezTo>
                  <a:cubicBezTo>
                    <a:pt x="869758" y="171107"/>
                    <a:pt x="846787" y="180622"/>
                    <a:pt x="822835"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5" id="5"/>
            <p:cNvSpPr txBox="true"/>
            <p:nvPr/>
          </p:nvSpPr>
          <p:spPr>
            <a:xfrm>
              <a:off x="0" y="-57150"/>
              <a:ext cx="913146"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Service/Technologies</a:t>
              </a:r>
            </a:p>
          </p:txBody>
        </p:sp>
      </p:grpSp>
      <p:sp>
        <p:nvSpPr>
          <p:cNvPr name="Freeform 6" id="6"/>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220825" y="7531652"/>
            <a:ext cx="3038475" cy="1008774"/>
          </a:xfrm>
          <a:custGeom>
            <a:avLst/>
            <a:gdLst/>
            <a:ahLst/>
            <a:cxnLst/>
            <a:rect r="r" b="b" t="t" l="l"/>
            <a:pathLst>
              <a:path h="1008774" w="3038475">
                <a:moveTo>
                  <a:pt x="0" y="0"/>
                </a:moveTo>
                <a:lnTo>
                  <a:pt x="3038475" y="0"/>
                </a:lnTo>
                <a:lnTo>
                  <a:pt x="3038475" y="1008774"/>
                </a:lnTo>
                <a:lnTo>
                  <a:pt x="0" y="1008774"/>
                </a:lnTo>
                <a:lnTo>
                  <a:pt x="0" y="0"/>
                </a:lnTo>
                <a:close/>
              </a:path>
            </a:pathLst>
          </a:custGeom>
          <a:blipFill>
            <a:blip r:embed="rId6"/>
            <a:stretch>
              <a:fillRect l="0" t="0" r="0" b="0"/>
            </a:stretch>
          </a:blipFill>
        </p:spPr>
      </p:sp>
      <p:sp>
        <p:nvSpPr>
          <p:cNvPr name="TextBox 8" id="8"/>
          <p:cNvSpPr txBox="true"/>
          <p:nvPr/>
        </p:nvSpPr>
        <p:spPr>
          <a:xfrm rot="0">
            <a:off x="1028700" y="5102066"/>
            <a:ext cx="6462712" cy="1897380"/>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Subcontracting on-site training to teach on MVC design pattern, enterprise architecture design, building RESTful API and software development best practices, for new U.S. Navy Dahlgren team members joining WEAT development efforts.  </a:t>
            </a:r>
          </a:p>
          <a:p>
            <a:pPr algn="l">
              <a:lnSpc>
                <a:spcPts val="2520"/>
              </a:lnSpc>
            </a:pPr>
          </a:p>
        </p:txBody>
      </p:sp>
      <p:sp>
        <p:nvSpPr>
          <p:cNvPr name="TextBox 9" id="9"/>
          <p:cNvSpPr txBox="true"/>
          <p:nvPr/>
        </p:nvSpPr>
        <p:spPr>
          <a:xfrm rot="0">
            <a:off x="9605962" y="6045041"/>
            <a:ext cx="4614862" cy="640080"/>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D0D0D"/>
                </a:solidFill>
                <a:latin typeface="Poppins"/>
                <a:ea typeface="Poppins"/>
                <a:cs typeface="Poppins"/>
                <a:sym typeface="Poppins"/>
              </a:rPr>
              <a:t>Training</a:t>
            </a:r>
          </a:p>
          <a:p>
            <a:pPr algn="l" marL="388622" indent="-194311" lvl="1">
              <a:lnSpc>
                <a:spcPts val="2520"/>
              </a:lnSpc>
              <a:buFont typeface="Arial"/>
              <a:buChar char="•"/>
            </a:pPr>
            <a:r>
              <a:rPr lang="en-US" sz="1800">
                <a:solidFill>
                  <a:srgbClr val="0D0D0D"/>
                </a:solidFill>
                <a:latin typeface="Poppins"/>
                <a:ea typeface="Poppins"/>
                <a:cs typeface="Poppins"/>
                <a:sym typeface="Poppins"/>
              </a:rPr>
              <a:t>Sof</a:t>
            </a:r>
            <a:r>
              <a:rPr lang="en-US" sz="1800">
                <a:solidFill>
                  <a:srgbClr val="0D0D0D"/>
                </a:solidFill>
                <a:latin typeface="Poppins"/>
                <a:ea typeface="Poppins"/>
                <a:cs typeface="Poppins"/>
                <a:sym typeface="Poppins"/>
              </a:rPr>
              <a:t>tware Architecture</a:t>
            </a:r>
          </a:p>
        </p:txBody>
      </p:sp>
      <p:sp>
        <p:nvSpPr>
          <p:cNvPr name="TextBox 10" id="10"/>
          <p:cNvSpPr txBox="true"/>
          <p:nvPr/>
        </p:nvSpPr>
        <p:spPr>
          <a:xfrm rot="0">
            <a:off x="971550" y="2472357"/>
            <a:ext cx="9601200" cy="148336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InFlow</a:t>
            </a:r>
          </a:p>
        </p:txBody>
      </p:sp>
      <p:grpSp>
        <p:nvGrpSpPr>
          <p:cNvPr name="Group 11" id="11"/>
          <p:cNvGrpSpPr/>
          <p:nvPr/>
        </p:nvGrpSpPr>
        <p:grpSpPr>
          <a:xfrm rot="0">
            <a:off x="13401675" y="1069255"/>
            <a:ext cx="3857625" cy="784945"/>
            <a:chOff x="0" y="0"/>
            <a:chExt cx="1016000" cy="206735"/>
          </a:xfrm>
        </p:grpSpPr>
        <p:sp>
          <p:nvSpPr>
            <p:cNvPr name="Freeform 12" id="12"/>
            <p:cNvSpPr/>
            <p:nvPr/>
          </p:nvSpPr>
          <p:spPr>
            <a:xfrm flipH="false" flipV="false" rot="0">
              <a:off x="0" y="0"/>
              <a:ext cx="1016000" cy="206735"/>
            </a:xfrm>
            <a:custGeom>
              <a:avLst/>
              <a:gdLst/>
              <a:ahLst/>
              <a:cxnLst/>
              <a:rect r="r" b="b" t="t" l="l"/>
              <a:pathLst>
                <a:path h="206735" w="1016000">
                  <a:moveTo>
                    <a:pt x="103367" y="0"/>
                  </a:moveTo>
                  <a:lnTo>
                    <a:pt x="912633" y="0"/>
                  </a:lnTo>
                  <a:cubicBezTo>
                    <a:pt x="940047" y="0"/>
                    <a:pt x="966339" y="10890"/>
                    <a:pt x="985724" y="30276"/>
                  </a:cubicBezTo>
                  <a:cubicBezTo>
                    <a:pt x="1005110" y="49661"/>
                    <a:pt x="1016000" y="75953"/>
                    <a:pt x="1016000" y="103367"/>
                  </a:cubicBezTo>
                  <a:lnTo>
                    <a:pt x="1016000" y="103367"/>
                  </a:lnTo>
                  <a:cubicBezTo>
                    <a:pt x="1016000" y="130782"/>
                    <a:pt x="1005110" y="157074"/>
                    <a:pt x="985724" y="176459"/>
                  </a:cubicBezTo>
                  <a:cubicBezTo>
                    <a:pt x="966339" y="195844"/>
                    <a:pt x="940047" y="206735"/>
                    <a:pt x="9126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3" id="13"/>
            <p:cNvSpPr txBox="true"/>
            <p:nvPr/>
          </p:nvSpPr>
          <p:spPr>
            <a:xfrm>
              <a:off x="0" y="-38100"/>
              <a:ext cx="1016000"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4172828" y="1198202"/>
            <a:ext cx="2800499"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Past Performance</a:t>
            </a:r>
          </a:p>
        </p:txBody>
      </p:sp>
      <p:grpSp>
        <p:nvGrpSpPr>
          <p:cNvPr name="Group 15" id="15"/>
          <p:cNvGrpSpPr/>
          <p:nvPr/>
        </p:nvGrpSpPr>
        <p:grpSpPr>
          <a:xfrm rot="0">
            <a:off x="13701232" y="1341297"/>
            <a:ext cx="240861" cy="2408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transition spd="fast">
    <p:fade/>
  </p:transition>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4411504"/>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605962" y="5159216"/>
            <a:ext cx="3467100" cy="685800"/>
            <a:chOff x="0" y="0"/>
            <a:chExt cx="913146" cy="180622"/>
          </a:xfrm>
        </p:grpSpPr>
        <p:sp>
          <p:nvSpPr>
            <p:cNvPr name="Freeform 4" id="4"/>
            <p:cNvSpPr/>
            <p:nvPr/>
          </p:nvSpPr>
          <p:spPr>
            <a:xfrm flipH="false" flipV="false" rot="0">
              <a:off x="0" y="0"/>
              <a:ext cx="913146" cy="180622"/>
            </a:xfrm>
            <a:custGeom>
              <a:avLst/>
              <a:gdLst/>
              <a:ahLst/>
              <a:cxnLst/>
              <a:rect r="r" b="b" t="t" l="l"/>
              <a:pathLst>
                <a:path h="180622" w="913146">
                  <a:moveTo>
                    <a:pt x="90311" y="0"/>
                  </a:moveTo>
                  <a:lnTo>
                    <a:pt x="822835" y="0"/>
                  </a:lnTo>
                  <a:cubicBezTo>
                    <a:pt x="846787" y="0"/>
                    <a:pt x="869758" y="9515"/>
                    <a:pt x="886694" y="26452"/>
                  </a:cubicBezTo>
                  <a:cubicBezTo>
                    <a:pt x="903631" y="43388"/>
                    <a:pt x="913146" y="66359"/>
                    <a:pt x="913146" y="90311"/>
                  </a:cubicBezTo>
                  <a:lnTo>
                    <a:pt x="913146" y="90311"/>
                  </a:lnTo>
                  <a:cubicBezTo>
                    <a:pt x="913146" y="114263"/>
                    <a:pt x="903631" y="137234"/>
                    <a:pt x="886694" y="154171"/>
                  </a:cubicBezTo>
                  <a:cubicBezTo>
                    <a:pt x="869758" y="171107"/>
                    <a:pt x="846787" y="180622"/>
                    <a:pt x="822835"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5" id="5"/>
            <p:cNvSpPr txBox="true"/>
            <p:nvPr/>
          </p:nvSpPr>
          <p:spPr>
            <a:xfrm>
              <a:off x="0" y="-57150"/>
              <a:ext cx="913146"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Service/Technologies</a:t>
              </a:r>
            </a:p>
          </p:txBody>
        </p:sp>
      </p:grpSp>
      <p:sp>
        <p:nvSpPr>
          <p:cNvPr name="Freeform 6" id="6"/>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303703" y="7771081"/>
            <a:ext cx="1955597" cy="769345"/>
          </a:xfrm>
          <a:custGeom>
            <a:avLst/>
            <a:gdLst/>
            <a:ahLst/>
            <a:cxnLst/>
            <a:rect r="r" b="b" t="t" l="l"/>
            <a:pathLst>
              <a:path h="769345" w="1955597">
                <a:moveTo>
                  <a:pt x="0" y="0"/>
                </a:moveTo>
                <a:lnTo>
                  <a:pt x="1955597" y="0"/>
                </a:lnTo>
                <a:lnTo>
                  <a:pt x="1955597" y="769345"/>
                </a:lnTo>
                <a:lnTo>
                  <a:pt x="0" y="769345"/>
                </a:lnTo>
                <a:lnTo>
                  <a:pt x="0" y="0"/>
                </a:lnTo>
                <a:close/>
              </a:path>
            </a:pathLst>
          </a:custGeom>
          <a:blipFill>
            <a:blip r:embed="rId6"/>
            <a:stretch>
              <a:fillRect l="-6283" t="-20279" r="-6723" b="-19756"/>
            </a:stretch>
          </a:blipFill>
        </p:spPr>
      </p:sp>
      <p:sp>
        <p:nvSpPr>
          <p:cNvPr name="TextBox 8" id="8"/>
          <p:cNvSpPr txBox="true"/>
          <p:nvPr/>
        </p:nvSpPr>
        <p:spPr>
          <a:xfrm rot="0">
            <a:off x="1028700" y="5102066"/>
            <a:ext cx="6462712" cy="158305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Subcontracting work for the delivery of various WEAT 3.0 components: ORM Design, UI Mockups, Security Framework, Modules Framework, and Site, Person, User and Admin modules.</a:t>
            </a:r>
          </a:p>
          <a:p>
            <a:pPr algn="l">
              <a:lnSpc>
                <a:spcPts val="2520"/>
              </a:lnSpc>
            </a:pPr>
          </a:p>
        </p:txBody>
      </p:sp>
      <p:sp>
        <p:nvSpPr>
          <p:cNvPr name="TextBox 9" id="9"/>
          <p:cNvSpPr txBox="true"/>
          <p:nvPr/>
        </p:nvSpPr>
        <p:spPr>
          <a:xfrm rot="0">
            <a:off x="9605962" y="6045041"/>
            <a:ext cx="6519862" cy="640080"/>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D0D0D"/>
                </a:solidFill>
                <a:latin typeface="Poppins"/>
                <a:ea typeface="Poppins"/>
                <a:cs typeface="Poppins"/>
                <a:sym typeface="Poppins"/>
              </a:rPr>
              <a:t>Applicati</a:t>
            </a:r>
            <a:r>
              <a:rPr lang="en-US" sz="1800">
                <a:solidFill>
                  <a:srgbClr val="0D0D0D"/>
                </a:solidFill>
                <a:latin typeface="Poppins"/>
                <a:ea typeface="Poppins"/>
                <a:cs typeface="Poppins"/>
                <a:sym typeface="Poppins"/>
              </a:rPr>
              <a:t>on</a:t>
            </a:r>
            <a:r>
              <a:rPr lang="en-US" sz="1800">
                <a:solidFill>
                  <a:srgbClr val="0D0D0D"/>
                </a:solidFill>
                <a:latin typeface="Poppins"/>
                <a:ea typeface="Poppins"/>
                <a:cs typeface="Poppins"/>
                <a:sym typeface="Poppins"/>
              </a:rPr>
              <a:t> Component Development</a:t>
            </a:r>
          </a:p>
          <a:p>
            <a:pPr algn="l" marL="388622" indent="-194311" lvl="1">
              <a:lnSpc>
                <a:spcPts val="2520"/>
              </a:lnSpc>
              <a:buFont typeface="Arial"/>
              <a:buChar char="•"/>
            </a:pPr>
            <a:r>
              <a:rPr lang="en-US" sz="1800">
                <a:solidFill>
                  <a:srgbClr val="0D0D0D"/>
                </a:solidFill>
                <a:latin typeface="Poppins"/>
                <a:ea typeface="Poppins"/>
                <a:cs typeface="Poppins"/>
                <a:sym typeface="Poppins"/>
              </a:rPr>
              <a:t>Custom Development</a:t>
            </a:r>
          </a:p>
        </p:txBody>
      </p:sp>
      <p:sp>
        <p:nvSpPr>
          <p:cNvPr name="TextBox 10" id="10"/>
          <p:cNvSpPr txBox="true"/>
          <p:nvPr/>
        </p:nvSpPr>
        <p:spPr>
          <a:xfrm rot="0">
            <a:off x="971550" y="2472357"/>
            <a:ext cx="9601200" cy="148336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PAE</a:t>
            </a:r>
          </a:p>
        </p:txBody>
      </p:sp>
      <p:grpSp>
        <p:nvGrpSpPr>
          <p:cNvPr name="Group 11" id="11"/>
          <p:cNvGrpSpPr/>
          <p:nvPr/>
        </p:nvGrpSpPr>
        <p:grpSpPr>
          <a:xfrm rot="0">
            <a:off x="13401675" y="1069255"/>
            <a:ext cx="3857625" cy="784945"/>
            <a:chOff x="0" y="0"/>
            <a:chExt cx="1016000" cy="206735"/>
          </a:xfrm>
        </p:grpSpPr>
        <p:sp>
          <p:nvSpPr>
            <p:cNvPr name="Freeform 12" id="12"/>
            <p:cNvSpPr/>
            <p:nvPr/>
          </p:nvSpPr>
          <p:spPr>
            <a:xfrm flipH="false" flipV="false" rot="0">
              <a:off x="0" y="0"/>
              <a:ext cx="1016000" cy="206735"/>
            </a:xfrm>
            <a:custGeom>
              <a:avLst/>
              <a:gdLst/>
              <a:ahLst/>
              <a:cxnLst/>
              <a:rect r="r" b="b" t="t" l="l"/>
              <a:pathLst>
                <a:path h="206735" w="1016000">
                  <a:moveTo>
                    <a:pt x="103367" y="0"/>
                  </a:moveTo>
                  <a:lnTo>
                    <a:pt x="912633" y="0"/>
                  </a:lnTo>
                  <a:cubicBezTo>
                    <a:pt x="940047" y="0"/>
                    <a:pt x="966339" y="10890"/>
                    <a:pt x="985724" y="30276"/>
                  </a:cubicBezTo>
                  <a:cubicBezTo>
                    <a:pt x="1005110" y="49661"/>
                    <a:pt x="1016000" y="75953"/>
                    <a:pt x="1016000" y="103367"/>
                  </a:cubicBezTo>
                  <a:lnTo>
                    <a:pt x="1016000" y="103367"/>
                  </a:lnTo>
                  <a:cubicBezTo>
                    <a:pt x="1016000" y="130782"/>
                    <a:pt x="1005110" y="157074"/>
                    <a:pt x="985724" y="176459"/>
                  </a:cubicBezTo>
                  <a:cubicBezTo>
                    <a:pt x="966339" y="195844"/>
                    <a:pt x="940047" y="206735"/>
                    <a:pt x="9126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3" id="13"/>
            <p:cNvSpPr txBox="true"/>
            <p:nvPr/>
          </p:nvSpPr>
          <p:spPr>
            <a:xfrm>
              <a:off x="0" y="-38100"/>
              <a:ext cx="1016000"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4172828" y="1198202"/>
            <a:ext cx="2800499"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Past Performance</a:t>
            </a:r>
          </a:p>
        </p:txBody>
      </p:sp>
      <p:grpSp>
        <p:nvGrpSpPr>
          <p:cNvPr name="Group 15" id="15"/>
          <p:cNvGrpSpPr/>
          <p:nvPr/>
        </p:nvGrpSpPr>
        <p:grpSpPr>
          <a:xfrm rot="0">
            <a:off x="13701232" y="1341297"/>
            <a:ext cx="240861" cy="2408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transition spd="fast">
    <p:fade/>
  </p:transition>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5548312"/>
            <a:ext cx="404812" cy="404812"/>
          </a:xfrm>
          <a:custGeom>
            <a:avLst/>
            <a:gdLst/>
            <a:ahLst/>
            <a:cxnLst/>
            <a:rect r="r" b="b" t="t" l="l"/>
            <a:pathLst>
              <a:path h="404812" w="404812">
                <a:moveTo>
                  <a:pt x="0" y="0"/>
                </a:moveTo>
                <a:lnTo>
                  <a:pt x="404812" y="0"/>
                </a:lnTo>
                <a:lnTo>
                  <a:pt x="404812" y="404813"/>
                </a:lnTo>
                <a:lnTo>
                  <a:pt x="0" y="4048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605962" y="6296025"/>
            <a:ext cx="3467100" cy="685800"/>
            <a:chOff x="0" y="0"/>
            <a:chExt cx="913146" cy="180622"/>
          </a:xfrm>
        </p:grpSpPr>
        <p:sp>
          <p:nvSpPr>
            <p:cNvPr name="Freeform 4" id="4"/>
            <p:cNvSpPr/>
            <p:nvPr/>
          </p:nvSpPr>
          <p:spPr>
            <a:xfrm flipH="false" flipV="false" rot="0">
              <a:off x="0" y="0"/>
              <a:ext cx="913146" cy="180622"/>
            </a:xfrm>
            <a:custGeom>
              <a:avLst/>
              <a:gdLst/>
              <a:ahLst/>
              <a:cxnLst/>
              <a:rect r="r" b="b" t="t" l="l"/>
              <a:pathLst>
                <a:path h="180622" w="913146">
                  <a:moveTo>
                    <a:pt x="90311" y="0"/>
                  </a:moveTo>
                  <a:lnTo>
                    <a:pt x="822835" y="0"/>
                  </a:lnTo>
                  <a:cubicBezTo>
                    <a:pt x="846787" y="0"/>
                    <a:pt x="869758" y="9515"/>
                    <a:pt x="886694" y="26452"/>
                  </a:cubicBezTo>
                  <a:cubicBezTo>
                    <a:pt x="903631" y="43388"/>
                    <a:pt x="913146" y="66359"/>
                    <a:pt x="913146" y="90311"/>
                  </a:cubicBezTo>
                  <a:lnTo>
                    <a:pt x="913146" y="90311"/>
                  </a:lnTo>
                  <a:cubicBezTo>
                    <a:pt x="913146" y="114263"/>
                    <a:pt x="903631" y="137234"/>
                    <a:pt x="886694" y="154171"/>
                  </a:cubicBezTo>
                  <a:cubicBezTo>
                    <a:pt x="869758" y="171107"/>
                    <a:pt x="846787" y="180622"/>
                    <a:pt x="822835"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5" id="5"/>
            <p:cNvSpPr txBox="true"/>
            <p:nvPr/>
          </p:nvSpPr>
          <p:spPr>
            <a:xfrm>
              <a:off x="0" y="-57150"/>
              <a:ext cx="913146"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Service/Technologies</a:t>
              </a:r>
            </a:p>
          </p:txBody>
        </p:sp>
      </p:grpSp>
      <p:sp>
        <p:nvSpPr>
          <p:cNvPr name="Freeform 6" id="6"/>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052502" y="7687627"/>
            <a:ext cx="3622772" cy="935202"/>
          </a:xfrm>
          <a:custGeom>
            <a:avLst/>
            <a:gdLst/>
            <a:ahLst/>
            <a:cxnLst/>
            <a:rect r="r" b="b" t="t" l="l"/>
            <a:pathLst>
              <a:path h="935202" w="3622772">
                <a:moveTo>
                  <a:pt x="0" y="0"/>
                </a:moveTo>
                <a:lnTo>
                  <a:pt x="3622771" y="0"/>
                </a:lnTo>
                <a:lnTo>
                  <a:pt x="3622771" y="935202"/>
                </a:lnTo>
                <a:lnTo>
                  <a:pt x="0" y="935202"/>
                </a:lnTo>
                <a:lnTo>
                  <a:pt x="0" y="0"/>
                </a:lnTo>
                <a:close/>
              </a:path>
            </a:pathLst>
          </a:custGeom>
          <a:blipFill>
            <a:blip r:embed="rId6"/>
            <a:stretch>
              <a:fillRect l="-3080" t="-93500" r="-2328" b="-92718"/>
            </a:stretch>
          </a:blipFill>
        </p:spPr>
      </p:sp>
      <p:sp>
        <p:nvSpPr>
          <p:cNvPr name="TextBox 8" id="8"/>
          <p:cNvSpPr txBox="true"/>
          <p:nvPr/>
        </p:nvSpPr>
        <p:spPr>
          <a:xfrm rot="0">
            <a:off x="1028700" y="6238875"/>
            <a:ext cx="6462712" cy="284035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On-site training, help their development team learn and adopt modern web development practices and technologies, such as object-oriented programming and MVC architecture.</a:t>
            </a:r>
          </a:p>
          <a:p>
            <a:pPr algn="l">
              <a:lnSpc>
                <a:spcPts val="2520"/>
              </a:lnSpc>
            </a:pPr>
          </a:p>
          <a:p>
            <a:pPr algn="l">
              <a:lnSpc>
                <a:spcPts val="2520"/>
              </a:lnSpc>
            </a:pPr>
            <a:r>
              <a:rPr lang="en-US" sz="1800">
                <a:solidFill>
                  <a:srgbClr val="0D0D0D"/>
                </a:solidFill>
                <a:latin typeface="Poppins"/>
                <a:ea typeface="Poppins"/>
                <a:cs typeface="Poppins"/>
                <a:sym typeface="Poppins"/>
              </a:rPr>
              <a:t>Security auditing of their web system and web applications servers’ performance analysis and optimization. </a:t>
            </a:r>
          </a:p>
          <a:p>
            <a:pPr algn="l">
              <a:lnSpc>
                <a:spcPts val="2520"/>
              </a:lnSpc>
            </a:pPr>
          </a:p>
        </p:txBody>
      </p:sp>
      <p:sp>
        <p:nvSpPr>
          <p:cNvPr name="TextBox 9" id="9"/>
          <p:cNvSpPr txBox="true"/>
          <p:nvPr/>
        </p:nvSpPr>
        <p:spPr>
          <a:xfrm rot="0">
            <a:off x="9605962" y="7181850"/>
            <a:ext cx="6519862" cy="1583055"/>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D0D0D"/>
                </a:solidFill>
                <a:latin typeface="Poppins"/>
                <a:ea typeface="Poppins"/>
                <a:cs typeface="Poppins"/>
                <a:sym typeface="Poppins"/>
              </a:rPr>
              <a:t>Trai</a:t>
            </a:r>
            <a:r>
              <a:rPr lang="en-US" sz="1800">
                <a:solidFill>
                  <a:srgbClr val="0D0D0D"/>
                </a:solidFill>
                <a:latin typeface="Poppins"/>
                <a:ea typeface="Poppins"/>
                <a:cs typeface="Poppins"/>
                <a:sym typeface="Poppins"/>
              </a:rPr>
              <a:t>ning</a:t>
            </a:r>
          </a:p>
          <a:p>
            <a:pPr algn="l" marL="388622" indent="-194311" lvl="1">
              <a:lnSpc>
                <a:spcPts val="2520"/>
              </a:lnSpc>
              <a:buFont typeface="Arial"/>
              <a:buChar char="•"/>
            </a:pPr>
            <a:r>
              <a:rPr lang="en-US" sz="1800">
                <a:solidFill>
                  <a:srgbClr val="0D0D0D"/>
                </a:solidFill>
                <a:latin typeface="Poppins"/>
                <a:ea typeface="Poppins"/>
                <a:cs typeface="Poppins"/>
                <a:sym typeface="Poppins"/>
              </a:rPr>
              <a:t>ColdBox</a:t>
            </a:r>
          </a:p>
          <a:p>
            <a:pPr algn="l" marL="388622" indent="-194311" lvl="1">
              <a:lnSpc>
                <a:spcPts val="2520"/>
              </a:lnSpc>
              <a:buFont typeface="Arial"/>
              <a:buChar char="•"/>
            </a:pPr>
            <a:r>
              <a:rPr lang="en-US" sz="1800">
                <a:solidFill>
                  <a:srgbClr val="0D0D0D"/>
                </a:solidFill>
                <a:latin typeface="Poppins"/>
                <a:ea typeface="Poppins"/>
                <a:cs typeface="Poppins"/>
                <a:sym typeface="Poppins"/>
              </a:rPr>
              <a:t>TestBox</a:t>
            </a:r>
          </a:p>
          <a:p>
            <a:pPr algn="l" marL="388622" indent="-194311" lvl="1">
              <a:lnSpc>
                <a:spcPts val="2520"/>
              </a:lnSpc>
              <a:buFont typeface="Arial"/>
              <a:buChar char="•"/>
            </a:pPr>
            <a:r>
              <a:rPr lang="en-US" sz="1800">
                <a:solidFill>
                  <a:srgbClr val="0D0D0D"/>
                </a:solidFill>
                <a:latin typeface="Poppins"/>
                <a:ea typeface="Poppins"/>
                <a:cs typeface="Poppins"/>
                <a:sym typeface="Poppins"/>
              </a:rPr>
              <a:t>CommandBox</a:t>
            </a:r>
          </a:p>
          <a:p>
            <a:pPr algn="l" marL="388622" indent="-194311" lvl="1">
              <a:lnSpc>
                <a:spcPts val="2520"/>
              </a:lnSpc>
              <a:buFont typeface="Arial"/>
              <a:buChar char="•"/>
            </a:pPr>
            <a:r>
              <a:rPr lang="en-US" sz="1800">
                <a:solidFill>
                  <a:srgbClr val="0D0D0D"/>
                </a:solidFill>
                <a:latin typeface="Poppins"/>
                <a:ea typeface="Poppins"/>
                <a:cs typeface="Poppins"/>
                <a:sym typeface="Poppins"/>
              </a:rPr>
              <a:t>Software Architecture</a:t>
            </a:r>
          </a:p>
        </p:txBody>
      </p:sp>
      <p:sp>
        <p:nvSpPr>
          <p:cNvPr name="TextBox 10" id="10"/>
          <p:cNvSpPr txBox="true"/>
          <p:nvPr/>
        </p:nvSpPr>
        <p:spPr>
          <a:xfrm rot="0">
            <a:off x="971550" y="2472357"/>
            <a:ext cx="9601200"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WorkSource Oregon</a:t>
            </a:r>
          </a:p>
        </p:txBody>
      </p:sp>
      <p:grpSp>
        <p:nvGrpSpPr>
          <p:cNvPr name="Group 11" id="11"/>
          <p:cNvGrpSpPr/>
          <p:nvPr/>
        </p:nvGrpSpPr>
        <p:grpSpPr>
          <a:xfrm rot="0">
            <a:off x="13401675" y="1069255"/>
            <a:ext cx="3857625" cy="784945"/>
            <a:chOff x="0" y="0"/>
            <a:chExt cx="1016000" cy="206735"/>
          </a:xfrm>
        </p:grpSpPr>
        <p:sp>
          <p:nvSpPr>
            <p:cNvPr name="Freeform 12" id="12"/>
            <p:cNvSpPr/>
            <p:nvPr/>
          </p:nvSpPr>
          <p:spPr>
            <a:xfrm flipH="false" flipV="false" rot="0">
              <a:off x="0" y="0"/>
              <a:ext cx="1016000" cy="206735"/>
            </a:xfrm>
            <a:custGeom>
              <a:avLst/>
              <a:gdLst/>
              <a:ahLst/>
              <a:cxnLst/>
              <a:rect r="r" b="b" t="t" l="l"/>
              <a:pathLst>
                <a:path h="206735" w="1016000">
                  <a:moveTo>
                    <a:pt x="103367" y="0"/>
                  </a:moveTo>
                  <a:lnTo>
                    <a:pt x="912633" y="0"/>
                  </a:lnTo>
                  <a:cubicBezTo>
                    <a:pt x="940047" y="0"/>
                    <a:pt x="966339" y="10890"/>
                    <a:pt x="985724" y="30276"/>
                  </a:cubicBezTo>
                  <a:cubicBezTo>
                    <a:pt x="1005110" y="49661"/>
                    <a:pt x="1016000" y="75953"/>
                    <a:pt x="1016000" y="103367"/>
                  </a:cubicBezTo>
                  <a:lnTo>
                    <a:pt x="1016000" y="103367"/>
                  </a:lnTo>
                  <a:cubicBezTo>
                    <a:pt x="1016000" y="130782"/>
                    <a:pt x="1005110" y="157074"/>
                    <a:pt x="985724" y="176459"/>
                  </a:cubicBezTo>
                  <a:cubicBezTo>
                    <a:pt x="966339" y="195844"/>
                    <a:pt x="940047" y="206735"/>
                    <a:pt x="9126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3" id="13"/>
            <p:cNvSpPr txBox="true"/>
            <p:nvPr/>
          </p:nvSpPr>
          <p:spPr>
            <a:xfrm>
              <a:off x="0" y="-38100"/>
              <a:ext cx="1016000"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4172828" y="1198202"/>
            <a:ext cx="2800499"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Past Performance</a:t>
            </a:r>
          </a:p>
        </p:txBody>
      </p:sp>
      <p:grpSp>
        <p:nvGrpSpPr>
          <p:cNvPr name="Group 15" id="15"/>
          <p:cNvGrpSpPr/>
          <p:nvPr/>
        </p:nvGrpSpPr>
        <p:grpSpPr>
          <a:xfrm rot="0">
            <a:off x="13701232" y="1341297"/>
            <a:ext cx="240861" cy="2408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transition spd="fast">
    <p:fade/>
  </p:transition>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4393883"/>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605962" y="5143500"/>
            <a:ext cx="3467100" cy="685800"/>
            <a:chOff x="0" y="0"/>
            <a:chExt cx="913146" cy="180622"/>
          </a:xfrm>
        </p:grpSpPr>
        <p:sp>
          <p:nvSpPr>
            <p:cNvPr name="Freeform 4" id="4"/>
            <p:cNvSpPr/>
            <p:nvPr/>
          </p:nvSpPr>
          <p:spPr>
            <a:xfrm flipH="false" flipV="false" rot="0">
              <a:off x="0" y="0"/>
              <a:ext cx="913146" cy="180622"/>
            </a:xfrm>
            <a:custGeom>
              <a:avLst/>
              <a:gdLst/>
              <a:ahLst/>
              <a:cxnLst/>
              <a:rect r="r" b="b" t="t" l="l"/>
              <a:pathLst>
                <a:path h="180622" w="913146">
                  <a:moveTo>
                    <a:pt x="90311" y="0"/>
                  </a:moveTo>
                  <a:lnTo>
                    <a:pt x="822835" y="0"/>
                  </a:lnTo>
                  <a:cubicBezTo>
                    <a:pt x="846787" y="0"/>
                    <a:pt x="869758" y="9515"/>
                    <a:pt x="886694" y="26452"/>
                  </a:cubicBezTo>
                  <a:cubicBezTo>
                    <a:pt x="903631" y="43388"/>
                    <a:pt x="913146" y="66359"/>
                    <a:pt x="913146" y="90311"/>
                  </a:cubicBezTo>
                  <a:lnTo>
                    <a:pt x="913146" y="90311"/>
                  </a:lnTo>
                  <a:cubicBezTo>
                    <a:pt x="913146" y="114263"/>
                    <a:pt x="903631" y="137234"/>
                    <a:pt x="886694" y="154171"/>
                  </a:cubicBezTo>
                  <a:cubicBezTo>
                    <a:pt x="869758" y="171107"/>
                    <a:pt x="846787" y="180622"/>
                    <a:pt x="822835"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5" id="5"/>
            <p:cNvSpPr txBox="true"/>
            <p:nvPr/>
          </p:nvSpPr>
          <p:spPr>
            <a:xfrm>
              <a:off x="0" y="-57150"/>
              <a:ext cx="913146"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Service/Technologies</a:t>
              </a:r>
            </a:p>
          </p:txBody>
        </p:sp>
      </p:grpSp>
      <p:sp>
        <p:nvSpPr>
          <p:cNvPr name="Freeform 6" id="6"/>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807559" y="7687627"/>
            <a:ext cx="2636532" cy="941974"/>
          </a:xfrm>
          <a:custGeom>
            <a:avLst/>
            <a:gdLst/>
            <a:ahLst/>
            <a:cxnLst/>
            <a:rect r="r" b="b" t="t" l="l"/>
            <a:pathLst>
              <a:path h="941974" w="2636532">
                <a:moveTo>
                  <a:pt x="0" y="0"/>
                </a:moveTo>
                <a:lnTo>
                  <a:pt x="2636532" y="0"/>
                </a:lnTo>
                <a:lnTo>
                  <a:pt x="2636532" y="941975"/>
                </a:lnTo>
                <a:lnTo>
                  <a:pt x="0" y="941975"/>
                </a:lnTo>
                <a:lnTo>
                  <a:pt x="0" y="0"/>
                </a:lnTo>
                <a:close/>
              </a:path>
            </a:pathLst>
          </a:custGeom>
          <a:blipFill>
            <a:blip r:embed="rId6"/>
            <a:stretch>
              <a:fillRect l="0" t="0" r="0" b="0"/>
            </a:stretch>
          </a:blipFill>
        </p:spPr>
      </p:sp>
      <p:sp>
        <p:nvSpPr>
          <p:cNvPr name="TextBox 8" id="8"/>
          <p:cNvSpPr txBox="true"/>
          <p:nvPr/>
        </p:nvSpPr>
        <p:spPr>
          <a:xfrm rot="0">
            <a:off x="1028700" y="5084445"/>
            <a:ext cx="6462712" cy="1897380"/>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Design and implementation of a newer and more secured infrastructure with automated code deployment processes to host their back-office applications. Upgraded into latest software, configured integration settings and refactored deprecated code for 250+ web applications.</a:t>
            </a:r>
          </a:p>
        </p:txBody>
      </p:sp>
      <p:sp>
        <p:nvSpPr>
          <p:cNvPr name="TextBox 9" id="9"/>
          <p:cNvSpPr txBox="true"/>
          <p:nvPr/>
        </p:nvSpPr>
        <p:spPr>
          <a:xfrm rot="0">
            <a:off x="9605962" y="6029325"/>
            <a:ext cx="6519862" cy="2211705"/>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D0D0D"/>
                </a:solidFill>
                <a:latin typeface="Poppins"/>
                <a:ea typeface="Poppins"/>
                <a:cs typeface="Poppins"/>
                <a:sym typeface="Poppins"/>
              </a:rPr>
              <a:t>ColdBox</a:t>
            </a:r>
          </a:p>
          <a:p>
            <a:pPr algn="l" marL="388622" indent="-194311" lvl="1">
              <a:lnSpc>
                <a:spcPts val="2520"/>
              </a:lnSpc>
              <a:buFont typeface="Arial"/>
              <a:buChar char="•"/>
            </a:pPr>
            <a:r>
              <a:rPr lang="en-US" sz="1800">
                <a:solidFill>
                  <a:srgbClr val="0D0D0D"/>
                </a:solidFill>
                <a:latin typeface="Poppins"/>
                <a:ea typeface="Poppins"/>
                <a:cs typeface="Poppins"/>
                <a:sym typeface="Poppins"/>
              </a:rPr>
              <a:t>TestBox</a:t>
            </a:r>
          </a:p>
          <a:p>
            <a:pPr algn="l" marL="388622" indent="-194311" lvl="1">
              <a:lnSpc>
                <a:spcPts val="2520"/>
              </a:lnSpc>
              <a:buFont typeface="Arial"/>
              <a:buChar char="•"/>
            </a:pPr>
            <a:r>
              <a:rPr lang="en-US" sz="1800">
                <a:solidFill>
                  <a:srgbClr val="0D0D0D"/>
                </a:solidFill>
                <a:latin typeface="Poppins"/>
                <a:ea typeface="Poppins"/>
                <a:cs typeface="Poppins"/>
                <a:sym typeface="Poppins"/>
              </a:rPr>
              <a:t>CommandBox</a:t>
            </a:r>
          </a:p>
          <a:p>
            <a:pPr algn="l" marL="388622" indent="-194311" lvl="1">
              <a:lnSpc>
                <a:spcPts val="2520"/>
              </a:lnSpc>
              <a:buFont typeface="Arial"/>
              <a:buChar char="•"/>
            </a:pPr>
            <a:r>
              <a:rPr lang="en-US" sz="1800">
                <a:solidFill>
                  <a:srgbClr val="0D0D0D"/>
                </a:solidFill>
                <a:latin typeface="Poppins"/>
                <a:ea typeface="Poppins"/>
                <a:cs typeface="Poppins"/>
                <a:sym typeface="Poppins"/>
              </a:rPr>
              <a:t>Legacy Migration</a:t>
            </a:r>
          </a:p>
          <a:p>
            <a:pPr algn="l" marL="388622" indent="-194311" lvl="1">
              <a:lnSpc>
                <a:spcPts val="2520"/>
              </a:lnSpc>
              <a:buFont typeface="Arial"/>
              <a:buChar char="•"/>
            </a:pPr>
            <a:r>
              <a:rPr lang="en-US" sz="1800">
                <a:solidFill>
                  <a:srgbClr val="0D0D0D"/>
                </a:solidFill>
                <a:latin typeface="Poppins"/>
                <a:ea typeface="Poppins"/>
                <a:cs typeface="Poppins"/>
                <a:sym typeface="Poppins"/>
              </a:rPr>
              <a:t>Modernization</a:t>
            </a:r>
          </a:p>
          <a:p>
            <a:pPr algn="l" marL="388622" indent="-194311" lvl="1">
              <a:lnSpc>
                <a:spcPts val="2520"/>
              </a:lnSpc>
              <a:buFont typeface="Arial"/>
              <a:buChar char="•"/>
            </a:pPr>
            <a:r>
              <a:rPr lang="en-US" sz="1800">
                <a:solidFill>
                  <a:srgbClr val="0D0D0D"/>
                </a:solidFill>
                <a:latin typeface="Poppins"/>
                <a:ea typeface="Poppins"/>
                <a:cs typeface="Poppins"/>
                <a:sym typeface="Poppins"/>
              </a:rPr>
              <a:t>NGX</a:t>
            </a:r>
          </a:p>
          <a:p>
            <a:pPr algn="l" marL="388622" indent="-194311" lvl="1">
              <a:lnSpc>
                <a:spcPts val="2520"/>
              </a:lnSpc>
              <a:buFont typeface="Arial"/>
              <a:buChar char="•"/>
            </a:pPr>
            <a:r>
              <a:rPr lang="en-US" sz="1800">
                <a:solidFill>
                  <a:srgbClr val="0D0D0D"/>
                </a:solidFill>
                <a:latin typeface="Poppins"/>
                <a:ea typeface="Poppins"/>
                <a:cs typeface="Poppins"/>
                <a:sym typeface="Poppins"/>
              </a:rPr>
              <a:t>Couchbase</a:t>
            </a:r>
          </a:p>
        </p:txBody>
      </p:sp>
      <p:sp>
        <p:nvSpPr>
          <p:cNvPr name="TextBox 10" id="10"/>
          <p:cNvSpPr txBox="true"/>
          <p:nvPr/>
        </p:nvSpPr>
        <p:spPr>
          <a:xfrm rot="0">
            <a:off x="971550" y="2472357"/>
            <a:ext cx="9601200" cy="148336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esri</a:t>
            </a:r>
          </a:p>
        </p:txBody>
      </p:sp>
      <p:grpSp>
        <p:nvGrpSpPr>
          <p:cNvPr name="Group 11" id="11"/>
          <p:cNvGrpSpPr/>
          <p:nvPr/>
        </p:nvGrpSpPr>
        <p:grpSpPr>
          <a:xfrm rot="0">
            <a:off x="13401675" y="1069255"/>
            <a:ext cx="3857625" cy="784945"/>
            <a:chOff x="0" y="0"/>
            <a:chExt cx="1016000" cy="206735"/>
          </a:xfrm>
        </p:grpSpPr>
        <p:sp>
          <p:nvSpPr>
            <p:cNvPr name="Freeform 12" id="12"/>
            <p:cNvSpPr/>
            <p:nvPr/>
          </p:nvSpPr>
          <p:spPr>
            <a:xfrm flipH="false" flipV="false" rot="0">
              <a:off x="0" y="0"/>
              <a:ext cx="1016000" cy="206735"/>
            </a:xfrm>
            <a:custGeom>
              <a:avLst/>
              <a:gdLst/>
              <a:ahLst/>
              <a:cxnLst/>
              <a:rect r="r" b="b" t="t" l="l"/>
              <a:pathLst>
                <a:path h="206735" w="1016000">
                  <a:moveTo>
                    <a:pt x="103367" y="0"/>
                  </a:moveTo>
                  <a:lnTo>
                    <a:pt x="912633" y="0"/>
                  </a:lnTo>
                  <a:cubicBezTo>
                    <a:pt x="940047" y="0"/>
                    <a:pt x="966339" y="10890"/>
                    <a:pt x="985724" y="30276"/>
                  </a:cubicBezTo>
                  <a:cubicBezTo>
                    <a:pt x="1005110" y="49661"/>
                    <a:pt x="1016000" y="75953"/>
                    <a:pt x="1016000" y="103367"/>
                  </a:cubicBezTo>
                  <a:lnTo>
                    <a:pt x="1016000" y="103367"/>
                  </a:lnTo>
                  <a:cubicBezTo>
                    <a:pt x="1016000" y="130782"/>
                    <a:pt x="1005110" y="157074"/>
                    <a:pt x="985724" y="176459"/>
                  </a:cubicBezTo>
                  <a:cubicBezTo>
                    <a:pt x="966339" y="195844"/>
                    <a:pt x="940047" y="206735"/>
                    <a:pt x="9126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3" id="13"/>
            <p:cNvSpPr txBox="true"/>
            <p:nvPr/>
          </p:nvSpPr>
          <p:spPr>
            <a:xfrm>
              <a:off x="0" y="-38100"/>
              <a:ext cx="1016000"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4172828" y="1198202"/>
            <a:ext cx="2800499"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Past Performance</a:t>
            </a:r>
          </a:p>
        </p:txBody>
      </p:sp>
      <p:grpSp>
        <p:nvGrpSpPr>
          <p:cNvPr name="Group 15" id="15"/>
          <p:cNvGrpSpPr/>
          <p:nvPr/>
        </p:nvGrpSpPr>
        <p:grpSpPr>
          <a:xfrm rot="0">
            <a:off x="13701232" y="1341297"/>
            <a:ext cx="240861" cy="2408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transition spd="fast">
    <p:fade/>
  </p:transition>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4393883"/>
            <a:ext cx="404812" cy="404812"/>
          </a:xfrm>
          <a:custGeom>
            <a:avLst/>
            <a:gdLst/>
            <a:ahLst/>
            <a:cxnLst/>
            <a:rect r="r" b="b" t="t" l="l"/>
            <a:pathLst>
              <a:path h="404812" w="404812">
                <a:moveTo>
                  <a:pt x="0" y="0"/>
                </a:moveTo>
                <a:lnTo>
                  <a:pt x="404812" y="0"/>
                </a:lnTo>
                <a:lnTo>
                  <a:pt x="404812" y="404812"/>
                </a:lnTo>
                <a:lnTo>
                  <a:pt x="0" y="4048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605962" y="5143500"/>
            <a:ext cx="3467100" cy="685800"/>
            <a:chOff x="0" y="0"/>
            <a:chExt cx="913146" cy="180622"/>
          </a:xfrm>
        </p:grpSpPr>
        <p:sp>
          <p:nvSpPr>
            <p:cNvPr name="Freeform 4" id="4"/>
            <p:cNvSpPr/>
            <p:nvPr/>
          </p:nvSpPr>
          <p:spPr>
            <a:xfrm flipH="false" flipV="false" rot="0">
              <a:off x="0" y="0"/>
              <a:ext cx="913146" cy="180622"/>
            </a:xfrm>
            <a:custGeom>
              <a:avLst/>
              <a:gdLst/>
              <a:ahLst/>
              <a:cxnLst/>
              <a:rect r="r" b="b" t="t" l="l"/>
              <a:pathLst>
                <a:path h="180622" w="913146">
                  <a:moveTo>
                    <a:pt x="90311" y="0"/>
                  </a:moveTo>
                  <a:lnTo>
                    <a:pt x="822835" y="0"/>
                  </a:lnTo>
                  <a:cubicBezTo>
                    <a:pt x="846787" y="0"/>
                    <a:pt x="869758" y="9515"/>
                    <a:pt x="886694" y="26452"/>
                  </a:cubicBezTo>
                  <a:cubicBezTo>
                    <a:pt x="903631" y="43388"/>
                    <a:pt x="913146" y="66359"/>
                    <a:pt x="913146" y="90311"/>
                  </a:cubicBezTo>
                  <a:lnTo>
                    <a:pt x="913146" y="90311"/>
                  </a:lnTo>
                  <a:cubicBezTo>
                    <a:pt x="913146" y="114263"/>
                    <a:pt x="903631" y="137234"/>
                    <a:pt x="886694" y="154171"/>
                  </a:cubicBezTo>
                  <a:cubicBezTo>
                    <a:pt x="869758" y="171107"/>
                    <a:pt x="846787" y="180622"/>
                    <a:pt x="822835"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5" id="5"/>
            <p:cNvSpPr txBox="true"/>
            <p:nvPr/>
          </p:nvSpPr>
          <p:spPr>
            <a:xfrm>
              <a:off x="0" y="-57150"/>
              <a:ext cx="913146" cy="237772"/>
            </a:xfrm>
            <a:prstGeom prst="rect">
              <a:avLst/>
            </a:prstGeom>
          </p:spPr>
          <p:txBody>
            <a:bodyPr anchor="ctr" rtlCol="false" tIns="50800" lIns="50800" bIns="50800" rIns="50800"/>
            <a:lstStyle/>
            <a:p>
              <a:pPr algn="ctr">
                <a:lnSpc>
                  <a:spcPts val="2520"/>
                </a:lnSpc>
              </a:pPr>
              <a:r>
                <a:rPr lang="en-US" sz="1800">
                  <a:solidFill>
                    <a:srgbClr val="000000"/>
                  </a:solidFill>
                  <a:latin typeface="Poppins"/>
                  <a:ea typeface="Poppins"/>
                  <a:cs typeface="Poppins"/>
                  <a:sym typeface="Poppins"/>
                </a:rPr>
                <a:t>Service/Technologies</a:t>
              </a:r>
            </a:p>
          </p:txBody>
        </p:sp>
      </p:grpSp>
      <p:sp>
        <p:nvSpPr>
          <p:cNvPr name="Freeform 6" id="6"/>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099377" y="7796110"/>
            <a:ext cx="3344714" cy="725010"/>
          </a:xfrm>
          <a:custGeom>
            <a:avLst/>
            <a:gdLst/>
            <a:ahLst/>
            <a:cxnLst/>
            <a:rect r="r" b="b" t="t" l="l"/>
            <a:pathLst>
              <a:path h="725010" w="3344714">
                <a:moveTo>
                  <a:pt x="0" y="0"/>
                </a:moveTo>
                <a:lnTo>
                  <a:pt x="3344714" y="0"/>
                </a:lnTo>
                <a:lnTo>
                  <a:pt x="3344714" y="725010"/>
                </a:lnTo>
                <a:lnTo>
                  <a:pt x="0" y="725010"/>
                </a:lnTo>
                <a:lnTo>
                  <a:pt x="0" y="0"/>
                </a:lnTo>
                <a:close/>
              </a:path>
            </a:pathLst>
          </a:custGeom>
          <a:blipFill>
            <a:blip r:embed="rId6"/>
            <a:stretch>
              <a:fillRect l="0" t="0" r="0" b="0"/>
            </a:stretch>
          </a:blipFill>
        </p:spPr>
      </p:sp>
      <p:sp>
        <p:nvSpPr>
          <p:cNvPr name="TextBox 8" id="8"/>
          <p:cNvSpPr txBox="true"/>
          <p:nvPr/>
        </p:nvSpPr>
        <p:spPr>
          <a:xfrm rot="0">
            <a:off x="1028700" y="5084445"/>
            <a:ext cx="6462712" cy="1268730"/>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Migration of their existing web application used to manage their internal operations systems into a new development framework with its own automated testing suite, dependency injection and logging.</a:t>
            </a:r>
          </a:p>
        </p:txBody>
      </p:sp>
      <p:sp>
        <p:nvSpPr>
          <p:cNvPr name="TextBox 9" id="9"/>
          <p:cNvSpPr txBox="true"/>
          <p:nvPr/>
        </p:nvSpPr>
        <p:spPr>
          <a:xfrm rot="0">
            <a:off x="9605962" y="6029325"/>
            <a:ext cx="6519862" cy="640080"/>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D0D0D"/>
                </a:solidFill>
                <a:latin typeface="Poppins"/>
                <a:ea typeface="Poppins"/>
                <a:cs typeface="Poppins"/>
                <a:sym typeface="Poppins"/>
              </a:rPr>
              <a:t>Modernization</a:t>
            </a:r>
          </a:p>
          <a:p>
            <a:pPr algn="l" marL="388622" indent="-194311" lvl="1">
              <a:lnSpc>
                <a:spcPts val="2520"/>
              </a:lnSpc>
              <a:buFont typeface="Arial"/>
              <a:buChar char="•"/>
            </a:pPr>
            <a:r>
              <a:rPr lang="en-US" sz="1800">
                <a:solidFill>
                  <a:srgbClr val="0D0D0D"/>
                </a:solidFill>
                <a:latin typeface="Poppins"/>
                <a:ea typeface="Poppins"/>
                <a:cs typeface="Poppins"/>
                <a:sym typeface="Poppins"/>
              </a:rPr>
              <a:t>ColdBox MVC Migration</a:t>
            </a:r>
          </a:p>
        </p:txBody>
      </p:sp>
      <p:sp>
        <p:nvSpPr>
          <p:cNvPr name="TextBox 10" id="10"/>
          <p:cNvSpPr txBox="true"/>
          <p:nvPr/>
        </p:nvSpPr>
        <p:spPr>
          <a:xfrm rot="0">
            <a:off x="971550" y="2472357"/>
            <a:ext cx="9601200" cy="148336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Central San</a:t>
            </a:r>
          </a:p>
        </p:txBody>
      </p:sp>
      <p:grpSp>
        <p:nvGrpSpPr>
          <p:cNvPr name="Group 11" id="11"/>
          <p:cNvGrpSpPr/>
          <p:nvPr/>
        </p:nvGrpSpPr>
        <p:grpSpPr>
          <a:xfrm rot="0">
            <a:off x="13401675" y="1069255"/>
            <a:ext cx="3857625" cy="784945"/>
            <a:chOff x="0" y="0"/>
            <a:chExt cx="1016000" cy="206735"/>
          </a:xfrm>
        </p:grpSpPr>
        <p:sp>
          <p:nvSpPr>
            <p:cNvPr name="Freeform 12" id="12"/>
            <p:cNvSpPr/>
            <p:nvPr/>
          </p:nvSpPr>
          <p:spPr>
            <a:xfrm flipH="false" flipV="false" rot="0">
              <a:off x="0" y="0"/>
              <a:ext cx="1016000" cy="206735"/>
            </a:xfrm>
            <a:custGeom>
              <a:avLst/>
              <a:gdLst/>
              <a:ahLst/>
              <a:cxnLst/>
              <a:rect r="r" b="b" t="t" l="l"/>
              <a:pathLst>
                <a:path h="206735" w="1016000">
                  <a:moveTo>
                    <a:pt x="103367" y="0"/>
                  </a:moveTo>
                  <a:lnTo>
                    <a:pt x="912633" y="0"/>
                  </a:lnTo>
                  <a:cubicBezTo>
                    <a:pt x="940047" y="0"/>
                    <a:pt x="966339" y="10890"/>
                    <a:pt x="985724" y="30276"/>
                  </a:cubicBezTo>
                  <a:cubicBezTo>
                    <a:pt x="1005110" y="49661"/>
                    <a:pt x="1016000" y="75953"/>
                    <a:pt x="1016000" y="103367"/>
                  </a:cubicBezTo>
                  <a:lnTo>
                    <a:pt x="1016000" y="103367"/>
                  </a:lnTo>
                  <a:cubicBezTo>
                    <a:pt x="1016000" y="130782"/>
                    <a:pt x="1005110" y="157074"/>
                    <a:pt x="985724" y="176459"/>
                  </a:cubicBezTo>
                  <a:cubicBezTo>
                    <a:pt x="966339" y="195844"/>
                    <a:pt x="940047" y="206735"/>
                    <a:pt x="9126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3" id="13"/>
            <p:cNvSpPr txBox="true"/>
            <p:nvPr/>
          </p:nvSpPr>
          <p:spPr>
            <a:xfrm>
              <a:off x="0" y="-38100"/>
              <a:ext cx="1016000"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4172828" y="1198202"/>
            <a:ext cx="2800499" cy="45085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Poppins Light"/>
                <a:ea typeface="Poppins Light"/>
                <a:cs typeface="Poppins Light"/>
                <a:sym typeface="Poppins Light"/>
              </a:rPr>
              <a:t>Past Performance</a:t>
            </a:r>
          </a:p>
        </p:txBody>
      </p:sp>
      <p:grpSp>
        <p:nvGrpSpPr>
          <p:cNvPr name="Group 15" id="15"/>
          <p:cNvGrpSpPr/>
          <p:nvPr/>
        </p:nvGrpSpPr>
        <p:grpSpPr>
          <a:xfrm rot="0">
            <a:off x="13701232" y="1341297"/>
            <a:ext cx="240861" cy="2408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transition spd="fast">
    <p:fade/>
  </p:transition>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820974" y="8070838"/>
            <a:ext cx="655139" cy="655139"/>
          </a:xfrm>
          <a:custGeom>
            <a:avLst/>
            <a:gdLst/>
            <a:ahLst/>
            <a:cxnLst/>
            <a:rect r="r" b="b" t="t" l="l"/>
            <a:pathLst>
              <a:path h="655139" w="655139">
                <a:moveTo>
                  <a:pt x="0" y="0"/>
                </a:moveTo>
                <a:lnTo>
                  <a:pt x="655139" y="0"/>
                </a:lnTo>
                <a:lnTo>
                  <a:pt x="655139" y="655139"/>
                </a:lnTo>
                <a:lnTo>
                  <a:pt x="0" y="655139"/>
                </a:lnTo>
                <a:lnTo>
                  <a:pt x="0" y="0"/>
                </a:lnTo>
                <a:close/>
              </a:path>
            </a:pathLst>
          </a:custGeom>
          <a:blipFill>
            <a:blip r:embed="rId4"/>
            <a:stretch>
              <a:fillRect l="0" t="0" r="0" b="0"/>
            </a:stretch>
          </a:blipFill>
        </p:spPr>
      </p:sp>
      <p:sp>
        <p:nvSpPr>
          <p:cNvPr name="Freeform 4" id="4"/>
          <p:cNvSpPr/>
          <p:nvPr/>
        </p:nvSpPr>
        <p:spPr>
          <a:xfrm flipH="false" flipV="false" rot="0">
            <a:off x="11070804" y="8105229"/>
            <a:ext cx="608482" cy="586355"/>
          </a:xfrm>
          <a:custGeom>
            <a:avLst/>
            <a:gdLst/>
            <a:ahLst/>
            <a:cxnLst/>
            <a:rect r="r" b="b" t="t" l="l"/>
            <a:pathLst>
              <a:path h="586355" w="608482">
                <a:moveTo>
                  <a:pt x="0" y="0"/>
                </a:moveTo>
                <a:lnTo>
                  <a:pt x="608482" y="0"/>
                </a:lnTo>
                <a:lnTo>
                  <a:pt x="608482" y="586356"/>
                </a:lnTo>
                <a:lnTo>
                  <a:pt x="0" y="586356"/>
                </a:lnTo>
                <a:lnTo>
                  <a:pt x="0" y="0"/>
                </a:lnTo>
                <a:close/>
              </a:path>
            </a:pathLst>
          </a:custGeom>
          <a:blipFill>
            <a:blip r:embed="rId5"/>
            <a:stretch>
              <a:fillRect l="0" t="0" r="0" b="0"/>
            </a:stretch>
          </a:blipFill>
        </p:spPr>
      </p:sp>
      <p:sp>
        <p:nvSpPr>
          <p:cNvPr name="Freeform 5" id="5"/>
          <p:cNvSpPr/>
          <p:nvPr/>
        </p:nvSpPr>
        <p:spPr>
          <a:xfrm flipH="false" flipV="false" rot="0">
            <a:off x="12273976" y="8200730"/>
            <a:ext cx="961673" cy="395355"/>
          </a:xfrm>
          <a:custGeom>
            <a:avLst/>
            <a:gdLst/>
            <a:ahLst/>
            <a:cxnLst/>
            <a:rect r="r" b="b" t="t" l="l"/>
            <a:pathLst>
              <a:path h="395355" w="961673">
                <a:moveTo>
                  <a:pt x="0" y="0"/>
                </a:moveTo>
                <a:lnTo>
                  <a:pt x="961673" y="0"/>
                </a:lnTo>
                <a:lnTo>
                  <a:pt x="961673" y="395354"/>
                </a:lnTo>
                <a:lnTo>
                  <a:pt x="0" y="395354"/>
                </a:lnTo>
                <a:lnTo>
                  <a:pt x="0" y="0"/>
                </a:lnTo>
                <a:close/>
              </a:path>
            </a:pathLst>
          </a:custGeom>
          <a:blipFill>
            <a:blip r:embed="rId6"/>
            <a:stretch>
              <a:fillRect l="0" t="0" r="0" b="0"/>
            </a:stretch>
          </a:blipFill>
        </p:spPr>
      </p:sp>
      <p:sp>
        <p:nvSpPr>
          <p:cNvPr name="Freeform 6" id="6"/>
          <p:cNvSpPr/>
          <p:nvPr/>
        </p:nvSpPr>
        <p:spPr>
          <a:xfrm flipH="false" flipV="false" rot="0">
            <a:off x="13830340" y="8069393"/>
            <a:ext cx="668310" cy="658029"/>
          </a:xfrm>
          <a:custGeom>
            <a:avLst/>
            <a:gdLst/>
            <a:ahLst/>
            <a:cxnLst/>
            <a:rect r="r" b="b" t="t" l="l"/>
            <a:pathLst>
              <a:path h="658029" w="668310">
                <a:moveTo>
                  <a:pt x="0" y="0"/>
                </a:moveTo>
                <a:lnTo>
                  <a:pt x="668310" y="0"/>
                </a:lnTo>
                <a:lnTo>
                  <a:pt x="668310" y="658028"/>
                </a:lnTo>
                <a:lnTo>
                  <a:pt x="0" y="658028"/>
                </a:lnTo>
                <a:lnTo>
                  <a:pt x="0" y="0"/>
                </a:lnTo>
                <a:close/>
              </a:path>
            </a:pathLst>
          </a:custGeom>
          <a:blipFill>
            <a:blip r:embed="rId7"/>
            <a:stretch>
              <a:fillRect l="0" t="0" r="0" b="0"/>
            </a:stretch>
          </a:blipFill>
        </p:spPr>
      </p:sp>
      <p:sp>
        <p:nvSpPr>
          <p:cNvPr name="Freeform 7" id="7"/>
          <p:cNvSpPr/>
          <p:nvPr/>
        </p:nvSpPr>
        <p:spPr>
          <a:xfrm flipH="false" flipV="false" rot="0">
            <a:off x="15093341" y="8088057"/>
            <a:ext cx="695185" cy="620701"/>
          </a:xfrm>
          <a:custGeom>
            <a:avLst/>
            <a:gdLst/>
            <a:ahLst/>
            <a:cxnLst/>
            <a:rect r="r" b="b" t="t" l="l"/>
            <a:pathLst>
              <a:path h="620701" w="695185">
                <a:moveTo>
                  <a:pt x="0" y="0"/>
                </a:moveTo>
                <a:lnTo>
                  <a:pt x="695185" y="0"/>
                </a:lnTo>
                <a:lnTo>
                  <a:pt x="695185" y="620701"/>
                </a:lnTo>
                <a:lnTo>
                  <a:pt x="0" y="620701"/>
                </a:lnTo>
                <a:lnTo>
                  <a:pt x="0" y="0"/>
                </a:lnTo>
                <a:close/>
              </a:path>
            </a:pathLst>
          </a:custGeom>
          <a:blipFill>
            <a:blip r:embed="rId8"/>
            <a:stretch>
              <a:fillRect l="0" t="0" r="0" b="0"/>
            </a:stretch>
          </a:blipFill>
        </p:spPr>
      </p:sp>
      <p:sp>
        <p:nvSpPr>
          <p:cNvPr name="Freeform 8" id="8"/>
          <p:cNvSpPr/>
          <p:nvPr/>
        </p:nvSpPr>
        <p:spPr>
          <a:xfrm flipH="false" flipV="false" rot="0">
            <a:off x="16383217" y="8288828"/>
            <a:ext cx="1188062" cy="219157"/>
          </a:xfrm>
          <a:custGeom>
            <a:avLst/>
            <a:gdLst/>
            <a:ahLst/>
            <a:cxnLst/>
            <a:rect r="r" b="b" t="t" l="l"/>
            <a:pathLst>
              <a:path h="219157" w="1188062">
                <a:moveTo>
                  <a:pt x="0" y="0"/>
                </a:moveTo>
                <a:lnTo>
                  <a:pt x="1188062" y="0"/>
                </a:lnTo>
                <a:lnTo>
                  <a:pt x="1188062" y="219158"/>
                </a:lnTo>
                <a:lnTo>
                  <a:pt x="0" y="219158"/>
                </a:lnTo>
                <a:lnTo>
                  <a:pt x="0" y="0"/>
                </a:lnTo>
                <a:close/>
              </a:path>
            </a:pathLst>
          </a:custGeom>
          <a:blipFill>
            <a:blip r:embed="rId9"/>
            <a:stretch>
              <a:fillRect l="0" t="0" r="0" b="0"/>
            </a:stretch>
          </a:blipFill>
        </p:spPr>
      </p:sp>
      <p:sp>
        <p:nvSpPr>
          <p:cNvPr name="Freeform 9" id="9"/>
          <p:cNvSpPr/>
          <p:nvPr/>
        </p:nvSpPr>
        <p:spPr>
          <a:xfrm flipH="false" flipV="false" rot="0">
            <a:off x="15302201" y="3919859"/>
            <a:ext cx="635690" cy="635690"/>
          </a:xfrm>
          <a:custGeom>
            <a:avLst/>
            <a:gdLst/>
            <a:ahLst/>
            <a:cxnLst/>
            <a:rect r="r" b="b" t="t" l="l"/>
            <a:pathLst>
              <a:path h="635690" w="635690">
                <a:moveTo>
                  <a:pt x="0" y="0"/>
                </a:moveTo>
                <a:lnTo>
                  <a:pt x="635690" y="0"/>
                </a:lnTo>
                <a:lnTo>
                  <a:pt x="635690" y="635690"/>
                </a:lnTo>
                <a:lnTo>
                  <a:pt x="0" y="635690"/>
                </a:lnTo>
                <a:lnTo>
                  <a:pt x="0" y="0"/>
                </a:lnTo>
                <a:close/>
              </a:path>
            </a:pathLst>
          </a:custGeom>
          <a:blipFill>
            <a:blip r:embed="rId10"/>
            <a:stretch>
              <a:fillRect l="0" t="0" r="0" b="0"/>
            </a:stretch>
          </a:blipFill>
        </p:spPr>
      </p:sp>
      <p:sp>
        <p:nvSpPr>
          <p:cNvPr name="Freeform 10" id="10"/>
          <p:cNvSpPr/>
          <p:nvPr/>
        </p:nvSpPr>
        <p:spPr>
          <a:xfrm flipH="false" flipV="false" rot="0">
            <a:off x="9574706" y="4050591"/>
            <a:ext cx="1190073" cy="374226"/>
          </a:xfrm>
          <a:custGeom>
            <a:avLst/>
            <a:gdLst/>
            <a:ahLst/>
            <a:cxnLst/>
            <a:rect r="r" b="b" t="t" l="l"/>
            <a:pathLst>
              <a:path h="374226" w="1190073">
                <a:moveTo>
                  <a:pt x="0" y="0"/>
                </a:moveTo>
                <a:lnTo>
                  <a:pt x="1190073" y="0"/>
                </a:lnTo>
                <a:lnTo>
                  <a:pt x="1190073" y="374226"/>
                </a:lnTo>
                <a:lnTo>
                  <a:pt x="0" y="374226"/>
                </a:lnTo>
                <a:lnTo>
                  <a:pt x="0" y="0"/>
                </a:lnTo>
                <a:close/>
              </a:path>
            </a:pathLst>
          </a:custGeom>
          <a:blipFill>
            <a:blip r:embed="rId11"/>
            <a:stretch>
              <a:fillRect l="0" t="-109004" r="0" b="-109004"/>
            </a:stretch>
          </a:blipFill>
        </p:spPr>
      </p:sp>
      <p:sp>
        <p:nvSpPr>
          <p:cNvPr name="Freeform 11" id="11"/>
          <p:cNvSpPr/>
          <p:nvPr/>
        </p:nvSpPr>
        <p:spPr>
          <a:xfrm flipH="false" flipV="false" rot="0">
            <a:off x="11238737" y="4086437"/>
            <a:ext cx="1187726" cy="302534"/>
          </a:xfrm>
          <a:custGeom>
            <a:avLst/>
            <a:gdLst/>
            <a:ahLst/>
            <a:cxnLst/>
            <a:rect r="r" b="b" t="t" l="l"/>
            <a:pathLst>
              <a:path h="302534" w="1187726">
                <a:moveTo>
                  <a:pt x="0" y="0"/>
                </a:moveTo>
                <a:lnTo>
                  <a:pt x="1187725" y="0"/>
                </a:lnTo>
                <a:lnTo>
                  <a:pt x="1187725" y="302534"/>
                </a:lnTo>
                <a:lnTo>
                  <a:pt x="0" y="302534"/>
                </a:lnTo>
                <a:lnTo>
                  <a:pt x="0" y="0"/>
                </a:lnTo>
                <a:close/>
              </a:path>
            </a:pathLst>
          </a:custGeom>
          <a:blipFill>
            <a:blip r:embed="rId12"/>
            <a:stretch>
              <a:fillRect l="0" t="0" r="0" b="0"/>
            </a:stretch>
          </a:blipFill>
        </p:spPr>
      </p:sp>
      <p:sp>
        <p:nvSpPr>
          <p:cNvPr name="Freeform 12" id="12"/>
          <p:cNvSpPr/>
          <p:nvPr/>
        </p:nvSpPr>
        <p:spPr>
          <a:xfrm flipH="false" flipV="false" rot="0">
            <a:off x="14102507" y="3881316"/>
            <a:ext cx="725736" cy="712777"/>
          </a:xfrm>
          <a:custGeom>
            <a:avLst/>
            <a:gdLst/>
            <a:ahLst/>
            <a:cxnLst/>
            <a:rect r="r" b="b" t="t" l="l"/>
            <a:pathLst>
              <a:path h="712777" w="725736">
                <a:moveTo>
                  <a:pt x="0" y="0"/>
                </a:moveTo>
                <a:lnTo>
                  <a:pt x="725737" y="0"/>
                </a:lnTo>
                <a:lnTo>
                  <a:pt x="725737" y="712777"/>
                </a:lnTo>
                <a:lnTo>
                  <a:pt x="0" y="712777"/>
                </a:lnTo>
                <a:lnTo>
                  <a:pt x="0" y="0"/>
                </a:lnTo>
                <a:close/>
              </a:path>
            </a:pathLst>
          </a:custGeom>
          <a:blipFill>
            <a:blip r:embed="rId13"/>
            <a:stretch>
              <a:fillRect l="0" t="0" r="0" b="0"/>
            </a:stretch>
          </a:blipFill>
        </p:spPr>
      </p:sp>
      <p:sp>
        <p:nvSpPr>
          <p:cNvPr name="Freeform 13" id="13"/>
          <p:cNvSpPr/>
          <p:nvPr/>
        </p:nvSpPr>
        <p:spPr>
          <a:xfrm flipH="false" flipV="false" rot="0">
            <a:off x="12900420" y="3979336"/>
            <a:ext cx="728129" cy="516737"/>
          </a:xfrm>
          <a:custGeom>
            <a:avLst/>
            <a:gdLst/>
            <a:ahLst/>
            <a:cxnLst/>
            <a:rect r="r" b="b" t="t" l="l"/>
            <a:pathLst>
              <a:path h="516737" w="728129">
                <a:moveTo>
                  <a:pt x="0" y="0"/>
                </a:moveTo>
                <a:lnTo>
                  <a:pt x="728129" y="0"/>
                </a:lnTo>
                <a:lnTo>
                  <a:pt x="728129" y="516737"/>
                </a:lnTo>
                <a:lnTo>
                  <a:pt x="0" y="516737"/>
                </a:lnTo>
                <a:lnTo>
                  <a:pt x="0" y="0"/>
                </a:lnTo>
                <a:close/>
              </a:path>
            </a:pathLst>
          </a:custGeom>
          <a:blipFill>
            <a:blip r:embed="rId14"/>
            <a:stretch>
              <a:fillRect l="0" t="0" r="0" b="0"/>
            </a:stretch>
          </a:blipFill>
        </p:spPr>
      </p:sp>
      <p:sp>
        <p:nvSpPr>
          <p:cNvPr name="Freeform 14" id="14"/>
          <p:cNvSpPr/>
          <p:nvPr/>
        </p:nvSpPr>
        <p:spPr>
          <a:xfrm flipH="false" flipV="false" rot="0">
            <a:off x="16411849" y="4115466"/>
            <a:ext cx="1173195" cy="244476"/>
          </a:xfrm>
          <a:custGeom>
            <a:avLst/>
            <a:gdLst/>
            <a:ahLst/>
            <a:cxnLst/>
            <a:rect r="r" b="b" t="t" l="l"/>
            <a:pathLst>
              <a:path h="244476" w="1173195">
                <a:moveTo>
                  <a:pt x="0" y="0"/>
                </a:moveTo>
                <a:lnTo>
                  <a:pt x="1173196" y="0"/>
                </a:lnTo>
                <a:lnTo>
                  <a:pt x="1173196" y="244476"/>
                </a:lnTo>
                <a:lnTo>
                  <a:pt x="0" y="244476"/>
                </a:lnTo>
                <a:lnTo>
                  <a:pt x="0" y="0"/>
                </a:lnTo>
                <a:close/>
              </a:path>
            </a:pathLst>
          </a:custGeom>
          <a:blipFill>
            <a:blip r:embed="rId15"/>
            <a:stretch>
              <a:fillRect l="0" t="-189940" r="0" b="-189940"/>
            </a:stretch>
          </a:blipFill>
        </p:spPr>
      </p:sp>
      <p:sp>
        <p:nvSpPr>
          <p:cNvPr name="Freeform 15" id="15"/>
          <p:cNvSpPr/>
          <p:nvPr/>
        </p:nvSpPr>
        <p:spPr>
          <a:xfrm flipH="false" flipV="false" rot="0">
            <a:off x="9524975" y="2926671"/>
            <a:ext cx="1289534" cy="322384"/>
          </a:xfrm>
          <a:custGeom>
            <a:avLst/>
            <a:gdLst/>
            <a:ahLst/>
            <a:cxnLst/>
            <a:rect r="r" b="b" t="t" l="l"/>
            <a:pathLst>
              <a:path h="322384" w="1289534">
                <a:moveTo>
                  <a:pt x="0" y="0"/>
                </a:moveTo>
                <a:lnTo>
                  <a:pt x="1289534" y="0"/>
                </a:lnTo>
                <a:lnTo>
                  <a:pt x="1289534" y="322384"/>
                </a:lnTo>
                <a:lnTo>
                  <a:pt x="0" y="322384"/>
                </a:lnTo>
                <a:lnTo>
                  <a:pt x="0" y="0"/>
                </a:lnTo>
                <a:close/>
              </a:path>
            </a:pathLst>
          </a:custGeom>
          <a:blipFill>
            <a:blip r:embed="rId16"/>
            <a:stretch>
              <a:fillRect l="0" t="0" r="0" b="0"/>
            </a:stretch>
          </a:blipFill>
        </p:spPr>
      </p:sp>
      <p:sp>
        <p:nvSpPr>
          <p:cNvPr name="Freeform 16" id="16"/>
          <p:cNvSpPr/>
          <p:nvPr/>
        </p:nvSpPr>
        <p:spPr>
          <a:xfrm flipH="false" flipV="false" rot="0">
            <a:off x="11334165" y="2650274"/>
            <a:ext cx="875179" cy="875179"/>
          </a:xfrm>
          <a:custGeom>
            <a:avLst/>
            <a:gdLst/>
            <a:ahLst/>
            <a:cxnLst/>
            <a:rect r="r" b="b" t="t" l="l"/>
            <a:pathLst>
              <a:path h="875179" w="875179">
                <a:moveTo>
                  <a:pt x="0" y="0"/>
                </a:moveTo>
                <a:lnTo>
                  <a:pt x="875178" y="0"/>
                </a:lnTo>
                <a:lnTo>
                  <a:pt x="875178" y="875179"/>
                </a:lnTo>
                <a:lnTo>
                  <a:pt x="0" y="875179"/>
                </a:lnTo>
                <a:lnTo>
                  <a:pt x="0" y="0"/>
                </a:lnTo>
                <a:close/>
              </a:path>
            </a:pathLst>
          </a:custGeom>
          <a:blipFill>
            <a:blip r:embed="rId17"/>
            <a:stretch>
              <a:fillRect l="0" t="0" r="0" b="0"/>
            </a:stretch>
          </a:blipFill>
        </p:spPr>
      </p:sp>
      <p:sp>
        <p:nvSpPr>
          <p:cNvPr name="Freeform 17" id="17"/>
          <p:cNvSpPr/>
          <p:nvPr/>
        </p:nvSpPr>
        <p:spPr>
          <a:xfrm flipH="false" flipV="false" rot="0">
            <a:off x="12728998" y="2706829"/>
            <a:ext cx="762069" cy="762069"/>
          </a:xfrm>
          <a:custGeom>
            <a:avLst/>
            <a:gdLst/>
            <a:ahLst/>
            <a:cxnLst/>
            <a:rect r="r" b="b" t="t" l="l"/>
            <a:pathLst>
              <a:path h="762069" w="762069">
                <a:moveTo>
                  <a:pt x="0" y="0"/>
                </a:moveTo>
                <a:lnTo>
                  <a:pt x="762069" y="0"/>
                </a:lnTo>
                <a:lnTo>
                  <a:pt x="762069" y="762069"/>
                </a:lnTo>
                <a:lnTo>
                  <a:pt x="0" y="762069"/>
                </a:lnTo>
                <a:lnTo>
                  <a:pt x="0" y="0"/>
                </a:lnTo>
                <a:close/>
              </a:path>
            </a:pathLst>
          </a:custGeom>
          <a:blipFill>
            <a:blip r:embed="rId18"/>
            <a:stretch>
              <a:fillRect l="0" t="0" r="0" b="0"/>
            </a:stretch>
          </a:blipFill>
        </p:spPr>
      </p:sp>
      <p:sp>
        <p:nvSpPr>
          <p:cNvPr name="Freeform 18" id="18"/>
          <p:cNvSpPr/>
          <p:nvPr/>
        </p:nvSpPr>
        <p:spPr>
          <a:xfrm flipH="false" flipV="false" rot="0">
            <a:off x="14010723" y="2919376"/>
            <a:ext cx="943171" cy="336974"/>
          </a:xfrm>
          <a:custGeom>
            <a:avLst/>
            <a:gdLst/>
            <a:ahLst/>
            <a:cxnLst/>
            <a:rect r="r" b="b" t="t" l="l"/>
            <a:pathLst>
              <a:path h="336974" w="943171">
                <a:moveTo>
                  <a:pt x="0" y="0"/>
                </a:moveTo>
                <a:lnTo>
                  <a:pt x="943171" y="0"/>
                </a:lnTo>
                <a:lnTo>
                  <a:pt x="943171" y="336974"/>
                </a:lnTo>
                <a:lnTo>
                  <a:pt x="0" y="336974"/>
                </a:lnTo>
                <a:lnTo>
                  <a:pt x="0" y="0"/>
                </a:lnTo>
                <a:close/>
              </a:path>
            </a:pathLst>
          </a:custGeom>
          <a:blipFill>
            <a:blip r:embed="rId19"/>
            <a:stretch>
              <a:fillRect l="0" t="0" r="0" b="0"/>
            </a:stretch>
          </a:blipFill>
        </p:spPr>
      </p:sp>
      <p:sp>
        <p:nvSpPr>
          <p:cNvPr name="Freeform 19" id="19"/>
          <p:cNvSpPr/>
          <p:nvPr/>
        </p:nvSpPr>
        <p:spPr>
          <a:xfrm flipH="false" flipV="false" rot="0">
            <a:off x="16685755" y="2768918"/>
            <a:ext cx="625383" cy="637891"/>
          </a:xfrm>
          <a:custGeom>
            <a:avLst/>
            <a:gdLst/>
            <a:ahLst/>
            <a:cxnLst/>
            <a:rect r="r" b="b" t="t" l="l"/>
            <a:pathLst>
              <a:path h="637891" w="625383">
                <a:moveTo>
                  <a:pt x="0" y="0"/>
                </a:moveTo>
                <a:lnTo>
                  <a:pt x="625384" y="0"/>
                </a:lnTo>
                <a:lnTo>
                  <a:pt x="625384" y="637891"/>
                </a:lnTo>
                <a:lnTo>
                  <a:pt x="0" y="637891"/>
                </a:lnTo>
                <a:lnTo>
                  <a:pt x="0" y="0"/>
                </a:lnTo>
                <a:close/>
              </a:path>
            </a:pathLst>
          </a:custGeom>
          <a:blipFill>
            <a:blip r:embed="rId20"/>
            <a:stretch>
              <a:fillRect l="0" t="0" r="0" b="0"/>
            </a:stretch>
          </a:blipFill>
        </p:spPr>
      </p:sp>
      <p:sp>
        <p:nvSpPr>
          <p:cNvPr name="Freeform 20" id="20"/>
          <p:cNvSpPr/>
          <p:nvPr/>
        </p:nvSpPr>
        <p:spPr>
          <a:xfrm flipH="false" flipV="false" rot="0">
            <a:off x="15473549" y="2833249"/>
            <a:ext cx="692551" cy="509229"/>
          </a:xfrm>
          <a:custGeom>
            <a:avLst/>
            <a:gdLst/>
            <a:ahLst/>
            <a:cxnLst/>
            <a:rect r="r" b="b" t="t" l="l"/>
            <a:pathLst>
              <a:path h="509229" w="692551">
                <a:moveTo>
                  <a:pt x="0" y="0"/>
                </a:moveTo>
                <a:lnTo>
                  <a:pt x="692551" y="0"/>
                </a:lnTo>
                <a:lnTo>
                  <a:pt x="692551" y="509229"/>
                </a:lnTo>
                <a:lnTo>
                  <a:pt x="0" y="509229"/>
                </a:lnTo>
                <a:lnTo>
                  <a:pt x="0" y="0"/>
                </a:lnTo>
                <a:close/>
              </a:path>
            </a:pathLst>
          </a:custGeom>
          <a:blipFill>
            <a:blip r:embed="rId21"/>
            <a:stretch>
              <a:fillRect l="0" t="0" r="0" b="0"/>
            </a:stretch>
          </a:blipFill>
        </p:spPr>
      </p:sp>
      <p:sp>
        <p:nvSpPr>
          <p:cNvPr name="Freeform 21" id="21"/>
          <p:cNvSpPr/>
          <p:nvPr/>
        </p:nvSpPr>
        <p:spPr>
          <a:xfrm flipH="false" flipV="false" rot="0">
            <a:off x="9807771" y="1565023"/>
            <a:ext cx="723944" cy="723944"/>
          </a:xfrm>
          <a:custGeom>
            <a:avLst/>
            <a:gdLst/>
            <a:ahLst/>
            <a:cxnLst/>
            <a:rect r="r" b="b" t="t" l="l"/>
            <a:pathLst>
              <a:path h="723944" w="723944">
                <a:moveTo>
                  <a:pt x="0" y="0"/>
                </a:moveTo>
                <a:lnTo>
                  <a:pt x="723943" y="0"/>
                </a:lnTo>
                <a:lnTo>
                  <a:pt x="723943" y="723943"/>
                </a:lnTo>
                <a:lnTo>
                  <a:pt x="0" y="723943"/>
                </a:lnTo>
                <a:lnTo>
                  <a:pt x="0" y="0"/>
                </a:lnTo>
                <a:close/>
              </a:path>
            </a:pathLst>
          </a:custGeom>
          <a:blipFill>
            <a:blip r:embed="rId22"/>
            <a:stretch>
              <a:fillRect l="0" t="0" r="0" b="0"/>
            </a:stretch>
          </a:blipFill>
        </p:spPr>
      </p:sp>
      <p:sp>
        <p:nvSpPr>
          <p:cNvPr name="Freeform 22" id="22"/>
          <p:cNvSpPr/>
          <p:nvPr/>
        </p:nvSpPr>
        <p:spPr>
          <a:xfrm flipH="false" flipV="false" rot="0">
            <a:off x="11075680" y="1772009"/>
            <a:ext cx="1051691" cy="309972"/>
          </a:xfrm>
          <a:custGeom>
            <a:avLst/>
            <a:gdLst/>
            <a:ahLst/>
            <a:cxnLst/>
            <a:rect r="r" b="b" t="t" l="l"/>
            <a:pathLst>
              <a:path h="309972" w="1051691">
                <a:moveTo>
                  <a:pt x="0" y="0"/>
                </a:moveTo>
                <a:lnTo>
                  <a:pt x="1051691" y="0"/>
                </a:lnTo>
                <a:lnTo>
                  <a:pt x="1051691" y="309972"/>
                </a:lnTo>
                <a:lnTo>
                  <a:pt x="0" y="309972"/>
                </a:lnTo>
                <a:lnTo>
                  <a:pt x="0" y="0"/>
                </a:lnTo>
                <a:close/>
              </a:path>
            </a:pathLst>
          </a:custGeom>
          <a:blipFill>
            <a:blip r:embed="rId23"/>
            <a:stretch>
              <a:fillRect l="0" t="0" r="0" b="0"/>
            </a:stretch>
          </a:blipFill>
        </p:spPr>
      </p:sp>
      <p:sp>
        <p:nvSpPr>
          <p:cNvPr name="Freeform 23" id="23"/>
          <p:cNvSpPr/>
          <p:nvPr/>
        </p:nvSpPr>
        <p:spPr>
          <a:xfrm flipH="false" flipV="false" rot="0">
            <a:off x="12671336" y="1559579"/>
            <a:ext cx="734832" cy="734832"/>
          </a:xfrm>
          <a:custGeom>
            <a:avLst/>
            <a:gdLst/>
            <a:ahLst/>
            <a:cxnLst/>
            <a:rect r="r" b="b" t="t" l="l"/>
            <a:pathLst>
              <a:path h="734832" w="734832">
                <a:moveTo>
                  <a:pt x="0" y="0"/>
                </a:moveTo>
                <a:lnTo>
                  <a:pt x="734832" y="0"/>
                </a:lnTo>
                <a:lnTo>
                  <a:pt x="734832" y="734832"/>
                </a:lnTo>
                <a:lnTo>
                  <a:pt x="0" y="734832"/>
                </a:lnTo>
                <a:lnTo>
                  <a:pt x="0" y="0"/>
                </a:lnTo>
                <a:close/>
              </a:path>
            </a:pathLst>
          </a:custGeom>
          <a:blipFill>
            <a:blip r:embed="rId24"/>
            <a:stretch>
              <a:fillRect l="0" t="0" r="0" b="0"/>
            </a:stretch>
          </a:blipFill>
        </p:spPr>
      </p:sp>
      <p:sp>
        <p:nvSpPr>
          <p:cNvPr name="Freeform 24" id="24"/>
          <p:cNvSpPr/>
          <p:nvPr/>
        </p:nvSpPr>
        <p:spPr>
          <a:xfrm flipH="false" flipV="false" rot="0">
            <a:off x="13950133" y="1563657"/>
            <a:ext cx="739887" cy="726675"/>
          </a:xfrm>
          <a:custGeom>
            <a:avLst/>
            <a:gdLst/>
            <a:ahLst/>
            <a:cxnLst/>
            <a:rect r="r" b="b" t="t" l="l"/>
            <a:pathLst>
              <a:path h="726675" w="739887">
                <a:moveTo>
                  <a:pt x="0" y="0"/>
                </a:moveTo>
                <a:lnTo>
                  <a:pt x="739887" y="0"/>
                </a:lnTo>
                <a:lnTo>
                  <a:pt x="739887" y="726675"/>
                </a:lnTo>
                <a:lnTo>
                  <a:pt x="0" y="726675"/>
                </a:lnTo>
                <a:lnTo>
                  <a:pt x="0" y="0"/>
                </a:lnTo>
                <a:close/>
              </a:path>
            </a:pathLst>
          </a:custGeom>
          <a:blipFill>
            <a:blip r:embed="rId25"/>
            <a:stretch>
              <a:fillRect l="0" t="0" r="0" b="0"/>
            </a:stretch>
          </a:blipFill>
        </p:spPr>
      </p:sp>
      <p:sp>
        <p:nvSpPr>
          <p:cNvPr name="Freeform 25" id="25"/>
          <p:cNvSpPr/>
          <p:nvPr/>
        </p:nvSpPr>
        <p:spPr>
          <a:xfrm flipH="false" flipV="false" rot="0">
            <a:off x="15233985" y="1563657"/>
            <a:ext cx="726675" cy="726675"/>
          </a:xfrm>
          <a:custGeom>
            <a:avLst/>
            <a:gdLst/>
            <a:ahLst/>
            <a:cxnLst/>
            <a:rect r="r" b="b" t="t" l="l"/>
            <a:pathLst>
              <a:path h="726675" w="726675">
                <a:moveTo>
                  <a:pt x="0" y="0"/>
                </a:moveTo>
                <a:lnTo>
                  <a:pt x="726676" y="0"/>
                </a:lnTo>
                <a:lnTo>
                  <a:pt x="726676" y="726675"/>
                </a:lnTo>
                <a:lnTo>
                  <a:pt x="0" y="726675"/>
                </a:lnTo>
                <a:lnTo>
                  <a:pt x="0" y="0"/>
                </a:lnTo>
                <a:close/>
              </a:path>
            </a:pathLst>
          </a:custGeom>
          <a:blipFill>
            <a:blip r:embed="rId26"/>
            <a:stretch>
              <a:fillRect l="0" t="0" r="0" b="0"/>
            </a:stretch>
          </a:blipFill>
        </p:spPr>
      </p:sp>
      <p:sp>
        <p:nvSpPr>
          <p:cNvPr name="Freeform 26" id="26"/>
          <p:cNvSpPr/>
          <p:nvPr/>
        </p:nvSpPr>
        <p:spPr>
          <a:xfrm flipH="false" flipV="false" rot="0">
            <a:off x="16504626" y="1742389"/>
            <a:ext cx="987642" cy="369212"/>
          </a:xfrm>
          <a:custGeom>
            <a:avLst/>
            <a:gdLst/>
            <a:ahLst/>
            <a:cxnLst/>
            <a:rect r="r" b="b" t="t" l="l"/>
            <a:pathLst>
              <a:path h="369212" w="987642">
                <a:moveTo>
                  <a:pt x="0" y="0"/>
                </a:moveTo>
                <a:lnTo>
                  <a:pt x="987642" y="0"/>
                </a:lnTo>
                <a:lnTo>
                  <a:pt x="987642" y="369212"/>
                </a:lnTo>
                <a:lnTo>
                  <a:pt x="0" y="369212"/>
                </a:lnTo>
                <a:lnTo>
                  <a:pt x="0" y="0"/>
                </a:lnTo>
                <a:close/>
              </a:path>
            </a:pathLst>
          </a:custGeom>
          <a:blipFill>
            <a:blip r:embed="rId27"/>
            <a:stretch>
              <a:fillRect l="0" t="0" r="0" b="0"/>
            </a:stretch>
          </a:blipFill>
        </p:spPr>
      </p:sp>
      <p:sp>
        <p:nvSpPr>
          <p:cNvPr name="Freeform 27" id="27"/>
          <p:cNvSpPr/>
          <p:nvPr/>
        </p:nvSpPr>
        <p:spPr>
          <a:xfrm flipH="false" flipV="false" rot="0">
            <a:off x="11218702" y="5981520"/>
            <a:ext cx="635690" cy="635690"/>
          </a:xfrm>
          <a:custGeom>
            <a:avLst/>
            <a:gdLst/>
            <a:ahLst/>
            <a:cxnLst/>
            <a:rect r="r" b="b" t="t" l="l"/>
            <a:pathLst>
              <a:path h="635690" w="635690">
                <a:moveTo>
                  <a:pt x="0" y="0"/>
                </a:moveTo>
                <a:lnTo>
                  <a:pt x="635689" y="0"/>
                </a:lnTo>
                <a:lnTo>
                  <a:pt x="635689" y="635690"/>
                </a:lnTo>
                <a:lnTo>
                  <a:pt x="0" y="635690"/>
                </a:lnTo>
                <a:lnTo>
                  <a:pt x="0" y="0"/>
                </a:lnTo>
                <a:close/>
              </a:path>
            </a:pathLst>
          </a:custGeom>
          <a:blipFill>
            <a:blip r:embed="rId28"/>
            <a:stretch>
              <a:fillRect l="0" t="0" r="0" b="0"/>
            </a:stretch>
          </a:blipFill>
        </p:spPr>
      </p:sp>
      <p:sp>
        <p:nvSpPr>
          <p:cNvPr name="Freeform 28" id="28"/>
          <p:cNvSpPr/>
          <p:nvPr/>
        </p:nvSpPr>
        <p:spPr>
          <a:xfrm flipH="false" flipV="false" rot="0">
            <a:off x="13989630" y="5982365"/>
            <a:ext cx="648088" cy="634000"/>
          </a:xfrm>
          <a:custGeom>
            <a:avLst/>
            <a:gdLst/>
            <a:ahLst/>
            <a:cxnLst/>
            <a:rect r="r" b="b" t="t" l="l"/>
            <a:pathLst>
              <a:path h="634000" w="648088">
                <a:moveTo>
                  <a:pt x="0" y="0"/>
                </a:moveTo>
                <a:lnTo>
                  <a:pt x="648088" y="0"/>
                </a:lnTo>
                <a:lnTo>
                  <a:pt x="648088" y="634000"/>
                </a:lnTo>
                <a:lnTo>
                  <a:pt x="0" y="634000"/>
                </a:lnTo>
                <a:lnTo>
                  <a:pt x="0" y="0"/>
                </a:lnTo>
                <a:close/>
              </a:path>
            </a:pathLst>
          </a:custGeom>
          <a:blipFill>
            <a:blip r:embed="rId29"/>
            <a:stretch>
              <a:fillRect l="0" t="0" r="0" b="0"/>
            </a:stretch>
          </a:blipFill>
        </p:spPr>
      </p:sp>
      <p:sp>
        <p:nvSpPr>
          <p:cNvPr name="Freeform 29" id="29"/>
          <p:cNvSpPr/>
          <p:nvPr/>
        </p:nvSpPr>
        <p:spPr>
          <a:xfrm flipH="false" flipV="false" rot="0">
            <a:off x="16640591" y="5941509"/>
            <a:ext cx="715712" cy="715712"/>
          </a:xfrm>
          <a:custGeom>
            <a:avLst/>
            <a:gdLst/>
            <a:ahLst/>
            <a:cxnLst/>
            <a:rect r="r" b="b" t="t" l="l"/>
            <a:pathLst>
              <a:path h="715712" w="715712">
                <a:moveTo>
                  <a:pt x="0" y="0"/>
                </a:moveTo>
                <a:lnTo>
                  <a:pt x="715712" y="0"/>
                </a:lnTo>
                <a:lnTo>
                  <a:pt x="715712" y="715712"/>
                </a:lnTo>
                <a:lnTo>
                  <a:pt x="0" y="715712"/>
                </a:lnTo>
                <a:lnTo>
                  <a:pt x="0" y="0"/>
                </a:lnTo>
                <a:close/>
              </a:path>
            </a:pathLst>
          </a:custGeom>
          <a:blipFill>
            <a:blip r:embed="rId30"/>
            <a:stretch>
              <a:fillRect l="0" t="0" r="0" b="0"/>
            </a:stretch>
          </a:blipFill>
        </p:spPr>
      </p:sp>
      <p:sp>
        <p:nvSpPr>
          <p:cNvPr name="Freeform 30" id="30"/>
          <p:cNvSpPr/>
          <p:nvPr/>
        </p:nvSpPr>
        <p:spPr>
          <a:xfrm flipH="false" flipV="false" rot="0">
            <a:off x="9513280" y="6229529"/>
            <a:ext cx="1312924" cy="139673"/>
          </a:xfrm>
          <a:custGeom>
            <a:avLst/>
            <a:gdLst/>
            <a:ahLst/>
            <a:cxnLst/>
            <a:rect r="r" b="b" t="t" l="l"/>
            <a:pathLst>
              <a:path h="139673" w="1312924">
                <a:moveTo>
                  <a:pt x="0" y="0"/>
                </a:moveTo>
                <a:lnTo>
                  <a:pt x="1312925" y="0"/>
                </a:lnTo>
                <a:lnTo>
                  <a:pt x="1312925" y="139672"/>
                </a:lnTo>
                <a:lnTo>
                  <a:pt x="0" y="139672"/>
                </a:lnTo>
                <a:lnTo>
                  <a:pt x="0" y="0"/>
                </a:lnTo>
                <a:close/>
              </a:path>
            </a:pathLst>
          </a:custGeom>
          <a:blipFill>
            <a:blip r:embed="rId31"/>
            <a:stretch>
              <a:fillRect l="0" t="0" r="0" b="0"/>
            </a:stretch>
          </a:blipFill>
        </p:spPr>
      </p:sp>
      <p:sp>
        <p:nvSpPr>
          <p:cNvPr name="Freeform 31" id="31"/>
          <p:cNvSpPr/>
          <p:nvPr/>
        </p:nvSpPr>
        <p:spPr>
          <a:xfrm flipH="false" flipV="false" rot="0">
            <a:off x="12246888" y="6237990"/>
            <a:ext cx="1350244" cy="122749"/>
          </a:xfrm>
          <a:custGeom>
            <a:avLst/>
            <a:gdLst/>
            <a:ahLst/>
            <a:cxnLst/>
            <a:rect r="r" b="b" t="t" l="l"/>
            <a:pathLst>
              <a:path h="122749" w="1350244">
                <a:moveTo>
                  <a:pt x="0" y="0"/>
                </a:moveTo>
                <a:lnTo>
                  <a:pt x="1350245" y="0"/>
                </a:lnTo>
                <a:lnTo>
                  <a:pt x="1350245" y="122750"/>
                </a:lnTo>
                <a:lnTo>
                  <a:pt x="0" y="122750"/>
                </a:lnTo>
                <a:lnTo>
                  <a:pt x="0" y="0"/>
                </a:lnTo>
                <a:close/>
              </a:path>
            </a:pathLst>
          </a:custGeom>
          <a:blipFill>
            <a:blip r:embed="rId32"/>
            <a:stretch>
              <a:fillRect l="0" t="0" r="0" b="0"/>
            </a:stretch>
          </a:blipFill>
        </p:spPr>
      </p:sp>
      <p:sp>
        <p:nvSpPr>
          <p:cNvPr name="Freeform 32" id="32"/>
          <p:cNvSpPr/>
          <p:nvPr/>
        </p:nvSpPr>
        <p:spPr>
          <a:xfrm flipH="false" flipV="false" rot="0">
            <a:off x="15030215" y="6164644"/>
            <a:ext cx="1217878" cy="269442"/>
          </a:xfrm>
          <a:custGeom>
            <a:avLst/>
            <a:gdLst/>
            <a:ahLst/>
            <a:cxnLst/>
            <a:rect r="r" b="b" t="t" l="l"/>
            <a:pathLst>
              <a:path h="269442" w="1217878">
                <a:moveTo>
                  <a:pt x="0" y="0"/>
                </a:moveTo>
                <a:lnTo>
                  <a:pt x="1217879" y="0"/>
                </a:lnTo>
                <a:lnTo>
                  <a:pt x="1217879" y="269442"/>
                </a:lnTo>
                <a:lnTo>
                  <a:pt x="0" y="269442"/>
                </a:lnTo>
                <a:lnTo>
                  <a:pt x="0" y="0"/>
                </a:lnTo>
                <a:close/>
              </a:path>
            </a:pathLst>
          </a:custGeom>
          <a:blipFill>
            <a:blip r:embed="rId33"/>
            <a:stretch>
              <a:fillRect l="0" t="0" r="0" b="0"/>
            </a:stretch>
          </a:blipFill>
        </p:spPr>
      </p:sp>
      <p:sp>
        <p:nvSpPr>
          <p:cNvPr name="Freeform 33" id="33"/>
          <p:cNvSpPr/>
          <p:nvPr/>
        </p:nvSpPr>
        <p:spPr>
          <a:xfrm flipH="false" flipV="false" rot="0">
            <a:off x="9638494" y="7159287"/>
            <a:ext cx="1020100" cy="408040"/>
          </a:xfrm>
          <a:custGeom>
            <a:avLst/>
            <a:gdLst/>
            <a:ahLst/>
            <a:cxnLst/>
            <a:rect r="r" b="b" t="t" l="l"/>
            <a:pathLst>
              <a:path h="408040" w="1020100">
                <a:moveTo>
                  <a:pt x="0" y="0"/>
                </a:moveTo>
                <a:lnTo>
                  <a:pt x="1020099" y="0"/>
                </a:lnTo>
                <a:lnTo>
                  <a:pt x="1020099" y="408040"/>
                </a:lnTo>
                <a:lnTo>
                  <a:pt x="0" y="408040"/>
                </a:lnTo>
                <a:lnTo>
                  <a:pt x="0" y="0"/>
                </a:lnTo>
                <a:close/>
              </a:path>
            </a:pathLst>
          </a:custGeom>
          <a:blipFill>
            <a:blip r:embed="rId34"/>
            <a:stretch>
              <a:fillRect l="0" t="0" r="0" b="0"/>
            </a:stretch>
          </a:blipFill>
        </p:spPr>
      </p:sp>
      <p:sp>
        <p:nvSpPr>
          <p:cNvPr name="Freeform 34" id="34"/>
          <p:cNvSpPr/>
          <p:nvPr/>
        </p:nvSpPr>
        <p:spPr>
          <a:xfrm flipH="false" flipV="false" rot="0">
            <a:off x="11164146" y="7035706"/>
            <a:ext cx="667114" cy="655201"/>
          </a:xfrm>
          <a:custGeom>
            <a:avLst/>
            <a:gdLst/>
            <a:ahLst/>
            <a:cxnLst/>
            <a:rect r="r" b="b" t="t" l="l"/>
            <a:pathLst>
              <a:path h="655201" w="667114">
                <a:moveTo>
                  <a:pt x="0" y="0"/>
                </a:moveTo>
                <a:lnTo>
                  <a:pt x="667115" y="0"/>
                </a:lnTo>
                <a:lnTo>
                  <a:pt x="667115" y="655202"/>
                </a:lnTo>
                <a:lnTo>
                  <a:pt x="0" y="655202"/>
                </a:lnTo>
                <a:lnTo>
                  <a:pt x="0" y="0"/>
                </a:lnTo>
                <a:close/>
              </a:path>
            </a:pathLst>
          </a:custGeom>
          <a:blipFill>
            <a:blip r:embed="rId35"/>
            <a:stretch>
              <a:fillRect l="0" t="0" r="0" b="0"/>
            </a:stretch>
          </a:blipFill>
        </p:spPr>
      </p:sp>
      <p:sp>
        <p:nvSpPr>
          <p:cNvPr name="Freeform 35" id="35"/>
          <p:cNvSpPr/>
          <p:nvPr/>
        </p:nvSpPr>
        <p:spPr>
          <a:xfrm flipH="false" flipV="false" rot="0">
            <a:off x="12336814" y="7013084"/>
            <a:ext cx="700445" cy="700445"/>
          </a:xfrm>
          <a:custGeom>
            <a:avLst/>
            <a:gdLst/>
            <a:ahLst/>
            <a:cxnLst/>
            <a:rect r="r" b="b" t="t" l="l"/>
            <a:pathLst>
              <a:path h="700445" w="700445">
                <a:moveTo>
                  <a:pt x="0" y="0"/>
                </a:moveTo>
                <a:lnTo>
                  <a:pt x="700445" y="0"/>
                </a:lnTo>
                <a:lnTo>
                  <a:pt x="700445" y="700445"/>
                </a:lnTo>
                <a:lnTo>
                  <a:pt x="0" y="700445"/>
                </a:lnTo>
                <a:lnTo>
                  <a:pt x="0" y="0"/>
                </a:lnTo>
                <a:close/>
              </a:path>
            </a:pathLst>
          </a:custGeom>
          <a:blipFill>
            <a:blip r:embed="rId36"/>
            <a:stretch>
              <a:fillRect l="0" t="0" r="0" b="0"/>
            </a:stretch>
          </a:blipFill>
        </p:spPr>
      </p:sp>
      <p:sp>
        <p:nvSpPr>
          <p:cNvPr name="Freeform 36" id="36"/>
          <p:cNvSpPr/>
          <p:nvPr/>
        </p:nvSpPr>
        <p:spPr>
          <a:xfrm flipH="false" flipV="false" rot="0">
            <a:off x="13542812" y="7171185"/>
            <a:ext cx="1029223" cy="384243"/>
          </a:xfrm>
          <a:custGeom>
            <a:avLst/>
            <a:gdLst/>
            <a:ahLst/>
            <a:cxnLst/>
            <a:rect r="r" b="b" t="t" l="l"/>
            <a:pathLst>
              <a:path h="384243" w="1029223">
                <a:moveTo>
                  <a:pt x="0" y="0"/>
                </a:moveTo>
                <a:lnTo>
                  <a:pt x="1029223" y="0"/>
                </a:lnTo>
                <a:lnTo>
                  <a:pt x="1029223" y="384243"/>
                </a:lnTo>
                <a:lnTo>
                  <a:pt x="0" y="384243"/>
                </a:lnTo>
                <a:lnTo>
                  <a:pt x="0" y="0"/>
                </a:lnTo>
                <a:close/>
              </a:path>
            </a:pathLst>
          </a:custGeom>
          <a:blipFill>
            <a:blip r:embed="rId37"/>
            <a:stretch>
              <a:fillRect l="0" t="0" r="0" b="0"/>
            </a:stretch>
          </a:blipFill>
        </p:spPr>
      </p:sp>
      <p:sp>
        <p:nvSpPr>
          <p:cNvPr name="Freeform 37" id="37"/>
          <p:cNvSpPr/>
          <p:nvPr/>
        </p:nvSpPr>
        <p:spPr>
          <a:xfrm flipH="false" flipV="false" rot="0">
            <a:off x="15077588" y="7224222"/>
            <a:ext cx="709810" cy="278169"/>
          </a:xfrm>
          <a:custGeom>
            <a:avLst/>
            <a:gdLst/>
            <a:ahLst/>
            <a:cxnLst/>
            <a:rect r="r" b="b" t="t" l="l"/>
            <a:pathLst>
              <a:path h="278169" w="709810">
                <a:moveTo>
                  <a:pt x="0" y="0"/>
                </a:moveTo>
                <a:lnTo>
                  <a:pt x="709810" y="0"/>
                </a:lnTo>
                <a:lnTo>
                  <a:pt x="709810" y="278169"/>
                </a:lnTo>
                <a:lnTo>
                  <a:pt x="0" y="278169"/>
                </a:lnTo>
                <a:lnTo>
                  <a:pt x="0" y="0"/>
                </a:lnTo>
                <a:close/>
              </a:path>
            </a:pathLst>
          </a:custGeom>
          <a:blipFill>
            <a:blip r:embed="rId38"/>
            <a:stretch>
              <a:fillRect l="0" t="0" r="0" b="0"/>
            </a:stretch>
          </a:blipFill>
        </p:spPr>
      </p:sp>
      <p:sp>
        <p:nvSpPr>
          <p:cNvPr name="Freeform 38" id="38"/>
          <p:cNvSpPr/>
          <p:nvPr/>
        </p:nvSpPr>
        <p:spPr>
          <a:xfrm flipH="false" flipV="false" rot="0">
            <a:off x="16292951" y="7117993"/>
            <a:ext cx="1368594" cy="490628"/>
          </a:xfrm>
          <a:custGeom>
            <a:avLst/>
            <a:gdLst/>
            <a:ahLst/>
            <a:cxnLst/>
            <a:rect r="r" b="b" t="t" l="l"/>
            <a:pathLst>
              <a:path h="490628" w="1368594">
                <a:moveTo>
                  <a:pt x="0" y="0"/>
                </a:moveTo>
                <a:lnTo>
                  <a:pt x="1368594" y="0"/>
                </a:lnTo>
                <a:lnTo>
                  <a:pt x="1368594" y="490628"/>
                </a:lnTo>
                <a:lnTo>
                  <a:pt x="0" y="490628"/>
                </a:lnTo>
                <a:lnTo>
                  <a:pt x="0" y="0"/>
                </a:lnTo>
                <a:close/>
              </a:path>
            </a:pathLst>
          </a:custGeom>
          <a:blipFill>
            <a:blip r:embed="rId39"/>
            <a:stretch>
              <a:fillRect l="0" t="0" r="0" b="0"/>
            </a:stretch>
          </a:blipFill>
        </p:spPr>
      </p:sp>
      <p:sp>
        <p:nvSpPr>
          <p:cNvPr name="Freeform 39" id="39"/>
          <p:cNvSpPr/>
          <p:nvPr/>
        </p:nvSpPr>
        <p:spPr>
          <a:xfrm flipH="false" flipV="false" rot="0">
            <a:off x="15187471" y="5009402"/>
            <a:ext cx="912881" cy="516797"/>
          </a:xfrm>
          <a:custGeom>
            <a:avLst/>
            <a:gdLst/>
            <a:ahLst/>
            <a:cxnLst/>
            <a:rect r="r" b="b" t="t" l="l"/>
            <a:pathLst>
              <a:path h="516797" w="912881">
                <a:moveTo>
                  <a:pt x="0" y="0"/>
                </a:moveTo>
                <a:lnTo>
                  <a:pt x="912881" y="0"/>
                </a:lnTo>
                <a:lnTo>
                  <a:pt x="912881" y="516797"/>
                </a:lnTo>
                <a:lnTo>
                  <a:pt x="0" y="516797"/>
                </a:lnTo>
                <a:lnTo>
                  <a:pt x="0" y="0"/>
                </a:lnTo>
                <a:close/>
              </a:path>
            </a:pathLst>
          </a:custGeom>
          <a:blipFill>
            <a:blip r:embed="rId40"/>
            <a:stretch>
              <a:fillRect l="0" t="-38321" r="0" b="-38321"/>
            </a:stretch>
          </a:blipFill>
        </p:spPr>
      </p:sp>
      <p:sp>
        <p:nvSpPr>
          <p:cNvPr name="Freeform 40" id="40"/>
          <p:cNvSpPr/>
          <p:nvPr/>
        </p:nvSpPr>
        <p:spPr>
          <a:xfrm flipH="false" flipV="false" rot="0">
            <a:off x="12634760" y="4949956"/>
            <a:ext cx="635690" cy="635690"/>
          </a:xfrm>
          <a:custGeom>
            <a:avLst/>
            <a:gdLst/>
            <a:ahLst/>
            <a:cxnLst/>
            <a:rect r="r" b="b" t="t" l="l"/>
            <a:pathLst>
              <a:path h="635690" w="635690">
                <a:moveTo>
                  <a:pt x="0" y="0"/>
                </a:moveTo>
                <a:lnTo>
                  <a:pt x="635690" y="0"/>
                </a:lnTo>
                <a:lnTo>
                  <a:pt x="635690" y="635690"/>
                </a:lnTo>
                <a:lnTo>
                  <a:pt x="0" y="635690"/>
                </a:lnTo>
                <a:lnTo>
                  <a:pt x="0" y="0"/>
                </a:lnTo>
                <a:close/>
              </a:path>
            </a:pathLst>
          </a:custGeom>
          <a:blipFill>
            <a:blip r:embed="rId41"/>
            <a:stretch>
              <a:fillRect l="0" t="0" r="0" b="0"/>
            </a:stretch>
          </a:blipFill>
        </p:spPr>
      </p:sp>
      <p:sp>
        <p:nvSpPr>
          <p:cNvPr name="Freeform 41" id="41"/>
          <p:cNvSpPr/>
          <p:nvPr/>
        </p:nvSpPr>
        <p:spPr>
          <a:xfrm flipH="false" flipV="false" rot="0">
            <a:off x="9652756" y="5146804"/>
            <a:ext cx="1033973" cy="241994"/>
          </a:xfrm>
          <a:custGeom>
            <a:avLst/>
            <a:gdLst/>
            <a:ahLst/>
            <a:cxnLst/>
            <a:rect r="r" b="b" t="t" l="l"/>
            <a:pathLst>
              <a:path h="241994" w="1033973">
                <a:moveTo>
                  <a:pt x="0" y="0"/>
                </a:moveTo>
                <a:lnTo>
                  <a:pt x="1033973" y="0"/>
                </a:lnTo>
                <a:lnTo>
                  <a:pt x="1033973" y="241994"/>
                </a:lnTo>
                <a:lnTo>
                  <a:pt x="0" y="241994"/>
                </a:lnTo>
                <a:lnTo>
                  <a:pt x="0" y="0"/>
                </a:lnTo>
                <a:close/>
              </a:path>
            </a:pathLst>
          </a:custGeom>
          <a:blipFill>
            <a:blip r:embed="rId42"/>
            <a:stretch>
              <a:fillRect l="0" t="0" r="0" b="0"/>
            </a:stretch>
          </a:blipFill>
        </p:spPr>
      </p:sp>
      <p:sp>
        <p:nvSpPr>
          <p:cNvPr name="Freeform 42" id="42"/>
          <p:cNvSpPr/>
          <p:nvPr/>
        </p:nvSpPr>
        <p:spPr>
          <a:xfrm flipH="false" flipV="false" rot="0">
            <a:off x="11083578" y="5140718"/>
            <a:ext cx="1154333" cy="254165"/>
          </a:xfrm>
          <a:custGeom>
            <a:avLst/>
            <a:gdLst/>
            <a:ahLst/>
            <a:cxnLst/>
            <a:rect r="r" b="b" t="t" l="l"/>
            <a:pathLst>
              <a:path h="254165" w="1154333">
                <a:moveTo>
                  <a:pt x="0" y="0"/>
                </a:moveTo>
                <a:lnTo>
                  <a:pt x="1154333" y="0"/>
                </a:lnTo>
                <a:lnTo>
                  <a:pt x="1154333" y="254165"/>
                </a:lnTo>
                <a:lnTo>
                  <a:pt x="0" y="254165"/>
                </a:lnTo>
                <a:lnTo>
                  <a:pt x="0" y="0"/>
                </a:lnTo>
                <a:close/>
              </a:path>
            </a:pathLst>
          </a:custGeom>
          <a:blipFill>
            <a:blip r:embed="rId43"/>
            <a:stretch>
              <a:fillRect l="0" t="0" r="0" b="0"/>
            </a:stretch>
          </a:blipFill>
        </p:spPr>
      </p:sp>
      <p:sp>
        <p:nvSpPr>
          <p:cNvPr name="Freeform 43" id="43"/>
          <p:cNvSpPr/>
          <p:nvPr/>
        </p:nvSpPr>
        <p:spPr>
          <a:xfrm flipH="false" flipV="false" rot="0">
            <a:off x="13667299" y="5105215"/>
            <a:ext cx="1123323" cy="325172"/>
          </a:xfrm>
          <a:custGeom>
            <a:avLst/>
            <a:gdLst/>
            <a:ahLst/>
            <a:cxnLst/>
            <a:rect r="r" b="b" t="t" l="l"/>
            <a:pathLst>
              <a:path h="325172" w="1123323">
                <a:moveTo>
                  <a:pt x="0" y="0"/>
                </a:moveTo>
                <a:lnTo>
                  <a:pt x="1123323" y="0"/>
                </a:lnTo>
                <a:lnTo>
                  <a:pt x="1123323" y="325172"/>
                </a:lnTo>
                <a:lnTo>
                  <a:pt x="0" y="325172"/>
                </a:lnTo>
                <a:lnTo>
                  <a:pt x="0" y="0"/>
                </a:lnTo>
                <a:close/>
              </a:path>
            </a:pathLst>
          </a:custGeom>
          <a:blipFill>
            <a:blip r:embed="rId44"/>
            <a:stretch>
              <a:fillRect l="0" t="0" r="0" b="0"/>
            </a:stretch>
          </a:blipFill>
        </p:spPr>
      </p:sp>
      <p:sp>
        <p:nvSpPr>
          <p:cNvPr name="Freeform 44" id="44"/>
          <p:cNvSpPr/>
          <p:nvPr/>
        </p:nvSpPr>
        <p:spPr>
          <a:xfrm flipH="false" flipV="false" rot="0">
            <a:off x="16497201" y="5087352"/>
            <a:ext cx="1002492" cy="360897"/>
          </a:xfrm>
          <a:custGeom>
            <a:avLst/>
            <a:gdLst/>
            <a:ahLst/>
            <a:cxnLst/>
            <a:rect r="r" b="b" t="t" l="l"/>
            <a:pathLst>
              <a:path h="360897" w="1002492">
                <a:moveTo>
                  <a:pt x="0" y="0"/>
                </a:moveTo>
                <a:lnTo>
                  <a:pt x="1002492" y="0"/>
                </a:lnTo>
                <a:lnTo>
                  <a:pt x="1002492" y="360897"/>
                </a:lnTo>
                <a:lnTo>
                  <a:pt x="0" y="360897"/>
                </a:lnTo>
                <a:lnTo>
                  <a:pt x="0" y="0"/>
                </a:lnTo>
                <a:close/>
              </a:path>
            </a:pathLst>
          </a:custGeom>
          <a:blipFill>
            <a:blip r:embed="rId45"/>
            <a:stretch>
              <a:fillRect l="0" t="0" r="0" b="0"/>
            </a:stretch>
          </a:blipFill>
        </p:spPr>
      </p:sp>
      <p:sp>
        <p:nvSpPr>
          <p:cNvPr name="TextBox 45" id="45"/>
          <p:cNvSpPr txBox="true"/>
          <p:nvPr/>
        </p:nvSpPr>
        <p:spPr>
          <a:xfrm rot="0">
            <a:off x="971550" y="3572212"/>
            <a:ext cx="8331634"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Our tools power Apps</a:t>
            </a:r>
          </a:p>
        </p:txBody>
      </p:sp>
      <p:sp>
        <p:nvSpPr>
          <p:cNvPr name="TextBox 46" id="46"/>
          <p:cNvSpPr txBox="true"/>
          <p:nvPr/>
        </p:nvSpPr>
        <p:spPr>
          <a:xfrm rot="0">
            <a:off x="971550" y="6478249"/>
            <a:ext cx="7034212" cy="580391"/>
          </a:xfrm>
          <a:prstGeom prst="rect">
            <a:avLst/>
          </a:prstGeom>
        </p:spPr>
        <p:txBody>
          <a:bodyPr anchor="t" rtlCol="false" tIns="0" lIns="0" bIns="0" rIns="0">
            <a:spAutoFit/>
          </a:bodyPr>
          <a:lstStyle/>
          <a:p>
            <a:pPr algn="l">
              <a:lnSpc>
                <a:spcPts val="4100"/>
              </a:lnSpc>
            </a:pPr>
            <a:r>
              <a:rPr lang="en-US" sz="4100">
                <a:solidFill>
                  <a:srgbClr val="0D0D0D"/>
                </a:solidFill>
                <a:latin typeface="Poppins Light"/>
                <a:ea typeface="Poppins Light"/>
                <a:cs typeface="Poppins Light"/>
                <a:sym typeface="Poppins Light"/>
              </a:rPr>
              <a:t>Around the World!</a:t>
            </a:r>
          </a:p>
        </p:txBody>
      </p:sp>
    </p:spTree>
  </p:cSld>
  <p:clrMapOvr>
    <a:masterClrMapping/>
  </p:clrMapOvr>
  <p:transition spd="fast">
    <p:wipe dir="r"/>
  </p:transition>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false" flipV="false" rot="2942610">
            <a:off x="1805825" y="-3948151"/>
            <a:ext cx="20062718" cy="10290503"/>
          </a:xfrm>
          <a:custGeom>
            <a:avLst/>
            <a:gdLst/>
            <a:ahLst/>
            <a:cxnLst/>
            <a:rect r="r" b="b" t="t" l="l"/>
            <a:pathLst>
              <a:path h="10290503" w="20062718">
                <a:moveTo>
                  <a:pt x="0" y="0"/>
                </a:moveTo>
                <a:lnTo>
                  <a:pt x="20062718" y="0"/>
                </a:lnTo>
                <a:lnTo>
                  <a:pt x="20062718" y="10290503"/>
                </a:lnTo>
                <a:lnTo>
                  <a:pt x="0" y="10290503"/>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71550" y="2339007"/>
            <a:ext cx="7357349"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Points of Contact</a:t>
            </a:r>
          </a:p>
        </p:txBody>
      </p:sp>
      <p:grpSp>
        <p:nvGrpSpPr>
          <p:cNvPr name="Group 4" id="4"/>
          <p:cNvGrpSpPr/>
          <p:nvPr/>
        </p:nvGrpSpPr>
        <p:grpSpPr>
          <a:xfrm rot="0">
            <a:off x="1028700" y="6688762"/>
            <a:ext cx="2616012" cy="567374"/>
            <a:chOff x="0" y="0"/>
            <a:chExt cx="688991" cy="149432"/>
          </a:xfrm>
        </p:grpSpPr>
        <p:sp>
          <p:nvSpPr>
            <p:cNvPr name="Freeform 5" id="5"/>
            <p:cNvSpPr/>
            <p:nvPr/>
          </p:nvSpPr>
          <p:spPr>
            <a:xfrm flipH="false" flipV="false" rot="0">
              <a:off x="0" y="0"/>
              <a:ext cx="688991" cy="149432"/>
            </a:xfrm>
            <a:custGeom>
              <a:avLst/>
              <a:gdLst/>
              <a:ahLst/>
              <a:cxnLst/>
              <a:rect r="r" b="b" t="t" l="l"/>
              <a:pathLst>
                <a:path h="149432" w="688991">
                  <a:moveTo>
                    <a:pt x="74716" y="0"/>
                  </a:moveTo>
                  <a:lnTo>
                    <a:pt x="614275" y="0"/>
                  </a:lnTo>
                  <a:cubicBezTo>
                    <a:pt x="634091" y="0"/>
                    <a:pt x="653095" y="7872"/>
                    <a:pt x="667107" y="21884"/>
                  </a:cubicBezTo>
                  <a:cubicBezTo>
                    <a:pt x="681119" y="35896"/>
                    <a:pt x="688991" y="54900"/>
                    <a:pt x="688991" y="74716"/>
                  </a:cubicBezTo>
                  <a:lnTo>
                    <a:pt x="688991" y="74716"/>
                  </a:lnTo>
                  <a:cubicBezTo>
                    <a:pt x="688991" y="94532"/>
                    <a:pt x="681119" y="113536"/>
                    <a:pt x="667107" y="127548"/>
                  </a:cubicBezTo>
                  <a:cubicBezTo>
                    <a:pt x="653095" y="141560"/>
                    <a:pt x="634091" y="149432"/>
                    <a:pt x="614275" y="149432"/>
                  </a:cubicBezTo>
                  <a:lnTo>
                    <a:pt x="74716" y="149432"/>
                  </a:lnTo>
                  <a:cubicBezTo>
                    <a:pt x="54900" y="149432"/>
                    <a:pt x="35896" y="141560"/>
                    <a:pt x="21884" y="127548"/>
                  </a:cubicBezTo>
                  <a:cubicBezTo>
                    <a:pt x="7872" y="113536"/>
                    <a:pt x="0" y="94532"/>
                    <a:pt x="0" y="74716"/>
                  </a:cubicBezTo>
                  <a:lnTo>
                    <a:pt x="0" y="74716"/>
                  </a:lnTo>
                  <a:cubicBezTo>
                    <a:pt x="0" y="54900"/>
                    <a:pt x="7872" y="35896"/>
                    <a:pt x="21884" y="21884"/>
                  </a:cubicBezTo>
                  <a:cubicBezTo>
                    <a:pt x="35896" y="7872"/>
                    <a:pt x="54900" y="0"/>
                    <a:pt x="74716" y="0"/>
                  </a:cubicBezTo>
                  <a:close/>
                </a:path>
              </a:pathLst>
            </a:custGeom>
            <a:solidFill>
              <a:srgbClr val="FFFFFF"/>
            </a:solidFill>
          </p:spPr>
        </p:sp>
        <p:sp>
          <p:nvSpPr>
            <p:cNvPr name="TextBox 6" id="6"/>
            <p:cNvSpPr txBox="true"/>
            <p:nvPr/>
          </p:nvSpPr>
          <p:spPr>
            <a:xfrm>
              <a:off x="0" y="-38100"/>
              <a:ext cx="688991" cy="187532"/>
            </a:xfrm>
            <a:prstGeom prst="rect">
              <a:avLst/>
            </a:prstGeom>
          </p:spPr>
          <p:txBody>
            <a:bodyPr anchor="ctr" rtlCol="false" tIns="50800" lIns="50800" bIns="50800" rIns="50800"/>
            <a:lstStyle/>
            <a:p>
              <a:pPr algn="l">
                <a:lnSpc>
                  <a:spcPts val="2520"/>
                </a:lnSpc>
              </a:pPr>
            </a:p>
          </p:txBody>
        </p:sp>
      </p:grpSp>
      <p:grpSp>
        <p:nvGrpSpPr>
          <p:cNvPr name="Group 7" id="7"/>
          <p:cNvGrpSpPr/>
          <p:nvPr/>
        </p:nvGrpSpPr>
        <p:grpSpPr>
          <a:xfrm rot="0">
            <a:off x="5306781" y="6688762"/>
            <a:ext cx="2616012" cy="567374"/>
            <a:chOff x="0" y="0"/>
            <a:chExt cx="688991" cy="149432"/>
          </a:xfrm>
        </p:grpSpPr>
        <p:sp>
          <p:nvSpPr>
            <p:cNvPr name="Freeform 8" id="8"/>
            <p:cNvSpPr/>
            <p:nvPr/>
          </p:nvSpPr>
          <p:spPr>
            <a:xfrm flipH="false" flipV="false" rot="0">
              <a:off x="0" y="0"/>
              <a:ext cx="688991" cy="149432"/>
            </a:xfrm>
            <a:custGeom>
              <a:avLst/>
              <a:gdLst/>
              <a:ahLst/>
              <a:cxnLst/>
              <a:rect r="r" b="b" t="t" l="l"/>
              <a:pathLst>
                <a:path h="149432" w="688991">
                  <a:moveTo>
                    <a:pt x="74716" y="0"/>
                  </a:moveTo>
                  <a:lnTo>
                    <a:pt x="614275" y="0"/>
                  </a:lnTo>
                  <a:cubicBezTo>
                    <a:pt x="634091" y="0"/>
                    <a:pt x="653095" y="7872"/>
                    <a:pt x="667107" y="21884"/>
                  </a:cubicBezTo>
                  <a:cubicBezTo>
                    <a:pt x="681119" y="35896"/>
                    <a:pt x="688991" y="54900"/>
                    <a:pt x="688991" y="74716"/>
                  </a:cubicBezTo>
                  <a:lnTo>
                    <a:pt x="688991" y="74716"/>
                  </a:lnTo>
                  <a:cubicBezTo>
                    <a:pt x="688991" y="94532"/>
                    <a:pt x="681119" y="113536"/>
                    <a:pt x="667107" y="127548"/>
                  </a:cubicBezTo>
                  <a:cubicBezTo>
                    <a:pt x="653095" y="141560"/>
                    <a:pt x="634091" y="149432"/>
                    <a:pt x="614275" y="149432"/>
                  </a:cubicBezTo>
                  <a:lnTo>
                    <a:pt x="74716" y="149432"/>
                  </a:lnTo>
                  <a:cubicBezTo>
                    <a:pt x="54900" y="149432"/>
                    <a:pt x="35896" y="141560"/>
                    <a:pt x="21884" y="127548"/>
                  </a:cubicBezTo>
                  <a:cubicBezTo>
                    <a:pt x="7872" y="113536"/>
                    <a:pt x="0" y="94532"/>
                    <a:pt x="0" y="74716"/>
                  </a:cubicBezTo>
                  <a:lnTo>
                    <a:pt x="0" y="74716"/>
                  </a:lnTo>
                  <a:cubicBezTo>
                    <a:pt x="0" y="54900"/>
                    <a:pt x="7872" y="35896"/>
                    <a:pt x="21884" y="21884"/>
                  </a:cubicBezTo>
                  <a:cubicBezTo>
                    <a:pt x="35896" y="7872"/>
                    <a:pt x="54900" y="0"/>
                    <a:pt x="74716" y="0"/>
                  </a:cubicBezTo>
                  <a:close/>
                </a:path>
              </a:pathLst>
            </a:custGeom>
            <a:solidFill>
              <a:srgbClr val="FFFFFF"/>
            </a:solidFill>
          </p:spPr>
        </p:sp>
        <p:sp>
          <p:nvSpPr>
            <p:cNvPr name="TextBox 9" id="9"/>
            <p:cNvSpPr txBox="true"/>
            <p:nvPr/>
          </p:nvSpPr>
          <p:spPr>
            <a:xfrm>
              <a:off x="0" y="-38100"/>
              <a:ext cx="688991" cy="187532"/>
            </a:xfrm>
            <a:prstGeom prst="rect">
              <a:avLst/>
            </a:prstGeom>
          </p:spPr>
          <p:txBody>
            <a:bodyPr anchor="ctr" rtlCol="false" tIns="50800" lIns="50800" bIns="50800" rIns="50800"/>
            <a:lstStyle/>
            <a:p>
              <a:pPr algn="l">
                <a:lnSpc>
                  <a:spcPts val="2520"/>
                </a:lnSpc>
              </a:pPr>
            </a:p>
          </p:txBody>
        </p:sp>
      </p:grpSp>
      <p:grpSp>
        <p:nvGrpSpPr>
          <p:cNvPr name="Group 10" id="10"/>
          <p:cNvGrpSpPr/>
          <p:nvPr/>
        </p:nvGrpSpPr>
        <p:grpSpPr>
          <a:xfrm rot="0">
            <a:off x="9401175" y="6688762"/>
            <a:ext cx="2616012" cy="567374"/>
            <a:chOff x="0" y="0"/>
            <a:chExt cx="688991" cy="149432"/>
          </a:xfrm>
        </p:grpSpPr>
        <p:sp>
          <p:nvSpPr>
            <p:cNvPr name="Freeform 11" id="11"/>
            <p:cNvSpPr/>
            <p:nvPr/>
          </p:nvSpPr>
          <p:spPr>
            <a:xfrm flipH="false" flipV="false" rot="0">
              <a:off x="0" y="0"/>
              <a:ext cx="688991" cy="149432"/>
            </a:xfrm>
            <a:custGeom>
              <a:avLst/>
              <a:gdLst/>
              <a:ahLst/>
              <a:cxnLst/>
              <a:rect r="r" b="b" t="t" l="l"/>
              <a:pathLst>
                <a:path h="149432" w="688991">
                  <a:moveTo>
                    <a:pt x="74716" y="0"/>
                  </a:moveTo>
                  <a:lnTo>
                    <a:pt x="614275" y="0"/>
                  </a:lnTo>
                  <a:cubicBezTo>
                    <a:pt x="634091" y="0"/>
                    <a:pt x="653095" y="7872"/>
                    <a:pt x="667107" y="21884"/>
                  </a:cubicBezTo>
                  <a:cubicBezTo>
                    <a:pt x="681119" y="35896"/>
                    <a:pt x="688991" y="54900"/>
                    <a:pt x="688991" y="74716"/>
                  </a:cubicBezTo>
                  <a:lnTo>
                    <a:pt x="688991" y="74716"/>
                  </a:lnTo>
                  <a:cubicBezTo>
                    <a:pt x="688991" y="94532"/>
                    <a:pt x="681119" y="113536"/>
                    <a:pt x="667107" y="127548"/>
                  </a:cubicBezTo>
                  <a:cubicBezTo>
                    <a:pt x="653095" y="141560"/>
                    <a:pt x="634091" y="149432"/>
                    <a:pt x="614275" y="149432"/>
                  </a:cubicBezTo>
                  <a:lnTo>
                    <a:pt x="74716" y="149432"/>
                  </a:lnTo>
                  <a:cubicBezTo>
                    <a:pt x="54900" y="149432"/>
                    <a:pt x="35896" y="141560"/>
                    <a:pt x="21884" y="127548"/>
                  </a:cubicBezTo>
                  <a:cubicBezTo>
                    <a:pt x="7872" y="113536"/>
                    <a:pt x="0" y="94532"/>
                    <a:pt x="0" y="74716"/>
                  </a:cubicBezTo>
                  <a:lnTo>
                    <a:pt x="0" y="74716"/>
                  </a:lnTo>
                  <a:cubicBezTo>
                    <a:pt x="0" y="54900"/>
                    <a:pt x="7872" y="35896"/>
                    <a:pt x="21884" y="21884"/>
                  </a:cubicBezTo>
                  <a:cubicBezTo>
                    <a:pt x="35896" y="7872"/>
                    <a:pt x="54900" y="0"/>
                    <a:pt x="74716" y="0"/>
                  </a:cubicBezTo>
                  <a:close/>
                </a:path>
              </a:pathLst>
            </a:custGeom>
            <a:solidFill>
              <a:srgbClr val="FFFFFF"/>
            </a:solidFill>
          </p:spPr>
        </p:sp>
        <p:sp>
          <p:nvSpPr>
            <p:cNvPr name="TextBox 12" id="12"/>
            <p:cNvSpPr txBox="true"/>
            <p:nvPr/>
          </p:nvSpPr>
          <p:spPr>
            <a:xfrm>
              <a:off x="0" y="-57150"/>
              <a:ext cx="688991" cy="206582"/>
            </a:xfrm>
            <a:prstGeom prst="rect">
              <a:avLst/>
            </a:prstGeom>
          </p:spPr>
          <p:txBody>
            <a:bodyPr anchor="ctr" rtlCol="false" tIns="50800" lIns="50800" bIns="50800" rIns="50800"/>
            <a:lstStyle/>
            <a:p>
              <a:pPr algn="l">
                <a:lnSpc>
                  <a:spcPts val="2520"/>
                </a:lnSpc>
              </a:pPr>
            </a:p>
          </p:txBody>
        </p:sp>
      </p:grpSp>
      <p:sp>
        <p:nvSpPr>
          <p:cNvPr name="TextBox 13" id="13"/>
          <p:cNvSpPr txBox="true"/>
          <p:nvPr/>
        </p:nvSpPr>
        <p:spPr>
          <a:xfrm rot="0">
            <a:off x="1173590" y="6756231"/>
            <a:ext cx="2326232" cy="37528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0D0D0D"/>
                </a:solidFill>
                <a:latin typeface="Poppins Light"/>
                <a:ea typeface="Poppins Light"/>
                <a:cs typeface="Poppins Light"/>
                <a:sym typeface="Poppins Light"/>
              </a:rPr>
              <a:t>Cristobal Escobar</a:t>
            </a:r>
          </a:p>
        </p:txBody>
      </p:sp>
      <p:sp>
        <p:nvSpPr>
          <p:cNvPr name="TextBox 14" id="14"/>
          <p:cNvSpPr txBox="true"/>
          <p:nvPr/>
        </p:nvSpPr>
        <p:spPr>
          <a:xfrm rot="0">
            <a:off x="5497281" y="6756231"/>
            <a:ext cx="2141314" cy="37528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0D0D0D"/>
                </a:solidFill>
                <a:latin typeface="Poppins Light"/>
                <a:ea typeface="Poppins Light"/>
                <a:cs typeface="Poppins Light"/>
                <a:sym typeface="Poppins Light"/>
              </a:rPr>
              <a:t>Jorge Reyes</a:t>
            </a:r>
          </a:p>
        </p:txBody>
      </p:sp>
      <p:sp>
        <p:nvSpPr>
          <p:cNvPr name="TextBox 15" id="15"/>
          <p:cNvSpPr txBox="true"/>
          <p:nvPr/>
        </p:nvSpPr>
        <p:spPr>
          <a:xfrm rot="0">
            <a:off x="9591675" y="6756231"/>
            <a:ext cx="2141314" cy="37528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0D0D0D"/>
                </a:solidFill>
                <a:latin typeface="Poppins Light"/>
                <a:ea typeface="Poppins Light"/>
                <a:cs typeface="Poppins Light"/>
                <a:sym typeface="Poppins Light"/>
              </a:rPr>
              <a:t>Luis Majano</a:t>
            </a:r>
          </a:p>
        </p:txBody>
      </p:sp>
      <p:sp>
        <p:nvSpPr>
          <p:cNvPr name="TextBox 16" id="16"/>
          <p:cNvSpPr txBox="true"/>
          <p:nvPr/>
        </p:nvSpPr>
        <p:spPr>
          <a:xfrm rot="0">
            <a:off x="1173590" y="7341860"/>
            <a:ext cx="3094269" cy="32575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Business Development</a:t>
            </a:r>
          </a:p>
        </p:txBody>
      </p:sp>
      <p:sp>
        <p:nvSpPr>
          <p:cNvPr name="TextBox 17" id="17"/>
          <p:cNvSpPr txBox="true"/>
          <p:nvPr/>
        </p:nvSpPr>
        <p:spPr>
          <a:xfrm rot="0">
            <a:off x="5497281" y="7341860"/>
            <a:ext cx="3094269" cy="32575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COO</a:t>
            </a:r>
          </a:p>
        </p:txBody>
      </p:sp>
      <p:sp>
        <p:nvSpPr>
          <p:cNvPr name="TextBox 18" id="18"/>
          <p:cNvSpPr txBox="true"/>
          <p:nvPr/>
        </p:nvSpPr>
        <p:spPr>
          <a:xfrm rot="0">
            <a:off x="9591675" y="7341860"/>
            <a:ext cx="3094269" cy="32575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CEO</a:t>
            </a:r>
          </a:p>
        </p:txBody>
      </p:sp>
      <p:sp>
        <p:nvSpPr>
          <p:cNvPr name="TextBox 19" id="19"/>
          <p:cNvSpPr txBox="true"/>
          <p:nvPr/>
        </p:nvSpPr>
        <p:spPr>
          <a:xfrm rot="0">
            <a:off x="1173590" y="7694592"/>
            <a:ext cx="3837219" cy="32575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cristobal@ortussolutions.com</a:t>
            </a:r>
          </a:p>
        </p:txBody>
      </p:sp>
      <p:sp>
        <p:nvSpPr>
          <p:cNvPr name="TextBox 20" id="20"/>
          <p:cNvSpPr txBox="true"/>
          <p:nvPr/>
        </p:nvSpPr>
        <p:spPr>
          <a:xfrm rot="0">
            <a:off x="5497281" y="7694592"/>
            <a:ext cx="3837219" cy="32575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jreyes@ortussolutions.com</a:t>
            </a:r>
          </a:p>
        </p:txBody>
      </p:sp>
      <p:sp>
        <p:nvSpPr>
          <p:cNvPr name="TextBox 21" id="21"/>
          <p:cNvSpPr txBox="true"/>
          <p:nvPr/>
        </p:nvSpPr>
        <p:spPr>
          <a:xfrm rot="0">
            <a:off x="9591675" y="7694592"/>
            <a:ext cx="3837219" cy="32575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lmajano@ortussolutions.com</a:t>
            </a:r>
          </a:p>
        </p:txBody>
      </p:sp>
      <p:sp>
        <p:nvSpPr>
          <p:cNvPr name="Freeform 22" id="2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r"/>
  </p:transition>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1519681">
            <a:off x="3188019" y="1673006"/>
            <a:ext cx="18571789" cy="9525780"/>
          </a:xfrm>
          <a:custGeom>
            <a:avLst/>
            <a:gdLst/>
            <a:ahLst/>
            <a:cxnLst/>
            <a:rect r="r" b="b" t="t" l="l"/>
            <a:pathLst>
              <a:path h="9525780" w="18571789">
                <a:moveTo>
                  <a:pt x="0" y="0"/>
                </a:moveTo>
                <a:lnTo>
                  <a:pt x="18571789" y="0"/>
                </a:lnTo>
                <a:lnTo>
                  <a:pt x="18571789" y="9525780"/>
                </a:lnTo>
                <a:lnTo>
                  <a:pt x="0" y="952578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07148">
            <a:off x="-3892166" y="-4762890"/>
            <a:ext cx="18571789" cy="9525780"/>
          </a:xfrm>
          <a:custGeom>
            <a:avLst/>
            <a:gdLst/>
            <a:ahLst/>
            <a:cxnLst/>
            <a:rect r="r" b="b" t="t" l="l"/>
            <a:pathLst>
              <a:path h="9525780" w="18571789">
                <a:moveTo>
                  <a:pt x="0" y="0"/>
                </a:moveTo>
                <a:lnTo>
                  <a:pt x="18571789" y="0"/>
                </a:lnTo>
                <a:lnTo>
                  <a:pt x="18571789" y="9525780"/>
                </a:lnTo>
                <a:lnTo>
                  <a:pt x="0" y="952578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4275761" y="8745397"/>
            <a:ext cx="240861" cy="24086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7" id="7"/>
          <p:cNvGrpSpPr/>
          <p:nvPr/>
        </p:nvGrpSpPr>
        <p:grpSpPr>
          <a:xfrm rot="0">
            <a:off x="14275761" y="8745397"/>
            <a:ext cx="240861" cy="24086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10" id="10"/>
          <p:cNvSpPr txBox="true"/>
          <p:nvPr/>
        </p:nvSpPr>
        <p:spPr>
          <a:xfrm rot="0">
            <a:off x="2668435" y="4072002"/>
            <a:ext cx="12951130" cy="2514470"/>
          </a:xfrm>
          <a:prstGeom prst="rect">
            <a:avLst/>
          </a:prstGeom>
        </p:spPr>
        <p:txBody>
          <a:bodyPr anchor="t" rtlCol="false" tIns="0" lIns="0" bIns="0" rIns="0">
            <a:spAutoFit/>
          </a:bodyPr>
          <a:lstStyle/>
          <a:p>
            <a:pPr algn="l">
              <a:lnSpc>
                <a:spcPts val="17096"/>
              </a:lnSpc>
            </a:pPr>
            <a:r>
              <a:rPr lang="en-US" sz="18996">
                <a:solidFill>
                  <a:srgbClr val="FFFFFF"/>
                </a:solidFill>
                <a:latin typeface="Poppins Light"/>
                <a:ea typeface="Poppins Light"/>
                <a:cs typeface="Poppins Light"/>
                <a:sym typeface="Poppins Light"/>
              </a:rPr>
              <a:t>Thank You!</a:t>
            </a:r>
          </a:p>
        </p:txBody>
      </p:sp>
      <p:sp>
        <p:nvSpPr>
          <p:cNvPr name="TextBox 11" id="11"/>
          <p:cNvSpPr txBox="true"/>
          <p:nvPr/>
        </p:nvSpPr>
        <p:spPr>
          <a:xfrm rot="0">
            <a:off x="14576362" y="8649610"/>
            <a:ext cx="2425763" cy="375285"/>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0D0D0D"/>
                </a:solidFill>
                <a:latin typeface="Poppins Light"/>
                <a:ea typeface="Poppins Light"/>
                <a:cs typeface="Poppins Light"/>
                <a:sym typeface="Poppins Light"/>
              </a:rPr>
              <a:t>Presentation 2025</a:t>
            </a:r>
          </a:p>
        </p:txBody>
      </p:sp>
      <p:sp>
        <p:nvSpPr>
          <p:cNvPr name="Freeform 12" id="12"/>
          <p:cNvSpPr/>
          <p:nvPr/>
        </p:nvSpPr>
        <p:spPr>
          <a:xfrm flipH="false" flipV="false" rot="0">
            <a:off x="1028700" y="1058722"/>
            <a:ext cx="3487192" cy="723941"/>
          </a:xfrm>
          <a:custGeom>
            <a:avLst/>
            <a:gdLst/>
            <a:ahLst/>
            <a:cxnLst/>
            <a:rect r="r" b="b" t="t" l="l"/>
            <a:pathLst>
              <a:path h="723941" w="3487192">
                <a:moveTo>
                  <a:pt x="0" y="0"/>
                </a:moveTo>
                <a:lnTo>
                  <a:pt x="3487192" y="0"/>
                </a:lnTo>
                <a:lnTo>
                  <a:pt x="3487192" y="723941"/>
                </a:lnTo>
                <a:lnTo>
                  <a:pt x="0" y="72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DAGjWNScCZI</dc:identifier>
  <dcterms:modified xsi:type="dcterms:W3CDTF">2011-08-01T06:04:30Z</dcterms:modified>
  <cp:revision>1</cp:revision>
  <dc:title>Ortus Government v2025</dc:title>
</cp:coreProperties>
</file>