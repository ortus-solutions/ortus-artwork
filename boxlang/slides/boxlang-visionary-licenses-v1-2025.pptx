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Bold" charset="1" panose="00000800000000000000"/>
      <p:regular r:id="rId13"/>
    </p:embeddedFont>
    <p:embeddedFont>
      <p:font typeface="Fira Sans Light" charset="1" panose="020B0403050000020004"/>
      <p:regular r:id="rId14"/>
    </p:embeddedFont>
    <p:embeddedFont>
      <p:font typeface="Poppins" charset="1" panose="00000500000000000000"/>
      <p:regular r:id="rId15"/>
    </p:embeddedFont>
    <p:embeddedFont>
      <p:font typeface="Poppins Medium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mailto:boxlang@ortussolutions.com" TargetMode="External" Type="http://schemas.openxmlformats.org/officeDocument/2006/relationships/hyperlink"/><Relationship Id="rId6" Target="mailto:boxlang@ortussolutions.com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mailto:boxlang@ortussolutions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TextBox 12" id="12"/>
          <p:cNvSpPr txBox="true"/>
          <p:nvPr/>
        </p:nvSpPr>
        <p:spPr>
          <a:xfrm rot="0">
            <a:off x="1028700" y="7628679"/>
            <a:ext cx="1199344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Invest in the Future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295177"/>
            <a:ext cx="11993446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Unlock Unlimited Potential and Secure Long-Term Success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4144764"/>
            <a:ext cx="7315200" cy="1810078"/>
            <a:chOff x="0" y="0"/>
            <a:chExt cx="9753600" cy="2413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418309"/>
            </a:xfrm>
            <a:custGeom>
              <a:avLst/>
              <a:gdLst/>
              <a:ahLst/>
              <a:cxnLst/>
              <a:rect r="r" b="b" t="t" l="l"/>
              <a:pathLst>
                <a:path h="141830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418309"/>
                  </a:lnTo>
                  <a:lnTo>
                    <a:pt x="0" y="1418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1616512"/>
              <a:ext cx="7319580" cy="796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3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FF75"/>
                  </a:solidFill>
                  <a:latin typeface="Poppins"/>
                  <a:ea typeface="Poppins"/>
                  <a:cs typeface="Poppins"/>
                  <a:sym typeface="Poppins"/>
                </a:rPr>
                <a:t>Visionary Licenses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400856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9"/>
                </a:lnTo>
                <a:lnTo>
                  <a:pt x="0" y="180748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2562" y="5432896"/>
            <a:ext cx="14766361" cy="220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BoxLang</a:t>
            </a:r>
            <a:r>
              <a:rPr lang="en-US" sz="36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is more than just a language; it's a community. By choosing a Visionary License, you're not just investing in your own success, you're actively contributing to the ongoing development and support of BoxLang.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2562" y="2568104"/>
            <a:ext cx="15722877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8200" spc="-82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Together we build</a:t>
            </a:r>
            <a:r>
              <a:rPr lang="en-US" sz="8200" spc="-82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9840"/>
              </a:lnSpc>
            </a:pPr>
            <a:r>
              <a:rPr lang="en-US" sz="8200" spc="-82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the future of development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49522" y="6832406"/>
            <a:ext cx="17019428" cy="0"/>
          </a:xfrm>
          <a:prstGeom prst="line">
            <a:avLst/>
          </a:prstGeom>
          <a:ln cap="rnd" w="19050">
            <a:gradFill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17131" y="6677302"/>
            <a:ext cx="380203" cy="329258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26530" y="6677302"/>
            <a:ext cx="380203" cy="329258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83458" y="6677302"/>
            <a:ext cx="380203" cy="32925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018053" y="8993775"/>
            <a:ext cx="2984721" cy="977529"/>
          </a:xfrm>
          <a:custGeom>
            <a:avLst/>
            <a:gdLst/>
            <a:ahLst/>
            <a:cxnLst/>
            <a:rect r="r" b="b" t="t" l="l"/>
            <a:pathLst>
              <a:path h="977529" w="2984721">
                <a:moveTo>
                  <a:pt x="0" y="0"/>
                </a:moveTo>
                <a:lnTo>
                  <a:pt x="2984721" y="0"/>
                </a:lnTo>
                <a:lnTo>
                  <a:pt x="2984721" y="977528"/>
                </a:lnTo>
                <a:lnTo>
                  <a:pt x="0" y="977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86426" y="3667125"/>
            <a:ext cx="3935672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CFML compatibility,</a:t>
            </a:r>
          </a:p>
          <a:p>
            <a:pPr algn="l">
              <a:lnSpc>
                <a:spcPts val="2800"/>
              </a:lnSpc>
            </a:pPr>
            <a:r>
              <a:rPr lang="en-US" sz="2000" spc="-2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ORM Hibernate Module,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PDF Module,</a:t>
            </a:r>
          </a:p>
          <a:p>
            <a:pPr algn="l">
              <a:lnSpc>
                <a:spcPts val="2800"/>
              </a:lnSpc>
            </a:pPr>
            <a:r>
              <a:rPr lang="en-US" sz="2000" spc="-2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Redis/Couchbase Modules,</a:t>
            </a:r>
          </a:p>
          <a:p>
            <a:pPr algn="l">
              <a:lnSpc>
                <a:spcPts val="2800"/>
              </a:lnSpc>
            </a:pPr>
            <a:r>
              <a:rPr lang="en-US" sz="2000" spc="-2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Basic Charting Module,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Ortus SaaS and libraries certified on BoxLang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61509" y="7663785"/>
            <a:ext cx="151024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DBFF"/>
                </a:solidFill>
                <a:latin typeface="Poppins Bold"/>
                <a:ea typeface="Poppins Bold"/>
                <a:cs typeface="Poppins Bold"/>
                <a:sym typeface="Poppins Bold"/>
              </a:rPr>
              <a:t>Winter 24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59634" y="5076825"/>
            <a:ext cx="3364925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Stable Release,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BoxLang + and ++, 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Available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80904" y="7663785"/>
            <a:ext cx="336492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DBFF"/>
                </a:solidFill>
                <a:latin typeface="Poppins Bold"/>
                <a:ea typeface="Poppins Bold"/>
                <a:cs typeface="Poppins Bold"/>
                <a:sym typeface="Poppins Bold"/>
              </a:rPr>
              <a:t>Spring 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37850" y="4371975"/>
            <a:ext cx="3364925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BoxLang Admin,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ElasticSearch,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PDF Forms, 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Document Services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36600" y="728434"/>
            <a:ext cx="452303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 spc="-63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Roadmap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009287"/>
            <a:ext cx="4133603" cy="1022821"/>
            <a:chOff x="0" y="0"/>
            <a:chExt cx="5511471" cy="13637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11471" cy="801444"/>
            </a:xfrm>
            <a:custGeom>
              <a:avLst/>
              <a:gdLst/>
              <a:ahLst/>
              <a:cxnLst/>
              <a:rect r="r" b="b" t="t" l="l"/>
              <a:pathLst>
                <a:path h="801444" w="5511471">
                  <a:moveTo>
                    <a:pt x="0" y="0"/>
                  </a:moveTo>
                  <a:lnTo>
                    <a:pt x="5511471" y="0"/>
                  </a:lnTo>
                  <a:lnTo>
                    <a:pt x="5511471" y="801444"/>
                  </a:lnTo>
                  <a:lnTo>
                    <a:pt x="0" y="801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911780"/>
              <a:ext cx="4136078" cy="451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0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74059" y="6677302"/>
            <a:ext cx="380203" cy="329258"/>
            <a:chOff x="0" y="0"/>
            <a:chExt cx="3619627" cy="31346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42211" y="7663785"/>
            <a:ext cx="151024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DBFF"/>
                </a:solidFill>
                <a:latin typeface="Poppins Bold"/>
                <a:ea typeface="Poppins Bold"/>
                <a:cs typeface="Poppins Bold"/>
                <a:sym typeface="Poppins Bold"/>
              </a:rPr>
              <a:t>May 24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8392" y="5781675"/>
            <a:ext cx="3935672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Beta Released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99140" y="7663785"/>
            <a:ext cx="151024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>
                <a:solidFill>
                  <a:srgbClr val="00DBFF"/>
                </a:solidFill>
                <a:latin typeface="Poppins Bold"/>
                <a:ea typeface="Poppins Bold"/>
                <a:cs typeface="Poppins Bold"/>
                <a:sym typeface="Poppins Bold"/>
              </a:rPr>
              <a:t>Fall 24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365872"/>
            <a:ext cx="8272402" cy="0"/>
          </a:xfrm>
          <a:prstGeom prst="line">
            <a:avLst/>
          </a:prstGeom>
          <a:ln cap="flat" w="9525">
            <a:solidFill>
              <a:srgbClr val="00FF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7203654"/>
            <a:ext cx="8272402" cy="0"/>
          </a:xfrm>
          <a:prstGeom prst="line">
            <a:avLst/>
          </a:prstGeom>
          <a:ln cap="flat" w="9525">
            <a:solidFill>
              <a:srgbClr val="00FF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71550"/>
            <a:ext cx="12966346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  <a:spcBef>
                <a:spcPct val="0"/>
              </a:spcBef>
            </a:pPr>
            <a:r>
              <a:rPr lang="en-US" b="true" sz="6400" spc="-64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Unleash Unlimited Potential </a:t>
            </a:r>
            <a:r>
              <a:rPr lang="en-US" b="true" sz="6400" spc="-64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with One-Time Purchase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876675"/>
            <a:ext cx="9784204" cy="936354"/>
            <a:chOff x="0" y="0"/>
            <a:chExt cx="13045605" cy="124847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13045605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Unlimited Licenses for the next 10 years: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779630"/>
              <a:ext cx="13045605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Empower your entire team without per-server costs.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5714457"/>
            <a:ext cx="8272402" cy="939800"/>
            <a:chOff x="0" y="0"/>
            <a:chExt cx="11029869" cy="125306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1102986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Unrestricted Access: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84225"/>
              <a:ext cx="1102986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Enjoy unlimited servers, container nodes, and all modules.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7551317"/>
            <a:ext cx="8272402" cy="939800"/>
            <a:chOff x="0" y="0"/>
            <a:chExt cx="11029869" cy="125306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38100"/>
              <a:ext cx="1102986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Continuous Innovation: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84225"/>
              <a:ext cx="1102986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Receive all future feature updates and patches.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365872"/>
            <a:ext cx="8272402" cy="0"/>
          </a:xfrm>
          <a:prstGeom prst="line">
            <a:avLst/>
          </a:prstGeom>
          <a:ln cap="flat" w="9525">
            <a:solidFill>
              <a:srgbClr val="00FF7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28700" y="7203654"/>
            <a:ext cx="8272402" cy="0"/>
          </a:xfrm>
          <a:prstGeom prst="line">
            <a:avLst/>
          </a:prstGeom>
          <a:ln cap="flat" w="9525">
            <a:solidFill>
              <a:srgbClr val="00FF7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822555" y="4687947"/>
            <a:ext cx="6170584" cy="1628648"/>
            <a:chOff x="0" y="0"/>
            <a:chExt cx="1625174" cy="428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25174" cy="428944"/>
            </a:xfrm>
            <a:custGeom>
              <a:avLst/>
              <a:gdLst/>
              <a:ahLst/>
              <a:cxnLst/>
              <a:rect r="r" b="b" t="t" l="l"/>
              <a:pathLst>
                <a:path h="428944" w="1625174">
                  <a:moveTo>
                    <a:pt x="63987" y="0"/>
                  </a:moveTo>
                  <a:lnTo>
                    <a:pt x="1561187" y="0"/>
                  </a:lnTo>
                  <a:cubicBezTo>
                    <a:pt x="1578158" y="0"/>
                    <a:pt x="1594433" y="6741"/>
                    <a:pt x="1606433" y="18741"/>
                  </a:cubicBezTo>
                  <a:cubicBezTo>
                    <a:pt x="1618433" y="30741"/>
                    <a:pt x="1625174" y="47017"/>
                    <a:pt x="1625174" y="63987"/>
                  </a:cubicBezTo>
                  <a:lnTo>
                    <a:pt x="1625174" y="364957"/>
                  </a:lnTo>
                  <a:cubicBezTo>
                    <a:pt x="1625174" y="400296"/>
                    <a:pt x="1596526" y="428944"/>
                    <a:pt x="1561187" y="428944"/>
                  </a:cubicBezTo>
                  <a:lnTo>
                    <a:pt x="63987" y="428944"/>
                  </a:lnTo>
                  <a:cubicBezTo>
                    <a:pt x="47017" y="428944"/>
                    <a:pt x="30741" y="422203"/>
                    <a:pt x="18741" y="410203"/>
                  </a:cubicBezTo>
                  <a:cubicBezTo>
                    <a:pt x="6741" y="398203"/>
                    <a:pt x="0" y="381928"/>
                    <a:pt x="0" y="364957"/>
                  </a:cubicBezTo>
                  <a:lnTo>
                    <a:pt x="0" y="63987"/>
                  </a:lnTo>
                  <a:cubicBezTo>
                    <a:pt x="0" y="47017"/>
                    <a:pt x="6741" y="30741"/>
                    <a:pt x="18741" y="18741"/>
                  </a:cubicBezTo>
                  <a:cubicBezTo>
                    <a:pt x="30741" y="6741"/>
                    <a:pt x="47017" y="0"/>
                    <a:pt x="63987" y="0"/>
                  </a:cubicBezTo>
                  <a:close/>
                </a:path>
              </a:pathLst>
            </a:custGeom>
            <a:solidFill>
              <a:srgbClr val="0E151F"/>
            </a:solidFill>
            <a:ln w="47625" cap="rnd">
              <a:gradFill>
                <a:gsLst>
                  <a:gs pos="0">
                    <a:srgbClr val="3DDBFE">
                      <a:alpha val="100000"/>
                    </a:srgbClr>
                  </a:gs>
                  <a:gs pos="100000">
                    <a:srgbClr val="40FC7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625174" cy="505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FF75"/>
                  </a:solidFill>
                  <a:latin typeface="Poppins Bold"/>
                  <a:ea typeface="Poppins Bold"/>
                  <a:cs typeface="Poppins Bold"/>
                  <a:sym typeface="Poppins Bold"/>
                  <a:hlinkClick r:id="rId5" tooltip="mailto:boxlang@ortussolutions.com"/>
                </a:rPr>
                <a:t>Join the movement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6" tooltip="mailto:boxlang@ortussolutions.com"/>
                </a:rPr>
                <a:t>Become a BoxLang visionary leader today!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971550"/>
            <a:ext cx="12966346" cy="200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  <a:spcBef>
                <a:spcPct val="0"/>
              </a:spcBef>
            </a:pPr>
            <a:r>
              <a:rPr lang="en-US" b="true" sz="6400" spc="-64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5 Years of Premium Support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3876675"/>
            <a:ext cx="8272402" cy="936354"/>
            <a:chOff x="0" y="0"/>
            <a:chExt cx="11029869" cy="124847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38100"/>
              <a:ext cx="1102986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Dedicated Support Team: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779630"/>
              <a:ext cx="1102986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Receive expert assistance with 60 incidents per year.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5714457"/>
            <a:ext cx="8272402" cy="939800"/>
            <a:chOff x="0" y="0"/>
            <a:chExt cx="11029869" cy="125306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38100"/>
              <a:ext cx="1102986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 Year Support Window: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84225"/>
              <a:ext cx="11029869" cy="46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Ensure smooth sailing for your development journey.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7551317"/>
            <a:ext cx="8272402" cy="1292225"/>
            <a:chOff x="0" y="0"/>
            <a:chExt cx="11029869" cy="172296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38100"/>
              <a:ext cx="11029869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Invest in Confidence: 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784225"/>
              <a:ext cx="11029869" cy="938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Focus on building amazing applications while we take care of the rest.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68572" y="7885224"/>
            <a:ext cx="17019428" cy="0"/>
          </a:xfrm>
          <a:prstGeom prst="line">
            <a:avLst/>
          </a:prstGeom>
          <a:ln cap="rnd" w="19050">
            <a:gradFill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243939" y="-956153"/>
            <a:ext cx="6532950" cy="6222784"/>
            <a:chOff x="0" y="0"/>
            <a:chExt cx="8710601" cy="829704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4740230" y="4858686"/>
              <a:ext cx="3970370" cy="3438359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23922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554868" y="1094494"/>
              <a:ext cx="5602020" cy="4851375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85F">
                  <a:alpha val="23922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3308519" cy="2865193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23922"/>
                </a:srgbClr>
              </a:solid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1031805" y="7711070"/>
            <a:ext cx="380203" cy="329258"/>
            <a:chOff x="0" y="0"/>
            <a:chExt cx="3619627" cy="31346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17258" y="7711070"/>
            <a:ext cx="380203" cy="329258"/>
            <a:chOff x="0" y="0"/>
            <a:chExt cx="3619627" cy="31346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05817" y="7730120"/>
            <a:ext cx="380203" cy="329258"/>
            <a:chOff x="0" y="0"/>
            <a:chExt cx="3619627" cy="31346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894375" y="7711070"/>
            <a:ext cx="380203" cy="329258"/>
            <a:chOff x="0" y="0"/>
            <a:chExt cx="3619627" cy="31346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gradFill rotWithShape="true">
              <a:gsLst>
                <a:gs pos="0">
                  <a:srgbClr val="3DDBFE">
                    <a:alpha val="100000"/>
                  </a:srgbClr>
                </a:gs>
                <a:gs pos="100000">
                  <a:srgbClr val="40FC75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5018053" y="8993775"/>
            <a:ext cx="2984721" cy="977529"/>
          </a:xfrm>
          <a:custGeom>
            <a:avLst/>
            <a:gdLst/>
            <a:ahLst/>
            <a:cxnLst/>
            <a:rect r="r" b="b" t="t" l="l"/>
            <a:pathLst>
              <a:path h="977529" w="2984721">
                <a:moveTo>
                  <a:pt x="0" y="0"/>
                </a:moveTo>
                <a:lnTo>
                  <a:pt x="2984721" y="0"/>
                </a:lnTo>
                <a:lnTo>
                  <a:pt x="2984721" y="977528"/>
                </a:lnTo>
                <a:lnTo>
                  <a:pt x="0" y="977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28700" y="4232170"/>
            <a:ext cx="3364925" cy="2733780"/>
            <a:chOff x="0" y="0"/>
            <a:chExt cx="4486566" cy="364504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9050"/>
              <a:ext cx="4486566" cy="98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D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Fair and Transparent Licensing: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296599"/>
              <a:ext cx="4486566" cy="234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 believe in a model that benefits everyone. Your support directly impacts the language's growth and sustainability.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17258" y="4232170"/>
            <a:ext cx="3364925" cy="3086428"/>
            <a:chOff x="0" y="0"/>
            <a:chExt cx="4486566" cy="4115238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19050"/>
              <a:ext cx="4486566" cy="98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D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Empowering Innovation: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296896"/>
              <a:ext cx="4486566" cy="2818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Your investment fuels continuous improvement, ensuring BoxLang remains at the forefront of development technology.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894375" y="4232170"/>
            <a:ext cx="3364925" cy="2734003"/>
            <a:chOff x="0" y="0"/>
            <a:chExt cx="4486566" cy="3645338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9050"/>
              <a:ext cx="4486566" cy="98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D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Golden Rule in Action: 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296896"/>
              <a:ext cx="4486566" cy="234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We treat our users with respect, focusing on the value you create, not just your budget.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5817" y="4232170"/>
            <a:ext cx="3364925" cy="2734003"/>
            <a:chOff x="0" y="0"/>
            <a:chExt cx="4486566" cy="3645338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4486566" cy="98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0DB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Building a Strong Community: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296896"/>
              <a:ext cx="4486566" cy="2348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Together, we foster a vibrant community of developers who share a passion for building the future with BoxLang.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28700" y="971550"/>
            <a:ext cx="12865675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spc="-63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of Supporting</a:t>
            </a:r>
            <a:r>
              <a:rPr lang="en-US" sz="6399" spc="-63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l">
              <a:lnSpc>
                <a:spcPts val="7679"/>
              </a:lnSpc>
              <a:spcBef>
                <a:spcPct val="0"/>
              </a:spcBef>
            </a:pPr>
            <a:r>
              <a:rPr lang="en-US" b="true" sz="6399" spc="-63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Ortus Solutions and BoxLang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36342" y="373605"/>
            <a:ext cx="9313593" cy="10965698"/>
            <a:chOff x="0" y="0"/>
            <a:chExt cx="12418124" cy="1462093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56746" y="2591424"/>
              <a:ext cx="9761378" cy="8453399"/>
              <a:chOff x="0" y="0"/>
              <a:chExt cx="3619627" cy="313461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922"/>
                </a:srgbClr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1514453" y="8882028"/>
              <a:ext cx="6626872" cy="5738902"/>
              <a:chOff x="0" y="0"/>
              <a:chExt cx="3619627" cy="313461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C2F36">
                  <a:alpha val="35686"/>
                </a:srgbClr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441649"/>
              <a:ext cx="3028906" cy="2623047"/>
              <a:chOff x="0" y="0"/>
              <a:chExt cx="3619627" cy="313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A5A46">
                  <a:alpha val="35686"/>
                </a:srgbClr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868571" y="0"/>
              <a:ext cx="5066158" cy="4387317"/>
              <a:chOff x="0" y="0"/>
              <a:chExt cx="3619627" cy="313461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19627" cy="3134614"/>
              </a:xfrm>
              <a:custGeom>
                <a:avLst/>
                <a:gdLst/>
                <a:ahLst/>
                <a:cxnLst/>
                <a:rect r="r" b="b" t="t" l="l"/>
                <a:pathLst>
                  <a:path h="3134614" w="3619627">
                    <a:moveTo>
                      <a:pt x="3619627" y="1567307"/>
                    </a:moveTo>
                    <a:lnTo>
                      <a:pt x="2714752" y="3134614"/>
                    </a:lnTo>
                    <a:lnTo>
                      <a:pt x="904875" y="3134614"/>
                    </a:lnTo>
                    <a:lnTo>
                      <a:pt x="0" y="1567307"/>
                    </a:lnTo>
                    <a:lnTo>
                      <a:pt x="904875" y="0"/>
                    </a:lnTo>
                    <a:lnTo>
                      <a:pt x="2714625" y="0"/>
                    </a:lnTo>
                    <a:lnTo>
                      <a:pt x="3619627" y="1567307"/>
                    </a:lnTo>
                    <a:close/>
                  </a:path>
                </a:pathLst>
              </a:custGeom>
              <a:solidFill>
                <a:srgbClr val="077F55">
                  <a:alpha val="35686"/>
                </a:srgbClr>
              </a:solidFill>
            </p:spPr>
          </p:sp>
        </p:grpSp>
      </p:grpSp>
      <p:sp>
        <p:nvSpPr>
          <p:cNvPr name="Freeform 11" id="11"/>
          <p:cNvSpPr/>
          <p:nvPr/>
        </p:nvSpPr>
        <p:spPr>
          <a:xfrm flipH="false" flipV="false" rot="0">
            <a:off x="7804119" y="1354371"/>
            <a:ext cx="35461758" cy="18074809"/>
          </a:xfrm>
          <a:custGeom>
            <a:avLst/>
            <a:gdLst/>
            <a:ahLst/>
            <a:cxnLst/>
            <a:rect r="r" b="b" t="t" l="l"/>
            <a:pathLst>
              <a:path h="18074809" w="35461758">
                <a:moveTo>
                  <a:pt x="0" y="0"/>
                </a:moveTo>
                <a:lnTo>
                  <a:pt x="35461758" y="0"/>
                </a:lnTo>
                <a:lnTo>
                  <a:pt x="35461758" y="18074808"/>
                </a:lnTo>
                <a:lnTo>
                  <a:pt x="0" y="180748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225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2562" y="4924734"/>
            <a:ext cx="12763093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Be among the first to experience the power of BoxLang with our exclusive Visionary Licenses.</a:t>
            </a:r>
          </a:p>
          <a:p>
            <a:pPr algn="l">
              <a:lnSpc>
                <a:spcPts val="3480"/>
              </a:lnSpc>
            </a:pPr>
          </a:p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Designed for forward-thinking companies and individuals who share our vision for the future of development.</a:t>
            </a:r>
          </a:p>
          <a:p>
            <a:pPr algn="l">
              <a:lnSpc>
                <a:spcPts val="3480"/>
              </a:lnSpc>
            </a:pPr>
          </a:p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sz="29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Investment: $40K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2562" y="1953937"/>
            <a:ext cx="1597673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0"/>
              </a:lnSpc>
            </a:pPr>
            <a:r>
              <a:rPr lang="en-US" sz="8200" spc="-82" b="true">
                <a:solidFill>
                  <a:srgbClr val="00FF75"/>
                </a:solidFill>
                <a:latin typeface="Poppins Bold"/>
                <a:ea typeface="Poppins Bold"/>
                <a:cs typeface="Poppins Bold"/>
                <a:sym typeface="Poppins Bold"/>
              </a:rPr>
              <a:t>A Limited Number of Visionary Licenses Available Now!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885197" y="9666617"/>
            <a:ext cx="2034980" cy="295914"/>
          </a:xfrm>
          <a:custGeom>
            <a:avLst/>
            <a:gdLst/>
            <a:ahLst/>
            <a:cxnLst/>
            <a:rect r="r" b="b" t="t" l="l"/>
            <a:pathLst>
              <a:path h="295914" w="2034980">
                <a:moveTo>
                  <a:pt x="0" y="0"/>
                </a:moveTo>
                <a:lnTo>
                  <a:pt x="2034981" y="0"/>
                </a:lnTo>
                <a:lnTo>
                  <a:pt x="2034981" y="295914"/>
                </a:lnTo>
                <a:lnTo>
                  <a:pt x="0" y="295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82562" y="8506146"/>
            <a:ext cx="6946625" cy="704231"/>
            <a:chOff x="0" y="0"/>
            <a:chExt cx="1829564" cy="1854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9564" cy="185477"/>
            </a:xfrm>
            <a:custGeom>
              <a:avLst/>
              <a:gdLst/>
              <a:ahLst/>
              <a:cxnLst/>
              <a:rect r="r" b="b" t="t" l="l"/>
              <a:pathLst>
                <a:path h="185477" w="1829564">
                  <a:moveTo>
                    <a:pt x="56839" y="0"/>
                  </a:moveTo>
                  <a:lnTo>
                    <a:pt x="1772725" y="0"/>
                  </a:lnTo>
                  <a:cubicBezTo>
                    <a:pt x="1787799" y="0"/>
                    <a:pt x="1802257" y="5988"/>
                    <a:pt x="1812916" y="16648"/>
                  </a:cubicBezTo>
                  <a:cubicBezTo>
                    <a:pt x="1823575" y="27307"/>
                    <a:pt x="1829564" y="41764"/>
                    <a:pt x="1829564" y="56839"/>
                  </a:cubicBezTo>
                  <a:lnTo>
                    <a:pt x="1829564" y="128638"/>
                  </a:lnTo>
                  <a:cubicBezTo>
                    <a:pt x="1829564" y="160029"/>
                    <a:pt x="1804116" y="185477"/>
                    <a:pt x="1772725" y="185477"/>
                  </a:cubicBezTo>
                  <a:lnTo>
                    <a:pt x="56839" y="185477"/>
                  </a:lnTo>
                  <a:cubicBezTo>
                    <a:pt x="25448" y="185477"/>
                    <a:pt x="0" y="160029"/>
                    <a:pt x="0" y="128638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0E151F"/>
            </a:solidFill>
            <a:ln w="47625" cap="rnd">
              <a:gradFill>
                <a:gsLst>
                  <a:gs pos="0">
                    <a:srgbClr val="3DDBFE">
                      <a:alpha val="100000"/>
                    </a:srgbClr>
                  </a:gs>
                  <a:gs pos="100000">
                    <a:srgbClr val="40FC7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829564" cy="25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  <a:hlinkClick r:id="rId5" tooltip="mailto:boxlang@ortussolutions.com"/>
                </a:rPr>
                <a:t>Secure your Visionary License before they're gone!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DAGGdvcetis</dc:identifier>
  <dcterms:modified xsi:type="dcterms:W3CDTF">2011-08-01T06:04:30Z</dcterms:modified>
  <cp:revision>1</cp:revision>
  <dc:title>BoxLang Visionary Licenses</dc:title>
</cp:coreProperties>
</file>